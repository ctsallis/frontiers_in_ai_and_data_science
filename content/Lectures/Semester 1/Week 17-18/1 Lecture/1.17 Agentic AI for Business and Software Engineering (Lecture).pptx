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5"/>
  </p:notesMasterIdLst>
  <p:sldIdLst>
    <p:sldId id="298" r:id="rId2"/>
    <p:sldId id="297" r:id="rId3"/>
    <p:sldId id="261" r:id="rId4"/>
    <p:sldId id="257" r:id="rId5"/>
    <p:sldId id="258" r:id="rId6"/>
    <p:sldId id="279" r:id="rId7"/>
    <p:sldId id="259" r:id="rId8"/>
    <p:sldId id="260" r:id="rId9"/>
    <p:sldId id="266" r:id="rId10"/>
    <p:sldId id="262" r:id="rId11"/>
    <p:sldId id="280" r:id="rId12"/>
    <p:sldId id="281" r:id="rId13"/>
    <p:sldId id="282" r:id="rId14"/>
    <p:sldId id="264" r:id="rId15"/>
    <p:sldId id="273" r:id="rId16"/>
    <p:sldId id="283" r:id="rId17"/>
    <p:sldId id="294" r:id="rId18"/>
    <p:sldId id="268" r:id="rId19"/>
    <p:sldId id="270" r:id="rId20"/>
    <p:sldId id="288" r:id="rId21"/>
    <p:sldId id="269" r:id="rId22"/>
    <p:sldId id="295" r:id="rId23"/>
    <p:sldId id="274" r:id="rId24"/>
    <p:sldId id="296" r:id="rId25"/>
    <p:sldId id="275" r:id="rId26"/>
    <p:sldId id="276" r:id="rId27"/>
    <p:sldId id="278" r:id="rId28"/>
    <p:sldId id="272" r:id="rId29"/>
    <p:sldId id="291" r:id="rId30"/>
    <p:sldId id="292" r:id="rId31"/>
    <p:sldId id="293" r:id="rId32"/>
    <p:sldId id="289" r:id="rId33"/>
    <p:sldId id="26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62" d="100"/>
          <a:sy n="62" d="100"/>
        </p:scale>
        <p:origin x="7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addSld delSld modSld">
      <pc:chgData name="Giannis Tsioulis" userId="d59c48a07cb29050" providerId="LiveId" clId="{D1FB67B2-2F40-423F-AEB1-7CE013CAD466}" dt="2026-03-03T20:23:46.406" v="12" actId="1036"/>
      <pc:docMkLst>
        <pc:docMk/>
      </pc:docMkLst>
      <pc:sldChg chg="modSp del mod">
        <pc:chgData name="Giannis Tsioulis" userId="d59c48a07cb29050" providerId="LiveId" clId="{D1FB67B2-2F40-423F-AEB1-7CE013CAD466}" dt="2026-03-03T20:22:53.235" v="9" actId="47"/>
        <pc:sldMkLst>
          <pc:docMk/>
          <pc:sldMk cId="2736361585" sldId="256"/>
        </pc:sldMkLst>
        <pc:picChg chg="mod">
          <ac:chgData name="Giannis Tsioulis" userId="d59c48a07cb29050" providerId="LiveId" clId="{D1FB67B2-2F40-423F-AEB1-7CE013CAD466}" dt="2026-03-03T20:21:50.336" v="2" actId="1076"/>
          <ac:picMkLst>
            <pc:docMk/>
            <pc:sldMk cId="2736361585" sldId="256"/>
            <ac:picMk id="4" creationId="{E97AB546-0B6F-00B2-9953-A8432A71BF7F}"/>
          </ac:picMkLst>
        </pc:picChg>
      </pc:sldChg>
      <pc:sldChg chg="addSp modSp new mod">
        <pc:chgData name="Giannis Tsioulis" userId="d59c48a07cb29050" providerId="LiveId" clId="{D1FB67B2-2F40-423F-AEB1-7CE013CAD466}" dt="2026-03-03T20:23:46.406" v="12" actId="1036"/>
        <pc:sldMkLst>
          <pc:docMk/>
          <pc:sldMk cId="412875895" sldId="298"/>
        </pc:sldMkLst>
        <pc:picChg chg="add mod">
          <ac:chgData name="Giannis Tsioulis" userId="d59c48a07cb29050" providerId="LiveId" clId="{D1FB67B2-2F40-423F-AEB1-7CE013CAD466}" dt="2026-03-03T20:23:46.406" v="12" actId="1036"/>
          <ac:picMkLst>
            <pc:docMk/>
            <pc:sldMk cId="412875895" sldId="298"/>
            <ac:picMk id="5" creationId="{57C2F8B1-D2EC-A790-0972-940E28DC6F9C}"/>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dgm:fillClrLst>
    <dgm:linClrLst meth="repeat">
      <a:schemeClr val="lt1">
        <a:alpha val="0"/>
      </a:schemeClr>
    </dgm:linClrLst>
    <dgm:effectClrLst/>
    <dgm:txLinClrLst/>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F8CE67C9-F4BC-4D1F-92DC-B411C27755C4}" type="doc">
      <dgm:prSet loTypeId="urn:microsoft.com/office/officeart/2018/2/layout/IconVerticalSolidList" loCatId="icon" qsTypeId="urn:microsoft.com/office/officeart/2005/8/quickstyle/simple1" qsCatId="simple" csTypeId="urn:microsoft.com/office/officeart/2018/5/colors/Iconchunking_neutralicontext_accent4_2" csCatId="accent4" phldr="1"/>
      <dgm:spPr/>
      <dgm:t>
        <a:bodyPr/>
        <a:lstStyle/>
        <a:p>
          <a:endParaRPr lang="en-US"/>
        </a:p>
      </dgm:t>
    </dgm:pt>
    <dgm:pt modelId="{D31070FE-7DBB-4443-8BE4-9A3BF587776F}">
      <dgm:prSet/>
      <dgm:spPr/>
      <dgm:t>
        <a:bodyPr/>
        <a:lstStyle/>
        <a:p>
          <a:pPr>
            <a:lnSpc>
              <a:spcPct val="100000"/>
            </a:lnSpc>
          </a:pPr>
          <a:r>
            <a:rPr lang="en-GB" b="1" dirty="0"/>
            <a:t>High GPU/TPU Requirements</a:t>
          </a:r>
          <a:r>
            <a:rPr lang="en-GB" dirty="0"/>
            <a:t>: Training and deploying generative AI models require powerful hardware, such as GPUs (Graphics Processing Units) or TPUs (Tensor Processing Units). These specialized processors are necessary to handle the parallel computations required by deep learning, which significantly increases hardware costs.</a:t>
          </a:r>
          <a:endParaRPr lang="en-US" dirty="0"/>
        </a:p>
      </dgm:t>
    </dgm:pt>
    <dgm:pt modelId="{4F5C57C6-7438-42F9-8238-9A47EE6838C9}" type="parTrans" cxnId="{D580A46F-211E-4427-9FE3-60D5A561C556}">
      <dgm:prSet/>
      <dgm:spPr/>
      <dgm:t>
        <a:bodyPr/>
        <a:lstStyle/>
        <a:p>
          <a:endParaRPr lang="en-US"/>
        </a:p>
      </dgm:t>
    </dgm:pt>
    <dgm:pt modelId="{57DC231C-A15C-4670-8B23-AE439E6A5FA9}" type="sibTrans" cxnId="{D580A46F-211E-4427-9FE3-60D5A561C556}">
      <dgm:prSet/>
      <dgm:spPr/>
      <dgm:t>
        <a:bodyPr/>
        <a:lstStyle/>
        <a:p>
          <a:endParaRPr lang="en-US"/>
        </a:p>
      </dgm:t>
    </dgm:pt>
    <dgm:pt modelId="{F53571AE-DD3D-41FA-8793-F33904711D21}">
      <dgm:prSet/>
      <dgm:spPr/>
      <dgm:t>
        <a:bodyPr/>
        <a:lstStyle/>
        <a:p>
          <a:pPr>
            <a:lnSpc>
              <a:spcPct val="100000"/>
            </a:lnSpc>
          </a:pPr>
          <a:r>
            <a:rPr lang="en-GB" b="1" dirty="0"/>
            <a:t>Memory and Storage Needs</a:t>
          </a:r>
          <a:r>
            <a:rPr lang="en-GB" dirty="0"/>
            <a:t>: Generative AI models often have billions of parameters, which require large amounts of memory and storage to operate. This can present challenges for organizations that lack the necessary infrastructure to store or manage these large models effectively. Moreover, the storage needs also extend to datasets, which can be vast and require careful management to ensure efficiency.</a:t>
          </a:r>
          <a:endParaRPr lang="en-US" dirty="0"/>
        </a:p>
      </dgm:t>
    </dgm:pt>
    <dgm:pt modelId="{3F86815A-31E4-4B06-969C-5C38455FA2A1}" type="parTrans" cxnId="{619D8243-DC2F-4D73-B6EB-9C43EDF00492}">
      <dgm:prSet/>
      <dgm:spPr/>
      <dgm:t>
        <a:bodyPr/>
        <a:lstStyle/>
        <a:p>
          <a:endParaRPr lang="en-US"/>
        </a:p>
      </dgm:t>
    </dgm:pt>
    <dgm:pt modelId="{6715CE60-43A8-4DAA-89B4-9DE7C53296E9}" type="sibTrans" cxnId="{619D8243-DC2F-4D73-B6EB-9C43EDF00492}">
      <dgm:prSet/>
      <dgm:spPr/>
      <dgm:t>
        <a:bodyPr/>
        <a:lstStyle/>
        <a:p>
          <a:endParaRPr lang="en-US"/>
        </a:p>
      </dgm:t>
    </dgm:pt>
    <dgm:pt modelId="{264F001E-19BD-401B-A9B2-1C42284C0C22}">
      <dgm:prSet/>
      <dgm:spPr/>
      <dgm:t>
        <a:bodyPr/>
        <a:lstStyle/>
        <a:p>
          <a:pPr>
            <a:lnSpc>
              <a:spcPct val="100000"/>
            </a:lnSpc>
          </a:pPr>
          <a:r>
            <a:rPr lang="en-GB" b="1" dirty="0"/>
            <a:t>Cloud Infrastructure Costs</a:t>
          </a:r>
          <a:r>
            <a:rPr lang="en-GB" dirty="0"/>
            <a:t>: The use of cloud infrastructure to manage and run generative AI models can result in substantial costs, particularly if models need to be accessed frequently or deployed at scale. Cloud resources, such as those offered by AWS, Azure, or Google Cloud, allow for flexible scaling, but they can also lead to unpredictably high expenses, especially when dealing with continuous training or large-scale inference.</a:t>
          </a:r>
          <a:endParaRPr lang="en-US" dirty="0"/>
        </a:p>
      </dgm:t>
    </dgm:pt>
    <dgm:pt modelId="{7AFFEAC9-F330-4E3D-B182-0EEB837D7B8F}" type="parTrans" cxnId="{50E94CF0-5535-47F6-B50D-90B89EF10C3C}">
      <dgm:prSet/>
      <dgm:spPr/>
      <dgm:t>
        <a:bodyPr/>
        <a:lstStyle/>
        <a:p>
          <a:endParaRPr lang="en-US"/>
        </a:p>
      </dgm:t>
    </dgm:pt>
    <dgm:pt modelId="{CB250C52-BCEF-468A-B852-43EC247E7E92}" type="sibTrans" cxnId="{50E94CF0-5535-47F6-B50D-90B89EF10C3C}">
      <dgm:prSet/>
      <dgm:spPr/>
      <dgm:t>
        <a:bodyPr/>
        <a:lstStyle/>
        <a:p>
          <a:endParaRPr lang="en-US"/>
        </a:p>
      </dgm:t>
    </dgm:pt>
    <dgm:pt modelId="{3568EBA5-D93E-490D-8E84-50A2D45183AF}">
      <dgm:prSet/>
      <dgm:spPr/>
      <dgm:t>
        <a:bodyPr/>
        <a:lstStyle/>
        <a:p>
          <a:pPr>
            <a:lnSpc>
              <a:spcPct val="100000"/>
            </a:lnSpc>
          </a:pPr>
          <a:r>
            <a:rPr lang="en-GB" b="1" dirty="0"/>
            <a:t>Carbon Footprint</a:t>
          </a:r>
          <a:r>
            <a:rPr lang="en-GB" dirty="0"/>
            <a:t>: The carbon footprint associated with the power consumed by AI model training is a growing concern. Data </a:t>
          </a:r>
          <a:r>
            <a:rPr lang="en-GB" dirty="0" err="1"/>
            <a:t>centers</a:t>
          </a:r>
          <a:r>
            <a:rPr lang="en-GB" dirty="0"/>
            <a:t> that power AI computations require considerable electricity, and unless renewable energy sources are used, this contributes to greenhouse gas emissions. This environmental impact is a key consideration in the responsible use of generative AI.</a:t>
          </a:r>
          <a:endParaRPr lang="en-US" dirty="0"/>
        </a:p>
      </dgm:t>
    </dgm:pt>
    <dgm:pt modelId="{71266BC2-0F9C-4DAE-8899-8FD3ACF9B6F0}" type="parTrans" cxnId="{9376DC7C-7965-47A3-BF5A-1820FB98FA3F}">
      <dgm:prSet/>
      <dgm:spPr/>
      <dgm:t>
        <a:bodyPr/>
        <a:lstStyle/>
        <a:p>
          <a:endParaRPr lang="en-US"/>
        </a:p>
      </dgm:t>
    </dgm:pt>
    <dgm:pt modelId="{794CD078-5243-4FFD-8710-B3904984A76B}" type="sibTrans" cxnId="{9376DC7C-7965-47A3-BF5A-1820FB98FA3F}">
      <dgm:prSet/>
      <dgm:spPr/>
      <dgm:t>
        <a:bodyPr/>
        <a:lstStyle/>
        <a:p>
          <a:endParaRPr lang="en-US"/>
        </a:p>
      </dgm:t>
    </dgm:pt>
    <dgm:pt modelId="{5B4D4D9A-DA23-4398-87CC-68B3DF4DC625}" type="pres">
      <dgm:prSet presAssocID="{F8CE67C9-F4BC-4D1F-92DC-B411C27755C4}" presName="root" presStyleCnt="0">
        <dgm:presLayoutVars>
          <dgm:dir/>
          <dgm:resizeHandles val="exact"/>
        </dgm:presLayoutVars>
      </dgm:prSet>
      <dgm:spPr/>
    </dgm:pt>
    <dgm:pt modelId="{98DC9303-4F97-41DC-B5C1-81B98AC312EA}" type="pres">
      <dgm:prSet presAssocID="{D31070FE-7DBB-4443-8BE4-9A3BF587776F}" presName="compNode" presStyleCnt="0"/>
      <dgm:spPr/>
    </dgm:pt>
    <dgm:pt modelId="{8E21EA36-2001-456B-B30D-BBC252767993}" type="pres">
      <dgm:prSet presAssocID="{D31070FE-7DBB-4443-8BE4-9A3BF587776F}" presName="bgRect" presStyleLbl="bgShp" presStyleIdx="0" presStyleCnt="4" custLinFactNeighborY="-21107"/>
      <dgm:spPr/>
    </dgm:pt>
    <dgm:pt modelId="{3D72B1E4-5725-42BD-AF95-C51E16385E43}" type="pres">
      <dgm:prSet presAssocID="{D31070FE-7DBB-4443-8BE4-9A3BF587776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A6288E5-4AFE-42B8-8D82-0F58F9771841}" type="pres">
      <dgm:prSet presAssocID="{D31070FE-7DBB-4443-8BE4-9A3BF587776F}" presName="spaceRect" presStyleCnt="0"/>
      <dgm:spPr/>
    </dgm:pt>
    <dgm:pt modelId="{6B62B320-86C8-4B42-84DA-0D82FD16688E}" type="pres">
      <dgm:prSet presAssocID="{D31070FE-7DBB-4443-8BE4-9A3BF587776F}" presName="parTx" presStyleLbl="revTx" presStyleIdx="0" presStyleCnt="4">
        <dgm:presLayoutVars>
          <dgm:chMax val="0"/>
          <dgm:chPref val="0"/>
        </dgm:presLayoutVars>
      </dgm:prSet>
      <dgm:spPr/>
    </dgm:pt>
    <dgm:pt modelId="{D44E5642-430D-44AE-A807-A04782220DED}" type="pres">
      <dgm:prSet presAssocID="{57DC231C-A15C-4670-8B23-AE439E6A5FA9}" presName="sibTrans" presStyleCnt="0"/>
      <dgm:spPr/>
    </dgm:pt>
    <dgm:pt modelId="{1ADDAF1B-07CA-4AFD-AC4E-B9126CD7581B}" type="pres">
      <dgm:prSet presAssocID="{F53571AE-DD3D-41FA-8793-F33904711D21}" presName="compNode" presStyleCnt="0"/>
      <dgm:spPr/>
    </dgm:pt>
    <dgm:pt modelId="{C6486FE4-EBDA-4D12-AE73-2CA1AD996CB2}" type="pres">
      <dgm:prSet presAssocID="{F53571AE-DD3D-41FA-8793-F33904711D21}" presName="bgRect" presStyleLbl="bgShp" presStyleIdx="1" presStyleCnt="4"/>
      <dgm:spPr/>
    </dgm:pt>
    <dgm:pt modelId="{9E8F80DC-5E0F-4E6C-A672-1A6EE4FE44E1}" type="pres">
      <dgm:prSet presAssocID="{F53571AE-DD3D-41FA-8793-F33904711D2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9DF97129-3A44-458B-8596-93CB88450BE5}" type="pres">
      <dgm:prSet presAssocID="{F53571AE-DD3D-41FA-8793-F33904711D21}" presName="spaceRect" presStyleCnt="0"/>
      <dgm:spPr/>
    </dgm:pt>
    <dgm:pt modelId="{3D40D737-07CB-4D47-B22A-93DFF7AB7134}" type="pres">
      <dgm:prSet presAssocID="{F53571AE-DD3D-41FA-8793-F33904711D21}" presName="parTx" presStyleLbl="revTx" presStyleIdx="1" presStyleCnt="4">
        <dgm:presLayoutVars>
          <dgm:chMax val="0"/>
          <dgm:chPref val="0"/>
        </dgm:presLayoutVars>
      </dgm:prSet>
      <dgm:spPr/>
    </dgm:pt>
    <dgm:pt modelId="{989AD86C-6196-46B4-945E-B7A7F0DBDAA9}" type="pres">
      <dgm:prSet presAssocID="{6715CE60-43A8-4DAA-89B4-9DE7C53296E9}" presName="sibTrans" presStyleCnt="0"/>
      <dgm:spPr/>
    </dgm:pt>
    <dgm:pt modelId="{E2556E02-E7E5-4500-B667-1B4ABB65E22F}" type="pres">
      <dgm:prSet presAssocID="{264F001E-19BD-401B-A9B2-1C42284C0C22}" presName="compNode" presStyleCnt="0"/>
      <dgm:spPr/>
    </dgm:pt>
    <dgm:pt modelId="{D19BA63A-3C25-4D0F-911E-D805D05F8162}" type="pres">
      <dgm:prSet presAssocID="{264F001E-19BD-401B-A9B2-1C42284C0C22}" presName="bgRect" presStyleLbl="bgShp" presStyleIdx="2" presStyleCnt="4"/>
      <dgm:spPr/>
    </dgm:pt>
    <dgm:pt modelId="{2347AB25-C62D-495B-AB3E-0A9868562919}" type="pres">
      <dgm:prSet presAssocID="{264F001E-19BD-401B-A9B2-1C42284C0C2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3B0F4215-EE6C-4F50-A257-13FAEADC9BE8}" type="pres">
      <dgm:prSet presAssocID="{264F001E-19BD-401B-A9B2-1C42284C0C22}" presName="spaceRect" presStyleCnt="0"/>
      <dgm:spPr/>
    </dgm:pt>
    <dgm:pt modelId="{F89F5084-126D-4571-99F0-F8985802A98F}" type="pres">
      <dgm:prSet presAssocID="{264F001E-19BD-401B-A9B2-1C42284C0C22}" presName="parTx" presStyleLbl="revTx" presStyleIdx="2" presStyleCnt="4">
        <dgm:presLayoutVars>
          <dgm:chMax val="0"/>
          <dgm:chPref val="0"/>
        </dgm:presLayoutVars>
      </dgm:prSet>
      <dgm:spPr/>
    </dgm:pt>
    <dgm:pt modelId="{71048823-1419-420C-BE23-E2F3EA6A6170}" type="pres">
      <dgm:prSet presAssocID="{CB250C52-BCEF-468A-B852-43EC247E7E92}" presName="sibTrans" presStyleCnt="0"/>
      <dgm:spPr/>
    </dgm:pt>
    <dgm:pt modelId="{1353ADED-5A1A-460C-9C7F-8D7EAF81B999}" type="pres">
      <dgm:prSet presAssocID="{3568EBA5-D93E-490D-8E84-50A2D45183AF}" presName="compNode" presStyleCnt="0"/>
      <dgm:spPr/>
    </dgm:pt>
    <dgm:pt modelId="{941C97C2-E99D-4168-93A0-456F69261F51}" type="pres">
      <dgm:prSet presAssocID="{3568EBA5-D93E-490D-8E84-50A2D45183AF}" presName="bgRect" presStyleLbl="bgShp" presStyleIdx="3" presStyleCnt="4"/>
      <dgm:spPr/>
    </dgm:pt>
    <dgm:pt modelId="{16C34B86-CCB0-4F9F-86E5-8E46DE7923C8}" type="pres">
      <dgm:prSet presAssocID="{3568EBA5-D93E-490D-8E84-50A2D45183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arth Globe Americas"/>
        </a:ext>
      </dgm:extLst>
    </dgm:pt>
    <dgm:pt modelId="{9D74A969-B7B5-47D2-84CA-C867CFF7A002}" type="pres">
      <dgm:prSet presAssocID="{3568EBA5-D93E-490D-8E84-50A2D45183AF}" presName="spaceRect" presStyleCnt="0"/>
      <dgm:spPr/>
    </dgm:pt>
    <dgm:pt modelId="{8010A107-819F-4328-A49E-02C106B5FEBF}" type="pres">
      <dgm:prSet presAssocID="{3568EBA5-D93E-490D-8E84-50A2D45183AF}" presName="parTx" presStyleLbl="revTx" presStyleIdx="3" presStyleCnt="4">
        <dgm:presLayoutVars>
          <dgm:chMax val="0"/>
          <dgm:chPref val="0"/>
        </dgm:presLayoutVars>
      </dgm:prSet>
      <dgm:spPr/>
    </dgm:pt>
  </dgm:ptLst>
  <dgm:cxnLst>
    <dgm:cxn modelId="{4F57D238-24E7-4A19-A760-8907FECDD5DD}" type="presOf" srcId="{3568EBA5-D93E-490D-8E84-50A2D45183AF}" destId="{8010A107-819F-4328-A49E-02C106B5FEBF}" srcOrd="0" destOrd="0" presId="urn:microsoft.com/office/officeart/2018/2/layout/IconVerticalSolidList"/>
    <dgm:cxn modelId="{F7EA5F5D-2626-4665-8C3C-0099C150A03E}" type="presOf" srcId="{F8CE67C9-F4BC-4D1F-92DC-B411C27755C4}" destId="{5B4D4D9A-DA23-4398-87CC-68B3DF4DC625}" srcOrd="0" destOrd="0" presId="urn:microsoft.com/office/officeart/2018/2/layout/IconVerticalSolidList"/>
    <dgm:cxn modelId="{619D8243-DC2F-4D73-B6EB-9C43EDF00492}" srcId="{F8CE67C9-F4BC-4D1F-92DC-B411C27755C4}" destId="{F53571AE-DD3D-41FA-8793-F33904711D21}" srcOrd="1" destOrd="0" parTransId="{3F86815A-31E4-4B06-969C-5C38455FA2A1}" sibTransId="{6715CE60-43A8-4DAA-89B4-9DE7C53296E9}"/>
    <dgm:cxn modelId="{D580A46F-211E-4427-9FE3-60D5A561C556}" srcId="{F8CE67C9-F4BC-4D1F-92DC-B411C27755C4}" destId="{D31070FE-7DBB-4443-8BE4-9A3BF587776F}" srcOrd="0" destOrd="0" parTransId="{4F5C57C6-7438-42F9-8238-9A47EE6838C9}" sibTransId="{57DC231C-A15C-4670-8B23-AE439E6A5FA9}"/>
    <dgm:cxn modelId="{0CE02758-2ABC-4BD6-9A82-11220DE9F6D5}" type="presOf" srcId="{F53571AE-DD3D-41FA-8793-F33904711D21}" destId="{3D40D737-07CB-4D47-B22A-93DFF7AB7134}" srcOrd="0" destOrd="0" presId="urn:microsoft.com/office/officeart/2018/2/layout/IconVerticalSolidList"/>
    <dgm:cxn modelId="{9376DC7C-7965-47A3-BF5A-1820FB98FA3F}" srcId="{F8CE67C9-F4BC-4D1F-92DC-B411C27755C4}" destId="{3568EBA5-D93E-490D-8E84-50A2D45183AF}" srcOrd="3" destOrd="0" parTransId="{71266BC2-0F9C-4DAE-8899-8FD3ACF9B6F0}" sibTransId="{794CD078-5243-4FFD-8710-B3904984A76B}"/>
    <dgm:cxn modelId="{17C22099-46BA-40A1-B37B-EEB1EE91ACDE}" type="presOf" srcId="{264F001E-19BD-401B-A9B2-1C42284C0C22}" destId="{F89F5084-126D-4571-99F0-F8985802A98F}" srcOrd="0" destOrd="0" presId="urn:microsoft.com/office/officeart/2018/2/layout/IconVerticalSolidList"/>
    <dgm:cxn modelId="{50E94CF0-5535-47F6-B50D-90B89EF10C3C}" srcId="{F8CE67C9-F4BC-4D1F-92DC-B411C27755C4}" destId="{264F001E-19BD-401B-A9B2-1C42284C0C22}" srcOrd="2" destOrd="0" parTransId="{7AFFEAC9-F330-4E3D-B182-0EEB837D7B8F}" sibTransId="{CB250C52-BCEF-468A-B852-43EC247E7E92}"/>
    <dgm:cxn modelId="{70EE2EF1-627D-4B2A-862B-5BBC1B4960B8}" type="presOf" srcId="{D31070FE-7DBB-4443-8BE4-9A3BF587776F}" destId="{6B62B320-86C8-4B42-84DA-0D82FD16688E}" srcOrd="0" destOrd="0" presId="urn:microsoft.com/office/officeart/2018/2/layout/IconVerticalSolidList"/>
    <dgm:cxn modelId="{02E6D1E6-3378-45B9-ABB9-2D45173F2878}" type="presParOf" srcId="{5B4D4D9A-DA23-4398-87CC-68B3DF4DC625}" destId="{98DC9303-4F97-41DC-B5C1-81B98AC312EA}" srcOrd="0" destOrd="0" presId="urn:microsoft.com/office/officeart/2018/2/layout/IconVerticalSolidList"/>
    <dgm:cxn modelId="{4C314EBD-4701-4E22-B0D8-1BB4558AF2A8}" type="presParOf" srcId="{98DC9303-4F97-41DC-B5C1-81B98AC312EA}" destId="{8E21EA36-2001-456B-B30D-BBC252767993}" srcOrd="0" destOrd="0" presId="urn:microsoft.com/office/officeart/2018/2/layout/IconVerticalSolidList"/>
    <dgm:cxn modelId="{13CA62E0-8F3D-424A-9D0E-416BEAB755D5}" type="presParOf" srcId="{98DC9303-4F97-41DC-B5C1-81B98AC312EA}" destId="{3D72B1E4-5725-42BD-AF95-C51E16385E43}" srcOrd="1" destOrd="0" presId="urn:microsoft.com/office/officeart/2018/2/layout/IconVerticalSolidList"/>
    <dgm:cxn modelId="{0015446C-8C97-4EFC-BABF-E2E7AC59522D}" type="presParOf" srcId="{98DC9303-4F97-41DC-B5C1-81B98AC312EA}" destId="{FA6288E5-4AFE-42B8-8D82-0F58F9771841}" srcOrd="2" destOrd="0" presId="urn:microsoft.com/office/officeart/2018/2/layout/IconVerticalSolidList"/>
    <dgm:cxn modelId="{8F21FDE3-EA3B-42CB-BDA9-FB8BEE29454B}" type="presParOf" srcId="{98DC9303-4F97-41DC-B5C1-81B98AC312EA}" destId="{6B62B320-86C8-4B42-84DA-0D82FD16688E}" srcOrd="3" destOrd="0" presId="urn:microsoft.com/office/officeart/2018/2/layout/IconVerticalSolidList"/>
    <dgm:cxn modelId="{64052D88-1588-4AD6-A9F1-A8B487323287}" type="presParOf" srcId="{5B4D4D9A-DA23-4398-87CC-68B3DF4DC625}" destId="{D44E5642-430D-44AE-A807-A04782220DED}" srcOrd="1" destOrd="0" presId="urn:microsoft.com/office/officeart/2018/2/layout/IconVerticalSolidList"/>
    <dgm:cxn modelId="{31D32720-986F-4CA4-BE66-3E26FAA863E6}" type="presParOf" srcId="{5B4D4D9A-DA23-4398-87CC-68B3DF4DC625}" destId="{1ADDAF1B-07CA-4AFD-AC4E-B9126CD7581B}" srcOrd="2" destOrd="0" presId="urn:microsoft.com/office/officeart/2018/2/layout/IconVerticalSolidList"/>
    <dgm:cxn modelId="{344DF857-6C3F-43E7-AA57-F3E65F269F0D}" type="presParOf" srcId="{1ADDAF1B-07CA-4AFD-AC4E-B9126CD7581B}" destId="{C6486FE4-EBDA-4D12-AE73-2CA1AD996CB2}" srcOrd="0" destOrd="0" presId="urn:microsoft.com/office/officeart/2018/2/layout/IconVerticalSolidList"/>
    <dgm:cxn modelId="{848893E1-C8CD-4125-A23B-9E5AEA6E4F11}" type="presParOf" srcId="{1ADDAF1B-07CA-4AFD-AC4E-B9126CD7581B}" destId="{9E8F80DC-5E0F-4E6C-A672-1A6EE4FE44E1}" srcOrd="1" destOrd="0" presId="urn:microsoft.com/office/officeart/2018/2/layout/IconVerticalSolidList"/>
    <dgm:cxn modelId="{6BA57F76-4DFA-4FEE-8D3E-EA6FE78F9E0C}" type="presParOf" srcId="{1ADDAF1B-07CA-4AFD-AC4E-B9126CD7581B}" destId="{9DF97129-3A44-458B-8596-93CB88450BE5}" srcOrd="2" destOrd="0" presId="urn:microsoft.com/office/officeart/2018/2/layout/IconVerticalSolidList"/>
    <dgm:cxn modelId="{02394E95-84BA-4BB7-8CF1-E4B3301D23BC}" type="presParOf" srcId="{1ADDAF1B-07CA-4AFD-AC4E-B9126CD7581B}" destId="{3D40D737-07CB-4D47-B22A-93DFF7AB7134}" srcOrd="3" destOrd="0" presId="urn:microsoft.com/office/officeart/2018/2/layout/IconVerticalSolidList"/>
    <dgm:cxn modelId="{B6AEC540-BE88-43A7-A0BE-D04C373C2B5A}" type="presParOf" srcId="{5B4D4D9A-DA23-4398-87CC-68B3DF4DC625}" destId="{989AD86C-6196-46B4-945E-B7A7F0DBDAA9}" srcOrd="3" destOrd="0" presId="urn:microsoft.com/office/officeart/2018/2/layout/IconVerticalSolidList"/>
    <dgm:cxn modelId="{FA3F0EA4-63EA-4AE5-AA68-EA04F2CA8893}" type="presParOf" srcId="{5B4D4D9A-DA23-4398-87CC-68B3DF4DC625}" destId="{E2556E02-E7E5-4500-B667-1B4ABB65E22F}" srcOrd="4" destOrd="0" presId="urn:microsoft.com/office/officeart/2018/2/layout/IconVerticalSolidList"/>
    <dgm:cxn modelId="{8FF4DC18-C05D-4393-A8AC-03AEAE77CBCD}" type="presParOf" srcId="{E2556E02-E7E5-4500-B667-1B4ABB65E22F}" destId="{D19BA63A-3C25-4D0F-911E-D805D05F8162}" srcOrd="0" destOrd="0" presId="urn:microsoft.com/office/officeart/2018/2/layout/IconVerticalSolidList"/>
    <dgm:cxn modelId="{07DDC17B-109E-47FE-8BE9-F43408996A60}" type="presParOf" srcId="{E2556E02-E7E5-4500-B667-1B4ABB65E22F}" destId="{2347AB25-C62D-495B-AB3E-0A9868562919}" srcOrd="1" destOrd="0" presId="urn:microsoft.com/office/officeart/2018/2/layout/IconVerticalSolidList"/>
    <dgm:cxn modelId="{94674DEA-7987-4CCE-8AA6-168E2D86EC6D}" type="presParOf" srcId="{E2556E02-E7E5-4500-B667-1B4ABB65E22F}" destId="{3B0F4215-EE6C-4F50-A257-13FAEADC9BE8}" srcOrd="2" destOrd="0" presId="urn:microsoft.com/office/officeart/2018/2/layout/IconVerticalSolidList"/>
    <dgm:cxn modelId="{0B8428B0-581D-4A8F-A887-71895DB4B83E}" type="presParOf" srcId="{E2556E02-E7E5-4500-B667-1B4ABB65E22F}" destId="{F89F5084-126D-4571-99F0-F8985802A98F}" srcOrd="3" destOrd="0" presId="urn:microsoft.com/office/officeart/2018/2/layout/IconVerticalSolidList"/>
    <dgm:cxn modelId="{5EE50353-D3D4-4D42-B1D4-9CFEE73A9262}" type="presParOf" srcId="{5B4D4D9A-DA23-4398-87CC-68B3DF4DC625}" destId="{71048823-1419-420C-BE23-E2F3EA6A6170}" srcOrd="5" destOrd="0" presId="urn:microsoft.com/office/officeart/2018/2/layout/IconVerticalSolidList"/>
    <dgm:cxn modelId="{55B66151-95CD-42C0-A9FA-BB3F40C2DC40}" type="presParOf" srcId="{5B4D4D9A-DA23-4398-87CC-68B3DF4DC625}" destId="{1353ADED-5A1A-460C-9C7F-8D7EAF81B999}" srcOrd="6" destOrd="0" presId="urn:microsoft.com/office/officeart/2018/2/layout/IconVerticalSolidList"/>
    <dgm:cxn modelId="{53903AA7-237C-4246-A7AD-203107C44879}" type="presParOf" srcId="{1353ADED-5A1A-460C-9C7F-8D7EAF81B999}" destId="{941C97C2-E99D-4168-93A0-456F69261F51}" srcOrd="0" destOrd="0" presId="urn:microsoft.com/office/officeart/2018/2/layout/IconVerticalSolidList"/>
    <dgm:cxn modelId="{F50020BB-89F0-4882-81DD-50753968E559}" type="presParOf" srcId="{1353ADED-5A1A-460C-9C7F-8D7EAF81B999}" destId="{16C34B86-CCB0-4F9F-86E5-8E46DE7923C8}" srcOrd="1" destOrd="0" presId="urn:microsoft.com/office/officeart/2018/2/layout/IconVerticalSolidList"/>
    <dgm:cxn modelId="{FC270F9D-7008-42FF-8388-431ABD7BC0B5}" type="presParOf" srcId="{1353ADED-5A1A-460C-9C7F-8D7EAF81B999}" destId="{9D74A969-B7B5-47D2-84CA-C867CFF7A002}" srcOrd="2" destOrd="0" presId="urn:microsoft.com/office/officeart/2018/2/layout/IconVerticalSolidList"/>
    <dgm:cxn modelId="{14801265-A7E4-482F-B4FD-B19DFB63D149}" type="presParOf" srcId="{1353ADED-5A1A-460C-9C7F-8D7EAF81B999}" destId="{8010A107-819F-4328-A49E-02C106B5FEB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21EA36-2001-456B-B30D-BBC252767993}">
      <dsp:nvSpPr>
        <dsp:cNvPr id="0" name=""/>
        <dsp:cNvSpPr/>
      </dsp:nvSpPr>
      <dsp:spPr>
        <a:xfrm>
          <a:off x="0" y="0"/>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72B1E4-5725-42BD-AF95-C51E16385E43}">
      <dsp:nvSpPr>
        <dsp:cNvPr id="0" name=""/>
        <dsp:cNvSpPr/>
      </dsp:nvSpPr>
      <dsp:spPr>
        <a:xfrm>
          <a:off x="337464" y="253207"/>
          <a:ext cx="613571" cy="6135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62B320-86C8-4B42-84DA-0D82FD16688E}">
      <dsp:nvSpPr>
        <dsp:cNvPr id="0" name=""/>
        <dsp:cNvSpPr/>
      </dsp:nvSpPr>
      <dsp:spPr>
        <a:xfrm>
          <a:off x="1288500" y="2201"/>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High GPU/TPU Requirements</a:t>
          </a:r>
          <a:r>
            <a:rPr lang="en-GB" sz="1400" kern="1200" dirty="0"/>
            <a:t>: Training and deploying generative AI models require powerful hardware, such as GPUs (Graphics Processing Units) or TPUs (Tensor Processing Units). These specialized processors are necessary to handle the parallel computations required by deep learning, which significantly increases hardware costs.</a:t>
          </a:r>
          <a:endParaRPr lang="en-US" sz="1400" kern="1200" dirty="0"/>
        </a:p>
      </dsp:txBody>
      <dsp:txXfrm>
        <a:off x="1288500" y="2201"/>
        <a:ext cx="8752793" cy="1115585"/>
      </dsp:txXfrm>
    </dsp:sp>
    <dsp:sp modelId="{C6486FE4-EBDA-4D12-AE73-2CA1AD996CB2}">
      <dsp:nvSpPr>
        <dsp:cNvPr id="0" name=""/>
        <dsp:cNvSpPr/>
      </dsp:nvSpPr>
      <dsp:spPr>
        <a:xfrm>
          <a:off x="0" y="1396682"/>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F80DC-5E0F-4E6C-A672-1A6EE4FE44E1}">
      <dsp:nvSpPr>
        <dsp:cNvPr id="0" name=""/>
        <dsp:cNvSpPr/>
      </dsp:nvSpPr>
      <dsp:spPr>
        <a:xfrm>
          <a:off x="337464" y="1647689"/>
          <a:ext cx="613571" cy="6135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40D737-07CB-4D47-B22A-93DFF7AB7134}">
      <dsp:nvSpPr>
        <dsp:cNvPr id="0" name=""/>
        <dsp:cNvSpPr/>
      </dsp:nvSpPr>
      <dsp:spPr>
        <a:xfrm>
          <a:off x="1288500" y="1396682"/>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Memory and Storage Needs</a:t>
          </a:r>
          <a:r>
            <a:rPr lang="en-GB" sz="1400" kern="1200" dirty="0"/>
            <a:t>: Generative AI models often have billions of parameters, which require large amounts of memory and storage to operate. This can present challenges for organizations that lack the necessary infrastructure to store or manage these large models effectively. Moreover, the storage needs also extend to datasets, which can be vast and require careful management to ensure efficiency.</a:t>
          </a:r>
          <a:endParaRPr lang="en-US" sz="1400" kern="1200" dirty="0"/>
        </a:p>
      </dsp:txBody>
      <dsp:txXfrm>
        <a:off x="1288500" y="1396682"/>
        <a:ext cx="8752793" cy="1115585"/>
      </dsp:txXfrm>
    </dsp:sp>
    <dsp:sp modelId="{D19BA63A-3C25-4D0F-911E-D805D05F8162}">
      <dsp:nvSpPr>
        <dsp:cNvPr id="0" name=""/>
        <dsp:cNvSpPr/>
      </dsp:nvSpPr>
      <dsp:spPr>
        <a:xfrm>
          <a:off x="0" y="2791164"/>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7AB25-C62D-495B-AB3E-0A9868562919}">
      <dsp:nvSpPr>
        <dsp:cNvPr id="0" name=""/>
        <dsp:cNvSpPr/>
      </dsp:nvSpPr>
      <dsp:spPr>
        <a:xfrm>
          <a:off x="337464" y="3042170"/>
          <a:ext cx="613571" cy="6135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F5084-126D-4571-99F0-F8985802A98F}">
      <dsp:nvSpPr>
        <dsp:cNvPr id="0" name=""/>
        <dsp:cNvSpPr/>
      </dsp:nvSpPr>
      <dsp:spPr>
        <a:xfrm>
          <a:off x="1288500" y="2791164"/>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Cloud Infrastructure Costs</a:t>
          </a:r>
          <a:r>
            <a:rPr lang="en-GB" sz="1400" kern="1200" dirty="0"/>
            <a:t>: The use of cloud infrastructure to manage and run generative AI models can result in substantial costs, particularly if models need to be accessed frequently or deployed at scale. Cloud resources, such as those offered by AWS, Azure, or Google Cloud, allow for flexible scaling, but they can also lead to unpredictably high expenses, especially when dealing with continuous training or large-scale inference.</a:t>
          </a:r>
          <a:endParaRPr lang="en-US" sz="1400" kern="1200" dirty="0"/>
        </a:p>
      </dsp:txBody>
      <dsp:txXfrm>
        <a:off x="1288500" y="2791164"/>
        <a:ext cx="8752793" cy="1115585"/>
      </dsp:txXfrm>
    </dsp:sp>
    <dsp:sp modelId="{941C97C2-E99D-4168-93A0-456F69261F51}">
      <dsp:nvSpPr>
        <dsp:cNvPr id="0" name=""/>
        <dsp:cNvSpPr/>
      </dsp:nvSpPr>
      <dsp:spPr>
        <a:xfrm>
          <a:off x="0" y="4185645"/>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C34B86-CCB0-4F9F-86E5-8E46DE7923C8}">
      <dsp:nvSpPr>
        <dsp:cNvPr id="0" name=""/>
        <dsp:cNvSpPr/>
      </dsp:nvSpPr>
      <dsp:spPr>
        <a:xfrm>
          <a:off x="337464" y="4436652"/>
          <a:ext cx="613571" cy="6135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10A107-819F-4328-A49E-02C106B5FEBF}">
      <dsp:nvSpPr>
        <dsp:cNvPr id="0" name=""/>
        <dsp:cNvSpPr/>
      </dsp:nvSpPr>
      <dsp:spPr>
        <a:xfrm>
          <a:off x="1288500" y="4185645"/>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Carbon Footprint</a:t>
          </a:r>
          <a:r>
            <a:rPr lang="en-GB" sz="1400" kern="1200" dirty="0"/>
            <a:t>: The carbon footprint associated with the power consumed by AI model training is a growing concern. Data </a:t>
          </a:r>
          <a:r>
            <a:rPr lang="en-GB" sz="1400" kern="1200" dirty="0" err="1"/>
            <a:t>centers</a:t>
          </a:r>
          <a:r>
            <a:rPr lang="en-GB" sz="1400" kern="1200" dirty="0"/>
            <a:t> that power AI computations require considerable electricity, and unless renewable energy sources are used, this contributes to greenhouse gas emissions. This environmental impact is a key consideration in the responsible use of generative AI.</a:t>
          </a:r>
          <a:endParaRPr lang="en-US" sz="1400" kern="1200" dirty="0"/>
        </a:p>
      </dsp:txBody>
      <dsp:txXfrm>
        <a:off x="1288500" y="4185645"/>
        <a:ext cx="8752793" cy="111558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E4950-9AC6-4C77-A8AC-14E87A0ECB13}" type="datetimeFigureOut">
              <a:rPr lang="en-GB" smtClean="0"/>
              <a:t>03/03/2026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5E323-AB31-4497-8508-4AB12075DD5B}" type="slidenum">
              <a:rPr lang="en-GB" smtClean="0"/>
              <a:t>‹#›</a:t>
            </a:fld>
            <a:endParaRPr lang="en-GB"/>
          </a:p>
        </p:txBody>
      </p:sp>
    </p:spTree>
    <p:extLst>
      <p:ext uri="{BB962C8B-B14F-4D97-AF65-F5344CB8AC3E}">
        <p14:creationId xmlns:p14="http://schemas.microsoft.com/office/powerpoint/2010/main" val="404167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Summarisation, audit log of conversations, safety, ethics and bias checks </a:t>
            </a:r>
          </a:p>
        </p:txBody>
      </p:sp>
      <p:sp>
        <p:nvSpPr>
          <p:cNvPr id="4" name="Slide Number Placeholder 3"/>
          <p:cNvSpPr>
            <a:spLocks noGrp="1"/>
          </p:cNvSpPr>
          <p:nvPr>
            <p:ph type="sldNum" sz="quarter" idx="5"/>
          </p:nvPr>
        </p:nvSpPr>
        <p:spPr/>
        <p:txBody>
          <a:bodyPr/>
          <a:lstStyle/>
          <a:p>
            <a:fld id="{E37BC8E8-FBCC-4822-9A14-64F7179E959A}" type="slidenum">
              <a:rPr lang="en-GB" smtClean="0"/>
              <a:t>15</a:t>
            </a:fld>
            <a:endParaRPr lang="en-GB"/>
          </a:p>
        </p:txBody>
      </p:sp>
    </p:spTree>
    <p:extLst>
      <p:ext uri="{BB962C8B-B14F-4D97-AF65-F5344CB8AC3E}">
        <p14:creationId xmlns:p14="http://schemas.microsoft.com/office/powerpoint/2010/main" val="1666296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https://platform.claude.com/</a:t>
            </a:r>
          </a:p>
        </p:txBody>
      </p:sp>
      <p:sp>
        <p:nvSpPr>
          <p:cNvPr id="4" name="Slide Number Placeholder 3"/>
          <p:cNvSpPr>
            <a:spLocks noGrp="1"/>
          </p:cNvSpPr>
          <p:nvPr>
            <p:ph type="sldNum" sz="quarter" idx="5"/>
          </p:nvPr>
        </p:nvSpPr>
        <p:spPr/>
        <p:txBody>
          <a:bodyPr/>
          <a:lstStyle/>
          <a:p>
            <a:fld id="{E37BC8E8-FBCC-4822-9A14-64F7179E959A}" type="slidenum">
              <a:rPr lang="en-GB" smtClean="0"/>
              <a:t>21</a:t>
            </a:fld>
            <a:endParaRPr lang="en-GB"/>
          </a:p>
        </p:txBody>
      </p:sp>
    </p:spTree>
    <p:extLst>
      <p:ext uri="{BB962C8B-B14F-4D97-AF65-F5344CB8AC3E}">
        <p14:creationId xmlns:p14="http://schemas.microsoft.com/office/powerpoint/2010/main" val="1226053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adoption of generative AI in software production presents significant quality control challenges. Generative models like Large Language Models (LLMs) generate outputs that are not always consistent in quality, which can result in unpredictable or erroneous code. The complexity of AI-generated code often surpasses that of manually crafted code, leading to the following issues:</a:t>
            </a:r>
          </a:p>
          <a:p>
            <a:pPr>
              <a:buFont typeface="Arial" panose="020B0604020202020204" pitchFamily="34" charset="0"/>
              <a:buChar char="•"/>
            </a:pPr>
            <a:r>
              <a:rPr lang="en-GB" b="1" dirty="0"/>
              <a:t>Unpredictable Outputs</a:t>
            </a:r>
            <a:r>
              <a:rPr lang="en-GB" dirty="0"/>
              <a:t>: Generative AI models may produce code that is syntactically correct but logically flawed. The resulting errors can be subtle and difficult to detect during traditional code reviews, leading to potential bugs that are hard to isolate.</a:t>
            </a:r>
          </a:p>
          <a:p>
            <a:pPr>
              <a:buFont typeface="Arial" panose="020B0604020202020204" pitchFamily="34" charset="0"/>
              <a:buChar char="•"/>
            </a:pPr>
            <a:r>
              <a:rPr lang="en-GB" b="1" dirty="0"/>
              <a:t>Difficult Debugging</a:t>
            </a:r>
            <a:r>
              <a:rPr lang="en-GB" dirty="0"/>
              <a:t>: Debugging AI-generated code can be particularly challenging because the logic behind the generated segments is not always clear to developers. Unlike human-written code, which is often accompanied by a rationale, AI-generated code might lack the context needed for easy troubleshooting.</a:t>
            </a:r>
          </a:p>
          <a:p>
            <a:pPr>
              <a:buFont typeface="Arial" panose="020B0604020202020204" pitchFamily="34" charset="0"/>
              <a:buChar char="•"/>
            </a:pPr>
            <a:r>
              <a:rPr lang="en-GB" b="1" dirty="0"/>
              <a:t>Testing Complexity</a:t>
            </a:r>
            <a:r>
              <a:rPr lang="en-GB" dirty="0"/>
              <a:t>: Ensuring that AI-generated code is properly tested requires comprehensive test coverage. Automated testing strategies must be adapted to account for the unique characteristics of generative AI outputs, with a focus on edge cases and unexpected scenarios.</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r>
              <a:rPr lang="en-GB" b="1" dirty="0"/>
              <a:t>Inconsistency Across Versions</a:t>
            </a:r>
            <a:r>
              <a:rPr lang="en-GB" dirty="0"/>
              <a:t>: Generative AI might produce inconsistent results across multiple iterations or versions of a project, making it difficult to maintain software stability over time.</a:t>
            </a:r>
          </a:p>
          <a:p>
            <a:pPr>
              <a:buFont typeface="Arial" panose="020B0604020202020204" pitchFamily="34" charset="0"/>
              <a:buChar char="•"/>
            </a:pPr>
            <a:r>
              <a:rPr lang="en-GB" b="1" dirty="0"/>
              <a:t>Lack of Determinism</a:t>
            </a:r>
            <a:r>
              <a:rPr lang="en-GB" dirty="0"/>
              <a:t>: Unlike traditional programming approaches, where the </a:t>
            </a:r>
            <a:r>
              <a:rPr lang="en-GB" dirty="0" err="1"/>
              <a:t>behavior</a:t>
            </a:r>
            <a:r>
              <a:rPr lang="en-GB" dirty="0"/>
              <a:t> of code is predictable, generative AI can introduce non-deterministic </a:t>
            </a:r>
            <a:r>
              <a:rPr lang="en-GB" dirty="0" err="1"/>
              <a:t>behavior</a:t>
            </a:r>
            <a:r>
              <a:rPr lang="en-GB" dirty="0"/>
              <a:t>. This unpredictability makes it challenging to replicate issues, which complicates debugging and maintenance.</a:t>
            </a:r>
          </a:p>
          <a:p>
            <a:pPr>
              <a:buFont typeface="Arial" panose="020B0604020202020204" pitchFamily="34" charset="0"/>
              <a:buChar char="•"/>
            </a:pPr>
            <a:r>
              <a:rPr lang="en-GB" b="1" dirty="0"/>
              <a:t>Model Drift</a:t>
            </a:r>
            <a:r>
              <a:rPr lang="en-GB" dirty="0"/>
              <a:t>: Over time, generative models may experience 'model drift' where their performance changes due to updates or changes in the training data. This drift can result in the generation of unreliable code that diverges from established software quality standards.</a:t>
            </a:r>
          </a:p>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23</a:t>
            </a:fld>
            <a:endParaRPr lang="en-GB"/>
          </a:p>
        </p:txBody>
      </p:sp>
    </p:spTree>
    <p:extLst>
      <p:ext uri="{BB962C8B-B14F-4D97-AF65-F5344CB8AC3E}">
        <p14:creationId xmlns:p14="http://schemas.microsoft.com/office/powerpoint/2010/main" val="2418925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 Weakness Enumeration (CWE) </a:t>
            </a:r>
            <a:r>
              <a:rPr lang="en-GB" b="0" i="0" dirty="0">
                <a:solidFill>
                  <a:srgbClr val="202122"/>
                </a:solidFill>
                <a:effectLst/>
                <a:latin typeface="Arial" panose="020B0604020202020204" pitchFamily="34" charset="0"/>
              </a:rPr>
              <a:t>is a category system for hardware and software weaknesses and vulnerabilities. It is sustained by a community project with the goals of understanding flaws in software and hardware and creating automated tools that can be used to identify, fix, and prevent those flaws.</a:t>
            </a:r>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25</a:t>
            </a:fld>
            <a:endParaRPr lang="en-GB"/>
          </a:p>
        </p:txBody>
      </p:sp>
    </p:spTree>
    <p:extLst>
      <p:ext uri="{BB962C8B-B14F-4D97-AF65-F5344CB8AC3E}">
        <p14:creationId xmlns:p14="http://schemas.microsoft.com/office/powerpoint/2010/main" val="3373131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26</a:t>
            </a:fld>
            <a:endParaRPr lang="en-GB"/>
          </a:p>
        </p:txBody>
      </p:sp>
    </p:spTree>
    <p:extLst>
      <p:ext uri="{BB962C8B-B14F-4D97-AF65-F5344CB8AC3E}">
        <p14:creationId xmlns:p14="http://schemas.microsoft.com/office/powerpoint/2010/main" val="270170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27</a:t>
            </a:fld>
            <a:endParaRPr lang="en-GB"/>
          </a:p>
        </p:txBody>
      </p:sp>
    </p:spTree>
    <p:extLst>
      <p:ext uri="{BB962C8B-B14F-4D97-AF65-F5344CB8AC3E}">
        <p14:creationId xmlns:p14="http://schemas.microsoft.com/office/powerpoint/2010/main" val="2946905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28</a:t>
            </a:fld>
            <a:endParaRPr lang="en-GB"/>
          </a:p>
        </p:txBody>
      </p:sp>
    </p:spTree>
    <p:extLst>
      <p:ext uri="{BB962C8B-B14F-4D97-AF65-F5344CB8AC3E}">
        <p14:creationId xmlns:p14="http://schemas.microsoft.com/office/powerpoint/2010/main" val="41869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29</a:t>
            </a:fld>
            <a:endParaRPr lang="en-GB"/>
          </a:p>
        </p:txBody>
      </p:sp>
    </p:spTree>
    <p:extLst>
      <p:ext uri="{BB962C8B-B14F-4D97-AF65-F5344CB8AC3E}">
        <p14:creationId xmlns:p14="http://schemas.microsoft.com/office/powerpoint/2010/main" val="3487583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30</a:t>
            </a:fld>
            <a:endParaRPr lang="en-GB"/>
          </a:p>
        </p:txBody>
      </p:sp>
    </p:spTree>
    <p:extLst>
      <p:ext uri="{BB962C8B-B14F-4D97-AF65-F5344CB8AC3E}">
        <p14:creationId xmlns:p14="http://schemas.microsoft.com/office/powerpoint/2010/main" val="1853261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31</a:t>
            </a:fld>
            <a:endParaRPr lang="en-GB"/>
          </a:p>
        </p:txBody>
      </p:sp>
    </p:spTree>
    <p:extLst>
      <p:ext uri="{BB962C8B-B14F-4D97-AF65-F5344CB8AC3E}">
        <p14:creationId xmlns:p14="http://schemas.microsoft.com/office/powerpoint/2010/main" val="705670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32</a:t>
            </a:fld>
            <a:endParaRPr lang="en-GB"/>
          </a:p>
        </p:txBody>
      </p:sp>
    </p:spTree>
    <p:extLst>
      <p:ext uri="{BB962C8B-B14F-4D97-AF65-F5344CB8AC3E}">
        <p14:creationId xmlns:p14="http://schemas.microsoft.com/office/powerpoint/2010/main" val="3336466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6081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166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911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25075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901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99805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5046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0488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34788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24438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6479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rtlCol="0"/>
          <a:lstStyle>
            <a:lvl1pPr marL="0" indent="0" algn="ctr">
              <a:buNone/>
              <a:defRPr>
                <a:solidFill>
                  <a:schemeClr val="tx1"/>
                </a:solidFill>
              </a:defRPr>
            </a:lvl1pPr>
          </a:lstStyle>
          <a:p>
            <a:pPr rtl="0"/>
            <a:r>
              <a:rPr lang="en-GB" noProof="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rtlCol="0">
            <a:noAutofit/>
          </a:bodyPr>
          <a:lstStyle>
            <a:lvl1pPr algn="ctr">
              <a:defRPr sz="5400">
                <a:ln w="19050">
                  <a:solidFill>
                    <a:schemeClr val="accent5"/>
                  </a:solidFill>
                </a:ln>
              </a:defRPr>
            </a:lvl1pPr>
          </a:lstStyle>
          <a:p>
            <a:pPr rtl="0"/>
            <a:r>
              <a:rPr lang="en-GB" noProof="0"/>
              <a:t>Click to add title</a:t>
            </a:r>
          </a:p>
        </p:txBody>
      </p:sp>
    </p:spTree>
    <p:extLst>
      <p:ext uri="{BB962C8B-B14F-4D97-AF65-F5344CB8AC3E}">
        <p14:creationId xmlns:p14="http://schemas.microsoft.com/office/powerpoint/2010/main" val="891979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2255660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interpath.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cursor.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ws.amazon.com/bedrock/" TargetMode="Externa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hyperlink" Target="https://medium.com/@bageshwar.kumar/airflow-architecture-a-deep-dive-into-data-pipeline-orchestration-217dd2dbc1c3" TargetMode="External"/><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linkedin.com/pulse/power-human-loop-finance-artificial-intelligence-theoremlabs-io-ep3gc/"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linkedin.com/pulse/tech-stack-gen-ai-rahul-kumar-3riac/" TargetMode="Externa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arxiv.org/abs/2402.01822" TargetMode="External"/><Relationship Id="rId3" Type="http://schemas.openxmlformats.org/officeDocument/2006/relationships/hyperlink" Target="https://www.softserveinc.com/en-us/blog/introducing-a-gen-ai-powered-chat-integration" TargetMode="External"/><Relationship Id="rId7" Type="http://schemas.openxmlformats.org/officeDocument/2006/relationships/hyperlink" Target="https://medium.com/@bageshwar.kumar/airflow-architecture-a-deep-dive-into-data-pipeline-orchestration-217dd2dbc1c3"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aws.amazon.com/bedrock/" TargetMode="External"/><Relationship Id="rId5" Type="http://schemas.openxmlformats.org/officeDocument/2006/relationships/hyperlink" Target="https://githubnext.com/projects/github-spark" TargetMode="External"/><Relationship Id="rId4" Type="http://schemas.openxmlformats.org/officeDocument/2006/relationships/hyperlink" Target="https://www.cursor.com/" TargetMode="External"/><Relationship Id="rId9" Type="http://schemas.openxmlformats.org/officeDocument/2006/relationships/hyperlink" Target="https://arxiv.org/abs/2406.12513"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dev.lucenai.co.uk/workspace/new-factory-dem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3786947-7A14-E3CC-8C01-EF03FA35A214}"/>
              </a:ext>
            </a:extLst>
          </p:cNvPr>
          <p:cNvSpPr>
            <a:spLocks noGrp="1"/>
          </p:cNvSpPr>
          <p:nvPr>
            <p:ph type="ctrTitle"/>
          </p:nvPr>
        </p:nvSpPr>
        <p:spPr/>
        <p:txBody>
          <a:bodyPr/>
          <a:lstStyle/>
          <a:p>
            <a:endParaRPr lang="el-GR"/>
          </a:p>
        </p:txBody>
      </p:sp>
      <p:sp>
        <p:nvSpPr>
          <p:cNvPr id="3" name="Υπότιτλος 2">
            <a:extLst>
              <a:ext uri="{FF2B5EF4-FFF2-40B4-BE49-F238E27FC236}">
                <a16:creationId xmlns:a16="http://schemas.microsoft.com/office/drawing/2014/main" id="{5AB5611F-EA8C-5214-B6DE-A6835979A83D}"/>
              </a:ext>
            </a:extLst>
          </p:cNvPr>
          <p:cNvSpPr>
            <a:spLocks noGrp="1"/>
          </p:cNvSpPr>
          <p:nvPr>
            <p:ph type="subTitle" idx="1"/>
          </p:nvPr>
        </p:nvSpPr>
        <p:spPr/>
        <p:txBody>
          <a:bodyPr/>
          <a:lstStyle/>
          <a:p>
            <a:endParaRPr lang="el-GR"/>
          </a:p>
        </p:txBody>
      </p:sp>
      <p:pic>
        <p:nvPicPr>
          <p:cNvPr id="5" name="Εικόνα 4">
            <a:extLst>
              <a:ext uri="{FF2B5EF4-FFF2-40B4-BE49-F238E27FC236}">
                <a16:creationId xmlns:a16="http://schemas.microsoft.com/office/drawing/2014/main" id="{57C2F8B1-D2EC-A790-0972-940E28DC6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0" y="-587053"/>
            <a:ext cx="12380359" cy="8253572"/>
          </a:xfrm>
          <a:prstGeom prst="rect">
            <a:avLst/>
          </a:prstGeom>
        </p:spPr>
      </p:pic>
    </p:spTree>
    <p:extLst>
      <p:ext uri="{BB962C8B-B14F-4D97-AF65-F5344CB8AC3E}">
        <p14:creationId xmlns:p14="http://schemas.microsoft.com/office/powerpoint/2010/main" val="41287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24C46-CD76-2B85-70AB-C33F2A558074}"/>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1B5633AE-7ABB-F3F7-5372-1F8289037F5F}"/>
              </a:ext>
            </a:extLst>
          </p:cNvPr>
          <p:cNvSpPr>
            <a:spLocks noGrp="1"/>
          </p:cNvSpPr>
          <p:nvPr>
            <p:ph idx="1"/>
          </p:nvPr>
        </p:nvSpPr>
        <p:spPr/>
        <p:txBody>
          <a:bodyPr/>
          <a:lstStyle/>
          <a:p>
            <a:r>
              <a:rPr lang="en-GB" dirty="0"/>
              <a:t>Agentic AI</a:t>
            </a:r>
          </a:p>
          <a:p>
            <a:endParaRPr lang="en-GB" dirty="0"/>
          </a:p>
          <a:p>
            <a:r>
              <a:rPr lang="en-GB" dirty="0"/>
              <a:t>AI opportunities and challenges for business</a:t>
            </a:r>
          </a:p>
          <a:p>
            <a:endParaRPr lang="en-GB" dirty="0"/>
          </a:p>
          <a:p>
            <a:r>
              <a:rPr lang="en-GB" dirty="0"/>
              <a:t>A case study in finance </a:t>
            </a:r>
          </a:p>
          <a:p>
            <a:endParaRPr lang="en-GB" dirty="0"/>
          </a:p>
          <a:p>
            <a:r>
              <a:rPr lang="en-GB" dirty="0"/>
              <a:t>AI for </a:t>
            </a:r>
            <a:r>
              <a:rPr lang="en-GB"/>
              <a:t>software engineering </a:t>
            </a:r>
            <a:endParaRPr lang="en-GB" dirty="0"/>
          </a:p>
          <a:p>
            <a:endParaRPr lang="en-GB" dirty="0"/>
          </a:p>
          <a:p>
            <a:r>
              <a:rPr lang="en-GB" dirty="0"/>
              <a:t>Challenges and future research</a:t>
            </a:r>
            <a:endParaRPr lang="en-GB" dirty="0"/>
          </a:p>
        </p:txBody>
      </p:sp>
    </p:spTree>
    <p:extLst>
      <p:ext uri="{BB962C8B-B14F-4D97-AF65-F5344CB8AC3E}">
        <p14:creationId xmlns:p14="http://schemas.microsoft.com/office/powerpoint/2010/main" val="375634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46E6-BF02-C323-E7E5-EC436C14F720}"/>
              </a:ext>
            </a:extLst>
          </p:cNvPr>
          <p:cNvSpPr>
            <a:spLocks noGrp="1"/>
          </p:cNvSpPr>
          <p:nvPr>
            <p:ph type="title"/>
          </p:nvPr>
        </p:nvSpPr>
        <p:spPr/>
        <p:txBody>
          <a:bodyPr/>
          <a:lstStyle/>
          <a:p>
            <a:r>
              <a:rPr lang="en-GB" dirty="0"/>
              <a:t>The AI Revolution</a:t>
            </a:r>
          </a:p>
        </p:txBody>
      </p:sp>
      <p:pic>
        <p:nvPicPr>
          <p:cNvPr id="5" name="Picture 4">
            <a:extLst>
              <a:ext uri="{FF2B5EF4-FFF2-40B4-BE49-F238E27FC236}">
                <a16:creationId xmlns:a16="http://schemas.microsoft.com/office/drawing/2014/main" id="{ADD9DFD9-A6D4-8E22-379D-95A73B3B4D0B}"/>
              </a:ext>
            </a:extLst>
          </p:cNvPr>
          <p:cNvPicPr>
            <a:picLocks noChangeAspect="1"/>
          </p:cNvPicPr>
          <p:nvPr/>
        </p:nvPicPr>
        <p:blipFill>
          <a:blip r:embed="rId2"/>
          <a:stretch>
            <a:fillRect/>
          </a:stretch>
        </p:blipFill>
        <p:spPr>
          <a:xfrm>
            <a:off x="1137367" y="1314155"/>
            <a:ext cx="9237556" cy="5410916"/>
          </a:xfrm>
          <a:prstGeom prst="rect">
            <a:avLst/>
          </a:prstGeom>
        </p:spPr>
      </p:pic>
    </p:spTree>
    <p:extLst>
      <p:ext uri="{BB962C8B-B14F-4D97-AF65-F5344CB8AC3E}">
        <p14:creationId xmlns:p14="http://schemas.microsoft.com/office/powerpoint/2010/main" val="271246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2A08-4A81-9721-F801-30267F90E822}"/>
              </a:ext>
            </a:extLst>
          </p:cNvPr>
          <p:cNvSpPr>
            <a:spLocks noGrp="1"/>
          </p:cNvSpPr>
          <p:nvPr>
            <p:ph type="title"/>
          </p:nvPr>
        </p:nvSpPr>
        <p:spPr/>
        <p:txBody>
          <a:bodyPr/>
          <a:lstStyle/>
          <a:p>
            <a:r>
              <a:rPr lang="en-GB" dirty="0"/>
              <a:t>Agentic AI</a:t>
            </a:r>
          </a:p>
        </p:txBody>
      </p:sp>
      <p:sp>
        <p:nvSpPr>
          <p:cNvPr id="3" name="Content Placeholder 2">
            <a:extLst>
              <a:ext uri="{FF2B5EF4-FFF2-40B4-BE49-F238E27FC236}">
                <a16:creationId xmlns:a16="http://schemas.microsoft.com/office/drawing/2014/main" id="{CF89AF9F-236A-8F04-34C8-CC9F23504DC8}"/>
              </a:ext>
            </a:extLst>
          </p:cNvPr>
          <p:cNvSpPr>
            <a:spLocks noGrp="1"/>
          </p:cNvSpPr>
          <p:nvPr>
            <p:ph idx="1"/>
          </p:nvPr>
        </p:nvSpPr>
        <p:spPr>
          <a:xfrm>
            <a:off x="612647" y="3962400"/>
            <a:ext cx="10653579" cy="2346960"/>
          </a:xfrm>
        </p:spPr>
        <p:txBody>
          <a:bodyPr/>
          <a:lstStyle/>
          <a:p>
            <a:r>
              <a:rPr lang="en-GB" dirty="0"/>
              <a:t>Agentic AI refers to AI systems that can autonomously plan, reason, and take actions to achieve goals by </a:t>
            </a:r>
            <a:r>
              <a:rPr lang="en-GB" b="1" dirty="0">
                <a:solidFill>
                  <a:schemeClr val="accent3"/>
                </a:solidFill>
              </a:rPr>
              <a:t>using tools</a:t>
            </a:r>
            <a:r>
              <a:rPr lang="en-GB" dirty="0"/>
              <a:t>, interacting with external systems, and adapting through </a:t>
            </a:r>
            <a:r>
              <a:rPr lang="en-GB" b="1" dirty="0">
                <a:solidFill>
                  <a:schemeClr val="accent3"/>
                </a:solidFill>
              </a:rPr>
              <a:t>memory and feedback</a:t>
            </a:r>
            <a:r>
              <a:rPr lang="en-GB" dirty="0"/>
              <a:t>. Unlike traditional AI or standalone LLMs, agentic AI operates as a coordinated set of intelligent agents capable of </a:t>
            </a:r>
            <a:r>
              <a:rPr lang="en-GB" b="1" dirty="0">
                <a:solidFill>
                  <a:schemeClr val="accent3"/>
                </a:solidFill>
              </a:rPr>
              <a:t>multi-step decision-making</a:t>
            </a:r>
            <a:r>
              <a:rPr lang="en-GB" dirty="0"/>
              <a:t>, workflow execution, and domain-aware problem solving.</a:t>
            </a:r>
          </a:p>
        </p:txBody>
      </p:sp>
      <p:pic>
        <p:nvPicPr>
          <p:cNvPr id="4" name="Picture 3">
            <a:extLst>
              <a:ext uri="{FF2B5EF4-FFF2-40B4-BE49-F238E27FC236}">
                <a16:creationId xmlns:a16="http://schemas.microsoft.com/office/drawing/2014/main" id="{45EFA398-D459-4A75-663B-09BF731611CC}"/>
              </a:ext>
            </a:extLst>
          </p:cNvPr>
          <p:cNvPicPr>
            <a:picLocks noChangeAspect="1"/>
          </p:cNvPicPr>
          <p:nvPr/>
        </p:nvPicPr>
        <p:blipFill>
          <a:blip r:embed="rId2"/>
          <a:stretch>
            <a:fillRect/>
          </a:stretch>
        </p:blipFill>
        <p:spPr>
          <a:xfrm>
            <a:off x="1776046" y="1488831"/>
            <a:ext cx="2145323" cy="2145323"/>
          </a:xfrm>
          <a:prstGeom prst="rect">
            <a:avLst/>
          </a:prstGeom>
        </p:spPr>
      </p:pic>
      <p:sp>
        <p:nvSpPr>
          <p:cNvPr id="5" name="TextBox 4">
            <a:extLst>
              <a:ext uri="{FF2B5EF4-FFF2-40B4-BE49-F238E27FC236}">
                <a16:creationId xmlns:a16="http://schemas.microsoft.com/office/drawing/2014/main" id="{60E44234-5D87-01C6-5C88-97574A88CC83}"/>
              </a:ext>
            </a:extLst>
          </p:cNvPr>
          <p:cNvSpPr txBox="1"/>
          <p:nvPr/>
        </p:nvSpPr>
        <p:spPr>
          <a:xfrm>
            <a:off x="4044461" y="1680898"/>
            <a:ext cx="7378943" cy="369332"/>
          </a:xfrm>
          <a:prstGeom prst="rect">
            <a:avLst/>
          </a:prstGeom>
          <a:noFill/>
        </p:spPr>
        <p:txBody>
          <a:bodyPr wrap="none" rtlCol="0">
            <a:spAutoFit/>
          </a:bodyPr>
          <a:lstStyle/>
          <a:p>
            <a:r>
              <a:rPr lang="en-GB" dirty="0"/>
              <a:t>What are the major differences between humans and other animals?</a:t>
            </a:r>
          </a:p>
        </p:txBody>
      </p:sp>
      <p:sp>
        <p:nvSpPr>
          <p:cNvPr id="6" name="TextBox 5">
            <a:extLst>
              <a:ext uri="{FF2B5EF4-FFF2-40B4-BE49-F238E27FC236}">
                <a16:creationId xmlns:a16="http://schemas.microsoft.com/office/drawing/2014/main" id="{2FABE2D3-9CB6-9C42-C666-014FF601F809}"/>
              </a:ext>
            </a:extLst>
          </p:cNvPr>
          <p:cNvSpPr txBox="1"/>
          <p:nvPr/>
        </p:nvSpPr>
        <p:spPr>
          <a:xfrm>
            <a:off x="4094912" y="2351491"/>
            <a:ext cx="8097088" cy="923330"/>
          </a:xfrm>
          <a:prstGeom prst="rect">
            <a:avLst/>
          </a:prstGeom>
          <a:noFill/>
        </p:spPr>
        <p:txBody>
          <a:bodyPr wrap="none" rtlCol="0">
            <a:spAutoFit/>
          </a:bodyPr>
          <a:lstStyle/>
          <a:p>
            <a:pPr marL="285750" indent="-285750">
              <a:buFont typeface="Arial" panose="020B0604020202020204" pitchFamily="34" charset="0"/>
              <a:buChar char="•"/>
            </a:pPr>
            <a:r>
              <a:rPr lang="en-GB" dirty="0"/>
              <a:t>Using tools efficiently, including combining several tools</a:t>
            </a:r>
          </a:p>
          <a:p>
            <a:pPr marL="285750" indent="-285750">
              <a:buFont typeface="Arial" panose="020B0604020202020204" pitchFamily="34" charset="0"/>
              <a:buChar char="•"/>
            </a:pPr>
            <a:r>
              <a:rPr lang="en-GB" dirty="0"/>
              <a:t>Logical reasoning using long-term memory and cause-effect feedback</a:t>
            </a:r>
          </a:p>
          <a:p>
            <a:pPr marL="285750" indent="-285750">
              <a:buFont typeface="Arial" panose="020B0604020202020204" pitchFamily="34" charset="0"/>
              <a:buChar char="•"/>
            </a:pPr>
            <a:r>
              <a:rPr lang="en-GB" dirty="0"/>
              <a:t>Multi-step thinking</a:t>
            </a:r>
          </a:p>
        </p:txBody>
      </p:sp>
    </p:spTree>
    <p:extLst>
      <p:ext uri="{BB962C8B-B14F-4D97-AF65-F5344CB8AC3E}">
        <p14:creationId xmlns:p14="http://schemas.microsoft.com/office/powerpoint/2010/main" val="117031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1CEFD5-6C4D-944C-B784-8345292785DB}"/>
              </a:ext>
            </a:extLst>
          </p:cNvPr>
          <p:cNvSpPr>
            <a:spLocks noGrp="1"/>
          </p:cNvSpPr>
          <p:nvPr>
            <p:ph type="title"/>
          </p:nvPr>
        </p:nvSpPr>
        <p:spPr>
          <a:xfrm>
            <a:off x="550984" y="0"/>
            <a:ext cx="10773508" cy="643467"/>
          </a:xfrm>
        </p:spPr>
        <p:txBody>
          <a:bodyPr vert="horz" lIns="91440" tIns="45720" rIns="91440" bIns="45720" rtlCol="0" anchor="b">
            <a:normAutofit/>
          </a:bodyPr>
          <a:lstStyle/>
          <a:p>
            <a:pPr algn="ctr"/>
            <a:r>
              <a:rPr lang="en-US" sz="3100" dirty="0"/>
              <a:t>Comparison: Traditional AI vs LLMs vs Agentic AI </a:t>
            </a:r>
          </a:p>
        </p:txBody>
      </p:sp>
      <p:graphicFrame>
        <p:nvGraphicFramePr>
          <p:cNvPr id="4" name="Content Placeholder 3">
            <a:extLst>
              <a:ext uri="{FF2B5EF4-FFF2-40B4-BE49-F238E27FC236}">
                <a16:creationId xmlns:a16="http://schemas.microsoft.com/office/drawing/2014/main" id="{DBEA583A-891B-46C9-C7A3-55426AA4DB9F}"/>
              </a:ext>
            </a:extLst>
          </p:cNvPr>
          <p:cNvGraphicFramePr>
            <a:graphicFrameLocks noGrp="1"/>
          </p:cNvGraphicFramePr>
          <p:nvPr>
            <p:ph idx="1"/>
            <p:extLst>
              <p:ext uri="{D42A27DB-BD31-4B8C-83A1-F6EECF244321}">
                <p14:modId xmlns:p14="http://schemas.microsoft.com/office/powerpoint/2010/main" val="3565586889"/>
              </p:ext>
            </p:extLst>
          </p:nvPr>
        </p:nvGraphicFramePr>
        <p:xfrm>
          <a:off x="651934" y="643467"/>
          <a:ext cx="11048999" cy="6038680"/>
        </p:xfrm>
        <a:graphic>
          <a:graphicData uri="http://schemas.openxmlformats.org/drawingml/2006/table">
            <a:tbl>
              <a:tblPr>
                <a:solidFill>
                  <a:schemeClr val="accent1">
                    <a:lumMod val="20000"/>
                    <a:lumOff val="80000"/>
                  </a:schemeClr>
                </a:solidFill>
              </a:tblPr>
              <a:tblGrid>
                <a:gridCol w="1826924">
                  <a:extLst>
                    <a:ext uri="{9D8B030D-6E8A-4147-A177-3AD203B41FA5}">
                      <a16:colId xmlns:a16="http://schemas.microsoft.com/office/drawing/2014/main" val="3164952737"/>
                    </a:ext>
                  </a:extLst>
                </a:gridCol>
                <a:gridCol w="2986004">
                  <a:extLst>
                    <a:ext uri="{9D8B030D-6E8A-4147-A177-3AD203B41FA5}">
                      <a16:colId xmlns:a16="http://schemas.microsoft.com/office/drawing/2014/main" val="2697792592"/>
                    </a:ext>
                  </a:extLst>
                </a:gridCol>
                <a:gridCol w="2864129">
                  <a:extLst>
                    <a:ext uri="{9D8B030D-6E8A-4147-A177-3AD203B41FA5}">
                      <a16:colId xmlns:a16="http://schemas.microsoft.com/office/drawing/2014/main" val="2574713527"/>
                    </a:ext>
                  </a:extLst>
                </a:gridCol>
                <a:gridCol w="3371942">
                  <a:extLst>
                    <a:ext uri="{9D8B030D-6E8A-4147-A177-3AD203B41FA5}">
                      <a16:colId xmlns:a16="http://schemas.microsoft.com/office/drawing/2014/main" val="2857182991"/>
                    </a:ext>
                  </a:extLst>
                </a:gridCol>
              </a:tblGrid>
              <a:tr h="268744">
                <a:tc>
                  <a:txBody>
                    <a:bodyPr/>
                    <a:lstStyle/>
                    <a:p>
                      <a:pPr>
                        <a:buNone/>
                      </a:pPr>
                      <a:r>
                        <a:rPr lang="en-GB" sz="800" b="1" cap="none" spc="0">
                          <a:solidFill>
                            <a:schemeClr val="tx1"/>
                          </a:solidFill>
                        </a:rPr>
                        <a:t>Feature</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Traditional AI Systems (Non-LLM)</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LLMs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Agentic AI Systems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52505432"/>
                  </a:ext>
                </a:extLst>
              </a:tr>
              <a:tr h="438300">
                <a:tc>
                  <a:txBody>
                    <a:bodyPr/>
                    <a:lstStyle/>
                    <a:p>
                      <a:pPr>
                        <a:buNone/>
                      </a:pPr>
                      <a:r>
                        <a:rPr lang="en-GB" sz="800" b="1" cap="none" spc="0">
                          <a:solidFill>
                            <a:schemeClr val="tx1"/>
                          </a:solidFill>
                        </a:rPr>
                        <a:t>Core Capability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Task-specific models (e.g., classification, prediction)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Natural language understanding and generation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Autonomous multi-step reasoning, planning, and execution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37450889"/>
                  </a:ext>
                </a:extLst>
              </a:tr>
              <a:tr h="438300">
                <a:tc>
                  <a:txBody>
                    <a:bodyPr/>
                    <a:lstStyle/>
                    <a:p>
                      <a:pPr>
                        <a:buNone/>
                      </a:pPr>
                      <a:r>
                        <a:rPr lang="en-GB" sz="800" b="1" cap="none" spc="0">
                          <a:solidFill>
                            <a:schemeClr val="tx1"/>
                          </a:solidFill>
                        </a:rPr>
                        <a:t>Flexibility / Generalisation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Limited — performs only the task it was trained for</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general-purpose and adaptable to many domains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Very high — dynamically adapts tasks, tools, and workflows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38562201"/>
                  </a:ext>
                </a:extLst>
              </a:tr>
              <a:tr h="438300">
                <a:tc>
                  <a:txBody>
                    <a:bodyPr/>
                    <a:lstStyle/>
                    <a:p>
                      <a:pPr>
                        <a:buNone/>
                      </a:pPr>
                      <a:r>
                        <a:rPr lang="en-GB" sz="800" b="1" cap="none" spc="0">
                          <a:solidFill>
                            <a:schemeClr val="tx1"/>
                          </a:solidFill>
                        </a:rPr>
                        <a:t>Autonomy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None — requires scripted logic or human-defined rules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Very low — responds only to user prompts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can plan, act, and iterate without direct human input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06334388"/>
                  </a:ext>
                </a:extLst>
              </a:tr>
              <a:tr h="438300">
                <a:tc>
                  <a:txBody>
                    <a:bodyPr/>
                    <a:lstStyle/>
                    <a:p>
                      <a:pPr>
                        <a:buNone/>
                      </a:pPr>
                      <a:r>
                        <a:rPr lang="en-GB" sz="800" b="1" cap="none" spc="0">
                          <a:solidFill>
                            <a:schemeClr val="tx1"/>
                          </a:solidFill>
                        </a:rPr>
                        <a:t>Learning Approach</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Supervised/unsupervised ML; requires structured data</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dirty="0">
                          <a:solidFill>
                            <a:schemeClr val="tx1"/>
                          </a:solidFill>
                        </a:rPr>
                        <a:t>Self-supervised on massive text datasets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Hybrid learning via LLM + tools + memory + domain rules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66928152"/>
                  </a:ext>
                </a:extLst>
              </a:tr>
              <a:tr h="608412">
                <a:tc>
                  <a:txBody>
                    <a:bodyPr/>
                    <a:lstStyle/>
                    <a:p>
                      <a:pPr>
                        <a:buNone/>
                      </a:pPr>
                      <a:r>
                        <a:rPr lang="en-GB" sz="800" b="1" cap="none" spc="0">
                          <a:solidFill>
                            <a:schemeClr val="tx1"/>
                          </a:solidFill>
                        </a:rPr>
                        <a:t>Memory &amp; Adaptation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 internal memory beyond model parameters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Minimal short-term context; no persistent memory</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Long-term memory (KG, embeddings, logs, rules) enabling continuous improvement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88236817"/>
                  </a:ext>
                </a:extLst>
              </a:tr>
              <a:tr h="438300">
                <a:tc>
                  <a:txBody>
                    <a:bodyPr/>
                    <a:lstStyle/>
                    <a:p>
                      <a:pPr>
                        <a:buNone/>
                      </a:pPr>
                      <a:r>
                        <a:rPr lang="en-GB" sz="800" b="1" cap="none" spc="0">
                          <a:solidFill>
                            <a:schemeClr val="tx1"/>
                          </a:solidFill>
                        </a:rPr>
                        <a:t>Reasoning 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Narrow reasoning (rule-based or statistical)</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Strong language-based reasoning but not always accurate</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Structured, verifiable reasoning using planning, tools, and logic</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83148444"/>
                  </a:ext>
                </a:extLst>
              </a:tr>
              <a:tr h="438300">
                <a:tc>
                  <a:txBody>
                    <a:bodyPr/>
                    <a:lstStyle/>
                    <a:p>
                      <a:pPr>
                        <a:buNone/>
                      </a:pPr>
                      <a:r>
                        <a:rPr lang="en-GB" sz="800" b="1" cap="none" spc="0">
                          <a:solidFill>
                            <a:schemeClr val="tx1"/>
                          </a:solidFill>
                        </a:rPr>
                        <a:t>Tool / API Integration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Manual integration via programming</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Can request tool calls (function calling) but needs an external application to run them</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Native tool use (API calls, databases, search, file systems)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14280360"/>
                  </a:ext>
                </a:extLst>
              </a:tr>
              <a:tr h="438300">
                <a:tc>
                  <a:txBody>
                    <a:bodyPr/>
                    <a:lstStyle/>
                    <a:p>
                      <a:pPr>
                        <a:buNone/>
                      </a:pPr>
                      <a:r>
                        <a:rPr lang="en-GB" sz="800" b="1" cap="none" spc="0">
                          <a:solidFill>
                            <a:schemeClr val="tx1"/>
                          </a:solidFill>
                        </a:rPr>
                        <a:t>Real-World Actions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Only through pre-programmed pipelines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Not capable of independent action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Executes tasks autonomously across systems and platforms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82044470"/>
                  </a:ext>
                </a:extLst>
              </a:tr>
              <a:tr h="438300">
                <a:tc>
                  <a:txBody>
                    <a:bodyPr/>
                    <a:lstStyle/>
                    <a:p>
                      <a:pPr>
                        <a:buNone/>
                      </a:pPr>
                      <a:r>
                        <a:rPr lang="en-GB" sz="800" b="1" cap="none" spc="0">
                          <a:solidFill>
                            <a:schemeClr val="tx1"/>
                          </a:solidFill>
                        </a:rPr>
                        <a:t>Scalability Across Domains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Low — each domain needs its own model</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Moderate to high — same LLM can be reused</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agents specialise and collaborate across domains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7813965"/>
                  </a:ext>
                </a:extLst>
              </a:tr>
              <a:tr h="608412">
                <a:tc>
                  <a:txBody>
                    <a:bodyPr/>
                    <a:lstStyle/>
                    <a:p>
                      <a:pPr>
                        <a:buNone/>
                      </a:pPr>
                      <a:r>
                        <a:rPr lang="en-GB" sz="800" b="1" cap="none" spc="0">
                          <a:solidFill>
                            <a:schemeClr val="tx1"/>
                          </a:solidFill>
                        </a:rPr>
                        <a:t>Explainability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Often transparent (decision trees, classical ML) or opaque (deep learning)</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Reasoning mostly implicit, often difficult to explain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Can provide explanations using structured reasoning and memory</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73717649"/>
                  </a:ext>
                </a:extLst>
              </a:tr>
              <a:tr h="438300">
                <a:tc>
                  <a:txBody>
                    <a:bodyPr/>
                    <a:lstStyle/>
                    <a:p>
                      <a:pPr>
                        <a:buNone/>
                      </a:pPr>
                      <a:r>
                        <a:rPr lang="en-GB" sz="800" b="1" cap="none" spc="0">
                          <a:solidFill>
                            <a:schemeClr val="tx1"/>
                          </a:solidFill>
                        </a:rPr>
                        <a:t>Human Interaction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Limited to UI/UX designed for one task</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Strong conversational interaction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Conversational + operational workflows + multi-agent orchestration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74563724"/>
                  </a:ext>
                </a:extLst>
              </a:tr>
              <a:tr h="608412">
                <a:tc>
                  <a:txBody>
                    <a:bodyPr/>
                    <a:lstStyle/>
                    <a:p>
                      <a:pPr>
                        <a:buNone/>
                      </a:pPr>
                      <a:r>
                        <a:rPr lang="en-GB" sz="800" b="1" cap="none" spc="0">
                          <a:solidFill>
                            <a:schemeClr val="tx1"/>
                          </a:solidFill>
                        </a:rPr>
                        <a:t>Typical Use Cases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Fraud detection, image classification, forecasting, optimisation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Chatbots, writing assistance, coding, Q&amp;A</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dirty="0">
                          <a:solidFill>
                            <a:schemeClr val="tx1"/>
                          </a:solidFill>
                        </a:rPr>
                        <a:t>Workflow automation, enterprise AI assistants, multi-tool orchestration, data integration, decision support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51492438"/>
                  </a:ext>
                </a:extLst>
              </a:tr>
            </a:tbl>
          </a:graphicData>
        </a:graphic>
      </p:graphicFrame>
    </p:spTree>
    <p:extLst>
      <p:ext uri="{BB962C8B-B14F-4D97-AF65-F5344CB8AC3E}">
        <p14:creationId xmlns:p14="http://schemas.microsoft.com/office/powerpoint/2010/main" val="364139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3C65F33A-1004-614B-FE86-88D80CCF635D}"/>
              </a:ext>
            </a:extLst>
          </p:cNvPr>
          <p:cNvPicPr>
            <a:picLocks noChangeAspect="1"/>
          </p:cNvPicPr>
          <p:nvPr/>
        </p:nvPicPr>
        <p:blipFill>
          <a:blip r:embed="rId2"/>
          <a:stretch>
            <a:fillRect/>
          </a:stretch>
        </p:blipFill>
        <p:spPr>
          <a:xfrm>
            <a:off x="114526" y="68262"/>
            <a:ext cx="6789369" cy="6721475"/>
          </a:xfrm>
          <a:prstGeom prst="rect">
            <a:avLst/>
          </a:prstGeom>
          <a:noFill/>
        </p:spPr>
      </p:pic>
      <p:sp>
        <p:nvSpPr>
          <p:cNvPr id="13" name="AutoShape 6" descr="Generated image">
            <a:extLst>
              <a:ext uri="{FF2B5EF4-FFF2-40B4-BE49-F238E27FC236}">
                <a16:creationId xmlns:a16="http://schemas.microsoft.com/office/drawing/2014/main" id="{727257EF-06C0-F010-240C-4D1E761C3D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Slide Number Placeholder 4" hidden="1">
            <a:extLst>
              <a:ext uri="{FF2B5EF4-FFF2-40B4-BE49-F238E27FC236}">
                <a16:creationId xmlns:a16="http://schemas.microsoft.com/office/drawing/2014/main" id="{2B41B0DC-4DB7-2C38-EAA3-990A8F4FB9E6}"/>
              </a:ext>
            </a:extLst>
          </p:cNvPr>
          <p:cNvSpPr>
            <a:spLocks noGrp="1"/>
          </p:cNvSpPr>
          <p:nvPr>
            <p:ph type="sldNum" sz="quarter" idx="4294967295"/>
          </p:nvPr>
        </p:nvSpPr>
        <p:spPr>
          <a:xfrm>
            <a:off x="8610600" y="6356350"/>
            <a:ext cx="2743200" cy="365125"/>
          </a:xfrm>
        </p:spPr>
        <p:txBody>
          <a:bodyPr anchor="ctr">
            <a:normAutofit/>
          </a:bodyPr>
          <a:lstStyle/>
          <a:p>
            <a:pPr rtl="0">
              <a:spcAft>
                <a:spcPts val="600"/>
              </a:spcAft>
            </a:pPr>
            <a:fld id="{A402E4C0-AD5E-4E8C-9F21-7CCE474BDCEB}" type="slidenum">
              <a:rPr lang="en-GB" noProof="0" smtClean="0"/>
              <a:pPr rtl="0">
                <a:spcAft>
                  <a:spcPts val="600"/>
                </a:spcAft>
              </a:pPr>
              <a:t>6</a:t>
            </a:fld>
            <a:endParaRPr lang="en-GB" noProof="0"/>
          </a:p>
        </p:txBody>
      </p:sp>
      <p:sp>
        <p:nvSpPr>
          <p:cNvPr id="30" name="TextBox 29">
            <a:extLst>
              <a:ext uri="{FF2B5EF4-FFF2-40B4-BE49-F238E27FC236}">
                <a16:creationId xmlns:a16="http://schemas.microsoft.com/office/drawing/2014/main" id="{75ACE807-8419-44A0-C0F6-035D3E8B3989}"/>
              </a:ext>
            </a:extLst>
          </p:cNvPr>
          <p:cNvSpPr txBox="1"/>
          <p:nvPr/>
        </p:nvSpPr>
        <p:spPr>
          <a:xfrm>
            <a:off x="6683418" y="2878475"/>
            <a:ext cx="5295951" cy="3477875"/>
          </a:xfrm>
          <a:prstGeom prst="rect">
            <a:avLst/>
          </a:prstGeom>
          <a:noFill/>
        </p:spPr>
        <p:txBody>
          <a:bodyPr wrap="square" rtlCol="0">
            <a:spAutoFit/>
          </a:bodyPr>
          <a:lstStyle/>
          <a:p>
            <a:r>
              <a:rPr lang="en-GB" sz="2800" b="1" dirty="0">
                <a:solidFill>
                  <a:schemeClr val="accent2">
                    <a:lumMod val="60000"/>
                    <a:lumOff val="40000"/>
                  </a:schemeClr>
                </a:solidFill>
              </a:rPr>
              <a:t>What we need</a:t>
            </a:r>
            <a:r>
              <a:rPr lang="en-GB" sz="2800" dirty="0"/>
              <a:t> </a:t>
            </a:r>
            <a:r>
              <a:rPr lang="en-GB" sz="2400" dirty="0"/>
              <a:t>is an enterprise AI framework/product/service that empowers businesses/organisations to build their own intelligent ecosystem — free from the common challenges of trust, scalability, reasoning, organisation context learning, and privacy governance.</a:t>
            </a:r>
          </a:p>
        </p:txBody>
      </p:sp>
      <p:sp>
        <p:nvSpPr>
          <p:cNvPr id="33" name="TextBox 32">
            <a:extLst>
              <a:ext uri="{FF2B5EF4-FFF2-40B4-BE49-F238E27FC236}">
                <a16:creationId xmlns:a16="http://schemas.microsoft.com/office/drawing/2014/main" id="{308B97F9-0F4D-62CD-8045-ACD1AF06C64D}"/>
              </a:ext>
            </a:extLst>
          </p:cNvPr>
          <p:cNvSpPr txBox="1"/>
          <p:nvPr/>
        </p:nvSpPr>
        <p:spPr>
          <a:xfrm>
            <a:off x="7518401" y="143931"/>
            <a:ext cx="4500000" cy="646331"/>
          </a:xfrm>
          <a:prstGeom prst="rect">
            <a:avLst/>
          </a:prstGeom>
          <a:noFill/>
        </p:spPr>
        <p:txBody>
          <a:bodyPr wrap="square" rtlCol="0">
            <a:spAutoFit/>
          </a:bodyPr>
          <a:lstStyle/>
          <a:p>
            <a:r>
              <a:rPr lang="en-GB" dirty="0"/>
              <a:t>Businesses aren’t yet confident to adopt AI, but it is a huge market</a:t>
            </a:r>
          </a:p>
        </p:txBody>
      </p:sp>
      <p:sp>
        <p:nvSpPr>
          <p:cNvPr id="34" name="Arrow: Right 33">
            <a:extLst>
              <a:ext uri="{FF2B5EF4-FFF2-40B4-BE49-F238E27FC236}">
                <a16:creationId xmlns:a16="http://schemas.microsoft.com/office/drawing/2014/main" id="{0D54A962-A453-86DD-6D24-F9139307B325}"/>
              </a:ext>
            </a:extLst>
          </p:cNvPr>
          <p:cNvSpPr/>
          <p:nvPr/>
        </p:nvSpPr>
        <p:spPr>
          <a:xfrm>
            <a:off x="5257800" y="330200"/>
            <a:ext cx="2260601"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E8DC3DDC-E693-1C23-9476-62F34A11892D}"/>
              </a:ext>
            </a:extLst>
          </p:cNvPr>
          <p:cNvPicPr>
            <a:picLocks noChangeAspect="1"/>
          </p:cNvPicPr>
          <p:nvPr/>
        </p:nvPicPr>
        <p:blipFill>
          <a:blip r:embed="rId3"/>
          <a:stretch>
            <a:fillRect/>
          </a:stretch>
        </p:blipFill>
        <p:spPr>
          <a:xfrm>
            <a:off x="6534549" y="771853"/>
            <a:ext cx="5657451" cy="1339631"/>
          </a:xfrm>
          <a:prstGeom prst="rect">
            <a:avLst/>
          </a:prstGeom>
        </p:spPr>
      </p:pic>
    </p:spTree>
    <p:extLst>
      <p:ext uri="{BB962C8B-B14F-4D97-AF65-F5344CB8AC3E}">
        <p14:creationId xmlns:p14="http://schemas.microsoft.com/office/powerpoint/2010/main" val="350825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5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8C73-F847-583E-780C-6A3F4AAEAD27}"/>
              </a:ext>
            </a:extLst>
          </p:cNvPr>
          <p:cNvSpPr>
            <a:spLocks noGrp="1"/>
          </p:cNvSpPr>
          <p:nvPr>
            <p:ph type="title"/>
          </p:nvPr>
        </p:nvSpPr>
        <p:spPr/>
        <p:txBody>
          <a:bodyPr/>
          <a:lstStyle/>
          <a:p>
            <a:r>
              <a:rPr lang="en-GB" dirty="0"/>
              <a:t>Agentic AI - Trustworthy</a:t>
            </a:r>
          </a:p>
        </p:txBody>
      </p:sp>
      <p:sp>
        <p:nvSpPr>
          <p:cNvPr id="3" name="Content Placeholder 2">
            <a:extLst>
              <a:ext uri="{FF2B5EF4-FFF2-40B4-BE49-F238E27FC236}">
                <a16:creationId xmlns:a16="http://schemas.microsoft.com/office/drawing/2014/main" id="{C90256DB-F2A4-8F5E-24F7-C4507BBFF7F5}"/>
              </a:ext>
            </a:extLst>
          </p:cNvPr>
          <p:cNvSpPr>
            <a:spLocks noGrp="1"/>
          </p:cNvSpPr>
          <p:nvPr>
            <p:ph idx="1"/>
          </p:nvPr>
        </p:nvSpPr>
        <p:spPr/>
        <p:txBody>
          <a:bodyPr/>
          <a:lstStyle/>
          <a:p>
            <a:r>
              <a:rPr lang="en-GB" dirty="0"/>
              <a:t>Agentic AI systems offer higher trustworthiness because they combine multiple safeguards that traditional AI models and standalone LLMs lack. They use structured reasoning, domain rules, and long-term memory to verify outputs, cross-check information, and correct errors. By integrating external tools, databases, and knowledge graphs, Agentic AI reduces hallucinations and produces evidence-based answers rather than relying solely on statistical text prediction. Their ability to validate results, maintain transparency in decision steps, and operate within defined workflows makes them significantly more reliable and auditable. This multi-layered approach to reasoning, verification, and accountability enables Agentic AI to deliver consistent, accurate, and context-aware outcomes—making it more trustworthy for real-world and safety-critical applications.</a:t>
            </a:r>
          </a:p>
        </p:txBody>
      </p:sp>
    </p:spTree>
    <p:extLst>
      <p:ext uri="{BB962C8B-B14F-4D97-AF65-F5344CB8AC3E}">
        <p14:creationId xmlns:p14="http://schemas.microsoft.com/office/powerpoint/2010/main" val="373612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8C29-F037-BC61-634D-645DD1194D7E}"/>
              </a:ext>
            </a:extLst>
          </p:cNvPr>
          <p:cNvSpPr>
            <a:spLocks noGrp="1"/>
          </p:cNvSpPr>
          <p:nvPr>
            <p:ph type="title"/>
          </p:nvPr>
        </p:nvSpPr>
        <p:spPr/>
        <p:txBody>
          <a:bodyPr/>
          <a:lstStyle/>
          <a:p>
            <a:r>
              <a:rPr lang="en-GB" dirty="0"/>
              <a:t>Agentic AI for Economics in General </a:t>
            </a:r>
          </a:p>
        </p:txBody>
      </p:sp>
      <p:sp>
        <p:nvSpPr>
          <p:cNvPr id="3" name="Content Placeholder 2">
            <a:extLst>
              <a:ext uri="{FF2B5EF4-FFF2-40B4-BE49-F238E27FC236}">
                <a16:creationId xmlns:a16="http://schemas.microsoft.com/office/drawing/2014/main" id="{678B5F88-2B75-DA3D-2D58-7605CEA21719}"/>
              </a:ext>
            </a:extLst>
          </p:cNvPr>
          <p:cNvSpPr>
            <a:spLocks noGrp="1"/>
          </p:cNvSpPr>
          <p:nvPr>
            <p:ph idx="1"/>
          </p:nvPr>
        </p:nvSpPr>
        <p:spPr/>
        <p:txBody>
          <a:bodyPr/>
          <a:lstStyle/>
          <a:p>
            <a:r>
              <a:rPr lang="en-GB" dirty="0"/>
              <a:t>As a data scientist (Connecting and Preparing the data, Data Analysis, Data Visualisation, Prediction Model Generation and Reasoning)</a:t>
            </a:r>
          </a:p>
          <a:p>
            <a:endParaRPr lang="en-GB" dirty="0"/>
          </a:p>
          <a:p>
            <a:r>
              <a:rPr lang="en-GB" dirty="0"/>
              <a:t>As a literature-study tutor to support researchers focusing on more complex analytical work, thereby increasing productivity. </a:t>
            </a:r>
          </a:p>
          <a:p>
            <a:endParaRPr lang="en-GB" dirty="0"/>
          </a:p>
          <a:p>
            <a:r>
              <a:rPr lang="en-GB" dirty="0"/>
              <a:t>Capable of autonomous decision-making and executing complex tasks without human intervention – marks a significant leap in artificial intelligence, with the potential to profoundly reshape economies and </a:t>
            </a:r>
            <a:r>
              <a:rPr lang="en-GB" dirty="0" err="1"/>
              <a:t>labor</a:t>
            </a:r>
            <a:r>
              <a:rPr lang="en-GB" dirty="0"/>
              <a:t> markets across the globe. [Agentic AI: The self-driving economy? www.allianz.com]</a:t>
            </a:r>
          </a:p>
        </p:txBody>
      </p:sp>
    </p:spTree>
    <p:extLst>
      <p:ext uri="{BB962C8B-B14F-4D97-AF65-F5344CB8AC3E}">
        <p14:creationId xmlns:p14="http://schemas.microsoft.com/office/powerpoint/2010/main" val="143508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82D8A-3A85-CD53-9D6F-9BB7E4F7ED1F}"/>
              </a:ext>
            </a:extLst>
          </p:cNvPr>
          <p:cNvSpPr>
            <a:spLocks noGrp="1"/>
          </p:cNvSpPr>
          <p:nvPr>
            <p:ph type="title"/>
          </p:nvPr>
        </p:nvSpPr>
        <p:spPr>
          <a:xfrm>
            <a:off x="614677" y="603504"/>
            <a:ext cx="10872216" cy="1527048"/>
          </a:xfrm>
        </p:spPr>
        <p:txBody>
          <a:bodyPr anchor="b">
            <a:normAutofit/>
          </a:bodyPr>
          <a:lstStyle/>
          <a:p>
            <a:r>
              <a:rPr lang="en-GB" sz="3300"/>
              <a:t>New functions to support automated business execution – from a business intelligence point of view</a:t>
            </a:r>
          </a:p>
        </p:txBody>
      </p:sp>
      <p:pic>
        <p:nvPicPr>
          <p:cNvPr id="1026" name="Picture 2" descr="The Essential Role of a BI Analyst in Today's Business World ...">
            <a:extLst>
              <a:ext uri="{FF2B5EF4-FFF2-40B4-BE49-F238E27FC236}">
                <a16:creationId xmlns:a16="http://schemas.microsoft.com/office/drawing/2014/main" id="{E8F57360-2AD4-97ED-F540-2D283D772A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678" y="2441274"/>
            <a:ext cx="5173647" cy="371209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556A7C1-B050-B7A4-84DB-7850AEE3D55B}"/>
              </a:ext>
            </a:extLst>
          </p:cNvPr>
          <p:cNvSpPr>
            <a:spLocks noGrp="1"/>
          </p:cNvSpPr>
          <p:nvPr>
            <p:ph idx="1"/>
          </p:nvPr>
        </p:nvSpPr>
        <p:spPr>
          <a:xfrm>
            <a:off x="6096000" y="2441273"/>
            <a:ext cx="5385816" cy="3817942"/>
          </a:xfrm>
        </p:spPr>
        <p:txBody>
          <a:bodyPr anchor="t">
            <a:normAutofit/>
          </a:bodyPr>
          <a:lstStyle/>
          <a:p>
            <a:pPr>
              <a:lnSpc>
                <a:spcPct val="110000"/>
              </a:lnSpc>
            </a:pPr>
            <a:r>
              <a:rPr lang="en-GB" sz="1300" dirty="0"/>
              <a:t>Automated transformation of raw data into structured databases</a:t>
            </a:r>
          </a:p>
          <a:p>
            <a:pPr>
              <a:lnSpc>
                <a:spcPct val="110000"/>
              </a:lnSpc>
            </a:pPr>
            <a:endParaRPr lang="en-GB" sz="1300" dirty="0"/>
          </a:p>
          <a:p>
            <a:pPr>
              <a:lnSpc>
                <a:spcPct val="110000"/>
              </a:lnSpc>
            </a:pPr>
            <a:r>
              <a:rPr lang="en-GB" sz="1300" dirty="0"/>
              <a:t>Creating relationships between datasets dynamically</a:t>
            </a:r>
          </a:p>
          <a:p>
            <a:pPr>
              <a:lnSpc>
                <a:spcPct val="110000"/>
              </a:lnSpc>
            </a:pPr>
            <a:endParaRPr lang="en-GB" sz="1300" dirty="0"/>
          </a:p>
          <a:p>
            <a:pPr>
              <a:lnSpc>
                <a:spcPct val="110000"/>
              </a:lnSpc>
            </a:pPr>
            <a:r>
              <a:rPr lang="en-GB" sz="1300" dirty="0"/>
              <a:t>Integrating human logic with automated business logic learning process</a:t>
            </a:r>
          </a:p>
          <a:p>
            <a:pPr>
              <a:lnSpc>
                <a:spcPct val="110000"/>
              </a:lnSpc>
            </a:pPr>
            <a:endParaRPr lang="en-GB" sz="1300" dirty="0"/>
          </a:p>
          <a:p>
            <a:pPr>
              <a:lnSpc>
                <a:spcPct val="110000"/>
              </a:lnSpc>
            </a:pPr>
            <a:r>
              <a:rPr lang="en-GB" sz="1300" dirty="0"/>
              <a:t>Directly provide decision recommendations rather than human-based data analysis results</a:t>
            </a:r>
          </a:p>
          <a:p>
            <a:pPr>
              <a:lnSpc>
                <a:spcPct val="110000"/>
              </a:lnSpc>
            </a:pPr>
            <a:endParaRPr lang="en-GB" sz="1300" dirty="0"/>
          </a:p>
          <a:p>
            <a:pPr>
              <a:lnSpc>
                <a:spcPct val="110000"/>
              </a:lnSpc>
            </a:pPr>
            <a:r>
              <a:rPr lang="en-GB" sz="1300" dirty="0"/>
              <a:t>Providing evidence of reasoning steps for the decision-making  </a:t>
            </a:r>
          </a:p>
        </p:txBody>
      </p:sp>
    </p:spTree>
    <p:extLst>
      <p:ext uri="{BB962C8B-B14F-4D97-AF65-F5344CB8AC3E}">
        <p14:creationId xmlns:p14="http://schemas.microsoft.com/office/powerpoint/2010/main" val="16313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F32783-312C-02E3-51D6-BC70922D901F}"/>
              </a:ext>
            </a:extLst>
          </p:cNvPr>
          <p:cNvSpPr>
            <a:spLocks noGrp="1"/>
          </p:cNvSpPr>
          <p:nvPr>
            <p:ph type="title"/>
          </p:nvPr>
        </p:nvSpPr>
        <p:spPr>
          <a:xfrm>
            <a:off x="612648" y="600074"/>
            <a:ext cx="6035040" cy="1529932"/>
          </a:xfrm>
        </p:spPr>
        <p:txBody>
          <a:bodyPr anchor="b">
            <a:normAutofit/>
          </a:bodyPr>
          <a:lstStyle/>
          <a:p>
            <a:r>
              <a:rPr lang="en-GB" dirty="0"/>
              <a:t>Finance Case Study</a:t>
            </a:r>
          </a:p>
        </p:txBody>
      </p:sp>
      <p:sp>
        <p:nvSpPr>
          <p:cNvPr id="3" name="Content Placeholder 2">
            <a:extLst>
              <a:ext uri="{FF2B5EF4-FFF2-40B4-BE49-F238E27FC236}">
                <a16:creationId xmlns:a16="http://schemas.microsoft.com/office/drawing/2014/main" id="{5F6EABD4-CBA0-032D-B3E5-CB726544DBD0}"/>
              </a:ext>
            </a:extLst>
          </p:cNvPr>
          <p:cNvSpPr>
            <a:spLocks noGrp="1"/>
          </p:cNvSpPr>
          <p:nvPr>
            <p:ph idx="1"/>
          </p:nvPr>
        </p:nvSpPr>
        <p:spPr>
          <a:xfrm>
            <a:off x="612647" y="2212848"/>
            <a:ext cx="6035041" cy="4096512"/>
          </a:xfrm>
        </p:spPr>
        <p:txBody>
          <a:bodyPr>
            <a:normAutofit/>
          </a:bodyPr>
          <a:lstStyle/>
          <a:p>
            <a:r>
              <a:rPr lang="en-GB" sz="1800"/>
              <a:t>Interpath Advisory: </a:t>
            </a:r>
            <a:r>
              <a:rPr lang="en-GB" sz="1800">
                <a:hlinkClick r:id="rId2"/>
              </a:rPr>
              <a:t>Home – Interpath</a:t>
            </a:r>
            <a:endParaRPr lang="en-GB" sz="1800"/>
          </a:p>
          <a:p>
            <a:r>
              <a:rPr lang="en-GB" sz="1800"/>
              <a:t>Different bank loan data reports as Excel or CSV with very different financial terms and different report structure. </a:t>
            </a:r>
          </a:p>
          <a:p>
            <a:r>
              <a:rPr lang="en-GB" sz="1800"/>
              <a:t>It is very hard for them to check the data in the report to support decision making</a:t>
            </a:r>
          </a:p>
          <a:p>
            <a:r>
              <a:rPr lang="en-GB" sz="1800"/>
              <a:t>Now we provide them with an Agentic AI solution </a:t>
            </a:r>
          </a:p>
          <a:p>
            <a:r>
              <a:rPr lang="en-GB" sz="1800"/>
              <a:t>We have now completed the first stage of case studies and demo; the second stage is planned to start in February 2026</a:t>
            </a:r>
          </a:p>
        </p:txBody>
      </p:sp>
      <p:pic>
        <p:nvPicPr>
          <p:cNvPr id="5" name="Picture 4" descr="Desk with productivity items">
            <a:extLst>
              <a:ext uri="{FF2B5EF4-FFF2-40B4-BE49-F238E27FC236}">
                <a16:creationId xmlns:a16="http://schemas.microsoft.com/office/drawing/2014/main" id="{D1A6B4FD-86CF-C793-C31B-C50B2EB3C302}"/>
              </a:ext>
            </a:extLst>
          </p:cNvPr>
          <p:cNvPicPr>
            <a:picLocks noChangeAspect="1"/>
          </p:cNvPicPr>
          <p:nvPr/>
        </p:nvPicPr>
        <p:blipFill>
          <a:blip r:embed="rId3"/>
          <a:srcRect l="34040" r="1879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61722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49DE-C98C-95B7-0D6C-BC65D9211A7A}"/>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en-US" sz="3600" b="1" kern="1200" dirty="0">
                <a:solidFill>
                  <a:schemeClr val="tx1"/>
                </a:solidFill>
                <a:latin typeface="+mj-lt"/>
                <a:ea typeface="+mj-ea"/>
                <a:cs typeface="+mj-cs"/>
              </a:rPr>
              <a:t>Software Engineering (Stone Age: Waterfall)</a:t>
            </a:r>
          </a:p>
        </p:txBody>
      </p:sp>
      <p:sp>
        <p:nvSpPr>
          <p:cNvPr id="7" name="TextBox 6">
            <a:extLst>
              <a:ext uri="{FF2B5EF4-FFF2-40B4-BE49-F238E27FC236}">
                <a16:creationId xmlns:a16="http://schemas.microsoft.com/office/drawing/2014/main" id="{EB1986FE-47C9-EF45-AC68-2A0CCF252F67}"/>
              </a:ext>
            </a:extLst>
          </p:cNvPr>
          <p:cNvSpPr txBox="1"/>
          <p:nvPr/>
        </p:nvSpPr>
        <p:spPr>
          <a:xfrm>
            <a:off x="645066" y="2031101"/>
            <a:ext cx="4282984" cy="3511943"/>
          </a:xfrm>
          <a:prstGeom prst="rect">
            <a:avLst/>
          </a:prstGeom>
        </p:spPr>
        <p:txBody>
          <a:bodyPr vert="horz" lIns="91440" tIns="45720" rIns="91440" bIns="45720" rtlCol="0" anchor="ctr">
            <a:normAutofit lnSpcReduction="10000"/>
          </a:bodyPr>
          <a:lstStyle/>
          <a:p>
            <a:pPr>
              <a:lnSpc>
                <a:spcPct val="90000"/>
              </a:lnSpc>
              <a:spcAft>
                <a:spcPts val="600"/>
              </a:spcAft>
            </a:pPr>
            <a:r>
              <a:rPr lang="en-US" b="1" dirty="0"/>
              <a:t>Characteristics:</a:t>
            </a:r>
            <a:endParaRPr lang="en-US" dirty="0"/>
          </a:p>
          <a:p>
            <a:pPr indent="-228600">
              <a:lnSpc>
                <a:spcPct val="90000"/>
              </a:lnSpc>
              <a:spcAft>
                <a:spcPts val="600"/>
              </a:spcAft>
              <a:buFont typeface="Arial" panose="020B0604020202020204" pitchFamily="34" charset="0"/>
              <a:buChar char="•"/>
            </a:pPr>
            <a:r>
              <a:rPr lang="en-US" b="1" dirty="0"/>
              <a:t>Sequential Process:</a:t>
            </a:r>
            <a:r>
              <a:rPr lang="en-US" dirty="0"/>
              <a:t> Each stage must be completed before moving on to the next.</a:t>
            </a:r>
          </a:p>
          <a:p>
            <a:pPr indent="-228600">
              <a:lnSpc>
                <a:spcPct val="90000"/>
              </a:lnSpc>
              <a:spcAft>
                <a:spcPts val="600"/>
              </a:spcAft>
              <a:buFont typeface="Arial" panose="020B0604020202020204" pitchFamily="34" charset="0"/>
              <a:buChar char="•"/>
            </a:pPr>
            <a:r>
              <a:rPr lang="en-US" b="1" dirty="0"/>
              <a:t>Documentation Heavy:</a:t>
            </a:r>
            <a:r>
              <a:rPr lang="en-US" dirty="0"/>
              <a:t> Extensive documentation at each stage.</a:t>
            </a:r>
          </a:p>
          <a:p>
            <a:pPr indent="-228600">
              <a:lnSpc>
                <a:spcPct val="90000"/>
              </a:lnSpc>
              <a:spcAft>
                <a:spcPts val="600"/>
              </a:spcAft>
              <a:buFont typeface="Arial" panose="020B0604020202020204" pitchFamily="34" charset="0"/>
              <a:buChar char="•"/>
            </a:pPr>
            <a:r>
              <a:rPr lang="en-US" b="1" dirty="0"/>
              <a:t>Rigid Structure:</a:t>
            </a:r>
            <a:r>
              <a:rPr lang="en-US" dirty="0"/>
              <a:t> Limited flexibility to accommodate changes once the project has progressed past the initial stages.</a:t>
            </a:r>
          </a:p>
          <a:p>
            <a:pPr indent="-228600">
              <a:lnSpc>
                <a:spcPct val="90000"/>
              </a:lnSpc>
              <a:spcAft>
                <a:spcPts val="600"/>
              </a:spcAft>
              <a:buFont typeface="Arial" panose="020B0604020202020204" pitchFamily="34" charset="0"/>
              <a:buChar char="•"/>
            </a:pPr>
            <a:r>
              <a:rPr lang="en-US" b="1" dirty="0"/>
              <a:t>Long Development Cycles:</a:t>
            </a:r>
            <a:r>
              <a:rPr lang="en-US" dirty="0"/>
              <a:t> Projects often had lengthy development times due to the sequential nature of the process.</a:t>
            </a:r>
          </a:p>
        </p:txBody>
      </p:sp>
      <p:pic>
        <p:nvPicPr>
          <p:cNvPr id="5" name="Picture 4">
            <a:extLst>
              <a:ext uri="{FF2B5EF4-FFF2-40B4-BE49-F238E27FC236}">
                <a16:creationId xmlns:a16="http://schemas.microsoft.com/office/drawing/2014/main" id="{F1FF2266-B520-8D28-12F3-A170E3D862A8}"/>
              </a:ext>
            </a:extLst>
          </p:cNvPr>
          <p:cNvPicPr>
            <a:picLocks noChangeAspect="1"/>
          </p:cNvPicPr>
          <p:nvPr/>
        </p:nvPicPr>
        <p:blipFill>
          <a:blip r:embed="rId2"/>
          <a:stretch>
            <a:fillRect/>
          </a:stretch>
        </p:blipFill>
        <p:spPr>
          <a:xfrm>
            <a:off x="5725953" y="650494"/>
            <a:ext cx="5324142" cy="5324142"/>
          </a:xfrm>
          <a:prstGeom prst="rect">
            <a:avLst/>
          </a:prstGeom>
        </p:spPr>
      </p:pic>
      <p:sp>
        <p:nvSpPr>
          <p:cNvPr id="8" name="TextBox 7">
            <a:extLst>
              <a:ext uri="{FF2B5EF4-FFF2-40B4-BE49-F238E27FC236}">
                <a16:creationId xmlns:a16="http://schemas.microsoft.com/office/drawing/2014/main" id="{2798B3B9-9486-BD05-E276-658A1F141133}"/>
              </a:ext>
            </a:extLst>
          </p:cNvPr>
          <p:cNvSpPr txBox="1"/>
          <p:nvPr/>
        </p:nvSpPr>
        <p:spPr>
          <a:xfrm>
            <a:off x="7180856" y="281162"/>
            <a:ext cx="3213700" cy="369332"/>
          </a:xfrm>
          <a:prstGeom prst="rect">
            <a:avLst/>
          </a:prstGeom>
          <a:noFill/>
        </p:spPr>
        <p:txBody>
          <a:bodyPr wrap="none" rtlCol="0">
            <a:spAutoFit/>
          </a:bodyPr>
          <a:lstStyle/>
          <a:p>
            <a:r>
              <a:rPr lang="en-GB" dirty="0"/>
              <a:t>Developing software for others</a:t>
            </a:r>
          </a:p>
        </p:txBody>
      </p:sp>
      <p:pic>
        <p:nvPicPr>
          <p:cNvPr id="4" name="Picture 3">
            <a:extLst>
              <a:ext uri="{FF2B5EF4-FFF2-40B4-BE49-F238E27FC236}">
                <a16:creationId xmlns:a16="http://schemas.microsoft.com/office/drawing/2014/main" id="{E47BB868-2718-DB94-B443-735B12449427}"/>
              </a:ext>
            </a:extLst>
          </p:cNvPr>
          <p:cNvPicPr>
            <a:picLocks noChangeAspect="1"/>
          </p:cNvPicPr>
          <p:nvPr/>
        </p:nvPicPr>
        <p:blipFill>
          <a:blip r:embed="rId3"/>
          <a:stretch>
            <a:fillRect/>
          </a:stretch>
        </p:blipFill>
        <p:spPr>
          <a:xfrm>
            <a:off x="2590800" y="700087"/>
            <a:ext cx="7010400" cy="5457825"/>
          </a:xfrm>
          <a:prstGeom prst="rect">
            <a:avLst/>
          </a:prstGeom>
        </p:spPr>
      </p:pic>
      <p:sp>
        <p:nvSpPr>
          <p:cNvPr id="3" name="TextBox 2">
            <a:extLst>
              <a:ext uri="{FF2B5EF4-FFF2-40B4-BE49-F238E27FC236}">
                <a16:creationId xmlns:a16="http://schemas.microsoft.com/office/drawing/2014/main" id="{9EF49697-ED85-0C69-2E08-9C839456D570}"/>
              </a:ext>
            </a:extLst>
          </p:cNvPr>
          <p:cNvSpPr txBox="1"/>
          <p:nvPr/>
        </p:nvSpPr>
        <p:spPr>
          <a:xfrm>
            <a:off x="5725953" y="2584580"/>
            <a:ext cx="652743" cy="369332"/>
          </a:xfrm>
          <a:prstGeom prst="rect">
            <a:avLst/>
          </a:prstGeom>
          <a:noFill/>
        </p:spPr>
        <p:txBody>
          <a:bodyPr wrap="none" rtlCol="0">
            <a:spAutoFit/>
          </a:bodyPr>
          <a:lstStyle/>
          <a:p>
            <a:r>
              <a:rPr lang="en-GB" dirty="0"/>
              <a:t>2001</a:t>
            </a:r>
          </a:p>
        </p:txBody>
      </p:sp>
    </p:spTree>
    <p:extLst>
      <p:ext uri="{BB962C8B-B14F-4D97-AF65-F5344CB8AC3E}">
        <p14:creationId xmlns:p14="http://schemas.microsoft.com/office/powerpoint/2010/main" val="144593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b="1" kern="1200" dirty="0">
                <a:solidFill>
                  <a:schemeClr val="tx1"/>
                </a:solidFill>
                <a:latin typeface="+mj-lt"/>
                <a:ea typeface="+mj-ea"/>
                <a:cs typeface="+mj-cs"/>
              </a:rPr>
              <a:t>Software Engineering (</a:t>
            </a:r>
            <a:r>
              <a:rPr lang="en-US" b="1" i="0" kern="1200" dirty="0">
                <a:solidFill>
                  <a:schemeClr val="tx1"/>
                </a:solidFill>
                <a:effectLst/>
                <a:latin typeface="+mj-lt"/>
                <a:ea typeface="+mj-ea"/>
                <a:cs typeface="+mj-cs"/>
              </a:rPr>
              <a:t>Bronze Age: Agile</a:t>
            </a:r>
            <a:r>
              <a:rPr lang="en-US" b="1" kern="1200" dirty="0">
                <a:solidFill>
                  <a:schemeClr val="tx1"/>
                </a:solidFill>
                <a:latin typeface="+mj-lt"/>
                <a:ea typeface="+mj-ea"/>
                <a:cs typeface="+mj-cs"/>
              </a:rPr>
              <a:t>)</a:t>
            </a:r>
          </a:p>
        </p:txBody>
      </p:sp>
      <p:pic>
        <p:nvPicPr>
          <p:cNvPr id="4" name="Picture 3">
            <a:extLst>
              <a:ext uri="{FF2B5EF4-FFF2-40B4-BE49-F238E27FC236}">
                <a16:creationId xmlns:a16="http://schemas.microsoft.com/office/drawing/2014/main" id="{4D59CAD9-7A5E-E52C-345F-C503B68F66A0}"/>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a:lnSpc>
                <a:spcPct val="90000"/>
              </a:lnSpc>
              <a:spcAft>
                <a:spcPts val="600"/>
              </a:spcAft>
            </a:pPr>
            <a:r>
              <a:rPr lang="en-US" sz="1400" b="1" dirty="0"/>
              <a:t>Key Principles of Agile:</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Customer Collaboration: Continuous interaction with customers to gather feedback and refine requirements.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Iterative Development: Breaking down the project into small, manageable iterations or sprints, typically lasting 1-4 weeks.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Flexibility: Ability to adapt to changing requirements and feedback, even late in the development process.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Continuous Improvement: Regular reflection and adaptation of processes to enhance efficiency and product quality.</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Cross-Functional Teams: Encouraging collaboration among team members with different expertise to achieve common goals.</a:t>
            </a:r>
          </a:p>
        </p:txBody>
      </p:sp>
      <p:sp>
        <p:nvSpPr>
          <p:cNvPr id="8" name="TextBox 7">
            <a:extLst>
              <a:ext uri="{FF2B5EF4-FFF2-40B4-BE49-F238E27FC236}">
                <a16:creationId xmlns:a16="http://schemas.microsoft.com/office/drawing/2014/main" id="{FA665353-2D42-AABB-4862-4CEE35D9E686}"/>
              </a:ext>
            </a:extLst>
          </p:cNvPr>
          <p:cNvSpPr txBox="1"/>
          <p:nvPr/>
        </p:nvSpPr>
        <p:spPr>
          <a:xfrm>
            <a:off x="1071134" y="558561"/>
            <a:ext cx="4137671" cy="369332"/>
          </a:xfrm>
          <a:prstGeom prst="rect">
            <a:avLst/>
          </a:prstGeom>
          <a:noFill/>
        </p:spPr>
        <p:txBody>
          <a:bodyPr wrap="none" rtlCol="0">
            <a:spAutoFit/>
          </a:bodyPr>
          <a:lstStyle/>
          <a:p>
            <a:r>
              <a:rPr lang="en-GB" dirty="0"/>
              <a:t>Developing software inside the organisation</a:t>
            </a:r>
          </a:p>
        </p:txBody>
      </p:sp>
    </p:spTree>
    <p:extLst>
      <p:ext uri="{BB962C8B-B14F-4D97-AF65-F5344CB8AC3E}">
        <p14:creationId xmlns:p14="http://schemas.microsoft.com/office/powerpoint/2010/main" val="3136861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CD8B-4645-9DBC-86CE-57E2C53E6443}"/>
              </a:ext>
            </a:extLst>
          </p:cNvPr>
          <p:cNvSpPr>
            <a:spLocks noGrp="1"/>
          </p:cNvSpPr>
          <p:nvPr>
            <p:ph type="title"/>
          </p:nvPr>
        </p:nvSpPr>
        <p:spPr>
          <a:xfrm>
            <a:off x="645064" y="525982"/>
            <a:ext cx="4741496" cy="1200361"/>
          </a:xfrm>
        </p:spPr>
        <p:txBody>
          <a:bodyPr anchor="b">
            <a:normAutofit fontScale="90000"/>
          </a:bodyPr>
          <a:lstStyle/>
          <a:p>
            <a:r>
              <a:rPr lang="en-GB" sz="3600" b="1" dirty="0"/>
              <a:t>Software Product/SaaS Engineering (Iron Age)</a:t>
            </a:r>
          </a:p>
        </p:txBody>
      </p:sp>
      <p:sp>
        <p:nvSpPr>
          <p:cNvPr id="3" name="Content Placeholder 2">
            <a:extLst>
              <a:ext uri="{FF2B5EF4-FFF2-40B4-BE49-F238E27FC236}">
                <a16:creationId xmlns:a16="http://schemas.microsoft.com/office/drawing/2014/main" id="{CDCDE833-5E43-881B-DA46-1D6274E144A3}"/>
              </a:ext>
            </a:extLst>
          </p:cNvPr>
          <p:cNvSpPr>
            <a:spLocks noGrp="1"/>
          </p:cNvSpPr>
          <p:nvPr>
            <p:ph idx="1"/>
          </p:nvPr>
        </p:nvSpPr>
        <p:spPr>
          <a:xfrm>
            <a:off x="645066" y="2031101"/>
            <a:ext cx="4282984" cy="3511943"/>
          </a:xfrm>
        </p:spPr>
        <p:txBody>
          <a:bodyPr anchor="ctr">
            <a:normAutofit fontScale="92500"/>
          </a:bodyPr>
          <a:lstStyle/>
          <a:p>
            <a:r>
              <a:rPr lang="en-GB" sz="1800" dirty="0"/>
              <a:t>User- and business-centric</a:t>
            </a:r>
          </a:p>
          <a:p>
            <a:r>
              <a:rPr lang="en-GB" sz="1800" dirty="0"/>
              <a:t>Data-driven</a:t>
            </a:r>
          </a:p>
          <a:p>
            <a:r>
              <a:rPr lang="en-GB" sz="1800" dirty="0"/>
              <a:t>Cloud and microservices architecture   </a:t>
            </a:r>
          </a:p>
          <a:p>
            <a:r>
              <a:rPr lang="en-GB" sz="1800" dirty="0"/>
              <a:t>Own the product and are responsible for its successes and failures in supporting business decision-making, whereas software engineering owns only the code and whether the system runs successfully</a:t>
            </a:r>
          </a:p>
        </p:txBody>
      </p:sp>
      <p:pic>
        <p:nvPicPr>
          <p:cNvPr id="5" name="Picture 4" descr="A group of people sitting at tables with computers&#10;&#10;Description automatically generated">
            <a:extLst>
              <a:ext uri="{FF2B5EF4-FFF2-40B4-BE49-F238E27FC236}">
                <a16:creationId xmlns:a16="http://schemas.microsoft.com/office/drawing/2014/main" id="{54915AB2-0BD5-CC44-E7F7-44792D931864}"/>
              </a:ext>
            </a:extLst>
          </p:cNvPr>
          <p:cNvPicPr>
            <a:picLocks noChangeAspect="1"/>
          </p:cNvPicPr>
          <p:nvPr/>
        </p:nvPicPr>
        <p:blipFill>
          <a:blip r:embed="rId2"/>
          <a:stretch>
            <a:fillRect/>
          </a:stretch>
        </p:blipFill>
        <p:spPr>
          <a:xfrm>
            <a:off x="6139676" y="650494"/>
            <a:ext cx="5324142" cy="5324142"/>
          </a:xfrm>
          <a:prstGeom prst="rect">
            <a:avLst/>
          </a:prstGeom>
        </p:spPr>
      </p:pic>
      <p:sp>
        <p:nvSpPr>
          <p:cNvPr id="6" name="TextBox 5">
            <a:extLst>
              <a:ext uri="{FF2B5EF4-FFF2-40B4-BE49-F238E27FC236}">
                <a16:creationId xmlns:a16="http://schemas.microsoft.com/office/drawing/2014/main" id="{37C4E8AB-184F-A9E4-4605-62218826F08D}"/>
              </a:ext>
            </a:extLst>
          </p:cNvPr>
          <p:cNvSpPr txBox="1"/>
          <p:nvPr/>
        </p:nvSpPr>
        <p:spPr>
          <a:xfrm>
            <a:off x="6339555" y="281162"/>
            <a:ext cx="4933657" cy="369332"/>
          </a:xfrm>
          <a:prstGeom prst="rect">
            <a:avLst/>
          </a:prstGeom>
          <a:noFill/>
        </p:spPr>
        <p:txBody>
          <a:bodyPr wrap="square">
            <a:spAutoFit/>
          </a:bodyPr>
          <a:lstStyle/>
          <a:p>
            <a:r>
              <a:rPr lang="en-GB" dirty="0"/>
              <a:t>Developing products for organisations</a:t>
            </a:r>
          </a:p>
        </p:txBody>
      </p:sp>
    </p:spTree>
    <p:extLst>
      <p:ext uri="{BB962C8B-B14F-4D97-AF65-F5344CB8AC3E}">
        <p14:creationId xmlns:p14="http://schemas.microsoft.com/office/powerpoint/2010/main" val="281322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GB" sz="4400" b="1" dirty="0"/>
              <a:t>Generative AI (The </a:t>
            </a:r>
            <a:r>
              <a:rPr lang="en-GB" sz="4400" b="1" dirty="0"/>
              <a:t>AI </a:t>
            </a:r>
            <a:r>
              <a:rPr lang="en-GB" sz="4400" b="1" dirty="0"/>
              <a:t>Revolution)</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fontScale="92500"/>
          </a:bodyPr>
          <a:lstStyle/>
          <a:p>
            <a:pPr marL="285750" indent="-285750">
              <a:lnSpc>
                <a:spcPct val="100000"/>
              </a:lnSpc>
              <a:buFont typeface="Arial" panose="020B0604020202020204" pitchFamily="34" charset="0"/>
              <a:buChar char="•"/>
            </a:pPr>
            <a:r>
              <a:rPr lang="en-GB" sz="1600" dirty="0"/>
              <a:t>Generative AI refers to a class of AI models, particularly Large Language Models (LLMs), that can generate text, code, and other creative content.</a:t>
            </a:r>
          </a:p>
          <a:p>
            <a:pPr>
              <a:lnSpc>
                <a:spcPct val="100000"/>
              </a:lnSpc>
            </a:pPr>
            <a:endParaRPr lang="en-GB" sz="1600" dirty="0"/>
          </a:p>
          <a:p>
            <a:pPr marL="285750" indent="-285750">
              <a:lnSpc>
                <a:spcPct val="100000"/>
              </a:lnSpc>
              <a:buFont typeface="Arial" panose="020B0604020202020204" pitchFamily="34" charset="0"/>
              <a:buChar char="•"/>
            </a:pPr>
            <a:r>
              <a:rPr lang="en-GB" sz="1600" dirty="0"/>
              <a:t>Generative AI as an assistant for the whole development lifecycle of product engineering. Brainstorming, code generation, UI design, testing, and documentation.</a:t>
            </a:r>
          </a:p>
          <a:p>
            <a:pPr>
              <a:lnSpc>
                <a:spcPct val="100000"/>
              </a:lnSpc>
            </a:pPr>
            <a:endParaRPr lang="en-GB" sz="1600" dirty="0"/>
          </a:p>
          <a:p>
            <a:pPr marL="285750" indent="-285750">
              <a:lnSpc>
                <a:spcPct val="100000"/>
              </a:lnSpc>
              <a:buFont typeface="Arial" panose="020B0604020202020204" pitchFamily="34" charset="0"/>
              <a:buChar char="•"/>
            </a:pPr>
            <a:r>
              <a:rPr lang="en-GB" sz="1600" dirty="0"/>
              <a:t>In addition, Generative AI can be enhanced to work as an Agent to handle complex tasks such as microservices management and orchestration. Therefore, you can have a new function at run-time without human development.</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Integrating the software product for the organisation by using its own service architecture and data services  </a:t>
            </a:r>
          </a:p>
          <a:p>
            <a:pPr>
              <a:lnSpc>
                <a:spcPct val="100000"/>
              </a:lnSpc>
            </a:pPr>
            <a:r>
              <a:rPr lang="en-GB" sz="1600" dirty="0"/>
              <a:t>   </a:t>
            </a:r>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id="{DD2200EF-95D3-6BDD-E0A3-301D2DEE75DD}"/>
              </a:ext>
            </a:extLst>
          </p:cNvPr>
          <p:cNvPicPr>
            <a:picLocks noChangeAspect="1"/>
          </p:cNvPicPr>
          <p:nvPr/>
        </p:nvPicPr>
        <p:blipFill>
          <a:blip r:embed="rId2"/>
          <a:stretch>
            <a:fillRect/>
          </a:stretch>
        </p:blipFill>
        <p:spPr>
          <a:xfrm>
            <a:off x="493619" y="588476"/>
            <a:ext cx="5196689" cy="5196689"/>
          </a:xfrm>
          <a:prstGeom prst="rect">
            <a:avLst/>
          </a:prstGeom>
        </p:spPr>
      </p:pic>
    </p:spTree>
    <p:extLst>
      <p:ext uri="{BB962C8B-B14F-4D97-AF65-F5344CB8AC3E}">
        <p14:creationId xmlns:p14="http://schemas.microsoft.com/office/powerpoint/2010/main" val="363115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US" sz="2500" dirty="0"/>
              <a:t>Generative AI used in software product engineering – Functional Specifications </a:t>
            </a:r>
            <a:endParaRPr lang="en-US" sz="2500" kern="120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60817CEC-EB9C-CEDF-C540-C2F9E71C0F11}"/>
              </a:ext>
            </a:extLst>
          </p:cNvPr>
          <p:cNvPicPr>
            <a:picLocks noChangeAspect="1"/>
          </p:cNvPicPr>
          <p:nvPr/>
        </p:nvPicPr>
        <p:blipFill>
          <a:blip r:embed="rId3"/>
          <a:stretch>
            <a:fillRect/>
          </a:stretch>
        </p:blipFill>
        <p:spPr>
          <a:xfrm>
            <a:off x="6124073" y="0"/>
            <a:ext cx="4944978" cy="3023857"/>
          </a:xfrm>
          <a:prstGeom prst="rect">
            <a:avLst/>
          </a:prstGeom>
        </p:spPr>
      </p:pic>
      <p:pic>
        <p:nvPicPr>
          <p:cNvPr id="7" name="Picture 6">
            <a:extLst>
              <a:ext uri="{FF2B5EF4-FFF2-40B4-BE49-F238E27FC236}">
                <a16:creationId xmlns:a16="http://schemas.microsoft.com/office/drawing/2014/main" id="{E0BA5AFE-1231-9146-6C49-095F1522158C}"/>
              </a:ext>
            </a:extLst>
          </p:cNvPr>
          <p:cNvPicPr>
            <a:picLocks noChangeAspect="1"/>
          </p:cNvPicPr>
          <p:nvPr/>
        </p:nvPicPr>
        <p:blipFill>
          <a:blip r:embed="rId4"/>
          <a:stretch>
            <a:fillRect/>
          </a:stretch>
        </p:blipFill>
        <p:spPr>
          <a:xfrm>
            <a:off x="5034874" y="3161380"/>
            <a:ext cx="7094134" cy="3168713"/>
          </a:xfrm>
          <a:prstGeom prst="rect">
            <a:avLst/>
          </a:prstGeom>
        </p:spPr>
      </p:pic>
      <p:sp>
        <p:nvSpPr>
          <p:cNvPr id="5" name="TextBox 4">
            <a:extLst>
              <a:ext uri="{FF2B5EF4-FFF2-40B4-BE49-F238E27FC236}">
                <a16:creationId xmlns:a16="http://schemas.microsoft.com/office/drawing/2014/main" id="{272EF997-FE7A-F19B-662F-AFAFBB2CEE05}"/>
              </a:ext>
            </a:extLst>
          </p:cNvPr>
          <p:cNvSpPr txBox="1"/>
          <p:nvPr/>
        </p:nvSpPr>
        <p:spPr>
          <a:xfrm>
            <a:off x="346692" y="2080209"/>
            <a:ext cx="4654433" cy="923330"/>
          </a:xfrm>
          <a:prstGeom prst="rect">
            <a:avLst/>
          </a:prstGeom>
          <a:noFill/>
        </p:spPr>
        <p:txBody>
          <a:bodyPr wrap="square" rtlCol="0">
            <a:spAutoFit/>
          </a:bodyPr>
          <a:lstStyle/>
          <a:p>
            <a:r>
              <a:rPr lang="en-GB" dirty="0">
                <a:solidFill>
                  <a:srgbClr val="000000"/>
                </a:solidFill>
                <a:latin typeface="Helvetica" panose="020B0604020202020204" pitchFamily="34" charset="0"/>
              </a:rPr>
              <a:t>PhD project (working with Siemens): </a:t>
            </a:r>
            <a:r>
              <a:rPr lang="en-GB" b="0" i="0" dirty="0">
                <a:solidFill>
                  <a:srgbClr val="000000"/>
                </a:solidFill>
                <a:effectLst/>
                <a:latin typeface="Helvetica" panose="020B0604020202020204" pitchFamily="34" charset="0"/>
              </a:rPr>
              <a:t>Combining AI Language Models and Digital-Twins For Systems Design in Rail Transport</a:t>
            </a:r>
            <a:endParaRPr lang="en-GB" dirty="0"/>
          </a:p>
        </p:txBody>
      </p:sp>
      <p:pic>
        <p:nvPicPr>
          <p:cNvPr id="8" name="Picture 7">
            <a:extLst>
              <a:ext uri="{FF2B5EF4-FFF2-40B4-BE49-F238E27FC236}">
                <a16:creationId xmlns:a16="http://schemas.microsoft.com/office/drawing/2014/main" id="{69EAF69F-388A-B4B8-16F1-1740699525A8}"/>
              </a:ext>
            </a:extLst>
          </p:cNvPr>
          <p:cNvPicPr>
            <a:picLocks noChangeAspect="1"/>
          </p:cNvPicPr>
          <p:nvPr/>
        </p:nvPicPr>
        <p:blipFill>
          <a:blip r:embed="rId5"/>
          <a:stretch>
            <a:fillRect/>
          </a:stretch>
        </p:blipFill>
        <p:spPr>
          <a:xfrm>
            <a:off x="421255" y="3278300"/>
            <a:ext cx="4615072" cy="2066723"/>
          </a:xfrm>
          <a:prstGeom prst="rect">
            <a:avLst/>
          </a:prstGeom>
        </p:spPr>
      </p:pic>
      <p:pic>
        <p:nvPicPr>
          <p:cNvPr id="9" name="Picture 8">
            <a:extLst>
              <a:ext uri="{FF2B5EF4-FFF2-40B4-BE49-F238E27FC236}">
                <a16:creationId xmlns:a16="http://schemas.microsoft.com/office/drawing/2014/main" id="{B920E066-173A-E303-627C-80AF3D567EE8}"/>
              </a:ext>
            </a:extLst>
          </p:cNvPr>
          <p:cNvPicPr>
            <a:picLocks noChangeAspect="1"/>
          </p:cNvPicPr>
          <p:nvPr/>
        </p:nvPicPr>
        <p:blipFill>
          <a:blip r:embed="rId6"/>
          <a:stretch>
            <a:fillRect/>
          </a:stretch>
        </p:blipFill>
        <p:spPr>
          <a:xfrm>
            <a:off x="368527" y="-127455"/>
            <a:ext cx="4719076" cy="6880039"/>
          </a:xfrm>
          <a:prstGeom prst="rect">
            <a:avLst/>
          </a:prstGeom>
        </p:spPr>
      </p:pic>
    </p:spTree>
    <p:extLst>
      <p:ext uri="{BB962C8B-B14F-4D97-AF65-F5344CB8AC3E}">
        <p14:creationId xmlns:p14="http://schemas.microsoft.com/office/powerpoint/2010/main" val="202656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en-US" sz="2500" kern="1200" dirty="0">
                <a:solidFill>
                  <a:schemeClr val="tx1"/>
                </a:solidFill>
                <a:latin typeface="+mj-lt"/>
                <a:ea typeface="+mj-ea"/>
                <a:cs typeface="+mj-cs"/>
              </a:rPr>
              <a:t>Generative AI used in software product engineering – Code Generation</a:t>
            </a:r>
          </a:p>
        </p:txBody>
      </p:sp>
      <p:sp>
        <p:nvSpPr>
          <p:cNvPr id="8" name="TextBox 7">
            <a:extLst>
              <a:ext uri="{FF2B5EF4-FFF2-40B4-BE49-F238E27FC236}">
                <a16:creationId xmlns:a16="http://schemas.microsoft.com/office/drawing/2014/main" id="{00F1EC8E-1761-5BD9-B070-CA33869168DE}"/>
              </a:ext>
            </a:extLst>
          </p:cNvPr>
          <p:cNvSpPr txBox="1"/>
          <p:nvPr/>
        </p:nvSpPr>
        <p:spPr>
          <a:xfrm>
            <a:off x="645066" y="2031101"/>
            <a:ext cx="4282984" cy="3511943"/>
          </a:xfrm>
          <a:prstGeom prst="rect">
            <a:avLst/>
          </a:prstGeom>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r>
              <a:rPr lang="en-US"/>
              <a:t>Generative AI models can automatically produce code snippets or even complete applications based on high-level specifications. This capability enables developers to focus on more complex tasks, while the AI handles routine coding, saving significant time and effort. AI tools can predict the next part of a code sequence, suggest completions, and detect potential errors in real time. This not only accelerates the coding process but also enhances code quality by identifying issues early on.</a:t>
            </a:r>
          </a:p>
        </p:txBody>
      </p:sp>
      <p:pic>
        <p:nvPicPr>
          <p:cNvPr id="10" name="Picture 9">
            <a:hlinkClick r:id="rId2"/>
            <a:extLst>
              <a:ext uri="{FF2B5EF4-FFF2-40B4-BE49-F238E27FC236}">
                <a16:creationId xmlns:a16="http://schemas.microsoft.com/office/drawing/2014/main" id="{B046C4D4-2500-99DC-75AA-3B73EADAF05F}"/>
              </a:ext>
            </a:extLst>
          </p:cNvPr>
          <p:cNvPicPr>
            <a:picLocks noChangeAspect="1"/>
          </p:cNvPicPr>
          <p:nvPr/>
        </p:nvPicPr>
        <p:blipFill>
          <a:blip r:embed="rId3"/>
          <a:stretch>
            <a:fillRect/>
          </a:stretch>
        </p:blipFill>
        <p:spPr>
          <a:xfrm>
            <a:off x="5002692" y="1314956"/>
            <a:ext cx="6680936" cy="4192287"/>
          </a:xfrm>
          <a:prstGeom prst="rect">
            <a:avLst/>
          </a:prstGeom>
        </p:spPr>
      </p:pic>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402A6A9C-508C-EC69-121B-48A0E7DF0F41}"/>
              </a:ext>
            </a:extLst>
          </p:cNvPr>
          <p:cNvSpPr txBox="1"/>
          <p:nvPr/>
        </p:nvSpPr>
        <p:spPr>
          <a:xfrm>
            <a:off x="7263952" y="5543044"/>
            <a:ext cx="2872189" cy="369332"/>
          </a:xfrm>
          <a:prstGeom prst="rect">
            <a:avLst/>
          </a:prstGeom>
          <a:noFill/>
        </p:spPr>
        <p:txBody>
          <a:bodyPr wrap="square">
            <a:spAutoFit/>
          </a:bodyPr>
          <a:lstStyle/>
          <a:p>
            <a:r>
              <a:rPr lang="en-GB" dirty="0"/>
              <a:t>https://www.cursor.com/</a:t>
            </a:r>
          </a:p>
        </p:txBody>
      </p:sp>
    </p:spTree>
    <p:extLst>
      <p:ext uri="{BB962C8B-B14F-4D97-AF65-F5344CB8AC3E}">
        <p14:creationId xmlns:p14="http://schemas.microsoft.com/office/powerpoint/2010/main" val="2977763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53BF-E3B4-18B2-4EC0-8D6B71412F05}"/>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90968479-2879-5B2B-97AB-E741D03973BA}"/>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90798468-0F11-DFF4-C079-012358583878}"/>
              </a:ext>
            </a:extLst>
          </p:cNvPr>
          <p:cNvPicPr>
            <a:picLocks noChangeAspect="1"/>
          </p:cNvPicPr>
          <p:nvPr/>
        </p:nvPicPr>
        <p:blipFill>
          <a:blip r:embed="rId2"/>
          <a:stretch>
            <a:fillRect/>
          </a:stretch>
        </p:blipFill>
        <p:spPr>
          <a:xfrm>
            <a:off x="0" y="0"/>
            <a:ext cx="9803260" cy="2750312"/>
          </a:xfrm>
          <a:prstGeom prst="rect">
            <a:avLst/>
          </a:prstGeom>
        </p:spPr>
      </p:pic>
      <p:pic>
        <p:nvPicPr>
          <p:cNvPr id="5" name="Picture 4">
            <a:extLst>
              <a:ext uri="{FF2B5EF4-FFF2-40B4-BE49-F238E27FC236}">
                <a16:creationId xmlns:a16="http://schemas.microsoft.com/office/drawing/2014/main" id="{A09118C2-1760-829B-F589-A394F1695D57}"/>
              </a:ext>
            </a:extLst>
          </p:cNvPr>
          <p:cNvPicPr>
            <a:picLocks noChangeAspect="1"/>
          </p:cNvPicPr>
          <p:nvPr/>
        </p:nvPicPr>
        <p:blipFill>
          <a:blip r:embed="rId3"/>
          <a:stretch>
            <a:fillRect/>
          </a:stretch>
        </p:blipFill>
        <p:spPr>
          <a:xfrm>
            <a:off x="5580360" y="0"/>
            <a:ext cx="5340667" cy="6858000"/>
          </a:xfrm>
          <a:prstGeom prst="rect">
            <a:avLst/>
          </a:prstGeom>
        </p:spPr>
      </p:pic>
    </p:spTree>
    <p:extLst>
      <p:ext uri="{BB962C8B-B14F-4D97-AF65-F5344CB8AC3E}">
        <p14:creationId xmlns:p14="http://schemas.microsoft.com/office/powerpoint/2010/main" val="314613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US" sz="2500" dirty="0"/>
              <a:t>Generative AI used in software product engineering – Enterprise Cloud AI product</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C2F47E08-73F2-95F8-921F-CFC8E6EF8F48}"/>
              </a:ext>
            </a:extLst>
          </p:cNvPr>
          <p:cNvPicPr>
            <a:picLocks noChangeAspect="1"/>
          </p:cNvPicPr>
          <p:nvPr/>
        </p:nvPicPr>
        <p:blipFill>
          <a:blip r:embed="rId2"/>
          <a:stretch>
            <a:fillRect/>
          </a:stretch>
        </p:blipFill>
        <p:spPr>
          <a:xfrm>
            <a:off x="5715155" y="194070"/>
            <a:ext cx="6229035" cy="3118495"/>
          </a:xfrm>
          <a:prstGeom prst="rect">
            <a:avLst/>
          </a:prstGeom>
        </p:spPr>
      </p:pic>
      <p:sp>
        <p:nvSpPr>
          <p:cNvPr id="7" name="TextBox 6">
            <a:extLst>
              <a:ext uri="{FF2B5EF4-FFF2-40B4-BE49-F238E27FC236}">
                <a16:creationId xmlns:a16="http://schemas.microsoft.com/office/drawing/2014/main" id="{622C7579-14F3-9FB0-436A-5AA203BE8C88}"/>
              </a:ext>
            </a:extLst>
          </p:cNvPr>
          <p:cNvSpPr txBox="1"/>
          <p:nvPr/>
        </p:nvSpPr>
        <p:spPr>
          <a:xfrm>
            <a:off x="310234" y="2035770"/>
            <a:ext cx="5076326" cy="738664"/>
          </a:xfrm>
          <a:prstGeom prst="rect">
            <a:avLst/>
          </a:prstGeom>
          <a:noFill/>
        </p:spPr>
        <p:txBody>
          <a:bodyPr wrap="square">
            <a:spAutoFit/>
          </a:bodyPr>
          <a:lstStyle/>
          <a:p>
            <a:r>
              <a:rPr lang="en-GB" sz="1400" b="0" i="0" dirty="0">
                <a:solidFill>
                  <a:srgbClr val="333333"/>
                </a:solidFill>
                <a:effectLst/>
                <a:latin typeface="AmazonEmberBold"/>
              </a:rPr>
              <a:t>Step 1: </a:t>
            </a:r>
            <a:r>
              <a:rPr lang="en-GB" sz="1400" b="0" i="0" dirty="0">
                <a:solidFill>
                  <a:srgbClr val="333333"/>
                </a:solidFill>
                <a:effectLst/>
                <a:latin typeface="AmazonEmber"/>
              </a:rPr>
              <a:t>The client sends a request including input data (either a product image or a basic product description to enhance) to the Amazon API Gateway REST API.</a:t>
            </a:r>
            <a:endParaRPr lang="en-GB" sz="1400" dirty="0"/>
          </a:p>
        </p:txBody>
      </p:sp>
      <p:sp>
        <p:nvSpPr>
          <p:cNvPr id="11" name="TextBox 10">
            <a:extLst>
              <a:ext uri="{FF2B5EF4-FFF2-40B4-BE49-F238E27FC236}">
                <a16:creationId xmlns:a16="http://schemas.microsoft.com/office/drawing/2014/main" id="{37B62E48-9BA0-3793-270A-F12949AAF8B7}"/>
              </a:ext>
            </a:extLst>
          </p:cNvPr>
          <p:cNvSpPr txBox="1"/>
          <p:nvPr/>
        </p:nvSpPr>
        <p:spPr>
          <a:xfrm>
            <a:off x="297105" y="2712276"/>
            <a:ext cx="5342494" cy="523220"/>
          </a:xfrm>
          <a:prstGeom prst="rect">
            <a:avLst/>
          </a:prstGeom>
          <a:noFill/>
        </p:spPr>
        <p:txBody>
          <a:bodyPr wrap="square">
            <a:spAutoFit/>
          </a:bodyPr>
          <a:lstStyle/>
          <a:p>
            <a:r>
              <a:rPr lang="en-GB" sz="1400" dirty="0">
                <a:solidFill>
                  <a:srgbClr val="333333"/>
                </a:solidFill>
                <a:latin typeface="AmazonEmberBold"/>
              </a:rPr>
              <a:t>Step 2: API Gateway passes the request to the Lambda function through a proxy integration</a:t>
            </a:r>
            <a:r>
              <a:rPr lang="en-GB" sz="1200" dirty="0">
                <a:solidFill>
                  <a:srgbClr val="333333"/>
                </a:solidFill>
                <a:latin typeface="AmazonEmberBold"/>
              </a:rPr>
              <a:t>.</a:t>
            </a:r>
          </a:p>
        </p:txBody>
      </p:sp>
      <p:sp>
        <p:nvSpPr>
          <p:cNvPr id="14" name="TextBox 13">
            <a:extLst>
              <a:ext uri="{FF2B5EF4-FFF2-40B4-BE49-F238E27FC236}">
                <a16:creationId xmlns:a16="http://schemas.microsoft.com/office/drawing/2014/main" id="{677F9B6E-D470-EE2E-49AF-62A913A8E55D}"/>
              </a:ext>
            </a:extLst>
          </p:cNvPr>
          <p:cNvSpPr txBox="1"/>
          <p:nvPr/>
        </p:nvSpPr>
        <p:spPr>
          <a:xfrm>
            <a:off x="297103" y="3220278"/>
            <a:ext cx="5173158" cy="954107"/>
          </a:xfrm>
          <a:prstGeom prst="rect">
            <a:avLst/>
          </a:prstGeom>
          <a:noFill/>
        </p:spPr>
        <p:txBody>
          <a:bodyPr wrap="square">
            <a:spAutoFit/>
          </a:bodyPr>
          <a:lstStyle/>
          <a:p>
            <a:r>
              <a:rPr lang="en-GB" sz="1400" dirty="0">
                <a:solidFill>
                  <a:srgbClr val="333333"/>
                </a:solidFill>
                <a:latin typeface="AmazonEmberBold"/>
              </a:rPr>
              <a:t>Step 3: When operating on product image inputs, Lambda calls the machine learning service (Amazon </a:t>
            </a:r>
            <a:r>
              <a:rPr lang="en-GB" sz="1400" dirty="0" err="1">
                <a:solidFill>
                  <a:srgbClr val="333333"/>
                </a:solidFill>
                <a:latin typeface="AmazonEmberBold"/>
              </a:rPr>
              <a:t>Rekognition</a:t>
            </a:r>
            <a:r>
              <a:rPr lang="en-GB" sz="1400" dirty="0">
                <a:solidFill>
                  <a:srgbClr val="333333"/>
                </a:solidFill>
                <a:latin typeface="AmazonEmberBold"/>
              </a:rPr>
              <a:t>) to detect objects in the image. Descriptions of the objects detected can then be fed into subsequent steps to create a product description.</a:t>
            </a:r>
          </a:p>
        </p:txBody>
      </p:sp>
      <p:sp>
        <p:nvSpPr>
          <p:cNvPr id="16" name="TextBox 15">
            <a:extLst>
              <a:ext uri="{FF2B5EF4-FFF2-40B4-BE49-F238E27FC236}">
                <a16:creationId xmlns:a16="http://schemas.microsoft.com/office/drawing/2014/main" id="{942BD4D4-E75C-0C9C-580B-E0B626E59083}"/>
              </a:ext>
            </a:extLst>
          </p:cNvPr>
          <p:cNvSpPr txBox="1"/>
          <p:nvPr/>
        </p:nvSpPr>
        <p:spPr>
          <a:xfrm>
            <a:off x="297105" y="4145724"/>
            <a:ext cx="5324135" cy="954107"/>
          </a:xfrm>
          <a:prstGeom prst="rect">
            <a:avLst/>
          </a:prstGeom>
          <a:noFill/>
        </p:spPr>
        <p:txBody>
          <a:bodyPr wrap="square">
            <a:spAutoFit/>
          </a:bodyPr>
          <a:lstStyle/>
          <a:p>
            <a:r>
              <a:rPr lang="en-GB" sz="1400" dirty="0">
                <a:solidFill>
                  <a:srgbClr val="333333"/>
                </a:solidFill>
                <a:latin typeface="AmazonEmberBold"/>
              </a:rPr>
              <a:t>Step 4: Lambda calls large language models (LLMs) hosted by </a:t>
            </a:r>
            <a:r>
              <a:rPr lang="en-GB" sz="1400" b="1" dirty="0">
                <a:solidFill>
                  <a:srgbClr val="333333"/>
                </a:solidFill>
                <a:latin typeface="AmazonEmberBold"/>
                <a:hlinkClick r:id="rId3">
                  <a:extLst>
                    <a:ext uri="{A12FA001-AC4F-418D-AE19-62706E023703}">
                      <ahyp:hlinkClr xmlns:ahyp="http://schemas.microsoft.com/office/drawing/2018/hyperlinkcolor" val="tx"/>
                    </a:ext>
                  </a:extLst>
                </a:hlinkClick>
              </a:rPr>
              <a:t>Amazon Bedrock</a:t>
            </a:r>
            <a:r>
              <a:rPr lang="en-GB" sz="1400" b="1" dirty="0">
                <a:solidFill>
                  <a:srgbClr val="333333"/>
                </a:solidFill>
                <a:latin typeface="AmazonEmberBold"/>
              </a:rPr>
              <a:t> </a:t>
            </a:r>
            <a:r>
              <a:rPr lang="en-GB" sz="1400" dirty="0">
                <a:solidFill>
                  <a:srgbClr val="333333"/>
                </a:solidFill>
                <a:latin typeface="AmazonEmberBold"/>
              </a:rPr>
              <a:t>to produce product descriptions. The LLMs can either enhance existing basic text descriptions or generate new descriptions based on the objects detected by Amazon </a:t>
            </a:r>
            <a:r>
              <a:rPr lang="en-GB" sz="1400" dirty="0" err="1">
                <a:solidFill>
                  <a:srgbClr val="333333"/>
                </a:solidFill>
                <a:latin typeface="AmazonEmberBold"/>
              </a:rPr>
              <a:t>Rekognition</a:t>
            </a:r>
            <a:r>
              <a:rPr lang="en-GB" sz="1400" dirty="0">
                <a:solidFill>
                  <a:srgbClr val="333333"/>
                </a:solidFill>
                <a:latin typeface="AmazonEmberBold"/>
              </a:rPr>
              <a:t>.</a:t>
            </a:r>
          </a:p>
        </p:txBody>
      </p:sp>
      <p:sp>
        <p:nvSpPr>
          <p:cNvPr id="18" name="TextBox 17">
            <a:extLst>
              <a:ext uri="{FF2B5EF4-FFF2-40B4-BE49-F238E27FC236}">
                <a16:creationId xmlns:a16="http://schemas.microsoft.com/office/drawing/2014/main" id="{A93B5793-8CBD-2A55-F096-B973685366B8}"/>
              </a:ext>
            </a:extLst>
          </p:cNvPr>
          <p:cNvSpPr txBox="1"/>
          <p:nvPr/>
        </p:nvSpPr>
        <p:spPr>
          <a:xfrm>
            <a:off x="5884802" y="3344358"/>
            <a:ext cx="6229035" cy="584775"/>
          </a:xfrm>
          <a:prstGeom prst="rect">
            <a:avLst/>
          </a:prstGeom>
          <a:noFill/>
        </p:spPr>
        <p:txBody>
          <a:bodyPr wrap="square">
            <a:spAutoFit/>
          </a:bodyPr>
          <a:lstStyle/>
          <a:p>
            <a:r>
              <a:rPr lang="en-GB" sz="1600" dirty="0"/>
              <a:t>https://docs.aws.amazon.com/solutions/generating-product-descriptions-with-amazon-bedrock/</a:t>
            </a:r>
          </a:p>
        </p:txBody>
      </p:sp>
      <p:pic>
        <p:nvPicPr>
          <p:cNvPr id="20" name="Picture 19">
            <a:extLst>
              <a:ext uri="{FF2B5EF4-FFF2-40B4-BE49-F238E27FC236}">
                <a16:creationId xmlns:a16="http://schemas.microsoft.com/office/drawing/2014/main" id="{CAFD7166-5CBA-A28B-1BD1-1C004E4FDBE7}"/>
              </a:ext>
            </a:extLst>
          </p:cNvPr>
          <p:cNvPicPr>
            <a:picLocks noChangeAspect="1"/>
          </p:cNvPicPr>
          <p:nvPr/>
        </p:nvPicPr>
        <p:blipFill>
          <a:blip r:embed="rId4"/>
          <a:stretch>
            <a:fillRect/>
          </a:stretch>
        </p:blipFill>
        <p:spPr>
          <a:xfrm>
            <a:off x="5560038" y="194070"/>
            <a:ext cx="6539268" cy="4573440"/>
          </a:xfrm>
          <a:prstGeom prst="rect">
            <a:avLst/>
          </a:prstGeom>
        </p:spPr>
      </p:pic>
      <p:sp>
        <p:nvSpPr>
          <p:cNvPr id="21" name="TextBox 20">
            <a:extLst>
              <a:ext uri="{FF2B5EF4-FFF2-40B4-BE49-F238E27FC236}">
                <a16:creationId xmlns:a16="http://schemas.microsoft.com/office/drawing/2014/main" id="{25CF4EF8-0CD9-A783-EAF8-57BB0D083C50}"/>
              </a:ext>
            </a:extLst>
          </p:cNvPr>
          <p:cNvSpPr txBox="1"/>
          <p:nvPr/>
        </p:nvSpPr>
        <p:spPr>
          <a:xfrm>
            <a:off x="7679093" y="4790050"/>
            <a:ext cx="2450799" cy="369332"/>
          </a:xfrm>
          <a:prstGeom prst="rect">
            <a:avLst/>
          </a:prstGeom>
          <a:noFill/>
        </p:spPr>
        <p:txBody>
          <a:bodyPr wrap="none" rtlCol="0">
            <a:spAutoFit/>
          </a:bodyPr>
          <a:lstStyle/>
          <a:p>
            <a:r>
              <a:rPr lang="en-GB" dirty="0"/>
              <a:t>Enterprise RAG system</a:t>
            </a:r>
          </a:p>
        </p:txBody>
      </p:sp>
    </p:spTree>
    <p:extLst>
      <p:ext uri="{BB962C8B-B14F-4D97-AF65-F5344CB8AC3E}">
        <p14:creationId xmlns:p14="http://schemas.microsoft.com/office/powerpoint/2010/main" val="40820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1000"/>
                                        <p:tgtEl>
                                          <p:spTgt spid="21"/>
                                        </p:tgtEl>
                                      </p:cBhvr>
                                    </p:animEffect>
                                    <p:anim calcmode="lin" valueType="num">
                                      <p:cBhvr>
                                        <p:cTn id="24" dur="1000" fill="hold"/>
                                        <p:tgtEl>
                                          <p:spTgt spid="21"/>
                                        </p:tgtEl>
                                        <p:attrNameLst>
                                          <p:attrName>ppt_x</p:attrName>
                                        </p:attrNameLst>
                                      </p:cBhvr>
                                      <p:tavLst>
                                        <p:tav tm="0">
                                          <p:val>
                                            <p:strVal val="#ppt_x"/>
                                          </p:val>
                                        </p:tav>
                                        <p:tav tm="100000">
                                          <p:val>
                                            <p:strVal val="#ppt_x"/>
                                          </p:val>
                                        </p:tav>
                                      </p:tavLst>
                                    </p:anim>
                                    <p:anim calcmode="lin" valueType="num">
                                      <p:cBhvr>
                                        <p:cTn id="25" dur="1000" fill="hold"/>
                                        <p:tgtEl>
                                          <p:spTgt spid="21"/>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1000"/>
                                        <p:tgtEl>
                                          <p:spTgt spid="20"/>
                                        </p:tgtEl>
                                      </p:cBhvr>
                                    </p:animEffect>
                                    <p:anim calcmode="lin" valueType="num">
                                      <p:cBhvr>
                                        <p:cTn id="29" dur="1000" fill="hold"/>
                                        <p:tgtEl>
                                          <p:spTgt spid="20"/>
                                        </p:tgtEl>
                                        <p:attrNameLst>
                                          <p:attrName>ppt_x</p:attrName>
                                        </p:attrNameLst>
                                      </p:cBhvr>
                                      <p:tavLst>
                                        <p:tav tm="0">
                                          <p:val>
                                            <p:strVal val="#ppt_x"/>
                                          </p:val>
                                        </p:tav>
                                        <p:tav tm="100000">
                                          <p:val>
                                            <p:strVal val="#ppt_x"/>
                                          </p:val>
                                        </p:tav>
                                      </p:tavLst>
                                    </p:anim>
                                    <p:anim calcmode="lin" valueType="num">
                                      <p:cBhvr>
                                        <p:cTn id="3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P spid="16"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fontScale="90000"/>
          </a:bodyPr>
          <a:lstStyle/>
          <a:p>
            <a:r>
              <a:rPr lang="en-US" sz="2500" dirty="0"/>
              <a:t>Generative AI used in software product engineering – Enterprise Data Source orchestration to create new products </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 name="Picture 2">
            <a:extLst>
              <a:ext uri="{FF2B5EF4-FFF2-40B4-BE49-F238E27FC236}">
                <a16:creationId xmlns:a16="http://schemas.microsoft.com/office/drawing/2014/main" id="{59555230-B702-ECE9-891D-0877EB67DC7D}"/>
              </a:ext>
            </a:extLst>
          </p:cNvPr>
          <p:cNvPicPr>
            <a:picLocks noChangeAspect="1"/>
          </p:cNvPicPr>
          <p:nvPr/>
        </p:nvPicPr>
        <p:blipFill>
          <a:blip r:embed="rId2"/>
          <a:stretch>
            <a:fillRect/>
          </a:stretch>
        </p:blipFill>
        <p:spPr>
          <a:xfrm>
            <a:off x="5232873" y="170172"/>
            <a:ext cx="5584949" cy="2417485"/>
          </a:xfrm>
          <a:prstGeom prst="rect">
            <a:avLst/>
          </a:prstGeom>
        </p:spPr>
      </p:pic>
      <p:sp>
        <p:nvSpPr>
          <p:cNvPr id="8" name="TextBox 7">
            <a:extLst>
              <a:ext uri="{FF2B5EF4-FFF2-40B4-BE49-F238E27FC236}">
                <a16:creationId xmlns:a16="http://schemas.microsoft.com/office/drawing/2014/main" id="{F840F9FE-461C-01B0-7288-67DC50B7469E}"/>
              </a:ext>
            </a:extLst>
          </p:cNvPr>
          <p:cNvSpPr txBox="1"/>
          <p:nvPr/>
        </p:nvSpPr>
        <p:spPr>
          <a:xfrm>
            <a:off x="7375847" y="2680085"/>
            <a:ext cx="3848696" cy="276999"/>
          </a:xfrm>
          <a:prstGeom prst="rect">
            <a:avLst/>
          </a:prstGeom>
          <a:noFill/>
        </p:spPr>
        <p:txBody>
          <a:bodyPr wrap="square">
            <a:spAutoFit/>
          </a:bodyPr>
          <a:lstStyle/>
          <a:p>
            <a:r>
              <a:rPr lang="en-GB" sz="1200" dirty="0">
                <a:hlinkClick r:id="rId3"/>
              </a:rPr>
              <a:t>Airflow Architecture: data pipeline orchestration</a:t>
            </a:r>
            <a:endParaRPr lang="en-GB" sz="1200" dirty="0"/>
          </a:p>
        </p:txBody>
      </p:sp>
      <p:pic>
        <p:nvPicPr>
          <p:cNvPr id="17" name="Picture 16">
            <a:extLst>
              <a:ext uri="{FF2B5EF4-FFF2-40B4-BE49-F238E27FC236}">
                <a16:creationId xmlns:a16="http://schemas.microsoft.com/office/drawing/2014/main" id="{678EC00E-62CF-A349-CC80-F52320818EB8}"/>
              </a:ext>
            </a:extLst>
          </p:cNvPr>
          <p:cNvPicPr>
            <a:picLocks noChangeAspect="1"/>
          </p:cNvPicPr>
          <p:nvPr/>
        </p:nvPicPr>
        <p:blipFill>
          <a:blip r:embed="rId4"/>
          <a:stretch>
            <a:fillRect/>
          </a:stretch>
        </p:blipFill>
        <p:spPr>
          <a:xfrm>
            <a:off x="11016919" y="261160"/>
            <a:ext cx="984091" cy="2257974"/>
          </a:xfrm>
          <a:prstGeom prst="rect">
            <a:avLst/>
          </a:prstGeom>
        </p:spPr>
      </p:pic>
      <p:sp>
        <p:nvSpPr>
          <p:cNvPr id="19" name="Arrow: Right 18">
            <a:extLst>
              <a:ext uri="{FF2B5EF4-FFF2-40B4-BE49-F238E27FC236}">
                <a16:creationId xmlns:a16="http://schemas.microsoft.com/office/drawing/2014/main" id="{D13FF08C-0F60-D401-C9F7-AF0C516046E5}"/>
              </a:ext>
            </a:extLst>
          </p:cNvPr>
          <p:cNvSpPr/>
          <p:nvPr/>
        </p:nvSpPr>
        <p:spPr>
          <a:xfrm>
            <a:off x="10817822" y="1171361"/>
            <a:ext cx="199095" cy="1535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4959B200-60DA-6696-52D1-E752594B984D}"/>
              </a:ext>
            </a:extLst>
          </p:cNvPr>
          <p:cNvSpPr txBox="1"/>
          <p:nvPr/>
        </p:nvSpPr>
        <p:spPr>
          <a:xfrm>
            <a:off x="-44056" y="1789145"/>
            <a:ext cx="5584949" cy="1015663"/>
          </a:xfrm>
          <a:prstGeom prst="rect">
            <a:avLst/>
          </a:prstGeom>
          <a:noFill/>
        </p:spPr>
        <p:txBody>
          <a:bodyPr wrap="square">
            <a:spAutoFit/>
          </a:bodyPr>
          <a:lstStyle/>
          <a:p>
            <a:pPr marL="171450" indent="-171450">
              <a:buFont typeface="Arial" panose="020B0604020202020204" pitchFamily="34" charset="0"/>
              <a:buChar char="•"/>
            </a:pPr>
            <a:r>
              <a:rPr lang="en-GB" sz="1200" b="1" dirty="0"/>
              <a:t>Integration of Multiple Data Sources</a:t>
            </a:r>
          </a:p>
          <a:p>
            <a:pPr marL="628650" lvl="1" indent="-171450">
              <a:buFont typeface="Arial" panose="020B0604020202020204" pitchFamily="34" charset="0"/>
              <a:buChar char="•"/>
            </a:pPr>
            <a:r>
              <a:rPr lang="en-GB" sz="1200" dirty="0"/>
              <a:t>Generative AI can aggregate and harmonize data from various enterprise systems, databases, and APIs.</a:t>
            </a:r>
          </a:p>
          <a:p>
            <a:pPr marL="628650" lvl="1" indent="-171450">
              <a:buFont typeface="Arial" panose="020B0604020202020204" pitchFamily="34" charset="0"/>
              <a:buChar char="•"/>
            </a:pPr>
            <a:r>
              <a:rPr lang="en-GB" sz="1200" dirty="0"/>
              <a:t>Examples: Integrating CRM data, operational data, and market data to generate new insights and create predictive analytics models.</a:t>
            </a:r>
          </a:p>
        </p:txBody>
      </p:sp>
      <p:sp>
        <p:nvSpPr>
          <p:cNvPr id="26" name="TextBox 25">
            <a:extLst>
              <a:ext uri="{FF2B5EF4-FFF2-40B4-BE49-F238E27FC236}">
                <a16:creationId xmlns:a16="http://schemas.microsoft.com/office/drawing/2014/main" id="{62DAF1A1-5907-5ACA-9E2E-34C06FD6DEA1}"/>
              </a:ext>
            </a:extLst>
          </p:cNvPr>
          <p:cNvSpPr txBox="1"/>
          <p:nvPr/>
        </p:nvSpPr>
        <p:spPr>
          <a:xfrm>
            <a:off x="-30476" y="3126212"/>
            <a:ext cx="5423570" cy="1200329"/>
          </a:xfrm>
          <a:prstGeom prst="rect">
            <a:avLst/>
          </a:prstGeom>
          <a:noFill/>
        </p:spPr>
        <p:txBody>
          <a:bodyPr wrap="square">
            <a:spAutoFit/>
          </a:bodyPr>
          <a:lstStyle/>
          <a:p>
            <a:pPr marL="171450" indent="-171450">
              <a:buFont typeface="Arial" panose="020B0604020202020204" pitchFamily="34" charset="0"/>
              <a:buChar char="•"/>
            </a:pPr>
            <a:r>
              <a:rPr lang="en-GB" sz="1200" b="1" dirty="0"/>
              <a:t>Creating New Data Products</a:t>
            </a:r>
          </a:p>
          <a:p>
            <a:pPr marL="628650" lvl="1" indent="-171450">
              <a:buFont typeface="Arial" panose="020B0604020202020204" pitchFamily="34" charset="0"/>
              <a:buChar char="•"/>
            </a:pPr>
            <a:r>
              <a:rPr lang="en-GB" sz="1200" dirty="0"/>
              <a:t>Orchestrating enterprise data with Generative AI to create entirely new datasets or products, such as personalized customer insights, trend predictions, and automated reports.</a:t>
            </a:r>
          </a:p>
          <a:p>
            <a:pPr marL="628650" lvl="1" indent="-171450">
              <a:buFont typeface="Arial" panose="020B0604020202020204" pitchFamily="34" charset="0"/>
              <a:buChar char="•"/>
            </a:pPr>
            <a:r>
              <a:rPr lang="en-GB" sz="1200" dirty="0"/>
              <a:t>Example Use Cases: Real-time business intelligence dashboards, tailored data services, and AI-driven customer </a:t>
            </a:r>
            <a:r>
              <a:rPr lang="en-GB" sz="1200" dirty="0" err="1"/>
              <a:t>behavior</a:t>
            </a:r>
            <a:r>
              <a:rPr lang="en-GB" sz="1200" dirty="0"/>
              <a:t> analytics.</a:t>
            </a:r>
          </a:p>
        </p:txBody>
      </p:sp>
      <p:sp>
        <p:nvSpPr>
          <p:cNvPr id="30" name="TextBox 29">
            <a:extLst>
              <a:ext uri="{FF2B5EF4-FFF2-40B4-BE49-F238E27FC236}">
                <a16:creationId xmlns:a16="http://schemas.microsoft.com/office/drawing/2014/main" id="{6A8B9444-92EE-E7C0-7044-D29C4F2B7257}"/>
              </a:ext>
            </a:extLst>
          </p:cNvPr>
          <p:cNvSpPr txBox="1"/>
          <p:nvPr/>
        </p:nvSpPr>
        <p:spPr>
          <a:xfrm>
            <a:off x="-35003" y="4363083"/>
            <a:ext cx="5267876" cy="1384995"/>
          </a:xfrm>
          <a:prstGeom prst="rect">
            <a:avLst/>
          </a:prstGeom>
          <a:noFill/>
        </p:spPr>
        <p:txBody>
          <a:bodyPr wrap="square">
            <a:spAutoFit/>
          </a:bodyPr>
          <a:lstStyle/>
          <a:p>
            <a:pPr marL="114300" indent="-171450">
              <a:buFont typeface="Arial" panose="020B0604020202020204" pitchFamily="34" charset="0"/>
              <a:buChar char="•"/>
            </a:pPr>
            <a:r>
              <a:rPr lang="en-GB" sz="1200" b="1" dirty="0"/>
              <a:t>Benefits for Product Engineering</a:t>
            </a:r>
          </a:p>
          <a:p>
            <a:pPr marL="571500" lvl="1" indent="-171450">
              <a:buFont typeface="Arial" panose="020B0604020202020204" pitchFamily="34" charset="0"/>
              <a:buChar char="•"/>
            </a:pPr>
            <a:r>
              <a:rPr lang="en-GB" sz="1200" dirty="0"/>
              <a:t>Enhanced Data Utilization: Generative AI transforms raw data into meaningful insights, enabling the creation of new data products.</a:t>
            </a:r>
          </a:p>
          <a:p>
            <a:pPr marL="571500" lvl="1" indent="-171450">
              <a:buFont typeface="Arial" panose="020B0604020202020204" pitchFamily="34" charset="0"/>
              <a:buChar char="•"/>
            </a:pPr>
            <a:r>
              <a:rPr lang="en-GB" sz="1200" dirty="0"/>
              <a:t>Faster Innovation: By combining diverse data sources, enterprises can quickly generate new data-driven products and services.</a:t>
            </a:r>
          </a:p>
          <a:p>
            <a:pPr marL="571500" lvl="1" indent="-171450">
              <a:buFont typeface="Arial" panose="020B0604020202020204" pitchFamily="34" charset="0"/>
              <a:buChar char="•"/>
            </a:pPr>
            <a:r>
              <a:rPr lang="en-GB" sz="1200" dirty="0"/>
              <a:t>Improved Decision-Making: AI-driven orchestration helps create data products that provide actionable insights for better business outcomes.</a:t>
            </a:r>
          </a:p>
        </p:txBody>
      </p:sp>
      <p:pic>
        <p:nvPicPr>
          <p:cNvPr id="6" name="Picture 5">
            <a:extLst>
              <a:ext uri="{FF2B5EF4-FFF2-40B4-BE49-F238E27FC236}">
                <a16:creationId xmlns:a16="http://schemas.microsoft.com/office/drawing/2014/main" id="{2AC66BFC-F223-9762-6695-7021148F192A}"/>
              </a:ext>
            </a:extLst>
          </p:cNvPr>
          <p:cNvPicPr>
            <a:picLocks noChangeAspect="1"/>
          </p:cNvPicPr>
          <p:nvPr/>
        </p:nvPicPr>
        <p:blipFill>
          <a:blip r:embed="rId5"/>
          <a:stretch>
            <a:fillRect/>
          </a:stretch>
        </p:blipFill>
        <p:spPr>
          <a:xfrm>
            <a:off x="5186868" y="3019847"/>
            <a:ext cx="6959127" cy="2638039"/>
          </a:xfrm>
          <a:prstGeom prst="rect">
            <a:avLst/>
          </a:prstGeom>
        </p:spPr>
      </p:pic>
    </p:spTree>
    <p:extLst>
      <p:ext uri="{BB962C8B-B14F-4D97-AF65-F5344CB8AC3E}">
        <p14:creationId xmlns:p14="http://schemas.microsoft.com/office/powerpoint/2010/main" val="206217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503854" y="195943"/>
            <a:ext cx="9731690" cy="806638"/>
          </a:xfrm>
        </p:spPr>
        <p:txBody>
          <a:bodyPr vert="horz" lIns="91440" tIns="45720" rIns="91440" bIns="45720" rtlCol="0" anchor="b">
            <a:normAutofit/>
          </a:bodyPr>
          <a:lstStyle/>
          <a:p>
            <a:r>
              <a:rPr lang="en-US" sz="2200" dirty="0"/>
              <a:t>LLM-centric microservices and data dynamic orchestration framework for Data Analytics</a:t>
            </a:r>
          </a:p>
        </p:txBody>
      </p:sp>
      <p:pic>
        <p:nvPicPr>
          <p:cNvPr id="5" name="Picture 4">
            <a:extLst>
              <a:ext uri="{FF2B5EF4-FFF2-40B4-BE49-F238E27FC236}">
                <a16:creationId xmlns:a16="http://schemas.microsoft.com/office/drawing/2014/main" id="{00A50951-8DF1-E6DB-C643-85015946E0C8}"/>
              </a:ext>
            </a:extLst>
          </p:cNvPr>
          <p:cNvPicPr>
            <a:picLocks noChangeAspect="1"/>
          </p:cNvPicPr>
          <p:nvPr/>
        </p:nvPicPr>
        <p:blipFill>
          <a:blip r:embed="rId2"/>
          <a:stretch>
            <a:fillRect/>
          </a:stretch>
        </p:blipFill>
        <p:spPr>
          <a:xfrm>
            <a:off x="1657877" y="1002581"/>
            <a:ext cx="8447175" cy="4951363"/>
          </a:xfrm>
          <a:prstGeom prst="rect">
            <a:avLst/>
          </a:prstGeom>
        </p:spPr>
      </p:pic>
    </p:spTree>
    <p:extLst>
      <p:ext uri="{BB962C8B-B14F-4D97-AF65-F5344CB8AC3E}">
        <p14:creationId xmlns:p14="http://schemas.microsoft.com/office/powerpoint/2010/main" val="2770969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Autofit/>
          </a:bodyPr>
          <a:lstStyle/>
          <a:p>
            <a:r>
              <a:rPr lang="en-US" sz="3200" dirty="0"/>
              <a:t>Generative AI used in software product engineering – Prompt Engineering</a:t>
            </a:r>
            <a:endParaRPr lang="en-US" sz="3200"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3501957"/>
          </a:xfrm>
          <a:prstGeom prst="rect">
            <a:avLst/>
          </a:prstGeom>
        </p:spPr>
        <p:txBody>
          <a:bodyPr vert="horz" lIns="91440" tIns="45720" rIns="91440" bIns="45720" rtlCol="0">
            <a:normAutofit/>
          </a:bodyPr>
          <a:lstStyle/>
          <a:p>
            <a:pPr>
              <a:lnSpc>
                <a:spcPct val="90000"/>
              </a:lnSpc>
              <a:spcAft>
                <a:spcPts val="600"/>
              </a:spcAft>
            </a:pPr>
            <a:r>
              <a:rPr lang="en-US" sz="1400" b="1" dirty="0"/>
              <a:t>Prompt engineering</a:t>
            </a:r>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E17D642A-F36B-0CDF-5AD5-7E7A9C6254C9}"/>
              </a:ext>
            </a:extLst>
          </p:cNvPr>
          <p:cNvPicPr>
            <a:picLocks noChangeAspect="1"/>
          </p:cNvPicPr>
          <p:nvPr/>
        </p:nvPicPr>
        <p:blipFill>
          <a:blip r:embed="rId3"/>
          <a:stretch>
            <a:fillRect/>
          </a:stretch>
        </p:blipFill>
        <p:spPr>
          <a:xfrm>
            <a:off x="634170" y="304077"/>
            <a:ext cx="4915586" cy="5182323"/>
          </a:xfrm>
          <a:prstGeom prst="rect">
            <a:avLst/>
          </a:prstGeom>
        </p:spPr>
      </p:pic>
      <p:pic>
        <p:nvPicPr>
          <p:cNvPr id="9" name="Picture 8">
            <a:extLst>
              <a:ext uri="{FF2B5EF4-FFF2-40B4-BE49-F238E27FC236}">
                <a16:creationId xmlns:a16="http://schemas.microsoft.com/office/drawing/2014/main" id="{A0DFBA73-790F-6387-BCE1-E43C8A87D96E}"/>
              </a:ext>
            </a:extLst>
          </p:cNvPr>
          <p:cNvPicPr>
            <a:picLocks noChangeAspect="1"/>
          </p:cNvPicPr>
          <p:nvPr/>
        </p:nvPicPr>
        <p:blipFill>
          <a:blip r:embed="rId4"/>
          <a:stretch>
            <a:fillRect/>
          </a:stretch>
        </p:blipFill>
        <p:spPr>
          <a:xfrm>
            <a:off x="95857" y="1907995"/>
            <a:ext cx="9592344" cy="4702740"/>
          </a:xfrm>
          <a:prstGeom prst="rect">
            <a:avLst/>
          </a:prstGeom>
        </p:spPr>
      </p:pic>
      <p:pic>
        <p:nvPicPr>
          <p:cNvPr id="12" name="Picture 11">
            <a:extLst>
              <a:ext uri="{FF2B5EF4-FFF2-40B4-BE49-F238E27FC236}">
                <a16:creationId xmlns:a16="http://schemas.microsoft.com/office/drawing/2014/main" id="{CC45AE8E-0BBA-82A1-F177-F0D68B4D99DB}"/>
              </a:ext>
            </a:extLst>
          </p:cNvPr>
          <p:cNvPicPr>
            <a:picLocks noChangeAspect="1"/>
          </p:cNvPicPr>
          <p:nvPr/>
        </p:nvPicPr>
        <p:blipFill>
          <a:blip r:embed="rId5"/>
          <a:stretch>
            <a:fillRect/>
          </a:stretch>
        </p:blipFill>
        <p:spPr>
          <a:xfrm>
            <a:off x="224575" y="247265"/>
            <a:ext cx="6706147" cy="6006618"/>
          </a:xfrm>
          <a:prstGeom prst="rect">
            <a:avLst/>
          </a:prstGeom>
        </p:spPr>
      </p:pic>
      <p:pic>
        <p:nvPicPr>
          <p:cNvPr id="16" name="Picture 15">
            <a:extLst>
              <a:ext uri="{FF2B5EF4-FFF2-40B4-BE49-F238E27FC236}">
                <a16:creationId xmlns:a16="http://schemas.microsoft.com/office/drawing/2014/main" id="{B0369B59-613E-E07F-5BF2-C741B59C4533}"/>
              </a:ext>
            </a:extLst>
          </p:cNvPr>
          <p:cNvPicPr>
            <a:picLocks noChangeAspect="1"/>
          </p:cNvPicPr>
          <p:nvPr/>
        </p:nvPicPr>
        <p:blipFill>
          <a:blip r:embed="rId6"/>
          <a:stretch>
            <a:fillRect/>
          </a:stretch>
        </p:blipFill>
        <p:spPr>
          <a:xfrm>
            <a:off x="4892029" y="247265"/>
            <a:ext cx="7116168" cy="6220693"/>
          </a:xfrm>
          <a:prstGeom prst="rect">
            <a:avLst/>
          </a:prstGeom>
        </p:spPr>
      </p:pic>
    </p:spTree>
    <p:extLst>
      <p:ext uri="{BB962C8B-B14F-4D97-AF65-F5344CB8AC3E}">
        <p14:creationId xmlns:p14="http://schemas.microsoft.com/office/powerpoint/2010/main" val="375396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30D24-2E2F-2011-510B-9530EE84AE4E}"/>
              </a:ext>
            </a:extLst>
          </p:cNvPr>
          <p:cNvSpPr>
            <a:spLocks noGrp="1"/>
          </p:cNvSpPr>
          <p:nvPr>
            <p:ph idx="1"/>
          </p:nvPr>
        </p:nvSpPr>
        <p:spPr/>
        <p:txBody>
          <a:bodyPr/>
          <a:lstStyle/>
          <a:p>
            <a:endParaRPr lang="en-US" dirty="0"/>
          </a:p>
          <a:p>
            <a:endParaRPr lang="en-US" dirty="0"/>
          </a:p>
          <a:p>
            <a:endParaRPr lang="en-US" dirty="0"/>
          </a:p>
          <a:p>
            <a:endParaRPr lang="en-GB" dirty="0"/>
          </a:p>
        </p:txBody>
      </p:sp>
      <p:sp>
        <p:nvSpPr>
          <p:cNvPr id="6" name="Content Placeholder 2">
            <a:extLst>
              <a:ext uri="{FF2B5EF4-FFF2-40B4-BE49-F238E27FC236}">
                <a16:creationId xmlns:a16="http://schemas.microsoft.com/office/drawing/2014/main" id="{8A4C8B7A-3F04-AF37-430D-F5527FF52DDD}"/>
              </a:ext>
            </a:extLst>
          </p:cNvPr>
          <p:cNvSpPr txBox="1">
            <a:spLocks/>
          </p:cNvSpPr>
          <p:nvPr/>
        </p:nvSpPr>
        <p:spPr>
          <a:xfrm>
            <a:off x="838200" y="1825625"/>
            <a:ext cx="10515600" cy="4351338"/>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Integration of LLM tool kits</a:t>
            </a:r>
          </a:p>
          <a:p>
            <a:r>
              <a:rPr lang="en-GB"/>
              <a:t>Quality Control, Reliability and Trust</a:t>
            </a:r>
          </a:p>
          <a:p>
            <a:r>
              <a:rPr lang="en-GB"/>
              <a:t>Security and Ethical Concerns</a:t>
            </a:r>
          </a:p>
          <a:p>
            <a:r>
              <a:rPr lang="en-GB"/>
              <a:t>Scalability and Integration</a:t>
            </a:r>
          </a:p>
          <a:p>
            <a:r>
              <a:rPr lang="en-GB"/>
              <a:t>Resource Consumption</a:t>
            </a:r>
            <a:endParaRPr lang="en-US"/>
          </a:p>
          <a:p>
            <a:endParaRPr lang="en-US"/>
          </a:p>
          <a:p>
            <a:endParaRPr lang="en-US"/>
          </a:p>
          <a:p>
            <a:endParaRPr lang="en-US"/>
          </a:p>
          <a:p>
            <a:endParaRPr lang="en-GB" dirty="0"/>
          </a:p>
        </p:txBody>
      </p:sp>
      <p:sp>
        <p:nvSpPr>
          <p:cNvPr id="7" name="Title 1">
            <a:extLst>
              <a:ext uri="{FF2B5EF4-FFF2-40B4-BE49-F238E27FC236}">
                <a16:creationId xmlns:a16="http://schemas.microsoft.com/office/drawing/2014/main" id="{632AF777-FF99-F9D1-B851-BCC84E5AEC40}"/>
              </a:ext>
            </a:extLst>
          </p:cNvPr>
          <p:cNvSpPr>
            <a:spLocks noGrp="1"/>
          </p:cNvSpPr>
          <p:nvPr>
            <p:ph type="title"/>
          </p:nvPr>
        </p:nvSpPr>
        <p:spPr>
          <a:xfrm>
            <a:off x="838200" y="365125"/>
            <a:ext cx="10515600" cy="1325563"/>
          </a:xfrm>
        </p:spPr>
        <p:txBody>
          <a:bodyPr/>
          <a:lstStyle>
            <a:lvl1pPr algn="l" defTabSz="914400" rtl="0" eaLnBrk="1" latinLnBrk="0" hangingPunct="1">
              <a:lnSpc>
                <a:spcPct val="90000"/>
              </a:lnSpc>
              <a:spcBef>
                <a:spcPct val="0"/>
              </a:spcBef>
              <a:buNone/>
              <a:defRPr sz="4000" b="1" kern="1200">
                <a:solidFill>
                  <a:schemeClr val="tx1"/>
                </a:solidFill>
                <a:latin typeface="Arial" panose="020B0604020202020204" pitchFamily="34" charset="0"/>
                <a:ea typeface="+mj-ea"/>
                <a:cs typeface="Arial" panose="020B0604020202020204" pitchFamily="34" charset="0"/>
              </a:defRPr>
            </a:lvl1pPr>
          </a:lstStyle>
          <a:p>
            <a:r>
              <a:rPr lang="en-GB"/>
              <a:t>Challenges</a:t>
            </a:r>
            <a:endParaRPr lang="en-GB" dirty="0"/>
          </a:p>
        </p:txBody>
      </p:sp>
    </p:spTree>
    <p:extLst>
      <p:ext uri="{BB962C8B-B14F-4D97-AF65-F5344CB8AC3E}">
        <p14:creationId xmlns:p14="http://schemas.microsoft.com/office/powerpoint/2010/main" val="814560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GB" dirty="0"/>
              <a:t>Quality Control, Reliability and Trust</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marL="285750" indent="-285750">
              <a:lnSpc>
                <a:spcPct val="100000"/>
              </a:lnSpc>
              <a:buFont typeface="Arial" panose="020B0604020202020204" pitchFamily="34" charset="0"/>
              <a:buChar char="•"/>
            </a:pPr>
            <a:r>
              <a:rPr lang="en-GB" b="1" dirty="0"/>
              <a:t>Quality Control Challenges:</a:t>
            </a:r>
          </a:p>
          <a:p>
            <a:pPr>
              <a:lnSpc>
                <a:spcPct val="100000"/>
              </a:lnSpc>
            </a:pPr>
            <a:r>
              <a:rPr lang="en-GB" dirty="0"/>
              <a:t>Unpredictable output, Difficult debugging, Testing Complexity.</a:t>
            </a:r>
          </a:p>
          <a:p>
            <a:pPr>
              <a:lnSpc>
                <a:spcPct val="100000"/>
              </a:lnSpc>
            </a:pPr>
            <a:endParaRPr lang="en-GB" dirty="0"/>
          </a:p>
          <a:p>
            <a:pPr marL="285750" indent="-285750">
              <a:lnSpc>
                <a:spcPct val="110000"/>
              </a:lnSpc>
              <a:buFont typeface="Arial" panose="020B0604020202020204" pitchFamily="34" charset="0"/>
              <a:buChar char="•"/>
            </a:pPr>
            <a:r>
              <a:rPr lang="en-GB" b="1" dirty="0"/>
              <a:t>Reliability Issues:</a:t>
            </a:r>
          </a:p>
          <a:p>
            <a:r>
              <a:rPr lang="en-GB" dirty="0"/>
              <a:t>Inconsistency across versions, Lack of determinism, Model drift.   </a:t>
            </a:r>
          </a:p>
          <a:p>
            <a:endParaRPr lang="en-GB" dirty="0"/>
          </a:p>
          <a:p>
            <a:pPr marL="285750" indent="-285750">
              <a:buFont typeface="Arial" panose="020B0604020202020204" pitchFamily="34" charset="0"/>
              <a:buChar char="•"/>
            </a:pPr>
            <a:r>
              <a:rPr lang="en-GB" b="1" dirty="0"/>
              <a:t>Building Trust in AI-Generated Contents:</a:t>
            </a:r>
          </a:p>
          <a:p>
            <a:r>
              <a:rPr lang="en-GB" dirty="0"/>
              <a:t>Human-in-the-Loop approach, Explainability and transparency, Rigorous testing and validation, User training and awareness</a:t>
            </a:r>
          </a:p>
          <a:p>
            <a:endParaRPr lang="en-GB" sz="1600" dirty="0"/>
          </a:p>
          <a:p>
            <a:endParaRPr lang="en-GB" sz="1600" dirty="0"/>
          </a:p>
          <a:p>
            <a:endParaRPr lang="en-GB" sz="1600" dirty="0"/>
          </a:p>
          <a:p>
            <a:endParaRPr lang="en-GB" sz="1600" b="1" dirty="0"/>
          </a:p>
          <a:p>
            <a:endParaRPr lang="en-GB" sz="1600" dirty="0"/>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D64B57E6-3F63-F079-F742-0A098B4150BE}"/>
              </a:ext>
            </a:extLst>
          </p:cNvPr>
          <p:cNvPicPr>
            <a:picLocks noChangeAspect="1"/>
          </p:cNvPicPr>
          <p:nvPr/>
        </p:nvPicPr>
        <p:blipFill>
          <a:blip r:embed="rId3"/>
          <a:stretch>
            <a:fillRect/>
          </a:stretch>
        </p:blipFill>
        <p:spPr>
          <a:xfrm>
            <a:off x="212144" y="731640"/>
            <a:ext cx="5501138" cy="3738760"/>
          </a:xfrm>
          <a:prstGeom prst="rect">
            <a:avLst/>
          </a:prstGeom>
        </p:spPr>
      </p:pic>
      <p:sp>
        <p:nvSpPr>
          <p:cNvPr id="8" name="TextBox 7">
            <a:extLst>
              <a:ext uri="{FF2B5EF4-FFF2-40B4-BE49-F238E27FC236}">
                <a16:creationId xmlns:a16="http://schemas.microsoft.com/office/drawing/2014/main" id="{A001B01C-C354-F2A3-8930-4AFB0B8111A2}"/>
              </a:ext>
            </a:extLst>
          </p:cNvPr>
          <p:cNvSpPr txBox="1"/>
          <p:nvPr/>
        </p:nvSpPr>
        <p:spPr>
          <a:xfrm>
            <a:off x="355600" y="4649787"/>
            <a:ext cx="5458838" cy="646331"/>
          </a:xfrm>
          <a:prstGeom prst="rect">
            <a:avLst/>
          </a:prstGeom>
          <a:noFill/>
        </p:spPr>
        <p:txBody>
          <a:bodyPr wrap="square">
            <a:spAutoFit/>
          </a:bodyPr>
          <a:lstStyle/>
          <a:p>
            <a:r>
              <a:rPr lang="en-GB" dirty="0">
                <a:hlinkClick r:id="rId4"/>
              </a:rPr>
              <a:t>https://www.linkedin.com/pulse/power-human-loop-finance-artificial-intelligence-theoremlabs-io-ep3gc/</a:t>
            </a:r>
            <a:r>
              <a:rPr lang="en-GB" dirty="0"/>
              <a:t> </a:t>
            </a:r>
          </a:p>
        </p:txBody>
      </p:sp>
    </p:spTree>
    <p:extLst>
      <p:ext uri="{BB962C8B-B14F-4D97-AF65-F5344CB8AC3E}">
        <p14:creationId xmlns:p14="http://schemas.microsoft.com/office/powerpoint/2010/main" val="64401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44DF79-52B2-7E2F-4B5F-9CB12B137150}"/>
              </a:ext>
            </a:extLst>
          </p:cNvPr>
          <p:cNvPicPr>
            <a:picLocks noChangeAspect="1"/>
          </p:cNvPicPr>
          <p:nvPr/>
        </p:nvPicPr>
        <p:blipFill>
          <a:blip r:embed="rId2"/>
          <a:stretch>
            <a:fillRect/>
          </a:stretch>
        </p:blipFill>
        <p:spPr>
          <a:xfrm>
            <a:off x="237308" y="199574"/>
            <a:ext cx="9113170" cy="5023357"/>
          </a:xfrm>
          <a:prstGeom prst="rect">
            <a:avLst/>
          </a:prstGeom>
        </p:spPr>
      </p:pic>
      <p:pic>
        <p:nvPicPr>
          <p:cNvPr id="7" name="Picture 6">
            <a:extLst>
              <a:ext uri="{FF2B5EF4-FFF2-40B4-BE49-F238E27FC236}">
                <a16:creationId xmlns:a16="http://schemas.microsoft.com/office/drawing/2014/main" id="{E331DA98-5EC3-2E02-86A7-7B50B47857EC}"/>
              </a:ext>
            </a:extLst>
          </p:cNvPr>
          <p:cNvPicPr>
            <a:picLocks noChangeAspect="1"/>
          </p:cNvPicPr>
          <p:nvPr/>
        </p:nvPicPr>
        <p:blipFill>
          <a:blip r:embed="rId3"/>
          <a:stretch>
            <a:fillRect/>
          </a:stretch>
        </p:blipFill>
        <p:spPr>
          <a:xfrm>
            <a:off x="237308" y="5343662"/>
            <a:ext cx="10116962" cy="1219370"/>
          </a:xfrm>
          <a:prstGeom prst="rect">
            <a:avLst/>
          </a:prstGeom>
        </p:spPr>
      </p:pic>
      <p:pic>
        <p:nvPicPr>
          <p:cNvPr id="9" name="Picture 8">
            <a:extLst>
              <a:ext uri="{FF2B5EF4-FFF2-40B4-BE49-F238E27FC236}">
                <a16:creationId xmlns:a16="http://schemas.microsoft.com/office/drawing/2014/main" id="{192BBA26-70D0-FC3C-ED6E-CD5F3046A96F}"/>
              </a:ext>
            </a:extLst>
          </p:cNvPr>
          <p:cNvPicPr>
            <a:picLocks noChangeAspect="1"/>
          </p:cNvPicPr>
          <p:nvPr/>
        </p:nvPicPr>
        <p:blipFill>
          <a:blip r:embed="rId4"/>
          <a:stretch>
            <a:fillRect/>
          </a:stretch>
        </p:blipFill>
        <p:spPr>
          <a:xfrm>
            <a:off x="237308" y="294968"/>
            <a:ext cx="11069595" cy="3105583"/>
          </a:xfrm>
          <a:prstGeom prst="rect">
            <a:avLst/>
          </a:prstGeom>
        </p:spPr>
      </p:pic>
      <p:pic>
        <p:nvPicPr>
          <p:cNvPr id="11" name="Picture 10">
            <a:extLst>
              <a:ext uri="{FF2B5EF4-FFF2-40B4-BE49-F238E27FC236}">
                <a16:creationId xmlns:a16="http://schemas.microsoft.com/office/drawing/2014/main" id="{6E6227AC-788C-2942-DDEB-3307B84E2134}"/>
              </a:ext>
            </a:extLst>
          </p:cNvPr>
          <p:cNvPicPr>
            <a:picLocks noChangeAspect="1"/>
          </p:cNvPicPr>
          <p:nvPr/>
        </p:nvPicPr>
        <p:blipFill>
          <a:blip r:embed="rId5"/>
          <a:stretch>
            <a:fillRect/>
          </a:stretch>
        </p:blipFill>
        <p:spPr>
          <a:xfrm>
            <a:off x="272479" y="-28449"/>
            <a:ext cx="5340667" cy="6858000"/>
          </a:xfrm>
          <a:prstGeom prst="rect">
            <a:avLst/>
          </a:prstGeom>
        </p:spPr>
      </p:pic>
      <p:pic>
        <p:nvPicPr>
          <p:cNvPr id="13" name="Picture 12">
            <a:extLst>
              <a:ext uri="{FF2B5EF4-FFF2-40B4-BE49-F238E27FC236}">
                <a16:creationId xmlns:a16="http://schemas.microsoft.com/office/drawing/2014/main" id="{F6C4E0BC-BF25-3739-67EE-1A6843D1CD67}"/>
              </a:ext>
            </a:extLst>
          </p:cNvPr>
          <p:cNvPicPr>
            <a:picLocks noChangeAspect="1"/>
          </p:cNvPicPr>
          <p:nvPr/>
        </p:nvPicPr>
        <p:blipFill>
          <a:blip r:embed="rId6"/>
          <a:stretch>
            <a:fillRect/>
          </a:stretch>
        </p:blipFill>
        <p:spPr>
          <a:xfrm>
            <a:off x="5648316" y="-39334"/>
            <a:ext cx="6790575" cy="6858000"/>
          </a:xfrm>
          <a:prstGeom prst="rect">
            <a:avLst/>
          </a:prstGeom>
        </p:spPr>
      </p:pic>
    </p:spTree>
    <p:extLst>
      <p:ext uri="{BB962C8B-B14F-4D97-AF65-F5344CB8AC3E}">
        <p14:creationId xmlns:p14="http://schemas.microsoft.com/office/powerpoint/2010/main" val="40566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1" presetClass="exit" presetSubtype="0" fill="hold" nodeType="withEffect">
                                  <p:stCondLst>
                                    <p:cond delay="0"/>
                                  </p:stCondLst>
                                  <p:childTnLst>
                                    <p:set>
                                      <p:cBhvr>
                                        <p:cTn id="21" dur="1" fill="hold">
                                          <p:stCondLst>
                                            <p:cond delay="0"/>
                                          </p:stCondLst>
                                        </p:cTn>
                                        <p:tgtEl>
                                          <p:spTgt spid="5"/>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par>
                                <p:cTn id="30" presetID="1" presetClass="exit" presetSubtype="0" fill="hold" nodeType="with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GB" dirty="0"/>
              <a:t>Security and Ethical Concerns</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TextBox 22">
            <a:extLst>
              <a:ext uri="{FF2B5EF4-FFF2-40B4-BE49-F238E27FC236}">
                <a16:creationId xmlns:a16="http://schemas.microsoft.com/office/drawing/2014/main" id="{4959B200-60DA-6696-52D1-E752594B984D}"/>
              </a:ext>
            </a:extLst>
          </p:cNvPr>
          <p:cNvSpPr txBox="1"/>
          <p:nvPr/>
        </p:nvSpPr>
        <p:spPr>
          <a:xfrm>
            <a:off x="-30476" y="2066144"/>
            <a:ext cx="5727267" cy="1938992"/>
          </a:xfrm>
          <a:prstGeom prst="rect">
            <a:avLst/>
          </a:prstGeom>
          <a:noFill/>
        </p:spPr>
        <p:txBody>
          <a:bodyPr wrap="square">
            <a:spAutoFit/>
          </a:bodyPr>
          <a:lstStyle/>
          <a:p>
            <a:pPr marL="171450" indent="-171450">
              <a:buFont typeface="Arial" panose="020B0604020202020204" pitchFamily="34" charset="0"/>
              <a:buChar char="•"/>
            </a:pPr>
            <a:r>
              <a:rPr lang="en-GB" sz="1200" b="1" dirty="0"/>
              <a:t>Security Challenges</a:t>
            </a:r>
          </a:p>
          <a:p>
            <a:pPr marL="628650" lvl="1" indent="-171450">
              <a:buFont typeface="Arial" panose="020B0604020202020204" pitchFamily="34" charset="0"/>
              <a:buChar char="•"/>
            </a:pPr>
            <a:r>
              <a:rPr lang="en-GB" sz="1200" b="1" dirty="0"/>
              <a:t>Vulnerabilities in Generated Code</a:t>
            </a:r>
            <a:r>
              <a:rPr lang="en-GB" sz="1200" dirty="0"/>
              <a:t>: Generative AI can unintentionally introduce vulnerabilities into the software. For example, AI-generated code may lack proper input validation or employ insecure coding practices, making the software susceptible to attacks such as SQL injection. </a:t>
            </a:r>
          </a:p>
          <a:p>
            <a:pPr marL="628650" lvl="1" indent="-171450">
              <a:buFont typeface="Arial" panose="020B0604020202020204" pitchFamily="34" charset="0"/>
              <a:buChar char="•"/>
            </a:pPr>
            <a:r>
              <a:rPr lang="en-GB" sz="1200" b="1" dirty="0"/>
              <a:t>Data Leakage Risks</a:t>
            </a:r>
            <a:r>
              <a:rPr lang="en-GB" sz="1200" dirty="0"/>
              <a:t>: Large Language Models (LLMs) are often trained on extensive datasets, and there is a risk of unintended data leakage. Sensitive or proprietary information may be embedded within the generated outputs, leading to potential security and confidentiality breaches.</a:t>
            </a:r>
          </a:p>
        </p:txBody>
      </p:sp>
      <p:sp>
        <p:nvSpPr>
          <p:cNvPr id="30" name="TextBox 29">
            <a:extLst>
              <a:ext uri="{FF2B5EF4-FFF2-40B4-BE49-F238E27FC236}">
                <a16:creationId xmlns:a16="http://schemas.microsoft.com/office/drawing/2014/main" id="{6A8B9444-92EE-E7C0-7044-D29C4F2B7257}"/>
              </a:ext>
            </a:extLst>
          </p:cNvPr>
          <p:cNvSpPr txBox="1"/>
          <p:nvPr/>
        </p:nvSpPr>
        <p:spPr>
          <a:xfrm>
            <a:off x="-13230" y="4073473"/>
            <a:ext cx="5846979" cy="2308324"/>
          </a:xfrm>
          <a:prstGeom prst="rect">
            <a:avLst/>
          </a:prstGeom>
          <a:noFill/>
        </p:spPr>
        <p:txBody>
          <a:bodyPr wrap="square">
            <a:spAutoFit/>
          </a:bodyPr>
          <a:lstStyle/>
          <a:p>
            <a:pPr marL="114300" indent="-171450">
              <a:buFont typeface="Arial" panose="020B0604020202020204" pitchFamily="34" charset="0"/>
              <a:buChar char="•"/>
            </a:pPr>
            <a:r>
              <a:rPr lang="en-GB" sz="1200" b="1" dirty="0"/>
              <a:t>Ethical Concerns</a:t>
            </a:r>
          </a:p>
          <a:p>
            <a:pPr marL="571500" lvl="1" indent="-171450">
              <a:buFont typeface="Arial" panose="020B0604020202020204" pitchFamily="34" charset="0"/>
              <a:buChar char="•"/>
            </a:pPr>
            <a:r>
              <a:rPr lang="en-GB" sz="1200" b="1" dirty="0"/>
              <a:t>Accountability and Responsibility</a:t>
            </a:r>
            <a:r>
              <a:rPr lang="en-GB" sz="1200" dirty="0"/>
              <a:t>: One of the key ethical challenges is determining who is accountable for AI-generated code. When an AI model produces faulty or harmful code, it is unclear whether the developer, the organization, or the AI itself bears responsibility. This lack of accountability complicates the ethical use of AI in production environments.</a:t>
            </a:r>
          </a:p>
          <a:p>
            <a:pPr marL="571500" lvl="1" indent="-171450">
              <a:buFont typeface="Arial" panose="020B0604020202020204" pitchFamily="34" charset="0"/>
              <a:buChar char="•"/>
            </a:pPr>
            <a:r>
              <a:rPr lang="en-GB" sz="1200" b="1" dirty="0"/>
              <a:t>Transparency and Explainability</a:t>
            </a:r>
            <a:r>
              <a:rPr lang="en-GB" sz="1200" dirty="0"/>
              <a:t>: Generative AI models often operate as "black boxes," where it is difficult to understand how specific outputs are derived. This lack of transparency can lead to ethical concerns, especially when AI-generated code is used in critical systems where explainability is essential.</a:t>
            </a:r>
          </a:p>
          <a:p>
            <a:pPr marL="571500" lvl="1" indent="-171450">
              <a:buFont typeface="Arial" panose="020B0604020202020204" pitchFamily="34" charset="0"/>
              <a:buChar char="•"/>
            </a:pPr>
            <a:endParaRPr lang="en-GB" sz="1200" dirty="0"/>
          </a:p>
        </p:txBody>
      </p:sp>
      <p:pic>
        <p:nvPicPr>
          <p:cNvPr id="6" name="Picture 5">
            <a:extLst>
              <a:ext uri="{FF2B5EF4-FFF2-40B4-BE49-F238E27FC236}">
                <a16:creationId xmlns:a16="http://schemas.microsoft.com/office/drawing/2014/main" id="{7AE6D74B-B147-D0B6-D110-66F160E18D14}"/>
              </a:ext>
            </a:extLst>
          </p:cNvPr>
          <p:cNvPicPr>
            <a:picLocks noChangeAspect="1"/>
          </p:cNvPicPr>
          <p:nvPr/>
        </p:nvPicPr>
        <p:blipFill>
          <a:blip r:embed="rId3"/>
          <a:stretch>
            <a:fillRect/>
          </a:stretch>
        </p:blipFill>
        <p:spPr>
          <a:xfrm>
            <a:off x="5965030" y="246307"/>
            <a:ext cx="6163543" cy="5393999"/>
          </a:xfrm>
          <a:prstGeom prst="rect">
            <a:avLst/>
          </a:prstGeom>
        </p:spPr>
      </p:pic>
      <p:pic>
        <p:nvPicPr>
          <p:cNvPr id="12" name="Picture 11">
            <a:extLst>
              <a:ext uri="{FF2B5EF4-FFF2-40B4-BE49-F238E27FC236}">
                <a16:creationId xmlns:a16="http://schemas.microsoft.com/office/drawing/2014/main" id="{6B1D1302-38D6-6BBD-C00B-5223BED1BE76}"/>
              </a:ext>
            </a:extLst>
          </p:cNvPr>
          <p:cNvPicPr>
            <a:picLocks noChangeAspect="1"/>
          </p:cNvPicPr>
          <p:nvPr/>
        </p:nvPicPr>
        <p:blipFill>
          <a:blip r:embed="rId4"/>
          <a:stretch>
            <a:fillRect/>
          </a:stretch>
        </p:blipFill>
        <p:spPr>
          <a:xfrm>
            <a:off x="5744607" y="2693203"/>
            <a:ext cx="6477868" cy="3934363"/>
          </a:xfrm>
          <a:prstGeom prst="rect">
            <a:avLst/>
          </a:prstGeom>
        </p:spPr>
      </p:pic>
    </p:spTree>
    <p:extLst>
      <p:ext uri="{BB962C8B-B14F-4D97-AF65-F5344CB8AC3E}">
        <p14:creationId xmlns:p14="http://schemas.microsoft.com/office/powerpoint/2010/main" val="181161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6084894" cy="1325563"/>
          </a:xfrm>
        </p:spPr>
        <p:txBody>
          <a:bodyPr vert="horz" lIns="91440" tIns="45720" rIns="91440" bIns="45720" rtlCol="0" anchor="ctr">
            <a:normAutofit/>
          </a:bodyPr>
          <a:lstStyle/>
          <a:p>
            <a:r>
              <a:rPr lang="en-GB" dirty="0"/>
              <a:t>Scalability and Integration</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marL="285750" indent="-285750">
              <a:lnSpc>
                <a:spcPct val="100000"/>
              </a:lnSpc>
              <a:buFont typeface="Arial" panose="020B0604020202020204" pitchFamily="34" charset="0"/>
              <a:buChar char="•"/>
            </a:pPr>
            <a:r>
              <a:rPr lang="en-GB" b="1" dirty="0"/>
              <a:t>Scalability Challenges:</a:t>
            </a:r>
          </a:p>
          <a:p>
            <a:r>
              <a:rPr lang="en-GB" dirty="0"/>
              <a:t>Scalability is a key consideration when implementing generative AI models in software production. Generative AI solutions must be able to handle increasing workloads, both in terms of model performance and data processing, without compromising efficiency or reliability. </a:t>
            </a:r>
          </a:p>
          <a:p>
            <a:pPr>
              <a:lnSpc>
                <a:spcPct val="100000"/>
              </a:lnSpc>
            </a:pPr>
            <a:endParaRPr lang="en-GB" dirty="0"/>
          </a:p>
          <a:p>
            <a:pPr marL="285750" indent="-285750">
              <a:lnSpc>
                <a:spcPct val="110000"/>
              </a:lnSpc>
              <a:buFont typeface="Arial" panose="020B0604020202020204" pitchFamily="34" charset="0"/>
              <a:buChar char="•"/>
            </a:pPr>
            <a:r>
              <a:rPr lang="en-GB" b="1" dirty="0"/>
              <a:t>Integration with Existing System</a:t>
            </a:r>
          </a:p>
          <a:p>
            <a:r>
              <a:rPr lang="en-GB" dirty="0"/>
              <a:t>Integrating generative AI into existing software production environments requires careful consideration of compatibility, adaptability, and system cohesion. </a:t>
            </a:r>
            <a:endParaRPr lang="en-GB" sz="1600" dirty="0"/>
          </a:p>
          <a:p>
            <a:endParaRPr lang="en-GB" sz="1600" b="1" dirty="0"/>
          </a:p>
          <a:p>
            <a:endParaRPr lang="en-GB" sz="1600" dirty="0"/>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8EEFFF23-13E4-752F-508A-4AFABAF2E10B}"/>
              </a:ext>
            </a:extLst>
          </p:cNvPr>
          <p:cNvPicPr>
            <a:picLocks noChangeAspect="1"/>
          </p:cNvPicPr>
          <p:nvPr/>
        </p:nvPicPr>
        <p:blipFill>
          <a:blip r:embed="rId3"/>
          <a:stretch>
            <a:fillRect/>
          </a:stretch>
        </p:blipFill>
        <p:spPr>
          <a:xfrm>
            <a:off x="0" y="926248"/>
            <a:ext cx="5855352" cy="3407777"/>
          </a:xfrm>
          <a:prstGeom prst="rect">
            <a:avLst/>
          </a:prstGeom>
        </p:spPr>
      </p:pic>
      <p:sp>
        <p:nvSpPr>
          <p:cNvPr id="10" name="TextBox 9">
            <a:extLst>
              <a:ext uri="{FF2B5EF4-FFF2-40B4-BE49-F238E27FC236}">
                <a16:creationId xmlns:a16="http://schemas.microsoft.com/office/drawing/2014/main" id="{97B169DF-653D-947E-D0F3-D343765A0FD0}"/>
              </a:ext>
            </a:extLst>
          </p:cNvPr>
          <p:cNvSpPr txBox="1"/>
          <p:nvPr/>
        </p:nvSpPr>
        <p:spPr>
          <a:xfrm>
            <a:off x="0" y="4518825"/>
            <a:ext cx="6096000" cy="646331"/>
          </a:xfrm>
          <a:prstGeom prst="rect">
            <a:avLst/>
          </a:prstGeom>
          <a:noFill/>
        </p:spPr>
        <p:txBody>
          <a:bodyPr wrap="square">
            <a:spAutoFit/>
          </a:bodyPr>
          <a:lstStyle/>
          <a:p>
            <a:r>
              <a:rPr lang="en-GB" dirty="0">
                <a:hlinkClick r:id="rId4"/>
              </a:rPr>
              <a:t>https://www.linkedin.com/pulse/tech-stack-gen-ai-rahul-kumar-3riac/</a:t>
            </a:r>
            <a:r>
              <a:rPr lang="en-GB" dirty="0"/>
              <a:t> </a:t>
            </a:r>
          </a:p>
        </p:txBody>
      </p:sp>
    </p:spTree>
    <p:extLst>
      <p:ext uri="{BB962C8B-B14F-4D97-AF65-F5344CB8AC3E}">
        <p14:creationId xmlns:p14="http://schemas.microsoft.com/office/powerpoint/2010/main" val="1475428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610384" y="197365"/>
            <a:ext cx="10515600" cy="1133499"/>
          </a:xfrm>
        </p:spPr>
        <p:txBody>
          <a:bodyPr vert="horz" lIns="91440" tIns="45720" rIns="91440" bIns="45720" rtlCol="0">
            <a:normAutofit/>
          </a:bodyPr>
          <a:lstStyle/>
          <a:p>
            <a:pPr algn="ctr"/>
            <a:r>
              <a:rPr lang="en-GB" sz="3600" dirty="0"/>
              <a:t>Resource Consumption</a:t>
            </a:r>
            <a:br>
              <a:rPr lang="en-US" sz="3600" dirty="0"/>
            </a:br>
            <a:endParaRPr lang="en-US" sz="3600" kern="1200" dirty="0">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52937"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37" name="TextBox 22">
            <a:extLst>
              <a:ext uri="{FF2B5EF4-FFF2-40B4-BE49-F238E27FC236}">
                <a16:creationId xmlns:a16="http://schemas.microsoft.com/office/drawing/2014/main" id="{B66F12F0-BDCD-2C03-6FB0-AD463EAA69D6}"/>
              </a:ext>
            </a:extLst>
          </p:cNvPr>
          <p:cNvGraphicFramePr/>
          <p:nvPr/>
        </p:nvGraphicFramePr>
        <p:xfrm>
          <a:off x="847537" y="777284"/>
          <a:ext cx="10041294" cy="5303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0706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57422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658410" y="1831007"/>
            <a:ext cx="1019953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Enhancing Reliability and Trust</a:t>
            </a:r>
            <a:r>
              <a:rPr kumimoji="0" lang="en-US" altLang="en-US" sz="1800" b="0" i="0" u="none" strike="noStrike" cap="none" normalizeH="0" baseline="0" dirty="0">
                <a:ln>
                  <a:noFill/>
                </a:ln>
                <a:solidFill>
                  <a:schemeClr val="tx1"/>
                </a:solidFill>
                <a:effectLst/>
                <a:latin typeface="Arial" panose="020B0604020202020204" pitchFamily="34" charset="0"/>
              </a:rPr>
              <a:t>: Development of advanced RAG-KG-</a:t>
            </a:r>
            <a:r>
              <a:rPr lang="en-US" altLang="en-US" sz="1800" dirty="0">
                <a:latin typeface="Arial" panose="020B0604020202020204" pitchFamily="34" charset="0"/>
              </a:rPr>
              <a:t>IL and </a:t>
            </a:r>
            <a:r>
              <a:rPr kumimoji="0" lang="en-US" altLang="en-US" sz="1800" b="0" i="0" u="none" strike="noStrike" cap="none" normalizeH="0" baseline="0" dirty="0">
                <a:ln>
                  <a:noFill/>
                </a:ln>
                <a:solidFill>
                  <a:schemeClr val="tx1"/>
                </a:solidFill>
                <a:effectLst/>
                <a:latin typeface="Arial" panose="020B0604020202020204" pitchFamily="34" charset="0"/>
              </a:rPr>
              <a:t>Human-in-the-Loop algorithms to improve the robustness, transparency, and trustworthiness of AI systems.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7706FBF2-0AF0-D3BA-6A8D-C16B9C41D3B0}"/>
              </a:ext>
            </a:extLst>
          </p:cNvPr>
          <p:cNvPicPr>
            <a:picLocks noChangeAspect="1"/>
          </p:cNvPicPr>
          <p:nvPr/>
        </p:nvPicPr>
        <p:blipFill>
          <a:blip r:embed="rId3"/>
          <a:stretch>
            <a:fillRect/>
          </a:stretch>
        </p:blipFill>
        <p:spPr>
          <a:xfrm>
            <a:off x="915224" y="2723559"/>
            <a:ext cx="10307488" cy="3238952"/>
          </a:xfrm>
          <a:prstGeom prst="rect">
            <a:avLst/>
          </a:prstGeom>
        </p:spPr>
      </p:pic>
    </p:spTree>
    <p:extLst>
      <p:ext uri="{BB962C8B-B14F-4D97-AF65-F5344CB8AC3E}">
        <p14:creationId xmlns:p14="http://schemas.microsoft.com/office/powerpoint/2010/main" val="1463016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450674"/>
            <a:ext cx="1019953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Research on Cloud Agent Communication Protocols</a:t>
            </a:r>
            <a:r>
              <a:rPr kumimoji="0" lang="en-US" altLang="en-US" sz="1800" b="0" i="0" u="none" strike="noStrike" cap="none" normalizeH="0" baseline="0" dirty="0">
                <a:ln>
                  <a:noFill/>
                </a:ln>
                <a:solidFill>
                  <a:schemeClr val="tx1"/>
                </a:solidFill>
                <a:effectLst/>
                <a:latin typeface="Arial" panose="020B0604020202020204" pitchFamily="34" charset="0"/>
              </a:rPr>
              <a:t>: Design of innovative communication protocols in cloud environments to enhance seamless AI integration with existing SaaS frameworks, enabling interaction between components or microservices via LLM-based agents.</a:t>
            </a:r>
          </a:p>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Rounded Corners 4">
            <a:extLst>
              <a:ext uri="{FF2B5EF4-FFF2-40B4-BE49-F238E27FC236}">
                <a16:creationId xmlns:a16="http://schemas.microsoft.com/office/drawing/2014/main" id="{416BA02F-B226-575D-9949-7985C8E7C7CF}"/>
              </a:ext>
            </a:extLst>
          </p:cNvPr>
          <p:cNvSpPr/>
          <p:nvPr/>
        </p:nvSpPr>
        <p:spPr>
          <a:xfrm>
            <a:off x="6441232" y="3593265"/>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2</a:t>
            </a:r>
          </a:p>
        </p:txBody>
      </p:sp>
      <p:sp>
        <p:nvSpPr>
          <p:cNvPr id="6" name="Rectangle: Rounded Corners 5">
            <a:extLst>
              <a:ext uri="{FF2B5EF4-FFF2-40B4-BE49-F238E27FC236}">
                <a16:creationId xmlns:a16="http://schemas.microsoft.com/office/drawing/2014/main" id="{2DECDA0E-6281-15B2-40ED-1FBE13D12E95}"/>
              </a:ext>
            </a:extLst>
          </p:cNvPr>
          <p:cNvSpPr/>
          <p:nvPr/>
        </p:nvSpPr>
        <p:spPr>
          <a:xfrm>
            <a:off x="4531568" y="3593265"/>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1</a:t>
            </a:r>
          </a:p>
        </p:txBody>
      </p:sp>
      <p:sp>
        <p:nvSpPr>
          <p:cNvPr id="8" name="Oval 7">
            <a:extLst>
              <a:ext uri="{FF2B5EF4-FFF2-40B4-BE49-F238E27FC236}">
                <a16:creationId xmlns:a16="http://schemas.microsoft.com/office/drawing/2014/main" id="{F55CF98A-745B-8898-35AC-42E20ADDAE0D}"/>
              </a:ext>
            </a:extLst>
          </p:cNvPr>
          <p:cNvSpPr/>
          <p:nvPr/>
        </p:nvSpPr>
        <p:spPr>
          <a:xfrm>
            <a:off x="7884367" y="3267370"/>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aseline="-25000" dirty="0">
                <a:latin typeface="NeuzeitGro" pitchFamily="2" charset="0"/>
              </a:rPr>
              <a:t>Software Product Service</a:t>
            </a:r>
          </a:p>
        </p:txBody>
      </p:sp>
      <p:sp>
        <p:nvSpPr>
          <p:cNvPr id="9" name="Oval 8">
            <a:extLst>
              <a:ext uri="{FF2B5EF4-FFF2-40B4-BE49-F238E27FC236}">
                <a16:creationId xmlns:a16="http://schemas.microsoft.com/office/drawing/2014/main" id="{21F58E80-A73D-7F2D-3F24-BE74A98FBB35}"/>
              </a:ext>
            </a:extLst>
          </p:cNvPr>
          <p:cNvSpPr/>
          <p:nvPr/>
        </p:nvSpPr>
        <p:spPr>
          <a:xfrm>
            <a:off x="2305230" y="3224972"/>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aseline="-25000" dirty="0">
                <a:latin typeface="NeuzeitGro" pitchFamily="2" charset="0"/>
              </a:rPr>
              <a:t>Software Product Service</a:t>
            </a:r>
          </a:p>
        </p:txBody>
      </p:sp>
      <p:cxnSp>
        <p:nvCxnSpPr>
          <p:cNvPr id="11" name="Straight Arrow Connector 10">
            <a:extLst>
              <a:ext uri="{FF2B5EF4-FFF2-40B4-BE49-F238E27FC236}">
                <a16:creationId xmlns:a16="http://schemas.microsoft.com/office/drawing/2014/main" id="{8575A711-E2C3-80B3-AF9D-46137EF9EF58}"/>
              </a:ext>
            </a:extLst>
          </p:cNvPr>
          <p:cNvCxnSpPr>
            <a:stCxn id="9" idx="6"/>
            <a:endCxn id="6" idx="1"/>
          </p:cNvCxnSpPr>
          <p:nvPr/>
        </p:nvCxnSpPr>
        <p:spPr>
          <a:xfrm flipV="1">
            <a:off x="3975409" y="3840037"/>
            <a:ext cx="556159" cy="83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F823CA-842E-254B-BB53-FBC44FE18906}"/>
              </a:ext>
            </a:extLst>
          </p:cNvPr>
          <p:cNvCxnSpPr>
            <a:stCxn id="8" idx="2"/>
            <a:endCxn id="5" idx="3"/>
          </p:cNvCxnSpPr>
          <p:nvPr/>
        </p:nvCxnSpPr>
        <p:spPr>
          <a:xfrm flipH="1" flipV="1">
            <a:off x="7410180" y="3840037"/>
            <a:ext cx="474187" cy="125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61A70644-1672-78AA-6771-DBE4CDBA5F66}"/>
              </a:ext>
            </a:extLst>
          </p:cNvPr>
          <p:cNvSpPr/>
          <p:nvPr/>
        </p:nvSpPr>
        <p:spPr>
          <a:xfrm>
            <a:off x="5455297" y="4864072"/>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3</a:t>
            </a:r>
          </a:p>
        </p:txBody>
      </p:sp>
      <p:sp>
        <p:nvSpPr>
          <p:cNvPr id="16" name="Oval 15">
            <a:extLst>
              <a:ext uri="{FF2B5EF4-FFF2-40B4-BE49-F238E27FC236}">
                <a16:creationId xmlns:a16="http://schemas.microsoft.com/office/drawing/2014/main" id="{B3135534-13B7-068F-918F-187015C7BBCB}"/>
              </a:ext>
            </a:extLst>
          </p:cNvPr>
          <p:cNvSpPr/>
          <p:nvPr/>
        </p:nvSpPr>
        <p:spPr>
          <a:xfrm>
            <a:off x="6898432" y="4538177"/>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aseline="-25000" dirty="0">
                <a:latin typeface="NeuzeitGro" pitchFamily="2" charset="0"/>
              </a:rPr>
              <a:t>Software Product Service</a:t>
            </a:r>
          </a:p>
        </p:txBody>
      </p:sp>
      <p:cxnSp>
        <p:nvCxnSpPr>
          <p:cNvPr id="17" name="Straight Arrow Connector 16">
            <a:extLst>
              <a:ext uri="{FF2B5EF4-FFF2-40B4-BE49-F238E27FC236}">
                <a16:creationId xmlns:a16="http://schemas.microsoft.com/office/drawing/2014/main" id="{6E5ED4B3-E2B3-62F5-8FD4-44877F830FB0}"/>
              </a:ext>
            </a:extLst>
          </p:cNvPr>
          <p:cNvCxnSpPr>
            <a:stCxn id="16" idx="2"/>
            <a:endCxn id="15" idx="3"/>
          </p:cNvCxnSpPr>
          <p:nvPr/>
        </p:nvCxnSpPr>
        <p:spPr>
          <a:xfrm flipH="1" flipV="1">
            <a:off x="6424245" y="5110844"/>
            <a:ext cx="474187" cy="125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Arrow: Left-Right 2">
            <a:extLst>
              <a:ext uri="{FF2B5EF4-FFF2-40B4-BE49-F238E27FC236}">
                <a16:creationId xmlns:a16="http://schemas.microsoft.com/office/drawing/2014/main" id="{462AE26B-D0EF-7262-2FB8-058E7E01183F}"/>
              </a:ext>
            </a:extLst>
          </p:cNvPr>
          <p:cNvSpPr/>
          <p:nvPr/>
        </p:nvSpPr>
        <p:spPr>
          <a:xfrm>
            <a:off x="5598367" y="3750906"/>
            <a:ext cx="760893" cy="214604"/>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7" name="Arrow: Left-Right 6">
            <a:extLst>
              <a:ext uri="{FF2B5EF4-FFF2-40B4-BE49-F238E27FC236}">
                <a16:creationId xmlns:a16="http://schemas.microsoft.com/office/drawing/2014/main" id="{B5075800-959D-2876-DE74-21BB71C72D1E}"/>
              </a:ext>
            </a:extLst>
          </p:cNvPr>
          <p:cNvSpPr/>
          <p:nvPr/>
        </p:nvSpPr>
        <p:spPr>
          <a:xfrm rot="2916520">
            <a:off x="5223327" y="4366609"/>
            <a:ext cx="650600" cy="204038"/>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10" name="Arrow: Left-Right 9">
            <a:extLst>
              <a:ext uri="{FF2B5EF4-FFF2-40B4-BE49-F238E27FC236}">
                <a16:creationId xmlns:a16="http://schemas.microsoft.com/office/drawing/2014/main" id="{67D131DB-8B9C-900C-8CA4-EEFA07550628}"/>
              </a:ext>
            </a:extLst>
          </p:cNvPr>
          <p:cNvSpPr/>
          <p:nvPr/>
        </p:nvSpPr>
        <p:spPr>
          <a:xfrm rot="7206009">
            <a:off x="6068223" y="4359917"/>
            <a:ext cx="666372" cy="214605"/>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12" name="Circle: Hollow 11">
            <a:extLst>
              <a:ext uri="{FF2B5EF4-FFF2-40B4-BE49-F238E27FC236}">
                <a16:creationId xmlns:a16="http://schemas.microsoft.com/office/drawing/2014/main" id="{2A77C7DB-138C-5FAA-2174-D8F50AE3A633}"/>
              </a:ext>
            </a:extLst>
          </p:cNvPr>
          <p:cNvSpPr/>
          <p:nvPr/>
        </p:nvSpPr>
        <p:spPr>
          <a:xfrm>
            <a:off x="5748134" y="4043654"/>
            <a:ext cx="437821" cy="451369"/>
          </a:xfrm>
          <a:prstGeom prst="donu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solidFill>
                <a:schemeClr val="tx1"/>
              </a:solidFill>
              <a:latin typeface="NeuzeitGro" pitchFamily="2" charset="0"/>
            </a:endParaRPr>
          </a:p>
        </p:txBody>
      </p:sp>
    </p:spTree>
    <p:extLst>
      <p:ext uri="{BB962C8B-B14F-4D97-AF65-F5344CB8AC3E}">
        <p14:creationId xmlns:p14="http://schemas.microsoft.com/office/powerpoint/2010/main" val="341627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0"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564667"/>
            <a:ext cx="1019953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AI Security and Ethics in Software Production</a:t>
            </a:r>
            <a:r>
              <a:rPr kumimoji="0" lang="en-US" altLang="en-US" sz="1800" b="0" i="0" u="none" strike="noStrike" cap="none" normalizeH="0" baseline="0" dirty="0">
                <a:ln>
                  <a:noFill/>
                </a:ln>
                <a:solidFill>
                  <a:schemeClr val="tx1"/>
                </a:solidFill>
                <a:effectLst/>
                <a:latin typeface="Arial" panose="020B0604020202020204" pitchFamily="34" charset="0"/>
              </a:rPr>
              <a:t>: Creation of scalable and adaptable guardrail systems to ensure secure, ethical, and responsible AI deployment in software development.</a:t>
            </a:r>
          </a:p>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D395403-7AAE-4ECF-A3AB-77392CFBBC5D}"/>
              </a:ext>
            </a:extLst>
          </p:cNvPr>
          <p:cNvPicPr>
            <a:picLocks noChangeAspect="1"/>
          </p:cNvPicPr>
          <p:nvPr/>
        </p:nvPicPr>
        <p:blipFill>
          <a:blip r:embed="rId3"/>
          <a:stretch>
            <a:fillRect/>
          </a:stretch>
        </p:blipFill>
        <p:spPr>
          <a:xfrm>
            <a:off x="2257557" y="2864206"/>
            <a:ext cx="7258050" cy="2771775"/>
          </a:xfrm>
          <a:prstGeom prst="rect">
            <a:avLst/>
          </a:prstGeom>
        </p:spPr>
      </p:pic>
    </p:spTree>
    <p:extLst>
      <p:ext uri="{BB962C8B-B14F-4D97-AF65-F5344CB8AC3E}">
        <p14:creationId xmlns:p14="http://schemas.microsoft.com/office/powerpoint/2010/main" val="2634081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687779"/>
            <a:ext cx="1019953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Green AI Solutions</a:t>
            </a:r>
            <a:r>
              <a:rPr kumimoji="0" lang="en-US" altLang="en-US" sz="1800" b="0" i="0" u="none" strike="noStrike" cap="none" normalizeH="0" baseline="0" dirty="0">
                <a:ln>
                  <a:noFill/>
                </a:ln>
                <a:solidFill>
                  <a:schemeClr val="tx1"/>
                </a:solidFill>
                <a:effectLst/>
                <a:latin typeface="Arial" panose="020B0604020202020204" pitchFamily="34" charset="0"/>
              </a:rPr>
              <a:t>: Exploration of fine-tuning or training smaller, more efficient, and reliable LLMs tailored for specific domains to reduce computational overhead and promote sustainability.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9246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386521" y="298493"/>
            <a:ext cx="10323873" cy="955541"/>
          </a:xfrm>
        </p:spPr>
        <p:txBody>
          <a:bodyPr anchor="ctr">
            <a:normAutofit/>
          </a:bodyPr>
          <a:lstStyle/>
          <a:p>
            <a:r>
              <a:rPr lang="en-GB" sz="4800" dirty="0"/>
              <a:t>References</a:t>
            </a:r>
          </a:p>
        </p:txBody>
      </p:sp>
      <p:sp>
        <p:nvSpPr>
          <p:cNvPr id="3" name="Content Placeholder 2">
            <a:extLst>
              <a:ext uri="{FF2B5EF4-FFF2-40B4-BE49-F238E27FC236}">
                <a16:creationId xmlns:a16="http://schemas.microsoft.com/office/drawing/2014/main" id="{1891C79F-1E99-11F6-14DC-3A30A93B6809}"/>
              </a:ext>
            </a:extLst>
          </p:cNvPr>
          <p:cNvSpPr>
            <a:spLocks noGrp="1"/>
          </p:cNvSpPr>
          <p:nvPr>
            <p:ph idx="1"/>
          </p:nvPr>
        </p:nvSpPr>
        <p:spPr/>
        <p:txBody>
          <a:bodyPr/>
          <a:lstStyle/>
          <a:p>
            <a:endParaRPr lang="en-GB"/>
          </a:p>
        </p:txBody>
      </p:sp>
      <p:sp>
        <p:nvSpPr>
          <p:cNvPr id="6" name="TextBox 5">
            <a:extLst>
              <a:ext uri="{FF2B5EF4-FFF2-40B4-BE49-F238E27FC236}">
                <a16:creationId xmlns:a16="http://schemas.microsoft.com/office/drawing/2014/main" id="{B6953E5C-BC83-87F2-955D-BCDB94EC2E68}"/>
              </a:ext>
            </a:extLst>
          </p:cNvPr>
          <p:cNvSpPr txBox="1"/>
          <p:nvPr/>
        </p:nvSpPr>
        <p:spPr>
          <a:xfrm>
            <a:off x="386521" y="1400709"/>
            <a:ext cx="11418957" cy="4524315"/>
          </a:xfrm>
          <a:prstGeom prst="rect">
            <a:avLst/>
          </a:prstGeom>
          <a:noFill/>
        </p:spPr>
        <p:txBody>
          <a:bodyPr wrap="square">
            <a:spAutoFit/>
          </a:bodyPr>
          <a:lstStyle/>
          <a:p>
            <a:pPr marL="285750" indent="-285750">
              <a:buFont typeface="Arial" panose="020B0604020202020204" pitchFamily="34" charset="0"/>
              <a:buChar char="•"/>
            </a:pPr>
            <a:r>
              <a:rPr lang="en-GB" sz="1800" dirty="0">
                <a:latin typeface="Arial" panose="020B0604020202020204" pitchFamily="34" charset="0"/>
              </a:rPr>
              <a:t>Introducing a Gen AI-Powered Chat Integration with Jira and Confluence Knowledge Base, </a:t>
            </a:r>
            <a:r>
              <a:rPr lang="en-GB" sz="1800" dirty="0">
                <a:latin typeface="Arial" panose="020B0604020202020204" pitchFamily="34" charset="0"/>
                <a:hlinkClick r:id="rId3"/>
              </a:rPr>
              <a:t>https://www.softserveinc.com/en-us/blog/introducing-a-gen-ai-powered-chat-integration</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The AI Code Editor – Cursor, </a:t>
            </a:r>
            <a:r>
              <a:rPr lang="en-GB" sz="1800" dirty="0">
                <a:latin typeface="Arial" panose="020B0604020202020204" pitchFamily="34" charset="0"/>
                <a:hlinkClick r:id="rId4"/>
              </a:rPr>
              <a:t>https://www.cursor.com/</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GitHub Spark, </a:t>
            </a:r>
            <a:r>
              <a:rPr lang="en-GB" sz="1800" dirty="0">
                <a:latin typeface="Arial" panose="020B0604020202020204" pitchFamily="34" charset="0"/>
                <a:hlinkClick r:id="rId5"/>
              </a:rPr>
              <a:t>https://githubnext.com/projects/github-spark</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Amazon Bedrock: The easiest way to build and scale generative AI applications with foundation models, </a:t>
            </a:r>
            <a:r>
              <a:rPr lang="en-GB" sz="1800" dirty="0">
                <a:latin typeface="Arial" panose="020B0604020202020204" pitchFamily="34" charset="0"/>
                <a:hlinkClick r:id="rId6"/>
              </a:rPr>
              <a:t>https://aws.amazon.com/bedrock/</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Airflow Architecture: A Deep Dive into Data Pipeline Orchestration, </a:t>
            </a:r>
            <a:r>
              <a:rPr lang="en-GB" sz="1800" dirty="0">
                <a:latin typeface="Arial" panose="020B0604020202020204" pitchFamily="34" charset="0"/>
                <a:hlinkClick r:id="rId7"/>
              </a:rPr>
              <a:t>https://medium.com/@bageshwar.kumar/airflow-architecture-a-deep-dive-into-data-pipeline-orchestration-217dd2dbc1c3</a:t>
            </a:r>
            <a:r>
              <a:rPr lang="en-GB" sz="1800" dirty="0">
                <a:latin typeface="Arial" panose="020B0604020202020204" pitchFamily="34" charset="0"/>
              </a:rPr>
              <a:t> </a:t>
            </a:r>
            <a:endParaRPr lang="en-GB" sz="1800" dirty="0"/>
          </a:p>
          <a:p>
            <a:pPr marL="285750" indent="-285750">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Yi Dong, </a:t>
            </a:r>
            <a:r>
              <a:rPr kumimoji="0" lang="en-US" altLang="en-US" sz="1800" b="0" i="0" u="none" strike="noStrike" cap="none" normalizeH="0" baseline="0" dirty="0" err="1">
                <a:ln>
                  <a:noFill/>
                </a:ln>
                <a:solidFill>
                  <a:schemeClr val="tx1"/>
                </a:solidFill>
                <a:effectLst/>
                <a:latin typeface="Arial" panose="020B0604020202020204" pitchFamily="34" charset="0"/>
              </a:rPr>
              <a:t>Ronghui</a:t>
            </a:r>
            <a:r>
              <a:rPr kumimoji="0" lang="en-US" altLang="en-US" sz="1800" b="0" i="0" u="none" strike="noStrike" cap="none" normalizeH="0" baseline="0" dirty="0">
                <a:ln>
                  <a:noFill/>
                </a:ln>
                <a:solidFill>
                  <a:schemeClr val="tx1"/>
                </a:solidFill>
                <a:effectLst/>
                <a:latin typeface="Arial" panose="020B0604020202020204" pitchFamily="34" charset="0"/>
              </a:rPr>
              <a:t> Mu, </a:t>
            </a:r>
            <a:r>
              <a:rPr kumimoji="0" lang="en-US" altLang="en-US" sz="1800" b="0" i="0" u="none" strike="noStrike" cap="none" normalizeH="0" baseline="0" dirty="0" err="1">
                <a:ln>
                  <a:noFill/>
                </a:ln>
                <a:solidFill>
                  <a:schemeClr val="tx1"/>
                </a:solidFill>
                <a:effectLst/>
                <a:latin typeface="Arial" panose="020B0604020202020204" pitchFamily="34" charset="0"/>
              </a:rPr>
              <a:t>Gaojie</a:t>
            </a:r>
            <a:r>
              <a:rPr kumimoji="0" lang="en-US" altLang="en-US" sz="1800" b="0" i="0" u="none" strike="noStrike" cap="none" normalizeH="0" baseline="0" dirty="0">
                <a:ln>
                  <a:noFill/>
                </a:ln>
                <a:solidFill>
                  <a:schemeClr val="tx1"/>
                </a:solidFill>
                <a:effectLst/>
                <a:latin typeface="Arial" panose="020B0604020202020204" pitchFamily="34" charset="0"/>
              </a:rPr>
              <a:t> Jin, Yi Qi, </a:t>
            </a:r>
            <a:r>
              <a:rPr kumimoji="0" lang="en-US" altLang="en-US" sz="1800" b="0" i="0" u="none" strike="noStrike" cap="none" normalizeH="0" baseline="0" dirty="0" err="1">
                <a:ln>
                  <a:noFill/>
                </a:ln>
                <a:solidFill>
                  <a:schemeClr val="tx1"/>
                </a:solidFill>
                <a:effectLst/>
                <a:latin typeface="Arial" panose="020B0604020202020204" pitchFamily="34" charset="0"/>
              </a:rPr>
              <a:t>Jinwei</a:t>
            </a:r>
            <a:r>
              <a:rPr kumimoji="0" lang="en-US" altLang="en-US" sz="1800" b="0" i="0" u="none" strike="noStrike" cap="none" normalizeH="0" baseline="0" dirty="0">
                <a:ln>
                  <a:noFill/>
                </a:ln>
                <a:solidFill>
                  <a:schemeClr val="tx1"/>
                </a:solidFill>
                <a:effectLst/>
                <a:latin typeface="Arial" panose="020B0604020202020204" pitchFamily="34" charset="0"/>
              </a:rPr>
              <a:t> Hu, </a:t>
            </a:r>
            <a:r>
              <a:rPr kumimoji="0" lang="en-US" altLang="en-US" sz="1800" b="0" i="0" u="none" strike="noStrike" cap="none" normalizeH="0" baseline="0" dirty="0" err="1">
                <a:ln>
                  <a:noFill/>
                </a:ln>
                <a:solidFill>
                  <a:schemeClr val="tx1"/>
                </a:solidFill>
                <a:effectLst/>
                <a:latin typeface="Arial" panose="020B0604020202020204" pitchFamily="34" charset="0"/>
              </a:rPr>
              <a:t>Xingyu</a:t>
            </a:r>
            <a:r>
              <a:rPr kumimoji="0" lang="en-US" altLang="en-US" sz="1800" b="0" i="0" u="none" strike="noStrike" cap="none" normalizeH="0" baseline="0" dirty="0">
                <a:ln>
                  <a:noFill/>
                </a:ln>
                <a:solidFill>
                  <a:schemeClr val="tx1"/>
                </a:solidFill>
                <a:effectLst/>
                <a:latin typeface="Arial" panose="020B0604020202020204" pitchFamily="34" charset="0"/>
              </a:rPr>
              <a:t> Zhao, Jie Meng, Wenjie Ruan, and </a:t>
            </a:r>
            <a:r>
              <a:rPr kumimoji="0" lang="en-US" altLang="en-US" sz="1800" b="0" i="0" u="none" strike="noStrike" cap="none" normalizeH="0" baseline="0" dirty="0" err="1">
                <a:ln>
                  <a:noFill/>
                </a:ln>
                <a:solidFill>
                  <a:schemeClr val="tx1"/>
                </a:solidFill>
                <a:effectLst/>
                <a:latin typeface="Arial" panose="020B0604020202020204" pitchFamily="34" charset="0"/>
              </a:rPr>
              <a:t>Xiaowei</a:t>
            </a:r>
            <a:r>
              <a:rPr kumimoji="0" lang="en-US" altLang="en-US" sz="1800" b="0" i="0" u="none" strike="noStrike" cap="none" normalizeH="0" baseline="0" dirty="0">
                <a:ln>
                  <a:noFill/>
                </a:ln>
                <a:solidFill>
                  <a:schemeClr val="tx1"/>
                </a:solidFill>
                <a:effectLst/>
                <a:latin typeface="Arial" panose="020B0604020202020204" pitchFamily="34" charset="0"/>
              </a:rPr>
              <a:t> Huang. (2024). </a:t>
            </a:r>
            <a:r>
              <a:rPr kumimoji="0" lang="en-US" altLang="en-US" sz="1800" i="0" u="none" strike="noStrike" cap="none" normalizeH="0" baseline="0" dirty="0">
                <a:ln>
                  <a:noFill/>
                </a:ln>
                <a:solidFill>
                  <a:schemeClr val="tx1"/>
                </a:solidFill>
                <a:effectLst/>
                <a:latin typeface="Arial" panose="020B0604020202020204" pitchFamily="34" charset="0"/>
              </a:rPr>
              <a:t>Building Guardrails for Large Language Models.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https://arxiv.org/abs/2402.01822</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indent="-285750">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Ahmad Mohsin, Helge </a:t>
            </a:r>
            <a:r>
              <a:rPr kumimoji="0" lang="en-US" altLang="en-US" sz="1800" b="0" i="0" u="none" strike="noStrike" cap="none" normalizeH="0" baseline="0" dirty="0" err="1">
                <a:ln>
                  <a:noFill/>
                </a:ln>
                <a:solidFill>
                  <a:schemeClr val="tx1"/>
                </a:solidFill>
                <a:effectLst/>
                <a:latin typeface="Arial" panose="020B0604020202020204" pitchFamily="34" charset="0"/>
              </a:rPr>
              <a:t>Janicke</a:t>
            </a:r>
            <a:r>
              <a:rPr kumimoji="0" lang="en-US" altLang="en-US" sz="1800" b="0" i="0" u="none" strike="noStrike" cap="none" normalizeH="0" baseline="0" dirty="0">
                <a:ln>
                  <a:noFill/>
                </a:ln>
                <a:solidFill>
                  <a:schemeClr val="tx1"/>
                </a:solidFill>
                <a:effectLst/>
                <a:latin typeface="Arial" panose="020B0604020202020204" pitchFamily="34" charset="0"/>
              </a:rPr>
              <a:t>, Adrian Wood, Iqbal H. Sarker, </a:t>
            </a:r>
            <a:r>
              <a:rPr kumimoji="0" lang="en-US" altLang="en-US" sz="1800" b="0" i="0" u="none" strike="noStrike" cap="none" normalizeH="0" baseline="0" dirty="0" err="1">
                <a:ln>
                  <a:noFill/>
                </a:ln>
                <a:solidFill>
                  <a:schemeClr val="tx1"/>
                </a:solidFill>
                <a:effectLst/>
                <a:latin typeface="Arial" panose="020B0604020202020204" pitchFamily="34" charset="0"/>
              </a:rPr>
              <a:t>Leandros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Maglaras</a:t>
            </a:r>
            <a:r>
              <a:rPr kumimoji="0" lang="en-US" altLang="en-US" sz="1800" b="0" i="0" u="none" strike="noStrike" cap="none" normalizeH="0" baseline="0" dirty="0">
                <a:ln>
                  <a:noFill/>
                </a:ln>
                <a:solidFill>
                  <a:schemeClr val="tx1"/>
                </a:solidFill>
                <a:effectLst/>
                <a:latin typeface="Arial" panose="020B0604020202020204" pitchFamily="34" charset="0"/>
              </a:rPr>
              <a:t>, and Naeem Janjua. (2024). Can We Trust Large Language Models Generated Code? A Framework for In-Context Learning, Security Patterns, and Code Evaluations Across Diverse LLMs. </a:t>
            </a:r>
            <a:r>
              <a:rPr kumimoji="0" lang="en-US" altLang="en-US" sz="1800" b="0" i="0" u="none" strike="noStrike" cap="none" normalizeH="0" baseline="0" dirty="0" err="1">
                <a:ln>
                  <a:noFill/>
                </a:ln>
                <a:solidFill>
                  <a:schemeClr val="tx1"/>
                </a:solidFill>
                <a:effectLst/>
                <a:latin typeface="Arial" panose="020B0604020202020204" pitchFamily="34" charset="0"/>
              </a:rPr>
              <a:t>arXiv</a:t>
            </a:r>
            <a:r>
              <a:rPr kumimoji="0" lang="en-US" altLang="en-US" sz="1800" b="0" i="0" u="none" strike="noStrike" cap="none" normalizeH="0" baseline="0" dirty="0">
                <a:ln>
                  <a:noFill/>
                </a:ln>
                <a:solidFill>
                  <a:schemeClr val="tx1"/>
                </a:solidFill>
                <a:effectLst/>
                <a:latin typeface="Arial" panose="020B0604020202020204" pitchFamily="34" charset="0"/>
              </a:rPr>
              <a:t> preprint.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https://arxiv.org/abs/2406.12513</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796647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519D-9E31-240B-4948-36AA5C46B4FC}"/>
              </a:ext>
            </a:extLst>
          </p:cNvPr>
          <p:cNvSpPr>
            <a:spLocks noGrp="1"/>
          </p:cNvSpPr>
          <p:nvPr>
            <p:ph type="title"/>
          </p:nvPr>
        </p:nvSpPr>
        <p:spPr/>
        <p:txBody>
          <a:bodyPr/>
          <a:lstStyle/>
          <a:p>
            <a:r>
              <a:rPr lang="en-GB" dirty="0"/>
              <a:t>Demo</a:t>
            </a:r>
          </a:p>
        </p:txBody>
      </p:sp>
      <p:sp>
        <p:nvSpPr>
          <p:cNvPr id="3" name="Content Placeholder 2">
            <a:extLst>
              <a:ext uri="{FF2B5EF4-FFF2-40B4-BE49-F238E27FC236}">
                <a16:creationId xmlns:a16="http://schemas.microsoft.com/office/drawing/2014/main" id="{C704E5A0-A8DB-34B6-C9F4-9F50C148334B}"/>
              </a:ext>
            </a:extLst>
          </p:cNvPr>
          <p:cNvSpPr>
            <a:spLocks noGrp="1"/>
          </p:cNvSpPr>
          <p:nvPr>
            <p:ph idx="1"/>
          </p:nvPr>
        </p:nvSpPr>
        <p:spPr/>
        <p:txBody>
          <a:bodyPr/>
          <a:lstStyle/>
          <a:p>
            <a:r>
              <a:rPr lang="en-GB" dirty="0">
                <a:hlinkClick r:id="rId2"/>
              </a:rPr>
              <a:t>LucenAI application</a:t>
            </a:r>
            <a:endParaRPr lang="en-GB" dirty="0"/>
          </a:p>
        </p:txBody>
      </p:sp>
    </p:spTree>
    <p:extLst>
      <p:ext uri="{BB962C8B-B14F-4D97-AF65-F5344CB8AC3E}">
        <p14:creationId xmlns:p14="http://schemas.microsoft.com/office/powerpoint/2010/main" val="323049616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2713</TotalTime>
  <Words>3432</Words>
  <Application>Microsoft Office PowerPoint</Application>
  <PresentationFormat>Ευρεία οθόνη</PresentationFormat>
  <Paragraphs>263</Paragraphs>
  <Slides>33</Slides>
  <Notes>11</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33</vt:i4>
      </vt:variant>
    </vt:vector>
  </HeadingPairs>
  <TitlesOfParts>
    <vt:vector size="41" baseType="lpstr">
      <vt:lpstr>AmazonEmber</vt:lpstr>
      <vt:lpstr>AmazonEmberBold</vt:lpstr>
      <vt:lpstr>Aptos</vt:lpstr>
      <vt:lpstr>Arial</vt:lpstr>
      <vt:lpstr>Helvetica</vt:lpstr>
      <vt:lpstr>Neue Haas Grotesk Text Pro</vt:lpstr>
      <vt:lpstr>NeuzeitGro</vt:lpstr>
      <vt:lpstr>VanillaVTI</vt:lpstr>
      <vt:lpstr>Παρουσίαση του PowerPoint</vt:lpstr>
      <vt:lpstr>Agenda</vt:lpstr>
      <vt:lpstr>AI Revolutionary </vt:lpstr>
      <vt:lpstr>Agentic AI</vt:lpstr>
      <vt:lpstr>Comparison: Traditional AI vs LLMs vs Agentic AI </vt:lpstr>
      <vt:lpstr>Παρουσίαση του PowerPoint</vt:lpstr>
      <vt:lpstr>Agentic AI - Trustable</vt:lpstr>
      <vt:lpstr>Agentic AI for Economics in General </vt:lpstr>
      <vt:lpstr>New functions to support automative business execution – from business intelligent point of view</vt:lpstr>
      <vt:lpstr>Finance Case Study</vt:lpstr>
      <vt:lpstr>Software Engineering (Stone age: Waterfall)</vt:lpstr>
      <vt:lpstr>Software Engineering (Bronze Age: Agile)</vt:lpstr>
      <vt:lpstr>Software Product/SaaS Engineering (Iron Age)</vt:lpstr>
      <vt:lpstr>Generative AI (The AI Revolution)</vt:lpstr>
      <vt:lpstr>Generative AI used in software product engineering – Functional Specifications </vt:lpstr>
      <vt:lpstr>Generative AI used in software product engineering - Code Generation</vt:lpstr>
      <vt:lpstr>Παρουσίαση του PowerPoint</vt:lpstr>
      <vt:lpstr>Generative AI used in software product engineering – Enterprise Cloud AI product</vt:lpstr>
      <vt:lpstr>Generative AI used in software product engineering – Enterprise Data Source orchestration to create new product </vt:lpstr>
      <vt:lpstr>LLM-centric microservices and data dynamic orchestration framework for Data Analytics</vt:lpstr>
      <vt:lpstr>Generative AI used in software product engineering – Prompt Engineering</vt:lpstr>
      <vt:lpstr> </vt:lpstr>
      <vt:lpstr>Quality Control, Reliability and Trust</vt:lpstr>
      <vt:lpstr>Παρουσίαση του PowerPoint</vt:lpstr>
      <vt:lpstr>Security and Ethical Concerns</vt:lpstr>
      <vt:lpstr>Scalability and Integration</vt:lpstr>
      <vt:lpstr>Resource Consumption </vt:lpstr>
      <vt:lpstr>Future Research Opportunities </vt:lpstr>
      <vt:lpstr>Future Research Opportunities </vt:lpstr>
      <vt:lpstr>Future Research Opportunities </vt:lpstr>
      <vt:lpstr>Future Research Opportunities </vt:lpstr>
      <vt:lpstr>Reference</vt:lpstr>
      <vt:lpstr>Demo</vt:lpstr>
    </vt:vector>
  </TitlesOfParts>
  <Company>University of Derby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Harry Yu</dc:creator>
  <cp:lastModifiedBy>Giannis Tsioulis</cp:lastModifiedBy>
  <cp:revision>2</cp:revision>
  <dcterms:created xsi:type="dcterms:W3CDTF">2025-11-30T09:13:15Z</dcterms:created>
  <dcterms:modified xsi:type="dcterms:W3CDTF">2026-03-03T20:23:58Z</dcterms:modified>
</cp:coreProperties>
</file>