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49" r:id="rId3"/>
    <p:sldMasterId id="2147483651" r:id="rId4"/>
    <p:sldMasterId id="2147483652" r:id="rId5"/>
    <p:sldMasterId id="2147483653" r:id="rId6"/>
    <p:sldMasterId id="2147483654"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Lst>
  <p:sldSz cx="9144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 name=""/>
          <p:cNvSpPr/>
          <p:nvPr/>
        </p:nvSpPr>
        <p:spPr>
          <a:xfrm>
            <a:off x="0" y="0"/>
            <a:ext cx="6858000" cy="9144000"/>
          </a:xfrm>
          <a:prstGeom prst="rect">
            <a:avLst/>
          </a:prstGeom>
          <a:solidFill>
            <a:srgbClr val="ffffff"/>
          </a:solidFill>
          <a:ln w="0">
            <a:noFill/>
          </a:ln>
        </p:spPr>
        <p:txBody>
          <a:bodyPr lIns="90000" rIns="90000" tIns="45000" bIns="45000" anchor="ctr" anchorCtr="1">
            <a:noAutofit/>
          </a:bodyPr>
          <a:p>
            <a:endParaRPr b="0" lang="en-US" sz="1800" spc="-1" strike="noStrike">
              <a:solidFill>
                <a:srgbClr val="000000"/>
              </a:solidFill>
              <a:latin typeface="Arial"/>
            </a:endParaRPr>
          </a:p>
        </p:txBody>
      </p:sp>
      <p:sp>
        <p:nvSpPr>
          <p:cNvPr id="22" name="PlaceHolder 1"/>
          <p:cNvSpPr>
            <a:spLocks noGrp="1"/>
          </p:cNvSpPr>
          <p:nvPr>
            <p:ph type="hdr"/>
          </p:nvPr>
        </p:nvSpPr>
        <p:spPr>
          <a:xfrm>
            <a:off x="-360" y="0"/>
            <a:ext cx="2971800" cy="457200"/>
          </a:xfrm>
          <a:prstGeom prst="rect">
            <a:avLst/>
          </a:prstGeom>
          <a:noFill/>
          <a:ln w="0">
            <a:noFill/>
          </a:ln>
        </p:spPr>
        <p:txBody>
          <a:bodyPr lIns="90000" rIns="90000" tIns="46800" bIns="46800" anchor="t">
            <a:noAutofit/>
          </a:bodyPr>
          <a:p>
            <a:pPr indent="0">
              <a:buNone/>
            </a:pPr>
            <a:endParaRPr b="0" lang="en-US" sz="2400" spc="-1" strike="noStrike">
              <a:solidFill>
                <a:srgbClr val="000000"/>
              </a:solidFill>
              <a:latin typeface="Times New Roman"/>
            </a:endParaRPr>
          </a:p>
        </p:txBody>
      </p:sp>
      <p:sp>
        <p:nvSpPr>
          <p:cNvPr id="23" name="PlaceHolder 2"/>
          <p:cNvSpPr>
            <a:spLocks noGrp="1"/>
          </p:cNvSpPr>
          <p:nvPr>
            <p:ph type="dt" idx="4"/>
          </p:nvPr>
        </p:nvSpPr>
        <p:spPr>
          <a:xfrm>
            <a:off x="3884400" y="0"/>
            <a:ext cx="2971800" cy="457200"/>
          </a:xfrm>
          <a:prstGeom prst="rect">
            <a:avLst/>
          </a:prstGeom>
          <a:noFill/>
          <a:ln w="0">
            <a:noFill/>
          </a:ln>
        </p:spPr>
        <p:txBody>
          <a:bodyPr lIns="90000" rIns="90000" tIns="46800" bIns="46800" anchor="t">
            <a:noAutofit/>
          </a:bodyPr>
          <a:p>
            <a:pPr indent="0">
              <a:buNone/>
            </a:pPr>
            <a:endParaRPr b="0" lang="en-US" sz="2400" spc="-1" strike="noStrike">
              <a:solidFill>
                <a:srgbClr val="000000"/>
              </a:solidFill>
              <a:latin typeface="Times New Roman"/>
            </a:endParaRPr>
          </a:p>
        </p:txBody>
      </p:sp>
      <p:sp>
        <p:nvSpPr>
          <p:cNvPr id="24" name="PlaceHolder 3"/>
          <p:cNvSpPr>
            <a:spLocks noGrp="1"/>
          </p:cNvSpPr>
          <p:nvPr>
            <p:ph type="sldImg"/>
          </p:nvPr>
        </p:nvSpPr>
        <p:spPr>
          <a:xfrm>
            <a:off x="1143000" y="685440"/>
            <a:ext cx="4572000" cy="3429000"/>
          </a:xfrm>
          <a:prstGeom prst="rect">
            <a:avLst/>
          </a:prstGeom>
          <a:noFill/>
          <a:ln w="9360">
            <a:solidFill>
              <a:srgbClr val="000000"/>
            </a:solidFill>
            <a:miter/>
          </a:ln>
        </p:spPr>
        <p:txBody>
          <a:bodyPr lIns="90000" rIns="90000" tIns="46800" bIns="46800" anchor="ctr">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25" name="PlaceHolder 4"/>
          <p:cNvSpPr>
            <a:spLocks noGrp="1"/>
          </p:cNvSpPr>
          <p:nvPr>
            <p:ph type="body"/>
          </p:nvPr>
        </p:nvSpPr>
        <p:spPr>
          <a:xfrm>
            <a:off x="685800" y="4343400"/>
            <a:ext cx="5486400" cy="4114800"/>
          </a:xfrm>
          <a:prstGeom prst="rect">
            <a:avLst/>
          </a:prstGeom>
          <a:noFill/>
          <a:ln w="0">
            <a:noFill/>
          </a:ln>
        </p:spPr>
        <p:txBody>
          <a:bodyPr lIns="90000" rIns="90000" tIns="46800" bIns="4680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200" spc="-1" strike="noStrike">
                <a:solidFill>
                  <a:srgbClr val="000000"/>
                </a:solidFill>
                <a:latin typeface="Arial"/>
              </a:rPr>
              <a:t>Click to edit the notes format</a:t>
            </a:r>
            <a:endParaRPr b="0" lang="en-US" sz="1200" spc="-1" strike="noStrike">
              <a:solidFill>
                <a:srgbClr val="000000"/>
              </a:solidFill>
              <a:latin typeface="Arial"/>
            </a:endParaRPr>
          </a:p>
        </p:txBody>
      </p:sp>
      <p:sp>
        <p:nvSpPr>
          <p:cNvPr id="26" name="PlaceHolder 5"/>
          <p:cNvSpPr>
            <a:spLocks noGrp="1"/>
          </p:cNvSpPr>
          <p:nvPr>
            <p:ph type="ftr" idx="5"/>
          </p:nvPr>
        </p:nvSpPr>
        <p:spPr>
          <a:xfrm>
            <a:off x="-360" y="8685360"/>
            <a:ext cx="2971800" cy="457200"/>
          </a:xfrm>
          <a:prstGeom prst="rect">
            <a:avLst/>
          </a:prstGeom>
          <a:noFill/>
          <a:ln w="0">
            <a:noFill/>
          </a:ln>
        </p:spPr>
        <p:txBody>
          <a:bodyPr lIns="90000" rIns="90000" tIns="46800" bIns="46800" anchor="b">
            <a:noAutofit/>
          </a:bodyPr>
          <a:p>
            <a:pPr indent="0">
              <a:buNone/>
            </a:pPr>
            <a:endParaRPr b="0" lang="en-US" sz="2400" spc="-1" strike="noStrike">
              <a:solidFill>
                <a:srgbClr val="000000"/>
              </a:solidFill>
              <a:latin typeface="Times New Roman"/>
            </a:endParaRPr>
          </a:p>
        </p:txBody>
      </p:sp>
      <p:sp>
        <p:nvSpPr>
          <p:cNvPr id="27" name="PlaceHolder 6"/>
          <p:cNvSpPr>
            <a:spLocks noGrp="1"/>
          </p:cNvSpPr>
          <p:nvPr>
            <p:ph type="sldNum" idx="6"/>
          </p:nvPr>
        </p:nvSpPr>
        <p:spPr>
          <a:xfrm>
            <a:off x="3884400" y="8685360"/>
            <a:ext cx="2971800" cy="457200"/>
          </a:xfrm>
          <a:prstGeom prst="rect">
            <a:avLst/>
          </a:prstGeom>
          <a:noFill/>
          <a:ln w="0">
            <a:noFill/>
          </a:ln>
        </p:spPr>
        <p:txBody>
          <a:bodyPr lIns="90000" rIns="90000" tIns="46800" bIns="46800" anchor="b">
            <a:noAutofit/>
          </a:bodyPr>
          <a:lstStyle>
            <a:lvl1pPr marL="216000" indent="0" algn="r">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defRPr b="0" lang="en-US" sz="1200" spc="-1" strike="noStrike">
                <a:solidFill>
                  <a:srgbClr val="000000"/>
                </a:solidFill>
                <a:latin typeface="Times New Roman"/>
              </a:defRPr>
            </a:lvl1pPr>
          </a:lstStyle>
          <a:p>
            <a:pPr marL="216000" indent="0" algn="r">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7FCCB990-7089-4244-9EB0-FEBC1EFE1C6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2"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9397E4B9-1ED7-4B6F-9C55-3E4C2887E0A5}"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63" name="PlaceHolder 1"/>
          <p:cNvSpPr>
            <a:spLocks noGrp="1"/>
          </p:cNvSpPr>
          <p:nvPr>
            <p:ph type="sldImg"/>
          </p:nvPr>
        </p:nvSpPr>
        <p:spPr>
          <a:xfrm>
            <a:off x="1143000" y="685800"/>
            <a:ext cx="4572000" cy="3429000"/>
          </a:xfrm>
          <a:prstGeom prst="rect">
            <a:avLst/>
          </a:prstGeom>
          <a:ln w="0">
            <a:noFill/>
          </a:ln>
        </p:spPr>
      </p:sp>
      <p:sp>
        <p:nvSpPr>
          <p:cNvPr id="164"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32835FC2-B221-44BF-9ED4-4D318DFBCDE4}"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66" name="PlaceHolder 1"/>
          <p:cNvSpPr>
            <a:spLocks noGrp="1"/>
          </p:cNvSpPr>
          <p:nvPr>
            <p:ph type="sldImg"/>
          </p:nvPr>
        </p:nvSpPr>
        <p:spPr>
          <a:xfrm>
            <a:off x="1143000" y="685800"/>
            <a:ext cx="4572000" cy="3429000"/>
          </a:xfrm>
          <a:prstGeom prst="rect">
            <a:avLst/>
          </a:prstGeom>
          <a:ln w="0">
            <a:noFill/>
          </a:ln>
        </p:spPr>
      </p:sp>
      <p:sp>
        <p:nvSpPr>
          <p:cNvPr id="167"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E916B2BB-6340-4627-B7C3-B823548ACE51}"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69" name="PlaceHolder 1"/>
          <p:cNvSpPr>
            <a:spLocks noGrp="1"/>
          </p:cNvSpPr>
          <p:nvPr>
            <p:ph type="sldImg"/>
          </p:nvPr>
        </p:nvSpPr>
        <p:spPr>
          <a:xfrm>
            <a:off x="1143000" y="685800"/>
            <a:ext cx="4572000" cy="3429000"/>
          </a:xfrm>
          <a:prstGeom prst="rect">
            <a:avLst/>
          </a:prstGeom>
          <a:ln w="0">
            <a:noFill/>
          </a:ln>
        </p:spPr>
      </p:sp>
      <p:sp>
        <p:nvSpPr>
          <p:cNvPr id="170"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43C74DB6-CEAF-4C24-A5FC-8A7846AFEE22}"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72" name="PlaceHolder 1"/>
          <p:cNvSpPr>
            <a:spLocks noGrp="1"/>
          </p:cNvSpPr>
          <p:nvPr>
            <p:ph type="sldImg"/>
          </p:nvPr>
        </p:nvSpPr>
        <p:spPr>
          <a:xfrm>
            <a:off x="1143000" y="685800"/>
            <a:ext cx="4572000" cy="3429000"/>
          </a:xfrm>
          <a:prstGeom prst="rect">
            <a:avLst/>
          </a:prstGeom>
          <a:ln w="0">
            <a:noFill/>
          </a:ln>
        </p:spPr>
      </p:sp>
      <p:sp>
        <p:nvSpPr>
          <p:cNvPr id="173"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4"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D9634851-09F3-401D-8AA2-033AEB6F73A0}"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75" name="PlaceHolder 1"/>
          <p:cNvSpPr>
            <a:spLocks noGrp="1"/>
          </p:cNvSpPr>
          <p:nvPr>
            <p:ph type="sldImg"/>
          </p:nvPr>
        </p:nvSpPr>
        <p:spPr>
          <a:xfrm>
            <a:off x="1143000" y="685800"/>
            <a:ext cx="4572000" cy="3429000"/>
          </a:xfrm>
          <a:prstGeom prst="rect">
            <a:avLst/>
          </a:prstGeom>
          <a:ln w="0">
            <a:noFill/>
          </a:ln>
        </p:spPr>
      </p:sp>
      <p:sp>
        <p:nvSpPr>
          <p:cNvPr id="176"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7" name="PlaceHolder 1"/>
          <p:cNvSpPr>
            <a:spLocks noGrp="1"/>
          </p:cNvSpPr>
          <p:nvPr>
            <p:ph type="sldImg"/>
          </p:nvPr>
        </p:nvSpPr>
        <p:spPr>
          <a:xfrm>
            <a:off x="1143000" y="685800"/>
            <a:ext cx="4572000" cy="3429000"/>
          </a:xfrm>
          <a:prstGeom prst="rect">
            <a:avLst/>
          </a:prstGeom>
          <a:ln w="0">
            <a:noFill/>
          </a:ln>
        </p:spPr>
      </p:sp>
      <p:sp>
        <p:nvSpPr>
          <p:cNvPr id="178"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This process of selecting an action from a given state, transitioning to a new state, and receiving a reward happens sequentially over and over again, which creates something called a </a:t>
            </a:r>
            <a:r>
              <a:rPr b="0" i="1" lang="en-GB" sz="1200" spc="-1" strike="noStrike">
                <a:solidFill>
                  <a:srgbClr val="000000"/>
                </a:solidFill>
                <a:latin typeface="Arial"/>
              </a:rPr>
              <a:t>trajectory</a:t>
            </a:r>
            <a:r>
              <a:rPr b="0" lang="en-GB" sz="1200" spc="-1" strike="noStrike">
                <a:solidFill>
                  <a:srgbClr val="000000"/>
                </a:solidFill>
                <a:latin typeface="Arial"/>
              </a:rPr>
              <a:t> that shows the sequence of states, actions, and rewards.</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Throughout this process, it is the agent’s goal to maximize the total amount of rewards that it receives from taking actions in given states. This means that the agent wants to maximize not just the immediate reward, but the </a:t>
            </a:r>
            <a:r>
              <a:rPr b="0" i="1" lang="en-GB" sz="1200" spc="-1" strike="noStrike">
                <a:solidFill>
                  <a:srgbClr val="000000"/>
                </a:solidFill>
                <a:latin typeface="Arial"/>
              </a:rPr>
              <a:t>cumulative</a:t>
            </a:r>
            <a:r>
              <a:rPr b="0" lang="en-GB" sz="1200" spc="-1" strike="noStrike">
                <a:solidFill>
                  <a:srgbClr val="000000"/>
                </a:solidFill>
                <a:latin typeface="Arial"/>
              </a:rPr>
              <a:t> rewards it receives over time.</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79"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6A5C1B28-390A-4740-84FC-FDF0D5C5DF26}"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sldImg"/>
          </p:nvPr>
        </p:nvSpPr>
        <p:spPr>
          <a:xfrm>
            <a:off x="1143000" y="685800"/>
            <a:ext cx="4572000" cy="3429000"/>
          </a:xfrm>
          <a:prstGeom prst="rect">
            <a:avLst/>
          </a:prstGeom>
          <a:ln w="0">
            <a:noFill/>
          </a:ln>
        </p:spPr>
      </p:sp>
      <p:sp>
        <p:nvSpPr>
          <p:cNvPr id="181"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This infinite sum yields a finite result. If you want to understand this concept more deeply, then research </a:t>
            </a:r>
            <a:r>
              <a:rPr b="0" i="1" lang="en-GB" sz="1200" spc="-1" strike="noStrike">
                <a:solidFill>
                  <a:srgbClr val="000000"/>
                </a:solidFill>
                <a:latin typeface="Arial"/>
              </a:rPr>
              <a:t>infinite series convergence</a:t>
            </a:r>
            <a:r>
              <a:rPr b="0" lang="en-GB" sz="1200" spc="-1" strike="noStrike">
                <a:solidFill>
                  <a:srgbClr val="000000"/>
                </a:solidFill>
                <a:latin typeface="Arial"/>
              </a:rPr>
              <a:t>. For our purposes though, you’re free to just trust the fact that this is true, and understand the infinite sum of discounted rewards is finite if the conditions we outlined are met.</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82"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802E1162-D89D-4BB2-8AE0-298C9D495E41}"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3" name="PlaceHolder 1"/>
          <p:cNvSpPr>
            <a:spLocks noGrp="1"/>
          </p:cNvSpPr>
          <p:nvPr>
            <p:ph type="sldImg"/>
          </p:nvPr>
        </p:nvSpPr>
        <p:spPr>
          <a:xfrm>
            <a:off x="1143000" y="685800"/>
            <a:ext cx="4572000" cy="3429000"/>
          </a:xfrm>
          <a:prstGeom prst="rect">
            <a:avLst/>
          </a:prstGeom>
          <a:ln w="0">
            <a:noFill/>
          </a:ln>
        </p:spPr>
      </p:sp>
      <p:sp>
        <p:nvSpPr>
          <p:cNvPr id="184"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85"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03B81CC9-38DD-446F-9AE2-C8A565694082}"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6" name="PlaceHolder 1"/>
          <p:cNvSpPr>
            <a:spLocks noGrp="1"/>
          </p:cNvSpPr>
          <p:nvPr>
            <p:ph type="sldImg"/>
          </p:nvPr>
        </p:nvSpPr>
        <p:spPr>
          <a:xfrm>
            <a:off x="1143000" y="685800"/>
            <a:ext cx="4572000" cy="3429000"/>
          </a:xfrm>
          <a:prstGeom prst="rect">
            <a:avLst/>
          </a:prstGeom>
          <a:ln w="0">
            <a:noFill/>
          </a:ln>
        </p:spPr>
      </p:sp>
      <p:sp>
        <p:nvSpPr>
          <p:cNvPr id="187"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The </a:t>
            </a:r>
            <a:r>
              <a:rPr b="0" i="1" lang="en-GB" sz="1200" spc="-1" strike="noStrike">
                <a:solidFill>
                  <a:srgbClr val="000000"/>
                </a:solidFill>
                <a:latin typeface="Arial"/>
              </a:rPr>
              <a:t>state-value function</a:t>
            </a:r>
            <a:r>
              <a:rPr b="0" lang="en-GB" sz="1200" spc="-1" strike="noStrike">
                <a:solidFill>
                  <a:srgbClr val="000000"/>
                </a:solidFill>
                <a:latin typeface="Arial"/>
              </a:rPr>
              <a:t> for policy π, denoted as vπ, tells us how good any given state is for an agent following policy π. In other words, it gives us </a:t>
            </a:r>
            <a:r>
              <a:rPr b="0" i="1" lang="en-GB" sz="1200" spc="-1" strike="noStrike">
                <a:solidFill>
                  <a:srgbClr val="000000"/>
                </a:solidFill>
                <a:latin typeface="Arial"/>
              </a:rPr>
              <a:t>the value of a state</a:t>
            </a:r>
            <a:r>
              <a:rPr b="0" lang="en-GB" sz="1200" spc="-1" strike="noStrike">
                <a:solidFill>
                  <a:srgbClr val="000000"/>
                </a:solidFill>
                <a:latin typeface="Arial"/>
              </a:rPr>
              <a:t> under π.</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Similarly, the </a:t>
            </a:r>
            <a:r>
              <a:rPr b="0" i="1" lang="en-GB" sz="1200" spc="-1" strike="noStrike">
                <a:solidFill>
                  <a:srgbClr val="000000"/>
                </a:solidFill>
                <a:latin typeface="Arial"/>
              </a:rPr>
              <a:t>action-value function</a:t>
            </a:r>
            <a:r>
              <a:rPr b="0" lang="en-GB" sz="1200" spc="-1" strike="noStrike">
                <a:solidFill>
                  <a:srgbClr val="000000"/>
                </a:solidFill>
                <a:latin typeface="Arial"/>
              </a:rPr>
              <a:t> for policy π, denoted as qπ, tells us how good it is for the agent to take any given action from a given state while following policy π. In other words, it gives us </a:t>
            </a:r>
            <a:r>
              <a:rPr b="0" i="1" lang="en-GB" sz="1200" spc="-1" strike="noStrike">
                <a:solidFill>
                  <a:srgbClr val="000000"/>
                </a:solidFill>
                <a:latin typeface="Arial"/>
              </a:rPr>
              <a:t>the value of an action</a:t>
            </a:r>
            <a:r>
              <a:rPr b="0" lang="en-GB" sz="1200" spc="-1" strike="noStrike">
                <a:solidFill>
                  <a:srgbClr val="000000"/>
                </a:solidFill>
                <a:latin typeface="Arial"/>
              </a:rPr>
              <a:t> under π.</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88"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755DEAB4-A38E-4E10-BC41-F830CF4C986F}"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Rectangle 7"/>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5C3A30F7-5224-49B5-A6A6-662AEBBCF120}"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
        <p:nvSpPr>
          <p:cNvPr id="190" name="PlaceHolder 1"/>
          <p:cNvSpPr>
            <a:spLocks noGrp="1"/>
          </p:cNvSpPr>
          <p:nvPr>
            <p:ph type="sldImg"/>
          </p:nvPr>
        </p:nvSpPr>
        <p:spPr>
          <a:xfrm>
            <a:off x="1143000" y="685800"/>
            <a:ext cx="4572000" cy="3429000"/>
          </a:xfrm>
          <a:prstGeom prst="rect">
            <a:avLst/>
          </a:prstGeom>
          <a:ln w="0">
            <a:noFill/>
          </a:ln>
        </p:spPr>
      </p:sp>
      <p:sp>
        <p:nvSpPr>
          <p:cNvPr id="191"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We're going to see how we can use the Bellman equation to find q∗. Once we have q∗, we can determine the optimal policy because, with q∗, for any state s, a reinforcement learning algorithm can find the action a that maximizes q∗(s,a).</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We’re going to use this Bellman equation a lot going forward, so it will continue to materialize for us more as we progress.</a:t>
            </a:r>
            <a:endParaRPr b="0" lang="en-US" sz="1200" spc="-1" strike="noStrike">
              <a:solidFill>
                <a:srgbClr val="000000"/>
              </a:solidFill>
              <a:latin typeface="Arial"/>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2" name="PlaceHolder 1"/>
          <p:cNvSpPr>
            <a:spLocks noGrp="1"/>
          </p:cNvSpPr>
          <p:nvPr>
            <p:ph type="sldImg"/>
          </p:nvPr>
        </p:nvSpPr>
        <p:spPr>
          <a:xfrm>
            <a:off x="1143000" y="685800"/>
            <a:ext cx="4572000" cy="3429000"/>
          </a:xfrm>
          <a:prstGeom prst="rect">
            <a:avLst/>
          </a:prstGeom>
          <a:ln w="0">
            <a:noFill/>
          </a:ln>
        </p:spPr>
      </p:sp>
      <p:sp>
        <p:nvSpPr>
          <p:cNvPr id="193"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In other words, at the beginning, the lizard doesn’t know whether navigating left, right, up, or down will result in a positive reward or negative reward.</a:t>
            </a:r>
            <a:endParaRPr b="0" lang="en-US" sz="1200" spc="-1" strike="noStrike">
              <a:solidFill>
                <a:srgbClr val="000000"/>
              </a:solidFill>
              <a:latin typeface="Arial"/>
            </a:endParaRPr>
          </a:p>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94"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FDCC0B88-E305-43A0-8D04-115172DBCB10}"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sldImg"/>
          </p:nvPr>
        </p:nvSpPr>
        <p:spPr>
          <a:xfrm>
            <a:off x="1143000" y="685800"/>
            <a:ext cx="4572000" cy="3429000"/>
          </a:xfrm>
          <a:prstGeom prst="rect">
            <a:avLst/>
          </a:prstGeom>
          <a:ln w="0">
            <a:noFill/>
          </a:ln>
        </p:spPr>
      </p:sp>
      <p:sp>
        <p:nvSpPr>
          <p:cNvPr id="196" name="PlaceHolder 2"/>
          <p:cNvSpPr>
            <a:spLocks noGrp="1"/>
          </p:cNvSpPr>
          <p:nvPr>
            <p:ph type="body"/>
          </p:nvPr>
        </p:nvSpPr>
        <p:spPr>
          <a:xfrm>
            <a:off x="685800" y="4343400"/>
            <a:ext cx="5486400" cy="4114800"/>
          </a:xfrm>
          <a:prstGeom prst="rect">
            <a:avLst/>
          </a:prstGeom>
          <a:noFill/>
          <a:ln w="0">
            <a:noFill/>
          </a:ln>
        </p:spPr>
        <p:txBody>
          <a:bodyPr lIns="0" rIns="0" tIns="0" bIns="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200" spc="-1" strike="noStrike">
              <a:solidFill>
                <a:srgbClr val="000000"/>
              </a:solidFill>
              <a:latin typeface="Arial"/>
            </a:endParaRPr>
          </a:p>
        </p:txBody>
      </p:sp>
      <p:sp>
        <p:nvSpPr>
          <p:cNvPr id="197"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5FBB7994-7459-43D9-A20C-A25CDC7BB17C}"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sldImg"/>
          </p:nvPr>
        </p:nvSpPr>
        <p:spPr>
          <a:xfrm>
            <a:off x="1143000" y="685800"/>
            <a:ext cx="4572000" cy="3429000"/>
          </a:xfrm>
          <a:prstGeom prst="rect">
            <a:avLst/>
          </a:prstGeom>
          <a:ln w="0">
            <a:noFill/>
          </a:ln>
        </p:spPr>
      </p:sp>
      <p:sp>
        <p:nvSpPr>
          <p:cNvPr id="199" name="PlaceHolder 2"/>
          <p:cNvSpPr>
            <a:spLocks noGrp="1"/>
          </p:cNvSpPr>
          <p:nvPr>
            <p:ph type="body"/>
          </p:nvPr>
        </p:nvSpPr>
        <p:spPr>
          <a:xfrm>
            <a:off x="685800" y="4343400"/>
            <a:ext cx="5486400" cy="4114800"/>
          </a:xfrm>
          <a:prstGeom prst="rect">
            <a:avLst/>
          </a:prstGeom>
          <a:noFill/>
          <a:ln w="0">
            <a:noFill/>
          </a:ln>
        </p:spPr>
        <p:txBody>
          <a:bodyPr lIns="91440" rIns="91440" tIns="45720" bIns="45720" anchor="t">
            <a:noAutofit/>
          </a:bodyPr>
          <a:p>
            <a:pPr indent="0">
              <a:spcBef>
                <a:spcPts val="451"/>
              </a:spcBef>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Arial"/>
              </a:rPr>
              <a:t>This grid is our environment where S is the agent’s starting point, and it’s safe. F represents the frozen surface and is also safe. H represents a hole, and if our agent steps in a hole in the middle of a frozen lake, well, that’s not good. Finally, G represents the goal, which is the space on the grid where the prized frisbee is located.</a:t>
            </a:r>
            <a:endParaRPr b="0" lang="en-US" sz="1200" spc="-1" strike="noStrike">
              <a:solidFill>
                <a:srgbClr val="000000"/>
              </a:solidFill>
              <a:latin typeface="Arial"/>
            </a:endParaRPr>
          </a:p>
        </p:txBody>
      </p:sp>
      <p:sp>
        <p:nvSpPr>
          <p:cNvPr id="200" name="Slide Number Placeholder 3"/>
          <p:cNvSpPr/>
          <p:nvPr/>
        </p:nvSpPr>
        <p:spPr>
          <a:xfrm>
            <a:off x="3884760" y="8685360"/>
            <a:ext cx="2971800" cy="457200"/>
          </a:xfrm>
          <a:prstGeom prst="rect">
            <a:avLst/>
          </a:prstGeom>
          <a:noFill/>
          <a:ln w="0">
            <a:noFill/>
          </a:ln>
        </p:spPr>
        <p:style>
          <a:lnRef idx="0"/>
          <a:fillRef idx="0"/>
          <a:effectRef idx="0"/>
          <a:fontRef idx="minor"/>
        </p:style>
        <p:txBody>
          <a:bodyPr lIns="90000" rIns="90000" tIns="46800" bIns="46800" anchor="b">
            <a:noAutofit/>
          </a:bodyPr>
          <a:p>
            <a:pPr algn="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E1E35A99-5B56-443F-A2D3-89B77B855425}" type="slidenum">
              <a:rPr b="0" lang="en-US" sz="1200" spc="-1" strike="noStrike">
                <a:solidFill>
                  <a:srgbClr val="000000"/>
                </a:solidFill>
                <a:latin typeface="Arial"/>
              </a:rPr>
              <a:t>&lt;number&gt;</a:t>
            </a:fld>
            <a:endParaRPr b="0" lang="en-US" sz="1200" spc="-1" strike="noStrike">
              <a:solidFill>
                <a:srgbClr val="000000"/>
              </a:solidFill>
              <a:latin typeface="Arial"/>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1">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5">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38350D2A-B1B3-4D0F-B412-ADE5D881F066}" type="slidenum">
              <a:t>&lt;#&gt;</a:t>
            </a:fld>
          </a:p>
        </p:txBody>
      </p:sp>
      <p:sp>
        <p:nvSpPr>
          <p:cNvPr id="4" name="PlaceHolder 3"/>
          <p:cNvSpPr>
            <a:spLocks noGrp="1"/>
          </p:cNvSpPr>
          <p:nvPr>
            <p:ph type="dt" idx="1"/>
          </p:nvPr>
        </p:nvSpPr>
        <p:spPr/>
        <p:txBody>
          <a:bodyPr/>
          <a:p>
            <a:r>
              <a:rPr lang="en-US"/>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jpeg"/><Relationship Id="rId3"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2.png"/><Relationship Id="rId5" Type="http://schemas.openxmlformats.org/officeDocument/2006/relationships/slideLayout" Target="../slideLayouts/slideLayout1.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2.png"/></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0" name="Picture 6" descr=""/>
          <p:cNvPicPr/>
          <p:nvPr/>
        </p:nvPicPr>
        <p:blipFill>
          <a:blip r:embed="rId3"/>
          <a:stretch/>
        </p:blipFill>
        <p:spPr>
          <a:xfrm>
            <a:off x="461880" y="4924440"/>
            <a:ext cx="747720" cy="620640"/>
          </a:xfrm>
          <a:prstGeom prst="rect">
            <a:avLst/>
          </a:prstGeom>
          <a:ln w="0">
            <a:noFill/>
          </a:ln>
        </p:spPr>
      </p:pic>
      <p:sp>
        <p:nvSpPr>
          <p:cNvPr id="1"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2" name="Picture 6" descr=""/>
          <p:cNvPicPr/>
          <p:nvPr/>
        </p:nvPicPr>
        <p:blipFill>
          <a:blip r:embed="rId3"/>
          <a:stretch/>
        </p:blipFill>
        <p:spPr>
          <a:xfrm>
            <a:off x="461880" y="4924440"/>
            <a:ext cx="747720" cy="620640"/>
          </a:xfrm>
          <a:prstGeom prst="rect">
            <a:avLst/>
          </a:prstGeom>
          <a:ln w="0">
            <a:noFill/>
          </a:ln>
        </p:spPr>
      </p:pic>
      <p:sp>
        <p:nvSpPr>
          <p:cNvPr id="3"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pic>
        <p:nvPicPr>
          <p:cNvPr id="4" name="Picture 1" descr=""/>
          <p:cNvPicPr/>
          <p:nvPr/>
        </p:nvPicPr>
        <p:blipFill>
          <a:blip r:embed="rId4"/>
          <a:stretch/>
        </p:blipFill>
        <p:spPr>
          <a:xfrm>
            <a:off x="461880" y="4924440"/>
            <a:ext cx="747720" cy="62064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650" r:id="rId5"/>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5" name="Picture 6" descr=""/>
          <p:cNvPicPr/>
          <p:nvPr/>
        </p:nvPicPr>
        <p:blipFill>
          <a:blip r:embed="rId3"/>
          <a:stretch/>
        </p:blipFill>
        <p:spPr>
          <a:xfrm>
            <a:off x="461880" y="4924440"/>
            <a:ext cx="747720" cy="620640"/>
          </a:xfrm>
          <a:prstGeom prst="rect">
            <a:avLst/>
          </a:prstGeom>
          <a:ln w="0">
            <a:noFill/>
          </a:ln>
        </p:spPr>
      </p:pic>
      <p:sp>
        <p:nvSpPr>
          <p:cNvPr id="6"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pic>
        <p:nvPicPr>
          <p:cNvPr id="7" name="Picture 1" descr=""/>
          <p:cNvPicPr/>
          <p:nvPr/>
        </p:nvPicPr>
        <p:blipFill>
          <a:blip r:embed="rId4"/>
          <a:stretch/>
        </p:blipFill>
        <p:spPr>
          <a:xfrm>
            <a:off x="461880" y="4924440"/>
            <a:ext cx="747720" cy="620640"/>
          </a:xfrm>
          <a:prstGeom prst="rect">
            <a:avLst/>
          </a:prstGeom>
          <a:ln w="0">
            <a:noFill/>
          </a:ln>
        </p:spPr>
      </p:pic>
    </p:spTree>
  </p:cSld>
  <p:clrMap bg1="lt1" bg2="lt2" tx1="dk1" tx2="dk2" accent1="accent1" accent2="accent2" accent3="accent3" accent4="accent4" accent5="accent5" accent6="accent6" hlink="hlink" folHlink="folHlink"/>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8" name="Picture 6" descr=""/>
          <p:cNvPicPr/>
          <p:nvPr/>
        </p:nvPicPr>
        <p:blipFill>
          <a:blip r:embed="rId3"/>
          <a:stretch/>
        </p:blipFill>
        <p:spPr>
          <a:xfrm>
            <a:off x="461880" y="4924440"/>
            <a:ext cx="747720" cy="620640"/>
          </a:xfrm>
          <a:prstGeom prst="rect">
            <a:avLst/>
          </a:prstGeom>
          <a:ln w="0">
            <a:noFill/>
          </a:ln>
        </p:spPr>
      </p:pic>
      <p:sp>
        <p:nvSpPr>
          <p:cNvPr id="9"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pic>
        <p:nvPicPr>
          <p:cNvPr id="10" name="Picture 1" descr=""/>
          <p:cNvPicPr/>
          <p:nvPr/>
        </p:nvPicPr>
        <p:blipFill>
          <a:blip r:embed="rId4"/>
          <a:stretch/>
        </p:blipFill>
        <p:spPr>
          <a:xfrm>
            <a:off x="461880" y="4924440"/>
            <a:ext cx="747720" cy="620640"/>
          </a:xfrm>
          <a:prstGeom prst="rect">
            <a:avLst/>
          </a:prstGeom>
          <a:ln w="0">
            <a:noFill/>
          </a:ln>
        </p:spPr>
      </p:pic>
    </p:spTree>
  </p:cSld>
  <p:clrMap bg1="lt1" bg2="lt2" tx1="dk1" tx2="dk2" accent1="accent1" accent2="accent2" accent3="accent3" accent4="accent4" accent5="accent5" accent6="accent6" hlink="hlink" folHlink="folHlink"/>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11" name="Picture 6" descr=""/>
          <p:cNvPicPr/>
          <p:nvPr/>
        </p:nvPicPr>
        <p:blipFill>
          <a:blip r:embed="rId3"/>
          <a:stretch/>
        </p:blipFill>
        <p:spPr>
          <a:xfrm>
            <a:off x="461880" y="4924440"/>
            <a:ext cx="747720" cy="620640"/>
          </a:xfrm>
          <a:prstGeom prst="rect">
            <a:avLst/>
          </a:prstGeom>
          <a:ln w="0">
            <a:noFill/>
          </a:ln>
        </p:spPr>
      </p:pic>
      <p:sp>
        <p:nvSpPr>
          <p:cNvPr id="12"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pic>
        <p:nvPicPr>
          <p:cNvPr id="13" name="Picture 3" descr=""/>
          <p:cNvPicPr/>
          <p:nvPr/>
        </p:nvPicPr>
        <p:blipFill>
          <a:blip r:embed="rId4"/>
          <a:stretch/>
        </p:blipFill>
        <p:spPr>
          <a:xfrm>
            <a:off x="461880" y="4924440"/>
            <a:ext cx="747720" cy="620640"/>
          </a:xfrm>
          <a:prstGeom prst="rect">
            <a:avLst/>
          </a:prstGeom>
          <a:ln w="0">
            <a:noFill/>
          </a:ln>
        </p:spPr>
      </p:pic>
    </p:spTree>
  </p:cSld>
  <p:clrMap bg1="lt1" bg2="lt2" tx1="dk1" tx2="dk2" accent1="accent1" accent2="accent2" accent3="accent3" accent4="accent4" accent5="accent5" accent6="accent6" hlink="hlink" folHlink="folHlink"/>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2"/>
          <a:stretch/>
        </a:blipFill>
      </p:bgPr>
    </p:bg>
    <p:spTree>
      <p:nvGrpSpPr>
        <p:cNvPr id="1" name=""/>
        <p:cNvGrpSpPr/>
        <p:nvPr/>
      </p:nvGrpSpPr>
      <p:grpSpPr>
        <a:xfrm>
          <a:off x="0" y="0"/>
          <a:ext cx="0" cy="0"/>
          <a:chOff x="0" y="0"/>
          <a:chExt cx="0" cy="0"/>
        </a:xfrm>
      </p:grpSpPr>
      <p:pic>
        <p:nvPicPr>
          <p:cNvPr id="14" name="Picture 6" descr=""/>
          <p:cNvPicPr/>
          <p:nvPr/>
        </p:nvPicPr>
        <p:blipFill>
          <a:blip r:embed="rId3"/>
          <a:stretch/>
        </p:blipFill>
        <p:spPr>
          <a:xfrm>
            <a:off x="461880" y="4924440"/>
            <a:ext cx="747720" cy="620640"/>
          </a:xfrm>
          <a:prstGeom prst="rect">
            <a:avLst/>
          </a:prstGeom>
          <a:ln w="0">
            <a:noFill/>
          </a:ln>
        </p:spPr>
      </p:pic>
      <p:sp>
        <p:nvSpPr>
          <p:cNvPr id="15" name="MSIPCMContentMarking"/>
          <p:cNvSpPr/>
          <p:nvPr/>
        </p:nvSpPr>
        <p:spPr>
          <a:xfrm>
            <a:off x="0" y="6526440"/>
            <a:ext cx="1141560" cy="366120"/>
          </a:xfrm>
          <a:prstGeom prst="rect">
            <a:avLst/>
          </a:prstGeom>
          <a:noFill/>
          <a:ln w="0">
            <a:noFill/>
          </a:ln>
        </p:spPr>
        <p:style>
          <a:lnRef idx="0"/>
          <a:fillRef idx="0"/>
          <a:effectRef idx="0"/>
          <a:fontRef idx="minor"/>
        </p:style>
        <p:txBody>
          <a:bodyPr lIns="0" rIns="0" tIns="0" bIns="0" anchor="ctr" anchorCtr="1">
            <a:spAutoFit/>
          </a:bodyPr>
          <a:p>
            <a:pPr>
              <a:lnSpc>
                <a:spcPct val="100000"/>
              </a:lnSpc>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200" spc="-1" strike="noStrike">
                <a:solidFill>
                  <a:srgbClr val="000000"/>
                </a:solidFill>
                <a:latin typeface="Calibri"/>
              </a:rPr>
              <a:t>Sensitivity: Internal</a:t>
            </a:r>
            <a:endParaRPr b="0" lang="en-US" sz="1200" spc="-1" strike="noStrike">
              <a:solidFill>
                <a:srgbClr val="000000"/>
              </a:solidFill>
              <a:latin typeface="Arial"/>
            </a:endParaRPr>
          </a:p>
        </p:txBody>
      </p:sp>
      <p:sp>
        <p:nvSpPr>
          <p:cNvPr id="16" name="PlaceHolder 1"/>
          <p:cNvSpPr>
            <a:spLocks noGrp="1"/>
          </p:cNvSpPr>
          <p:nvPr>
            <p:ph type="dt" idx="1"/>
          </p:nvPr>
        </p:nvSpPr>
        <p:spPr>
          <a:xfrm>
            <a:off x="456840" y="6244920"/>
            <a:ext cx="2133720" cy="476280"/>
          </a:xfrm>
          <a:prstGeom prst="rect">
            <a:avLst/>
          </a:prstGeom>
          <a:noFill/>
          <a:ln w="0">
            <a:noFill/>
          </a:ln>
        </p:spPr>
        <p:txBody>
          <a:bodyPr lIns="90000" rIns="90000" tIns="46800" bIns="46800" anchor="t">
            <a:noAutofit/>
          </a:bodyPr>
          <a:p>
            <a:pPr indent="0">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sp>
        <p:nvSpPr>
          <p:cNvPr id="17" name="PlaceHolder 2"/>
          <p:cNvSpPr>
            <a:spLocks noGrp="1"/>
          </p:cNvSpPr>
          <p:nvPr>
            <p:ph type="ftr" idx="2"/>
          </p:nvPr>
        </p:nvSpPr>
        <p:spPr>
          <a:xfrm>
            <a:off x="3124080" y="6244920"/>
            <a:ext cx="2895840" cy="476280"/>
          </a:xfrm>
          <a:prstGeom prst="rect">
            <a:avLst/>
          </a:prstGeom>
          <a:noFill/>
          <a:ln w="0">
            <a:noFill/>
          </a:ln>
        </p:spPr>
        <p:txBody>
          <a:bodyPr lIns="90000" rIns="90000" tIns="46800" bIns="46800" anchor="t">
            <a:noAutofit/>
          </a:bodyPr>
          <a:p>
            <a:pPr indent="0">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sp>
        <p:nvSpPr>
          <p:cNvPr id="18" name="PlaceHolder 3"/>
          <p:cNvSpPr>
            <a:spLocks noGrp="1"/>
          </p:cNvSpPr>
          <p:nvPr>
            <p:ph type="sldNum" idx="3"/>
          </p:nvPr>
        </p:nvSpPr>
        <p:spPr>
          <a:xfrm>
            <a:off x="6552720" y="6244920"/>
            <a:ext cx="2133720" cy="476280"/>
          </a:xfrm>
          <a:prstGeom prst="rect">
            <a:avLst/>
          </a:prstGeom>
          <a:noFill/>
          <a:ln w="0">
            <a:noFill/>
          </a:ln>
        </p:spPr>
        <p:txBody>
          <a:bodyPr lIns="90000" rIns="90000" tIns="46800" bIns="46800" anchor="t">
            <a:noAutofit/>
          </a:bodyPr>
          <a:lstStyle>
            <a:lvl1pPr marL="216000" indent="0">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defRPr b="0" lang="en-US" sz="2400" spc="-1" strike="noStrike">
                <a:solidFill>
                  <a:srgbClr val="000000"/>
                </a:solidFill>
                <a:latin typeface="Times New Roman"/>
              </a:defRPr>
            </a:lvl1pPr>
          </a:lstStyle>
          <a:p>
            <a:pPr marL="216000" indent="0">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fld id="{27933A18-BE79-4019-8FEF-655D6FCE2DA4}" type="slidenum">
              <a:rPr b="0" lang="en-US" sz="2400" spc="-1" strike="noStrike">
                <a:solidFill>
                  <a:srgbClr val="000000"/>
                </a:solidFill>
                <a:latin typeface="Times New Roman"/>
              </a:rPr>
              <a:t>&lt;number&gt;</a:t>
            </a:fld>
            <a:endParaRPr b="0" lang="en-US" sz="2400" spc="-1" strike="noStrike">
              <a:solidFill>
                <a:srgbClr val="000000"/>
              </a:solidFill>
              <a:latin typeface="Times New Roman"/>
            </a:endParaRPr>
          </a:p>
        </p:txBody>
      </p:sp>
      <p:sp>
        <p:nvSpPr>
          <p:cNvPr id="1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228600" indent="-228600">
              <a:lnSpc>
                <a:spcPct val="90000"/>
              </a:lnSpc>
              <a:spcBef>
                <a:spcPts val="1001"/>
              </a:spcBef>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2800" spc="-1" strike="noStrike">
                <a:solidFill>
                  <a:srgbClr val="000000"/>
                </a:solidFill>
                <a:latin typeface="Arial"/>
              </a:rPr>
              <a:t>Click to edit the outline text format</a:t>
            </a:r>
            <a:endParaRPr b="0" lang="en-US" sz="2800" spc="-1" strike="noStrike">
              <a:solidFill>
                <a:srgbClr val="000000"/>
              </a:solidFill>
              <a:latin typeface="Arial"/>
            </a:endParaRPr>
          </a:p>
          <a:p>
            <a:pPr lvl="1" marL="685800" indent="-228600">
              <a:lnSpc>
                <a:spcPct val="90000"/>
              </a:lnSpc>
              <a:spcBef>
                <a:spcPts val="499"/>
              </a:spcBef>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2400" spc="-1" strike="noStrike">
                <a:solidFill>
                  <a:srgbClr val="000000"/>
                </a:solidFill>
                <a:latin typeface="Arial"/>
              </a:rPr>
              <a:t>Second Outline Level</a:t>
            </a:r>
            <a:endParaRPr b="0" lang="en-US" sz="2400" spc="-1" strike="noStrike">
              <a:solidFill>
                <a:srgbClr val="000000"/>
              </a:solidFill>
              <a:latin typeface="Arial"/>
            </a:endParaRPr>
          </a:p>
          <a:p>
            <a:pPr lvl="2" marL="1143000" indent="-228600">
              <a:lnSpc>
                <a:spcPct val="90000"/>
              </a:lnSpc>
              <a:spcBef>
                <a:spcPts val="499"/>
              </a:spcBef>
              <a:buClr>
                <a:srgbClr val="000000"/>
              </a:buClr>
              <a:buFont typeface="Arial"/>
              <a:buChar char="•"/>
              <a:tabLst>
                <a:tab algn="l" pos="1828800"/>
                <a:tab algn="l" pos="2743200"/>
                <a:tab algn="l" pos="3657600"/>
                <a:tab algn="l" pos="4572000"/>
                <a:tab algn="l" pos="5486400"/>
                <a:tab algn="l" pos="6400800"/>
                <a:tab algn="l" pos="7315200"/>
                <a:tab algn="l" pos="8229600"/>
                <a:tab algn="l" pos="9144000"/>
                <a:tab algn="l" pos="10058400"/>
              </a:tabLst>
            </a:pPr>
            <a:r>
              <a:rPr b="0" lang="en-US" sz="2000" spc="-1" strike="noStrike">
                <a:solidFill>
                  <a:srgbClr val="000000"/>
                </a:solidFill>
                <a:latin typeface="Arial"/>
              </a:rPr>
              <a:t>Third Outline Level</a:t>
            </a:r>
            <a:endParaRPr b="0" lang="en-US" sz="2000" spc="-1" strike="noStrike">
              <a:solidFill>
                <a:srgbClr val="000000"/>
              </a:solidFill>
              <a:latin typeface="Arial"/>
            </a:endParaRPr>
          </a:p>
          <a:p>
            <a:pPr lvl="3" marL="1600200" indent="-228600">
              <a:lnSpc>
                <a:spcPct val="90000"/>
              </a:lnSpc>
              <a:spcBef>
                <a:spcPts val="499"/>
              </a:spcBef>
              <a:buClr>
                <a:srgbClr val="000000"/>
              </a:buClr>
              <a:buFont typeface="Arial"/>
              <a:buChar char="•"/>
              <a:tabLst>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057400" indent="-228600">
              <a:lnSpc>
                <a:spcPct val="90000"/>
              </a:lnSpc>
              <a:spcBef>
                <a:spcPts val="499"/>
              </a:spcBef>
              <a:buClr>
                <a:srgbClr val="000000"/>
              </a:buClr>
              <a:buFont typeface="Arial"/>
              <a:buChar char="•"/>
              <a:tabLst>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057400" indent="-228600">
              <a:spcBef>
                <a:spcPts val="451"/>
              </a:spcBef>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2057400" indent="-228600">
              <a:spcBef>
                <a:spcPts val="451"/>
              </a:spcBef>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4"/>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34.png"/><Relationship Id="rId3" Type="http://schemas.openxmlformats.org/officeDocument/2006/relationships/slideLayout" Target="../slideLayouts/slideLayout2.xml"/><Relationship Id="rId4" Type="http://schemas.openxmlformats.org/officeDocument/2006/relationships/notesSlide" Target="../notesSlides/notesSlide6.xml"/><Relationship Id="rId5"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6" Type="http://schemas.openxmlformats.org/officeDocument/2006/relationships/slideLayout" Target="../slideLayouts/slideLayout2.xml"/><Relationship Id="rId7" Type="http://schemas.openxmlformats.org/officeDocument/2006/relationships/notesSlide" Target="../notesSlides/notesSlide7.xml"/><Relationship Id="rId8" Type="http://schemas.openxmlformats.org/officeDocument/2006/relationships/image" Target="../media/image35.png"/></Relationships>
</file>

<file path=ppt/slides/_rels/slide8.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hyperlink" Target="https://en.wikipedia.org/wiki/Geometric_series" TargetMode="External"/><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3.jpeg"/><Relationship Id="rId2" Type="http://schemas.openxmlformats.org/officeDocument/2006/relationships/image" Target="../media/image24.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3.jpeg"/><Relationship Id="rId2" Type="http://schemas.openxmlformats.org/officeDocument/2006/relationships/image" Target="../media/image25.jpeg"/><Relationship Id="rId3"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image" Target="../media/image23.jpeg"/><Relationship Id="rId2"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image" Target="../media/image26.png"/><Relationship Id="rId2"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image" Target="../media/image25.jpeg"/><Relationship Id="rId2" Type="http://schemas.openxmlformats.org/officeDocument/2006/relationships/image" Target="../media/image23.jpe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30.png"/><Relationship Id="rId2" Type="http://schemas.openxmlformats.org/officeDocument/2006/relationships/image" Target="../media/image31.png"/><Relationship Id="rId3" Type="http://schemas.openxmlformats.org/officeDocument/2006/relationships/hyperlink" Target="https://ctsallis.github.io/frontiers_in_ai_and_data_science/" TargetMode="External"/><Relationship Id="rId4" Type="http://schemas.openxmlformats.org/officeDocument/2006/relationships/slideLayout" Target="../slideLayouts/slideLayout2.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hyperlink" Target="http://incompleteideas.net/book/the-book-2nd.html" TargetMode="External"/><Relationship Id="rId2"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PlaceHolder 1"/>
          <p:cNvSpPr>
            <a:spLocks noGrp="1"/>
          </p:cNvSpPr>
          <p:nvPr>
            <p:ph type="title"/>
          </p:nvPr>
        </p:nvSpPr>
        <p:spPr>
          <a:xfrm>
            <a:off x="1676520" y="4748040"/>
            <a:ext cx="6711840" cy="819360"/>
          </a:xfrm>
          <a:prstGeom prst="rect">
            <a:avLst/>
          </a:prstGeom>
          <a:noFill/>
          <a:ln w="0">
            <a:noFill/>
          </a:ln>
        </p:spPr>
        <p:txBody>
          <a:bodyPr lIns="90000" rIns="90000" tIns="46800" bIns="46800" anchor="t">
            <a:noAutofit/>
          </a:bodyPr>
          <a:p>
            <a:pPr indent="0" algn="ctr">
              <a:lnSpc>
                <a:spcPct val="10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1" lang="en-US" sz="2800" spc="-1" strike="noStrike">
                <a:solidFill>
                  <a:srgbClr val="ff0000"/>
                </a:solidFill>
                <a:latin typeface="Arial"/>
                <a:ea typeface="ＭＳ Ｐゴシック"/>
              </a:rPr>
              <a:t>Reinforcement Learning</a:t>
            </a:r>
            <a:br>
              <a:rPr sz="2800"/>
            </a:br>
            <a:br>
              <a:rPr sz="3200"/>
            </a:br>
            <a:br>
              <a:rPr sz="3200"/>
            </a:br>
            <a:endParaRPr b="0" lang="en-US" sz="2800" spc="-1" strike="noStrike">
              <a:solidFill>
                <a:srgbClr val="000000"/>
              </a:solidFill>
              <a:latin typeface="Arial"/>
            </a:endParaRPr>
          </a:p>
        </p:txBody>
      </p:sp>
      <p:sp>
        <p:nvSpPr>
          <p:cNvPr id="29" name="Rectangle 4"/>
          <p:cNvSpPr/>
          <p:nvPr/>
        </p:nvSpPr>
        <p:spPr>
          <a:xfrm>
            <a:off x="1676520" y="228600"/>
            <a:ext cx="7086600" cy="45972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400" spc="-1" strike="noStrike">
                <a:solidFill>
                  <a:srgbClr val="0070c0"/>
                </a:solidFill>
                <a:latin typeface="Arial"/>
              </a:rPr>
              <a:t>Module 6CM521: </a:t>
            </a:r>
            <a:r>
              <a:rPr b="0" lang="en-US" sz="2400" spc="-1" strike="noStrike">
                <a:solidFill>
                  <a:srgbClr val="0070c0"/>
                </a:solidFill>
                <a:latin typeface="Arial"/>
              </a:rPr>
              <a:t>Frontiers in AI and Data Science </a:t>
            </a:r>
            <a:endParaRPr b="0" lang="en-US" sz="2400" spc="-1" strike="noStrike">
              <a:solidFill>
                <a:srgbClr val="000000"/>
              </a:solidFill>
              <a:latin typeface="Arial"/>
            </a:endParaRPr>
          </a:p>
        </p:txBody>
      </p:sp>
      <p:sp>
        <p:nvSpPr>
          <p:cNvPr id="30" name="TextBox 1"/>
          <p:cNvSpPr/>
          <p:nvPr/>
        </p:nvSpPr>
        <p:spPr>
          <a:xfrm>
            <a:off x="6477120" y="6143760"/>
            <a:ext cx="3047760" cy="58140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262626"/>
                </a:solidFill>
                <a:latin typeface="Arial"/>
              </a:rPr>
              <a:t>Slides acknowledgements:</a:t>
            </a: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262626"/>
                </a:solidFill>
                <a:latin typeface="Arial"/>
              </a:rPr>
              <a:t>Dr </a:t>
            </a:r>
            <a:r>
              <a:rPr b="0" lang="en-GB" sz="1600" spc="-1" strike="noStrike">
                <a:solidFill>
                  <a:srgbClr val="000000"/>
                </a:solidFill>
                <a:latin typeface="Arial"/>
              </a:rPr>
              <a:t>Hong Qing Yu </a:t>
            </a:r>
            <a:endParaRPr b="0" lang="en-US" sz="1600" spc="-1" strike="noStrike">
              <a:solidFill>
                <a:srgbClr val="000000"/>
              </a:solidFill>
              <a:latin typeface="Arial"/>
            </a:endParaRPr>
          </a:p>
        </p:txBody>
      </p:sp>
      <p:sp>
        <p:nvSpPr>
          <p:cNvPr id="31" name="TextBox 2"/>
          <p:cNvSpPr/>
          <p:nvPr/>
        </p:nvSpPr>
        <p:spPr>
          <a:xfrm>
            <a:off x="2743200" y="5450040"/>
            <a:ext cx="4495680" cy="398880"/>
          </a:xfrm>
          <a:prstGeom prst="rect">
            <a:avLst/>
          </a:prstGeom>
          <a:noFill/>
          <a:ln w="0">
            <a:noFill/>
          </a:ln>
        </p:spPr>
        <p:style>
          <a:lnRef idx="0"/>
          <a:fillRef idx="0"/>
          <a:effectRef idx="0"/>
          <a:fontRef idx="minor"/>
        </p:style>
        <p:txBody>
          <a:bodyPr lIns="90000" rIns="90000" tIns="46800" bIns="46800" anchor="t">
            <a:spAutoFit/>
          </a:bodyPr>
          <a:p>
            <a:pPr algn="ct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2000" spc="-1" strike="noStrike">
                <a:solidFill>
                  <a:srgbClr val="1f4e79"/>
                </a:solidFill>
                <a:latin typeface="Arial"/>
              </a:rPr>
              <a:t>Ioannis Tsioulis (MC)</a:t>
            </a:r>
            <a:endParaRPr b="0" lang="en-US" sz="2000" spc="-1" strike="noStrike">
              <a:solidFill>
                <a:srgbClr val="000000"/>
              </a:solidFill>
              <a:latin typeface="Arial"/>
            </a:endParaRPr>
          </a:p>
        </p:txBody>
      </p:sp>
      <p:pic>
        <p:nvPicPr>
          <p:cNvPr id="32" name="Picture 5" descr="mousemaze"/>
          <p:cNvPicPr/>
          <p:nvPr/>
        </p:nvPicPr>
        <p:blipFill>
          <a:blip r:embed="rId1"/>
          <a:stretch/>
        </p:blipFill>
        <p:spPr>
          <a:xfrm>
            <a:off x="3276720" y="1266840"/>
            <a:ext cx="3449520" cy="3451320"/>
          </a:xfrm>
          <a:prstGeom prst="rect">
            <a:avLst/>
          </a:prstGeom>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Box 5"/>
          <p:cNvSpPr/>
          <p:nvPr/>
        </p:nvSpPr>
        <p:spPr>
          <a:xfrm>
            <a:off x="1619280" y="692280"/>
            <a:ext cx="7056360" cy="171000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800" spc="-1" strike="noStrike">
                <a:solidFill>
                  <a:srgbClr val="ff0000"/>
                </a:solidFill>
                <a:latin typeface="Arial"/>
              </a:rPr>
              <a:t>Acknowledgement</a:t>
            </a:r>
            <a:endParaRPr b="0" lang="en-US" sz="2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Most of the slides are adapted from the lecture slides of Dr Hong Qing Yu (Harry).</a:t>
            </a:r>
            <a:endParaRPr b="0" lang="en-US" sz="20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sz="1600"/>
              <a:t>Slides 3–7 and 28 are based on Max Welling's reinforcement learning lecture slides; slides 8–26 are based on deeplizard's course “Reinforcement Learning – Goal Oriented Intelligence” (deeplizard.com).</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 name="PlaceHolder 1"/>
          <p:cNvSpPr>
            <a:spLocks noGrp="1"/>
          </p:cNvSpPr>
          <p:nvPr>
            <p:ph type="title"/>
          </p:nvPr>
        </p:nvSpPr>
        <p:spPr>
          <a:xfrm>
            <a:off x="1447920" y="231480"/>
            <a:ext cx="756576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Overview</a:t>
            </a:r>
            <a:endParaRPr b="0" lang="en-US" sz="4400" spc="-1" strike="noStrike">
              <a:solidFill>
                <a:srgbClr val="000000"/>
              </a:solidFill>
              <a:latin typeface="Arial"/>
            </a:endParaRPr>
          </a:p>
        </p:txBody>
      </p:sp>
      <p:sp>
        <p:nvSpPr>
          <p:cNvPr id="35" name="Text Box 9"/>
          <p:cNvSpPr/>
          <p:nvPr/>
        </p:nvSpPr>
        <p:spPr>
          <a:xfrm>
            <a:off x="1882800" y="1081080"/>
            <a:ext cx="7130880" cy="527796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Supervised Learning: Immediate feedback (labels provided for every input).</a:t>
            </a: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Unsupervised Learning: No feedback (no labels provided).</a:t>
            </a: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Reinforcement Learning (RL): Delayed scalar feedback (a number called reward).</a:t>
            </a: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RL deals with agents that must sense &amp; act upon their environment. </a:t>
            </a:r>
            <a:endParaRPr b="0" lang="en-US" sz="17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This combines classical AI and machine learning techniques.</a:t>
            </a:r>
            <a:endParaRPr b="0" lang="en-US" sz="17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It is the most comprehensive problem setting.</a:t>
            </a:r>
            <a:endParaRPr b="0" lang="en-US" sz="17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7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rPr>
              <a:t> </a:t>
            </a:r>
            <a:r>
              <a:rPr b="0" lang="en-US" sz="1700" spc="-1" strike="noStrike">
                <a:solidFill>
                  <a:srgbClr val="000000"/>
                </a:solidFill>
                <a:latin typeface="Arial"/>
              </a:rPr>
              <a:t>Examples:</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A robot cleaning my room and recharging its battery</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Robot-soccer</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How to invest in shares</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Modeling the economy through rational agents</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Learning how to fly a helicopter</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Scheduling planes to their destinations</a:t>
            </a:r>
            <a:endParaRPr b="0" lang="en-US" sz="1700" spc="-1" strike="noStrike">
              <a:solidFill>
                <a:srgbClr val="000000"/>
              </a:solidFill>
              <a:latin typeface="Arial"/>
            </a:endParaRPr>
          </a:p>
          <a:p>
            <a:pPr lvl="1" marL="45720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700" spc="-1" strike="noStrike">
                <a:solidFill>
                  <a:srgbClr val="000000"/>
                </a:solidFill>
                <a:latin typeface="Arial"/>
                <a:ea typeface="ＭＳ Ｐゴシック"/>
              </a:rPr>
              <a:t> </a:t>
            </a:r>
            <a:r>
              <a:rPr b="0" lang="en-US" sz="1700" spc="-1" strike="noStrike">
                <a:solidFill>
                  <a:srgbClr val="000000"/>
                </a:solidFill>
                <a:latin typeface="Arial"/>
                <a:ea typeface="ＭＳ Ｐゴシック"/>
              </a:rPr>
              <a:t>and so on</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1490760" y="252000"/>
            <a:ext cx="8229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Complications</a:t>
            </a:r>
            <a:endParaRPr b="0" lang="en-US" sz="4400" spc="-1" strike="noStrike">
              <a:solidFill>
                <a:srgbClr val="000000"/>
              </a:solidFill>
              <a:latin typeface="Arial"/>
            </a:endParaRPr>
          </a:p>
        </p:txBody>
      </p:sp>
      <p:sp>
        <p:nvSpPr>
          <p:cNvPr id="37" name="Text Box 4"/>
          <p:cNvSpPr/>
          <p:nvPr/>
        </p:nvSpPr>
        <p:spPr>
          <a:xfrm>
            <a:off x="1698480" y="1295280"/>
            <a:ext cx="7205760" cy="475740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The outcome of your actions may be uncertain</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You may not be able to perfectly sense the state of the world</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The reward may be stochastic. </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Reward is delayed (e.g. finding food in a maze)</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You may have no clue (model) about how the world responds to your actions.</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You may have no clue (model) of how rewards are being paid off.</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The world may change while you try to learn it </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How much time do you need to explore uncharted territory before you exploit what you have learned?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PlaceHolder 1"/>
          <p:cNvSpPr>
            <a:spLocks noGrp="1"/>
          </p:cNvSpPr>
          <p:nvPr>
            <p:ph type="title"/>
          </p:nvPr>
        </p:nvSpPr>
        <p:spPr>
          <a:xfrm>
            <a:off x="1484280" y="161640"/>
            <a:ext cx="8229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The Big Picture</a:t>
            </a:r>
            <a:endParaRPr b="0" lang="en-US" sz="4400" spc="-1" strike="noStrike">
              <a:solidFill>
                <a:srgbClr val="000000"/>
              </a:solidFill>
              <a:latin typeface="Arial"/>
            </a:endParaRPr>
          </a:p>
        </p:txBody>
      </p:sp>
      <p:sp>
        <p:nvSpPr>
          <p:cNvPr id="39" name="Text Box 15"/>
          <p:cNvSpPr/>
          <p:nvPr/>
        </p:nvSpPr>
        <p:spPr>
          <a:xfrm>
            <a:off x="1632240" y="5734080"/>
            <a:ext cx="751104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Your action influences the state of the world which determines its reward</a:t>
            </a:r>
            <a:endParaRPr b="0" lang="en-US" sz="1800" spc="-1" strike="noStrike">
              <a:solidFill>
                <a:srgbClr val="000000"/>
              </a:solidFill>
              <a:latin typeface="Arial"/>
            </a:endParaRPr>
          </a:p>
        </p:txBody>
      </p:sp>
      <p:pic>
        <p:nvPicPr>
          <p:cNvPr id="40" name="Picture 15" descr=""/>
          <p:cNvPicPr/>
          <p:nvPr/>
        </p:nvPicPr>
        <p:blipFill>
          <a:blip r:embed="rId1"/>
          <a:stretch/>
        </p:blipFill>
        <p:spPr>
          <a:xfrm>
            <a:off x="1722600" y="2205000"/>
            <a:ext cx="4457520" cy="3270240"/>
          </a:xfrm>
          <a:prstGeom prst="rect">
            <a:avLst/>
          </a:prstGeom>
          <a:ln w="0">
            <a:noFill/>
          </a:ln>
        </p:spPr>
      </p:pic>
      <p:cxnSp>
        <p:nvCxnSpPr>
          <p:cNvPr id="41" name="Straight Arrow Connector 2"/>
          <p:cNvCxnSpPr/>
          <p:nvPr/>
        </p:nvCxnSpPr>
        <p:spPr>
          <a:xfrm>
            <a:off x="5388120" y="3004920"/>
            <a:ext cx="1862640" cy="1080"/>
          </a:xfrm>
          <a:prstGeom prst="straightConnector1">
            <a:avLst/>
          </a:prstGeom>
          <a:ln w="6480">
            <a:solidFill>
              <a:srgbClr val="4472c4"/>
            </a:solidFill>
            <a:miter/>
            <a:tailEnd len="med" type="arrow" w="med"/>
          </a:ln>
        </p:spPr>
      </p:cxnSp>
      <p:sp>
        <p:nvSpPr>
          <p:cNvPr id="42" name="Snip Diagonal Corner Rectangle 3"/>
          <p:cNvSpPr/>
          <p:nvPr/>
        </p:nvSpPr>
        <p:spPr>
          <a:xfrm>
            <a:off x="7250040" y="2541600"/>
            <a:ext cx="1425600" cy="925560"/>
          </a:xfrm>
          <a:prstGeom prst="snip2DiagRect">
            <a:avLst/>
          </a:prstGeom>
          <a:solidFill>
            <a:srgbClr val="4472c4"/>
          </a:solidFill>
          <a:ln w="12600">
            <a:solidFill>
              <a:srgbClr val="2f528f"/>
            </a:solidFill>
            <a:miter/>
          </a:ln>
        </p:spPr>
        <p:style>
          <a:lnRef idx="0"/>
          <a:fillRef idx="0"/>
          <a:effectRef idx="0"/>
          <a:fontRef idx="minor"/>
        </p:style>
        <p:txBody>
          <a:bodyPr lIns="90000" rIns="90000" tIns="46800" bIns="46800" anchor="ctr">
            <a:noAutofit/>
          </a:bodyPr>
          <a:p>
            <a:pPr algn="ct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ffffff"/>
                </a:solidFill>
                <a:latin typeface="Arial"/>
              </a:rPr>
              <a:t>Policy</a:t>
            </a:r>
            <a:endParaRPr b="0" lang="en-US" sz="1800" spc="-1" strike="noStrike">
              <a:solidFill>
                <a:srgbClr val="000000"/>
              </a:solidFill>
              <a:latin typeface="Arial"/>
            </a:endParaRPr>
          </a:p>
        </p:txBody>
      </p:sp>
      <p:sp>
        <p:nvSpPr>
          <p:cNvPr id="43" name="Flowchart: Sequential Access Storage 4"/>
          <p:cNvSpPr/>
          <p:nvPr/>
        </p:nvSpPr>
        <p:spPr>
          <a:xfrm>
            <a:off x="7250040" y="1523880"/>
            <a:ext cx="1143000" cy="1017720"/>
          </a:xfrm>
          <a:prstGeom prst="flowChartMagneticTape">
            <a:avLst/>
          </a:prstGeom>
          <a:solidFill>
            <a:srgbClr val="4472c4"/>
          </a:solidFill>
          <a:ln w="12600">
            <a:solidFill>
              <a:srgbClr val="2f528f"/>
            </a:solidFill>
            <a:miter/>
          </a:ln>
        </p:spPr>
        <p:style>
          <a:lnRef idx="0"/>
          <a:fillRef idx="0"/>
          <a:effectRef idx="0"/>
          <a:fontRef idx="minor"/>
        </p:style>
        <p:txBody>
          <a:bodyPr lIns="90000" rIns="90000" tIns="46800" bIns="46800" anchor="ctr">
            <a:noAutofit/>
          </a:bodyPr>
          <a:p>
            <a:pPr algn="ct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ffffff"/>
                </a:solidFill>
                <a:latin typeface="Arial"/>
              </a:rPr>
              <a:t>e.g. Q-table</a:t>
            </a:r>
            <a:endParaRPr b="0" lang="en-US" sz="1800" spc="-1" strike="noStrike">
              <a:solidFill>
                <a:srgbClr val="000000"/>
              </a:solidFill>
              <a:latin typeface="Arial"/>
            </a:endParaRPr>
          </a:p>
        </p:txBody>
      </p:sp>
      <p:sp>
        <p:nvSpPr>
          <p:cNvPr id="44" name="TextBox 7"/>
          <p:cNvSpPr/>
          <p:nvPr/>
        </p:nvSpPr>
        <p:spPr>
          <a:xfrm>
            <a:off x="5398560" y="3005280"/>
            <a:ext cx="193320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Learning process</a:t>
            </a:r>
            <a:endParaRPr b="0" lang="en-US" sz="1800" spc="-1" strike="noStrike">
              <a:solidFill>
                <a:srgbClr val="000000"/>
              </a:solidFill>
              <a:latin typeface="Arial"/>
            </a:endParaRPr>
          </a:p>
        </p:txBody>
      </p:sp>
      <p:cxnSp>
        <p:nvCxnSpPr>
          <p:cNvPr id="45" name="Elbow Connector 10"/>
          <p:cNvCxnSpPr>
            <a:stCxn id="43" idx="0"/>
            <a:endCxn id="40" idx="0"/>
          </p:cNvCxnSpPr>
          <p:nvPr/>
        </p:nvCxnSpPr>
        <p:spPr>
          <a:xfrm rot="5400000">
            <a:off x="5545080" y="-70920"/>
            <a:ext cx="681840" cy="3871080"/>
          </a:xfrm>
          <a:prstGeom prst="bentConnector3">
            <a:avLst>
              <a:gd name="adj1" fmla="val -33544"/>
            </a:avLst>
          </a:prstGeom>
          <a:ln w="6480">
            <a:solidFill>
              <a:srgbClr val="4472c4"/>
            </a:solidFill>
            <a:miter/>
            <a:tailEnd len="med" type="arrow" w="med"/>
          </a:ln>
        </p:spPr>
      </p:cxnSp>
      <p:sp>
        <p:nvSpPr>
          <p:cNvPr id="46" name="TextBox 11"/>
          <p:cNvSpPr/>
          <p:nvPr/>
        </p:nvSpPr>
        <p:spPr>
          <a:xfrm>
            <a:off x="5082480" y="1295280"/>
            <a:ext cx="183132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Guiding process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 name="PlaceHolder 1"/>
          <p:cNvSpPr>
            <a:spLocks noGrp="1"/>
          </p:cNvSpPr>
          <p:nvPr>
            <p:ph type="title"/>
          </p:nvPr>
        </p:nvSpPr>
        <p:spPr>
          <a:xfrm>
            <a:off x="1487520" y="274320"/>
            <a:ext cx="8229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The Task</a:t>
            </a:r>
            <a:endParaRPr b="0" lang="en-US" sz="4400" spc="-1" strike="noStrike">
              <a:solidFill>
                <a:srgbClr val="000000"/>
              </a:solidFill>
              <a:latin typeface="Arial"/>
            </a:endParaRPr>
          </a:p>
        </p:txBody>
      </p:sp>
      <p:sp>
        <p:nvSpPr>
          <p:cNvPr id="48" name="Text Box 5"/>
          <p:cNvSpPr/>
          <p:nvPr/>
        </p:nvSpPr>
        <p:spPr>
          <a:xfrm>
            <a:off x="1611360" y="1198440"/>
            <a:ext cx="7332480" cy="228852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To learn an optimal </a:t>
            </a:r>
            <a:r>
              <a:rPr b="0" i="1" lang="en-US" sz="1800" spc="-1" strike="noStrike">
                <a:solidFill>
                  <a:srgbClr val="ff0000"/>
                </a:solidFill>
                <a:latin typeface="Arial"/>
              </a:rPr>
              <a:t>policy</a:t>
            </a:r>
            <a:r>
              <a:rPr b="0" lang="en-US" sz="1800" spc="-1" strike="noStrike">
                <a:solidFill>
                  <a:srgbClr val="000000"/>
                </a:solidFill>
                <a:latin typeface="Arial"/>
              </a:rPr>
              <a:t> that maps states of the world to actions of the agent.</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E.g., if this patch of room is dirty, I clean it. If my battery is empty, I recharge it.</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What is it that the agent tries to optimize?</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Answer: the </a:t>
            </a:r>
            <a:r>
              <a:rPr b="0" lang="en-US" sz="1800" spc="-1" strike="noStrike">
                <a:solidFill>
                  <a:srgbClr val="ff0000"/>
                </a:solidFill>
                <a:latin typeface="Arial"/>
              </a:rPr>
              <a:t>total future discounted reward:</a:t>
            </a:r>
            <a:endParaRPr b="0" lang="en-US" sz="1800" spc="-1" strike="noStrike">
              <a:solidFill>
                <a:srgbClr val="000000"/>
              </a:solidFill>
              <a:latin typeface="Arial"/>
            </a:endParaRPr>
          </a:p>
        </p:txBody>
      </p:sp>
      <p:pic>
        <p:nvPicPr>
          <p:cNvPr id="53" name="Object 2 (equation)" descr="s6_Object2.png"/>
          <p:cNvPicPr>
            <a:picLocks noChangeAspect="1"/>
          </p:cNvPicPr>
          <p:nvPr/>
        </p:nvPicPr>
        <p:blipFill>
          <a:blip r:embed="rId5"/>
          <a:stretch>
            <a:fillRect/>
          </a:stretch>
        </p:blipFill>
        <p:spPr>
          <a:xfrm>
            <a:off x="3860640" y="2352600"/>
            <a:ext cx="1387800" cy="341280"/>
          </a:xfrm>
          <a:prstGeom prst="rect">
            <a:avLst/>
          </a:prstGeom>
        </p:spPr>
      </p:pic>
      <p:pic>
        <p:nvPicPr>
          <p:cNvPr id="54" name="Object 3 (equation)" descr="s6_Object3.png"/>
          <p:cNvPicPr>
            <a:picLocks noChangeAspect="1"/>
          </p:cNvPicPr>
          <p:nvPr/>
        </p:nvPicPr>
        <p:blipFill>
          <a:blip r:embed="rId1"/>
          <a:stretch>
            <a:fillRect/>
          </a:stretch>
        </p:blipFill>
        <p:spPr>
          <a:xfrm>
            <a:off x="3187800" y="3772080"/>
            <a:ext cx="3475080" cy="1158840"/>
          </a:xfrm>
          <a:prstGeom prst="rect">
            <a:avLst/>
          </a:prstGeom>
        </p:spPr>
      </p:pic>
      <p:sp>
        <p:nvSpPr>
          <p:cNvPr id="51" name="Text Box 8"/>
          <p:cNvSpPr/>
          <p:nvPr/>
        </p:nvSpPr>
        <p:spPr>
          <a:xfrm>
            <a:off x="1612440" y="5519880"/>
            <a:ext cx="602388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Note: immediate reward is worth more than future reward.</a:t>
            </a:r>
            <a:endParaRPr b="0" lang="en-US" sz="1800" spc="-1" strike="noStrike">
              <a:solidFill>
                <a:srgbClr val="000000"/>
              </a:solidFill>
              <a:latin typeface="Arial"/>
            </a:endParaRPr>
          </a:p>
        </p:txBody>
      </p:sp>
      <p:cxnSp>
        <p:nvCxnSpPr>
          <p:cNvPr id="52" name="Straight Arrow Connector 2"/>
          <p:cNvCxnSpPr/>
          <p:nvPr/>
        </p:nvCxnSpPr>
        <p:spPr>
          <a:xfrm flipH="1">
            <a:off x="4026960" y="1459080"/>
            <a:ext cx="99360" cy="979920"/>
          </a:xfrm>
          <a:prstGeom prst="straightConnector1">
            <a:avLst/>
          </a:prstGeom>
          <a:ln w="6480">
            <a:solidFill>
              <a:srgbClr val="4472c4"/>
            </a:solidFill>
            <a:miter/>
            <a:tailEnd len="med" type="arrow" w="med"/>
          </a:ln>
        </p:spPr>
      </p:cxn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nodeType="clickEffect" fill="hold">
                      <p:stCondLst>
                        <p:cond delay="indefinite"/>
                      </p:stCondLst>
                      <p:childTnLst>
                        <p:par>
                          <p:cTn id="4" nodeType="withEffect" fill="hold">
                            <p:stCondLst>
                              <p:cond delay="0"/>
                            </p:stCondLst>
                            <p:childTnLst>
                              <p:par>
                                <p:cTn id="5" nodeType="clickEffect" fill="hold" presetClass="entr" presetID="1">
                                  <p:stCondLst>
                                    <p:cond delay="0"/>
                                  </p:stCondLst>
                                  <p:childTnLst>
                                    <p:set>
                                      <p:cBhvr>
                                        <p:cTn id="6" dur="1" fill="hold">
                                          <p:stCondLst>
                                            <p:cond delay="0"/>
                                          </p:stCondLst>
                                        </p:cTn>
                                        <p:tgtEl>
                                          <p:spTgt spid="5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PlaceHolder 1"/>
          <p:cNvSpPr>
            <a:spLocks noGrp="1"/>
          </p:cNvSpPr>
          <p:nvPr>
            <p:ph type="title"/>
          </p:nvPr>
        </p:nvSpPr>
        <p:spPr>
          <a:xfrm>
            <a:off x="1535040" y="193320"/>
            <a:ext cx="8229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Value Function</a:t>
            </a:r>
            <a:endParaRPr b="0" lang="en-US" sz="4400" spc="-1" strike="noStrike">
              <a:solidFill>
                <a:srgbClr val="000000"/>
              </a:solidFill>
              <a:latin typeface="Arial"/>
            </a:endParaRPr>
          </a:p>
        </p:txBody>
      </p:sp>
      <p:sp>
        <p:nvSpPr>
          <p:cNvPr id="54" name="Text Box 5"/>
          <p:cNvSpPr/>
          <p:nvPr/>
        </p:nvSpPr>
        <p:spPr>
          <a:xfrm>
            <a:off x="1542960" y="1096920"/>
            <a:ext cx="6980400" cy="201420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Let</a:t>
            </a:r>
            <a:r>
              <a:rPr b="0" lang="ja-JP" sz="1800" spc="-1" strike="noStrike">
                <a:solidFill>
                  <a:srgbClr val="000000"/>
                </a:solidFill>
                <a:latin typeface="Arial"/>
              </a:rPr>
              <a:t>’</a:t>
            </a:r>
            <a:r>
              <a:rPr b="0" lang="en-US" sz="1800" spc="-1" strike="noStrike">
                <a:solidFill>
                  <a:srgbClr val="000000"/>
                </a:solidFill>
                <a:latin typeface="Arial"/>
              </a:rPr>
              <a:t>s say we have access to the optimal value function that computes the total future discounted reward.           </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What would be the optimal policy            ?</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Answer: we choose the action that maximizes:  </a:t>
            </a:r>
            <a:endParaRPr b="0" lang="en-US" sz="1800" spc="-1" strike="noStrike">
              <a:solidFill>
                <a:srgbClr val="000000"/>
              </a:solidFill>
              <a:latin typeface="Arial"/>
            </a:endParaRPr>
          </a:p>
        </p:txBody>
      </p:sp>
      <p:pic>
        <p:nvPicPr>
          <p:cNvPr id="61" name="Object 2 (equation)" descr="s7_Object2.png"/>
          <p:cNvPicPr>
            <a:picLocks noChangeAspect="1"/>
          </p:cNvPicPr>
          <p:nvPr/>
        </p:nvPicPr>
        <p:blipFill>
          <a:blip r:embed="rId8"/>
          <a:stretch>
            <a:fillRect/>
          </a:stretch>
        </p:blipFill>
        <p:spPr>
          <a:xfrm>
            <a:off x="1984320" y="3368520"/>
            <a:ext cx="4554720" cy="738360"/>
          </a:xfrm>
          <a:prstGeom prst="rect">
            <a:avLst/>
          </a:prstGeom>
        </p:spPr>
      </p:pic>
      <p:pic>
        <p:nvPicPr>
          <p:cNvPr id="62" name="Object 3 (equation)" descr="s7_Object3.png"/>
          <p:cNvPicPr>
            <a:picLocks noChangeAspect="1"/>
          </p:cNvPicPr>
          <p:nvPr/>
        </p:nvPicPr>
        <p:blipFill>
          <a:blip r:embed="rId1"/>
          <a:stretch>
            <a:fillRect/>
          </a:stretch>
        </p:blipFill>
        <p:spPr>
          <a:xfrm>
            <a:off x="3625920" y="1631880"/>
            <a:ext cx="641160" cy="351000"/>
          </a:xfrm>
          <a:prstGeom prst="rect">
            <a:avLst/>
          </a:prstGeom>
        </p:spPr>
      </p:pic>
      <p:pic>
        <p:nvPicPr>
          <p:cNvPr id="63" name="Object 4 (equation)" descr="s7_Object4.png"/>
          <p:cNvPicPr>
            <a:picLocks noChangeAspect="1"/>
          </p:cNvPicPr>
          <p:nvPr/>
        </p:nvPicPr>
        <p:blipFill>
          <a:blip r:embed="rId2"/>
          <a:stretch>
            <a:fillRect/>
          </a:stretch>
        </p:blipFill>
        <p:spPr>
          <a:xfrm>
            <a:off x="3595680" y="2303640"/>
            <a:ext cx="704880" cy="384120"/>
          </a:xfrm>
          <a:prstGeom prst="rect">
            <a:avLst/>
          </a:prstGeom>
        </p:spPr>
      </p:pic>
      <p:sp>
        <p:nvSpPr>
          <p:cNvPr id="58" name="Text Box 9"/>
          <p:cNvSpPr/>
          <p:nvPr/>
        </p:nvSpPr>
        <p:spPr>
          <a:xfrm>
            <a:off x="1542960" y="4265640"/>
            <a:ext cx="7318440" cy="173988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We assume that we know what the reward will be if we perform action </a:t>
            </a:r>
            <a:r>
              <a:rPr b="0" lang="ja-JP" sz="1800" spc="-1" strike="noStrike">
                <a:solidFill>
                  <a:srgbClr val="000000"/>
                </a:solidFill>
                <a:latin typeface="Arial"/>
              </a:rPr>
              <a:t>“</a:t>
            </a:r>
            <a:r>
              <a:rPr b="0" lang="en-US" sz="1800" spc="-1" strike="noStrike">
                <a:solidFill>
                  <a:srgbClr val="000000"/>
                </a:solidFill>
                <a:latin typeface="Arial"/>
              </a:rPr>
              <a:t>a</a:t>
            </a:r>
            <a:r>
              <a:rPr b="0" lang="ja-JP" sz="1800" spc="-1" strike="noStrike">
                <a:solidFill>
                  <a:srgbClr val="000000"/>
                </a:solidFill>
                <a:latin typeface="Arial"/>
              </a:rPr>
              <a:t>”</a:t>
            </a:r>
            <a:r>
              <a:rPr b="0" lang="en-US" sz="1800" spc="-1" strike="noStrike">
                <a:solidFill>
                  <a:srgbClr val="000000"/>
                </a:solidFill>
                <a:latin typeface="Arial"/>
              </a:rPr>
              <a:t> in state </a:t>
            </a:r>
            <a:r>
              <a:rPr b="0" lang="ja-JP" sz="1800" spc="-1" strike="noStrike">
                <a:solidFill>
                  <a:srgbClr val="000000"/>
                </a:solidFill>
                <a:latin typeface="Arial"/>
              </a:rPr>
              <a:t>“</a:t>
            </a:r>
            <a:r>
              <a:rPr b="0" lang="en-US" sz="1800" spc="-1" strike="noStrike">
                <a:solidFill>
                  <a:srgbClr val="000000"/>
                </a:solidFill>
                <a:latin typeface="Arial"/>
              </a:rPr>
              <a:t>s</a:t>
            </a:r>
            <a:r>
              <a:rPr b="0" lang="ja-JP" sz="1800" spc="-1" strike="noStrike">
                <a:solidFill>
                  <a:srgbClr val="000000"/>
                </a:solidFill>
                <a:latin typeface="Arial"/>
              </a:rPr>
              <a:t>”</a:t>
            </a:r>
            <a:r>
              <a:rPr b="0" lang="en-US" sz="1800" spc="-1" strike="noStrike">
                <a:solidFill>
                  <a:srgbClr val="000000"/>
                </a:solidFill>
                <a:latin typeface="Arial"/>
              </a:rPr>
              <a:t>:</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We also assume we know what the next state of the world will be if we perform action </a:t>
            </a:r>
            <a:r>
              <a:rPr b="0" lang="ja-JP" sz="1800" spc="-1" strike="noStrike">
                <a:solidFill>
                  <a:srgbClr val="000000"/>
                </a:solidFill>
                <a:latin typeface="Arial"/>
              </a:rPr>
              <a:t>“</a:t>
            </a:r>
            <a:r>
              <a:rPr b="0" lang="en-US" sz="1800" spc="-1" strike="noStrike">
                <a:solidFill>
                  <a:srgbClr val="000000"/>
                </a:solidFill>
                <a:latin typeface="Arial"/>
              </a:rPr>
              <a:t>a</a:t>
            </a:r>
            <a:r>
              <a:rPr b="0" lang="ja-JP" sz="1800" spc="-1" strike="noStrike">
                <a:solidFill>
                  <a:srgbClr val="000000"/>
                </a:solidFill>
                <a:latin typeface="Arial"/>
              </a:rPr>
              <a:t>”</a:t>
            </a:r>
            <a:r>
              <a:rPr b="0" lang="en-US" sz="1800" spc="-1" strike="noStrike">
                <a:solidFill>
                  <a:srgbClr val="000000"/>
                </a:solidFill>
                <a:latin typeface="Arial"/>
              </a:rPr>
              <a:t> in state </a:t>
            </a:r>
            <a:r>
              <a:rPr b="0" lang="ja-JP" sz="1800" spc="-1" strike="noStrike">
                <a:solidFill>
                  <a:srgbClr val="000000"/>
                </a:solidFill>
                <a:latin typeface="Arial"/>
              </a:rPr>
              <a:t>“</a:t>
            </a:r>
            <a:r>
              <a:rPr b="0" lang="en-US" sz="1800" spc="-1" strike="noStrike">
                <a:solidFill>
                  <a:srgbClr val="000000"/>
                </a:solidFill>
                <a:latin typeface="Arial"/>
              </a:rPr>
              <a:t>s</a:t>
            </a:r>
            <a:r>
              <a:rPr b="0" lang="ja-JP" sz="1800" spc="-1" strike="noStrike">
                <a:solidFill>
                  <a:srgbClr val="000000"/>
                </a:solidFill>
                <a:latin typeface="Arial"/>
              </a:rPr>
              <a:t>”</a:t>
            </a:r>
            <a:r>
              <a:rPr b="0" lang="en-US" sz="1800" spc="-1" strike="noStrike">
                <a:solidFill>
                  <a:srgbClr val="000000"/>
                </a:solidFill>
                <a:latin typeface="Arial"/>
              </a:rPr>
              <a:t>:  </a:t>
            </a:r>
            <a:endParaRPr b="0" lang="en-US" sz="1800" spc="-1" strike="noStrike">
              <a:solidFill>
                <a:srgbClr val="000000"/>
              </a:solidFill>
              <a:latin typeface="Arial"/>
            </a:endParaRPr>
          </a:p>
        </p:txBody>
      </p:sp>
      <p:pic>
        <p:nvPicPr>
          <p:cNvPr id="64" name="Object 5 (equation)" descr="s7_Object5.png"/>
          <p:cNvPicPr>
            <a:picLocks noChangeAspect="1"/>
          </p:cNvPicPr>
          <p:nvPr/>
        </p:nvPicPr>
        <p:blipFill>
          <a:blip r:embed="rId3"/>
          <a:stretch>
            <a:fillRect/>
          </a:stretch>
        </p:blipFill>
        <p:spPr>
          <a:xfrm>
            <a:off x="1604880" y="4938840"/>
            <a:ext cx="708120" cy="317520"/>
          </a:xfrm>
          <a:prstGeom prst="rect">
            <a:avLst/>
          </a:prstGeom>
        </p:spPr>
      </p:pic>
      <p:pic>
        <p:nvPicPr>
          <p:cNvPr id="65" name="Object 6 (equation)" descr="s7_Object6.png"/>
          <p:cNvPicPr>
            <a:picLocks noChangeAspect="1"/>
          </p:cNvPicPr>
          <p:nvPr/>
        </p:nvPicPr>
        <p:blipFill>
          <a:blip r:embed="rId4"/>
          <a:stretch>
            <a:fillRect/>
          </a:stretch>
        </p:blipFill>
        <p:spPr>
          <a:xfrm>
            <a:off x="3024360" y="5986440"/>
            <a:ext cx="1422360" cy="355680"/>
          </a:xfrm>
          <a:prstGeom prst="rect">
            <a:avLst/>
          </a:prstGeom>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1557360" y="296640"/>
            <a:ext cx="7456320" cy="11509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1" lang="en-GB" sz="2800" spc="-1" strike="noStrike">
                <a:solidFill>
                  <a:srgbClr val="000000"/>
                </a:solidFill>
                <a:latin typeface="Arial"/>
              </a:rPr>
              <a:t>How do we structure a Reinforcement Learning problem formally? </a:t>
            </a:r>
            <a:br>
              <a:rPr sz="3200"/>
            </a:br>
            <a:br>
              <a:rPr sz="3200"/>
            </a:br>
            <a:endParaRPr b="0" lang="en-US" sz="3200" spc="-1" strike="noStrike">
              <a:solidFill>
                <a:srgbClr val="000000"/>
              </a:solidFill>
              <a:latin typeface="Arial"/>
            </a:endParaRPr>
          </a:p>
        </p:txBody>
      </p:sp>
      <p:sp>
        <p:nvSpPr>
          <p:cNvPr id="62" name="Rectangle 2"/>
          <p:cNvSpPr/>
          <p:nvPr/>
        </p:nvSpPr>
        <p:spPr>
          <a:xfrm>
            <a:off x="1654200" y="1457280"/>
            <a:ext cx="7097760" cy="3142440"/>
          </a:xfrm>
          <a:prstGeom prst="rect">
            <a:avLst/>
          </a:prstGeom>
          <a:noFill/>
          <a:ln w="0">
            <a:noFill/>
          </a:ln>
        </p:spPr>
        <p:style>
          <a:lnRef idx="0"/>
          <a:fillRef idx="0"/>
          <a:effectRef idx="0"/>
          <a:fontRef idx="minor"/>
        </p:style>
        <p:txBody>
          <a:bodyPr lIns="90000" rIns="90000" tIns="46800" bIns="46800" anchor="t">
            <a:spAutoFit/>
          </a:bodyPr>
          <a:p>
            <a:pPr marL="457200" indent="-45720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400" spc="-1" strike="noStrike">
                <a:solidFill>
                  <a:srgbClr val="000000"/>
                </a:solidFill>
                <a:latin typeface="Arial"/>
              </a:rPr>
              <a:t>MDP: Markov Decision Process (MDP) - Structuring A Reinforcement Learning Problem</a:t>
            </a:r>
            <a:endParaRPr b="0" lang="en-US" sz="2400" spc="-1" strike="noStrike">
              <a:solidFill>
                <a:srgbClr val="000000"/>
              </a:solidFill>
              <a:latin typeface="Arial"/>
            </a:endParaRPr>
          </a:p>
          <a:p>
            <a:pPr marL="457200" indent="-45720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2400" spc="-1" strike="noStrike">
              <a:solidFill>
                <a:srgbClr val="000000"/>
              </a:solidFill>
              <a:latin typeface="Arial"/>
            </a:endParaRPr>
          </a:p>
          <a:p>
            <a:pPr marL="457200" indent="-45720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400" spc="-1" strike="noStrike">
                <a:solidFill>
                  <a:srgbClr val="000000"/>
                </a:solidFill>
                <a:latin typeface="Arial"/>
              </a:rPr>
              <a:t>MDP gives us a way to formalize sequential decision making. This formalization is the basis for structuring problems that are solved with reinforcement learning</a:t>
            </a:r>
            <a:r>
              <a:rPr b="0" lang="en-GB" sz="2800" spc="-1" strike="noStrike">
                <a:solidFill>
                  <a:srgbClr val="000000"/>
                </a:solidFill>
                <a:latin typeface="Arial"/>
              </a:rPr>
              <a:t>.</a:t>
            </a:r>
            <a:br>
              <a:rPr sz="2800"/>
            </a:br>
            <a:r>
              <a:rPr b="0" lang="en-GB" sz="2800" spc="-1" strike="noStrike">
                <a:solidFill>
                  <a:srgbClr val="000000"/>
                </a:solidFill>
                <a:latin typeface="Arial"/>
              </a:rPr>
              <a:t> </a:t>
            </a:r>
            <a:endParaRPr b="0" lang="en-US" sz="2800" spc="-1" strike="noStrike">
              <a:solidFill>
                <a:srgbClr val="000000"/>
              </a:solidFill>
              <a:latin typeface="Arial"/>
            </a:endParaRPr>
          </a:p>
        </p:txBody>
      </p:sp>
      <p:pic>
        <p:nvPicPr>
          <p:cNvPr id="63" name="Picture 2" descr=""/>
          <p:cNvPicPr/>
          <p:nvPr/>
        </p:nvPicPr>
        <p:blipFill>
          <a:blip r:embed="rId1"/>
          <a:stretch/>
        </p:blipFill>
        <p:spPr>
          <a:xfrm>
            <a:off x="2754360" y="4473720"/>
            <a:ext cx="5065560" cy="182232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PlaceHolder 1"/>
          <p:cNvSpPr>
            <a:spLocks noGrp="1"/>
          </p:cNvSpPr>
          <p:nvPr>
            <p:ph type="title"/>
          </p:nvPr>
        </p:nvSpPr>
        <p:spPr>
          <a:xfrm>
            <a:off x="1557360" y="274320"/>
            <a:ext cx="7129440" cy="71604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Components Of An MDP</a:t>
            </a:r>
            <a:br>
              <a:rPr sz="4400"/>
            </a:br>
            <a:endParaRPr b="0" lang="en-US" sz="4400" spc="-1" strike="noStrike">
              <a:solidFill>
                <a:srgbClr val="000000"/>
              </a:solidFill>
              <a:latin typeface="Arial"/>
            </a:endParaRPr>
          </a:p>
        </p:txBody>
      </p:sp>
      <p:sp>
        <p:nvSpPr>
          <p:cNvPr id="65" name="Rectangle 2"/>
          <p:cNvSpPr/>
          <p:nvPr/>
        </p:nvSpPr>
        <p:spPr>
          <a:xfrm>
            <a:off x="1752480" y="1166760"/>
            <a:ext cx="6999480" cy="448416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In an MDP, we have a decision maker, called </a:t>
            </a:r>
            <a:r>
              <a:rPr b="1" lang="en-GB" sz="2000" spc="-1" strike="noStrike">
                <a:solidFill>
                  <a:srgbClr val="ed7d31"/>
                </a:solidFill>
                <a:latin typeface="Arial"/>
              </a:rPr>
              <a:t>an </a:t>
            </a:r>
            <a:r>
              <a:rPr b="1" i="1" lang="en-GB" sz="2000" spc="-1" strike="noStrike">
                <a:solidFill>
                  <a:srgbClr val="ed7d31"/>
                </a:solidFill>
                <a:latin typeface="Arial"/>
              </a:rPr>
              <a:t>agent</a:t>
            </a:r>
            <a:r>
              <a:rPr b="0" lang="en-GB" sz="2000" spc="-1" strike="noStrike">
                <a:solidFill>
                  <a:srgbClr val="000000"/>
                </a:solidFill>
                <a:latin typeface="Arial"/>
              </a:rPr>
              <a:t>, that interacts with the </a:t>
            </a:r>
            <a:r>
              <a:rPr b="1" i="1" lang="en-GB" sz="2000" spc="-1" strike="noStrike">
                <a:solidFill>
                  <a:srgbClr val="ed7d31"/>
                </a:solidFill>
                <a:latin typeface="Arial"/>
              </a:rPr>
              <a:t>environment</a:t>
            </a:r>
            <a:r>
              <a:rPr b="0" lang="en-GB" sz="2000" spc="-1" strike="noStrike">
                <a:solidFill>
                  <a:srgbClr val="000000"/>
                </a:solidFill>
                <a:latin typeface="Arial"/>
              </a:rPr>
              <a:t> it's placed in. These interactions occur sequentially </a:t>
            </a:r>
            <a:r>
              <a:rPr b="1" lang="en-GB" sz="2000" spc="-1" strike="noStrike">
                <a:solidFill>
                  <a:srgbClr val="ed7d31"/>
                </a:solidFill>
                <a:latin typeface="Arial"/>
              </a:rPr>
              <a:t>over time</a:t>
            </a:r>
            <a:r>
              <a:rPr b="0" lang="en-GB" sz="2000" spc="-1" strike="noStrike">
                <a:solidFill>
                  <a:srgbClr val="000000"/>
                </a:solidFill>
                <a:latin typeface="Arial"/>
              </a:rPr>
              <a:t>. At each time step, the agent will get some representation of the environment’s </a:t>
            </a:r>
            <a:r>
              <a:rPr b="1" i="1" lang="en-GB" sz="2000" spc="-1" strike="noStrike">
                <a:solidFill>
                  <a:srgbClr val="ed7d31"/>
                </a:solidFill>
                <a:latin typeface="Arial"/>
              </a:rPr>
              <a:t>state</a:t>
            </a:r>
            <a:r>
              <a:rPr b="0" lang="en-GB" sz="2000" spc="-1" strike="noStrike">
                <a:solidFill>
                  <a:srgbClr val="000000"/>
                </a:solidFill>
                <a:latin typeface="Arial"/>
              </a:rPr>
              <a:t>. Given this representation, the agent selects an </a:t>
            </a:r>
            <a:r>
              <a:rPr b="1" i="1" lang="en-GB" sz="2000" spc="-1" strike="noStrike">
                <a:solidFill>
                  <a:srgbClr val="ed7d31"/>
                </a:solidFill>
                <a:latin typeface="Arial"/>
              </a:rPr>
              <a:t>action</a:t>
            </a:r>
            <a:r>
              <a:rPr b="0" lang="en-GB" sz="2000" spc="-1" strike="noStrike">
                <a:solidFill>
                  <a:srgbClr val="000000"/>
                </a:solidFill>
                <a:latin typeface="Arial"/>
              </a:rPr>
              <a:t> to take. The environment is then transitioned into a new state, and the agent is given a </a:t>
            </a:r>
            <a:r>
              <a:rPr b="1" i="1" lang="en-GB" sz="2000" spc="-1" strike="noStrike">
                <a:solidFill>
                  <a:srgbClr val="ed7d31"/>
                </a:solidFill>
                <a:latin typeface="Arial"/>
              </a:rPr>
              <a:t>reward</a:t>
            </a:r>
            <a:r>
              <a:rPr b="0" lang="en-GB" sz="2000" spc="-1" strike="noStrike">
                <a:solidFill>
                  <a:srgbClr val="000000"/>
                </a:solidFill>
                <a:latin typeface="Arial"/>
              </a:rPr>
              <a:t> as a consequence of the previous action.</a:t>
            </a:r>
            <a:endParaRPr b="0" lang="en-US" sz="20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Components of an MDP over time:</a:t>
            </a:r>
            <a:endParaRPr b="0" lang="en-US" sz="2000" spc="-1" strike="noStrike">
              <a:solidFill>
                <a:srgbClr val="000000"/>
              </a:solidFill>
              <a:latin typeface="Arial"/>
            </a:endParaRPr>
          </a:p>
          <a:p>
            <a:pPr lvl="1" marL="743040" indent="-28584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ea typeface="ＭＳ Ｐゴシック"/>
              </a:rPr>
              <a:t>Agent</a:t>
            </a:r>
            <a:endParaRPr b="0" lang="en-US" sz="1800" spc="-1" strike="noStrike">
              <a:solidFill>
                <a:srgbClr val="000000"/>
              </a:solidFill>
              <a:latin typeface="Arial"/>
            </a:endParaRPr>
          </a:p>
          <a:p>
            <a:pPr lvl="1" marL="743040" indent="-28584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ea typeface="ＭＳ Ｐゴシック"/>
              </a:rPr>
              <a:t>Environment</a:t>
            </a:r>
            <a:endParaRPr b="0" lang="en-US" sz="1800" spc="-1" strike="noStrike">
              <a:solidFill>
                <a:srgbClr val="000000"/>
              </a:solidFill>
              <a:latin typeface="Arial"/>
            </a:endParaRPr>
          </a:p>
          <a:p>
            <a:pPr lvl="1" marL="743040" indent="-28584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ea typeface="ＭＳ Ｐゴシック"/>
              </a:rPr>
              <a:t>State</a:t>
            </a:r>
            <a:endParaRPr b="0" lang="en-US" sz="1800" spc="-1" strike="noStrike">
              <a:solidFill>
                <a:srgbClr val="000000"/>
              </a:solidFill>
              <a:latin typeface="Arial"/>
            </a:endParaRPr>
          </a:p>
          <a:p>
            <a:pPr lvl="1" marL="743040" indent="-28584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ea typeface="ＭＳ Ｐゴシック"/>
              </a:rPr>
              <a:t>Action</a:t>
            </a:r>
            <a:endParaRPr b="0" lang="en-US" sz="1800" spc="-1" strike="noStrike">
              <a:solidFill>
                <a:srgbClr val="000000"/>
              </a:solidFill>
              <a:latin typeface="Arial"/>
            </a:endParaRPr>
          </a:p>
          <a:p>
            <a:pPr lvl="1" marL="743040" indent="-285840">
              <a:lnSpc>
                <a:spcPct val="100000"/>
              </a:lnSpc>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ea typeface="ＭＳ Ｐゴシック"/>
              </a:rPr>
              <a:t>Reward</a:t>
            </a:r>
            <a:endParaRPr b="0" lang="en-US" sz="1800" spc="-1" strike="noStrike">
              <a:solidFill>
                <a:srgbClr val="000000"/>
              </a:solidFill>
              <a:latin typeface="Arial"/>
            </a:endParaRPr>
          </a:p>
        </p:txBody>
      </p:sp>
      <p:pic>
        <p:nvPicPr>
          <p:cNvPr id="66" name="Picture 15" descr=""/>
          <p:cNvPicPr/>
          <p:nvPr/>
        </p:nvPicPr>
        <p:blipFill>
          <a:blip r:embed="rId1"/>
          <a:stretch/>
        </p:blipFill>
        <p:spPr>
          <a:xfrm>
            <a:off x="5788080" y="4024440"/>
            <a:ext cx="3355920" cy="246384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title"/>
          </p:nvPr>
        </p:nvSpPr>
        <p:spPr>
          <a:xfrm>
            <a:off x="1599840" y="274680"/>
            <a:ext cx="7086600" cy="706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MDP Notation</a:t>
            </a:r>
            <a:endParaRPr b="0" lang="en-US" sz="4400" spc="-1" strike="noStrike">
              <a:solidFill>
                <a:srgbClr val="000000"/>
              </a:solidFill>
              <a:latin typeface="Arial"/>
            </a:endParaRPr>
          </a:p>
        </p:txBody>
      </p:sp>
      <p:pic>
        <p:nvPicPr>
          <p:cNvPr id="68" name="Picture 2" descr=""/>
          <p:cNvPicPr/>
          <p:nvPr/>
        </p:nvPicPr>
        <p:blipFill>
          <a:blip r:embed="rId1"/>
          <a:stretch/>
        </p:blipFill>
        <p:spPr>
          <a:xfrm>
            <a:off x="1573200" y="1157400"/>
            <a:ext cx="7396200" cy="1236600"/>
          </a:xfrm>
          <a:prstGeom prst="rect">
            <a:avLst/>
          </a:prstGeom>
          <a:ln w="0">
            <a:noFill/>
          </a:ln>
        </p:spPr>
      </p:pic>
      <p:pic>
        <p:nvPicPr>
          <p:cNvPr id="69" name="Picture 3" descr=""/>
          <p:cNvPicPr/>
          <p:nvPr/>
        </p:nvPicPr>
        <p:blipFill>
          <a:blip r:embed="rId2"/>
          <a:stretch/>
        </p:blipFill>
        <p:spPr>
          <a:xfrm>
            <a:off x="1587600" y="2646360"/>
            <a:ext cx="7464240" cy="2813040"/>
          </a:xfrm>
          <a:prstGeom prst="rect">
            <a:avLst/>
          </a:prstGeom>
          <a:ln w="0">
            <a:noFill/>
          </a:ln>
        </p:spPr>
      </p:pic>
      <p:pic>
        <p:nvPicPr>
          <p:cNvPr id="70" name="Picture 5" descr=""/>
          <p:cNvPicPr/>
          <p:nvPr/>
        </p:nvPicPr>
        <p:blipFill>
          <a:blip r:embed="rId3"/>
          <a:stretch/>
        </p:blipFill>
        <p:spPr>
          <a:xfrm>
            <a:off x="3225960" y="5796000"/>
            <a:ext cx="4330440" cy="60948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title"/>
          </p:nvPr>
        </p:nvSpPr>
        <p:spPr>
          <a:xfrm>
            <a:off x="1627200" y="274320"/>
            <a:ext cx="7059600" cy="733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Transition Probabilities</a:t>
            </a:r>
            <a:endParaRPr b="0" lang="en-US" sz="4400" spc="-1" strike="noStrike">
              <a:solidFill>
                <a:srgbClr val="000000"/>
              </a:solidFill>
              <a:latin typeface="Arial"/>
            </a:endParaRPr>
          </a:p>
        </p:txBody>
      </p:sp>
      <p:pic>
        <p:nvPicPr>
          <p:cNvPr id="72" name="Picture 2" descr=""/>
          <p:cNvPicPr/>
          <p:nvPr/>
        </p:nvPicPr>
        <p:blipFill>
          <a:blip r:embed="rId1"/>
          <a:stretch/>
        </p:blipFill>
        <p:spPr>
          <a:xfrm>
            <a:off x="1604880" y="1300320"/>
            <a:ext cx="7483680" cy="383688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1587600" y="274320"/>
            <a:ext cx="70992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Expected Return - What Drives A Reinforcement Learning Agent In An MDP</a:t>
            </a:r>
            <a:br>
              <a:rPr sz="4400"/>
            </a:br>
            <a:br>
              <a:rPr sz="4400"/>
            </a:br>
            <a:endParaRPr b="0" lang="en-US" sz="4400" spc="-1" strike="noStrike">
              <a:solidFill>
                <a:srgbClr val="000000"/>
              </a:solidFill>
              <a:latin typeface="Arial"/>
            </a:endParaRPr>
          </a:p>
        </p:txBody>
      </p:sp>
      <p:sp>
        <p:nvSpPr>
          <p:cNvPr id="74" name="Rectangle 2"/>
          <p:cNvSpPr/>
          <p:nvPr/>
        </p:nvSpPr>
        <p:spPr>
          <a:xfrm>
            <a:off x="1654200" y="2330280"/>
            <a:ext cx="7354800" cy="201420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As we stated, the goal of an agent in an MDP is to maximize its cumulative rewards, so we need a way to aggregate and formalize these cumulative rewards. For this, we introduce the concept of the </a:t>
            </a:r>
            <a:r>
              <a:rPr b="0" i="1" lang="en-GB" sz="1800" spc="-1" strike="noStrike">
                <a:solidFill>
                  <a:srgbClr val="000000"/>
                </a:solidFill>
                <a:latin typeface="Arial"/>
              </a:rPr>
              <a:t>expected return</a:t>
            </a:r>
            <a:r>
              <a:rPr b="0" lang="en-GB" sz="1800" spc="-1" strike="noStrike">
                <a:solidFill>
                  <a:srgbClr val="000000"/>
                </a:solidFill>
                <a:latin typeface="Arial"/>
              </a:rPr>
              <a:t> of the rewards at a given time step.</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For now, we can think of the return simply as the sum of future rewards. Mathematically, we define the return </a:t>
            </a:r>
            <a:r>
              <a:rPr b="1" i="1" lang="en-GB" sz="1800" spc="-1" strike="noStrike">
                <a:solidFill>
                  <a:srgbClr val="000000"/>
                </a:solidFill>
                <a:latin typeface="Arial"/>
              </a:rPr>
              <a:t>G</a:t>
            </a:r>
            <a:r>
              <a:rPr b="0" lang="en-GB" sz="1800" spc="-1" strike="noStrike">
                <a:solidFill>
                  <a:srgbClr val="000000"/>
                </a:solidFill>
                <a:latin typeface="Arial"/>
              </a:rPr>
              <a:t> at time </a:t>
            </a:r>
            <a:r>
              <a:rPr b="1" i="1" lang="en-GB" sz="1800" spc="-1" strike="noStrike">
                <a:solidFill>
                  <a:srgbClr val="000000"/>
                </a:solidFill>
                <a:latin typeface="Arial"/>
              </a:rPr>
              <a:t>t</a:t>
            </a:r>
            <a:r>
              <a:rPr b="0" lang="en-GB" sz="1800" spc="-1" strike="noStrike">
                <a:solidFill>
                  <a:srgbClr val="000000"/>
                </a:solidFill>
                <a:latin typeface="Arial"/>
              </a:rPr>
              <a:t> as</a:t>
            </a:r>
            <a:endParaRPr b="0" lang="en-US" sz="1800" spc="-1" strike="noStrike">
              <a:solidFill>
                <a:srgbClr val="000000"/>
              </a:solidFill>
              <a:latin typeface="Arial"/>
            </a:endParaRPr>
          </a:p>
        </p:txBody>
      </p:sp>
      <p:pic>
        <p:nvPicPr>
          <p:cNvPr id="75" name="Picture 2" descr=""/>
          <p:cNvPicPr/>
          <p:nvPr/>
        </p:nvPicPr>
        <p:blipFill>
          <a:blip r:embed="rId1"/>
          <a:stretch/>
        </p:blipFill>
        <p:spPr>
          <a:xfrm>
            <a:off x="1681200" y="4714920"/>
            <a:ext cx="6191280" cy="919080"/>
          </a:xfrm>
          <a:prstGeom prst="rect">
            <a:avLst/>
          </a:prstGeom>
          <a:ln w="0">
            <a:noFill/>
          </a:ln>
        </p:spPr>
      </p:pic>
      <p:sp>
        <p:nvSpPr>
          <p:cNvPr id="76" name="Rectangle 3"/>
          <p:cNvSpPr/>
          <p:nvPr/>
        </p:nvSpPr>
        <p:spPr>
          <a:xfrm>
            <a:off x="1666080" y="5859360"/>
            <a:ext cx="543996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Think about: Episodic Vs. Continuing Tasks (          )</a:t>
            </a:r>
            <a:endParaRPr b="0" lang="en-US" sz="1800" spc="-1" strike="noStrike">
              <a:solidFill>
                <a:srgbClr val="000000"/>
              </a:solidFill>
              <a:latin typeface="Arial"/>
            </a:endParaRPr>
          </a:p>
        </p:txBody>
      </p:sp>
      <p:pic>
        <p:nvPicPr>
          <p:cNvPr id="77" name="Picture 3" descr=""/>
          <p:cNvPicPr/>
          <p:nvPr/>
        </p:nvPicPr>
        <p:blipFill>
          <a:blip r:embed="rId2"/>
          <a:stretch/>
        </p:blipFill>
        <p:spPr>
          <a:xfrm>
            <a:off x="6284880" y="5925960"/>
            <a:ext cx="609480" cy="23832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1587600" y="274680"/>
            <a:ext cx="7099200" cy="760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Discounted Return</a:t>
            </a:r>
            <a:endParaRPr b="0" lang="en-US" sz="4400" spc="-1" strike="noStrike">
              <a:solidFill>
                <a:srgbClr val="000000"/>
              </a:solidFill>
              <a:latin typeface="Arial"/>
            </a:endParaRPr>
          </a:p>
        </p:txBody>
      </p:sp>
      <p:sp>
        <p:nvSpPr>
          <p:cNvPr id="79" name="Rectangle 2"/>
          <p:cNvSpPr/>
          <p:nvPr/>
        </p:nvSpPr>
        <p:spPr>
          <a:xfrm>
            <a:off x="1693800" y="1176480"/>
            <a:ext cx="7074000" cy="146556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To define the discounted return, we first define the discount rate, γ, to be a number between 0 and 1. The discount rate will be the rate for which we discount future rewards and will determine the present value of future rewards. With this, we define the </a:t>
            </a:r>
            <a:r>
              <a:rPr b="0" i="1" lang="en-GB" sz="1800" spc="-1" strike="noStrike">
                <a:solidFill>
                  <a:srgbClr val="000000"/>
                </a:solidFill>
                <a:latin typeface="Arial"/>
              </a:rPr>
              <a:t>discounted return</a:t>
            </a:r>
            <a:r>
              <a:rPr b="0" lang="en-GB" sz="1800" spc="-1" strike="noStrike">
                <a:solidFill>
                  <a:srgbClr val="000000"/>
                </a:solidFill>
                <a:latin typeface="Arial"/>
              </a:rPr>
              <a:t> as</a:t>
            </a:r>
            <a:endParaRPr b="0" lang="en-US" sz="1800" spc="-1" strike="noStrike">
              <a:solidFill>
                <a:srgbClr val="000000"/>
              </a:solidFill>
              <a:latin typeface="Arial"/>
            </a:endParaRPr>
          </a:p>
        </p:txBody>
      </p:sp>
      <p:pic>
        <p:nvPicPr>
          <p:cNvPr id="80" name="Picture 3" descr=""/>
          <p:cNvPicPr/>
          <p:nvPr/>
        </p:nvPicPr>
        <p:blipFill>
          <a:blip r:embed="rId1"/>
          <a:stretch/>
        </p:blipFill>
        <p:spPr>
          <a:xfrm>
            <a:off x="3052800" y="2357280"/>
            <a:ext cx="3630600" cy="1155960"/>
          </a:xfrm>
          <a:prstGeom prst="rect">
            <a:avLst/>
          </a:prstGeom>
          <a:ln w="0">
            <a:noFill/>
          </a:ln>
        </p:spPr>
      </p:pic>
      <p:pic>
        <p:nvPicPr>
          <p:cNvPr id="81" name="Picture 4" descr=""/>
          <p:cNvPicPr/>
          <p:nvPr/>
        </p:nvPicPr>
        <p:blipFill>
          <a:blip r:embed="rId2"/>
          <a:stretch/>
        </p:blipFill>
        <p:spPr>
          <a:xfrm>
            <a:off x="3106800" y="3587760"/>
            <a:ext cx="4522680" cy="1279440"/>
          </a:xfrm>
          <a:prstGeom prst="rect">
            <a:avLst/>
          </a:prstGeom>
          <a:ln w="0">
            <a:noFill/>
          </a:ln>
        </p:spPr>
      </p:pic>
      <p:sp>
        <p:nvSpPr>
          <p:cNvPr id="82" name="Rectangle 3"/>
          <p:cNvSpPr/>
          <p:nvPr/>
        </p:nvSpPr>
        <p:spPr>
          <a:xfrm>
            <a:off x="2944800" y="4800600"/>
            <a:ext cx="4572000" cy="91692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If the reward at each time step is a constant 1 and γ&lt;1, then the return is</a:t>
            </a:r>
            <a:endParaRPr b="0" lang="en-US" sz="1800" spc="-1" strike="noStrike">
              <a:solidFill>
                <a:srgbClr val="000000"/>
              </a:solidFill>
              <a:latin typeface="Arial"/>
            </a:endParaRPr>
          </a:p>
        </p:txBody>
      </p:sp>
      <p:pic>
        <p:nvPicPr>
          <p:cNvPr id="83" name="Picture 5" descr=""/>
          <p:cNvPicPr/>
          <p:nvPr/>
        </p:nvPicPr>
        <p:blipFill>
          <a:blip r:embed="rId3"/>
          <a:stretch/>
        </p:blipFill>
        <p:spPr>
          <a:xfrm>
            <a:off x="3240000" y="5622840"/>
            <a:ext cx="2487600" cy="833400"/>
          </a:xfrm>
          <a:prstGeom prst="rect">
            <a:avLst/>
          </a:prstGeom>
          <a:ln w="0">
            <a:noFill/>
          </a:ln>
        </p:spPr>
      </p:pic>
      <p:sp>
        <p:nvSpPr>
          <p:cNvPr id="84" name="TextBox 4"/>
          <p:cNvSpPr/>
          <p:nvPr/>
        </p:nvSpPr>
        <p:spPr>
          <a:xfrm>
            <a:off x="5986440" y="5856120"/>
            <a:ext cx="283212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a:t>
            </a:r>
            <a:r>
              <a:rPr b="0" lang="en-GB" sz="1800" spc="-1" strike="noStrike" u="sng">
                <a:solidFill>
                  <a:srgbClr val="0563c1"/>
                </a:solidFill>
                <a:uFillTx/>
                <a:latin typeface="Arial"/>
                <a:hlinkClick r:id="rId4"/>
              </a:rPr>
              <a:t>Infinite Geometric Series</a:t>
            </a:r>
            <a:r>
              <a:rPr b="0" lang="en-GB" sz="1800" spc="-1" strike="noStrike">
                <a:solidFill>
                  <a:srgbClr val="000000"/>
                </a:solidFill>
                <a:latin typeface="Arial"/>
              </a:rPr>
              <a:t>)</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 name="PlaceHolder 1"/>
          <p:cNvSpPr>
            <a:spLocks noGrp="1"/>
          </p:cNvSpPr>
          <p:nvPr>
            <p:ph type="title"/>
          </p:nvPr>
        </p:nvSpPr>
        <p:spPr>
          <a:xfrm>
            <a:off x="1560240" y="274320"/>
            <a:ext cx="71262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How Good Is A State Or Action?</a:t>
            </a:r>
            <a:br>
              <a:rPr sz="4400"/>
            </a:br>
            <a:endParaRPr b="0" lang="en-US" sz="4400" spc="-1" strike="noStrike">
              <a:solidFill>
                <a:srgbClr val="000000"/>
              </a:solidFill>
              <a:latin typeface="Arial"/>
            </a:endParaRPr>
          </a:p>
        </p:txBody>
      </p:sp>
      <p:sp>
        <p:nvSpPr>
          <p:cNvPr id="86" name="Rectangle 2"/>
          <p:cNvSpPr/>
          <p:nvPr/>
        </p:nvSpPr>
        <p:spPr>
          <a:xfrm>
            <a:off x="1774800" y="1571760"/>
            <a:ext cx="6791400" cy="4972680"/>
          </a:xfrm>
          <a:prstGeom prst="rect">
            <a:avLst/>
          </a:prstGeom>
          <a:noFill/>
          <a:ln w="0">
            <a:noFill/>
          </a:ln>
        </p:spPr>
        <p:style>
          <a:lnRef idx="0"/>
          <a:fillRef idx="0"/>
          <a:effectRef idx="0"/>
          <a:fontRef idx="minor"/>
        </p:style>
        <p:txBody>
          <a:bodyPr lIns="90000" rIns="90000" tIns="46800" bIns="46800" anchor="t">
            <a:spAutoFit/>
          </a:bodyPr>
          <a:p>
            <a:pPr marL="343080" indent="-34308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First, we'd probably like to know how likely it is for an agent to take any given action from any given state. In other words, what is the probability that an agent will select a specific action from a specific state? This is where the notion of </a:t>
            </a:r>
            <a:r>
              <a:rPr b="1" i="1" lang="en-GB" sz="2000" spc="-1" strike="noStrike">
                <a:solidFill>
                  <a:srgbClr val="ed7d31"/>
                </a:solidFill>
                <a:latin typeface="Arial"/>
              </a:rPr>
              <a:t>policies</a:t>
            </a:r>
            <a:r>
              <a:rPr b="0" lang="en-GB" sz="2000" spc="-1" strike="noStrike">
                <a:solidFill>
                  <a:srgbClr val="000000"/>
                </a:solidFill>
                <a:latin typeface="Arial"/>
              </a:rPr>
              <a:t> comes into play, and we'll expand on this in just a moment.</a:t>
            </a:r>
            <a:endParaRPr b="0" lang="en-US" sz="2000" spc="-1" strike="noStrike">
              <a:solidFill>
                <a:srgbClr val="000000"/>
              </a:solidFill>
              <a:latin typeface="Arial"/>
            </a:endParaRPr>
          </a:p>
          <a:p>
            <a:pPr marL="343080" indent="-34308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Secondly, in addition to understanding the probability of selecting an action, we'd probably also like to know how good a given action or a given state is for the agent. In terms of rewards, selecting one action over another in a given state may increase or decrease the agent's rewards, so knowing this in advance will probably help our agent out with deciding which actions to take in which states. This is where </a:t>
            </a:r>
            <a:r>
              <a:rPr b="0" i="1" lang="en-GB" sz="2000" spc="-1" strike="noStrike">
                <a:solidFill>
                  <a:srgbClr val="000000"/>
                </a:solidFill>
                <a:latin typeface="Arial"/>
              </a:rPr>
              <a:t>value functions</a:t>
            </a:r>
            <a:r>
              <a:rPr b="0" lang="en-GB" sz="2000" spc="-1" strike="noStrike">
                <a:solidFill>
                  <a:srgbClr val="000000"/>
                </a:solidFill>
                <a:latin typeface="Arial"/>
              </a:rPr>
              <a:t> become useful, and we'll also expand on this idea in just a bit.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1560240" y="274320"/>
            <a:ext cx="7126200" cy="733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Policies</a:t>
            </a:r>
            <a:br>
              <a:rPr sz="4400"/>
            </a:br>
            <a:endParaRPr b="0" lang="en-US" sz="4400" spc="-1" strike="noStrike">
              <a:solidFill>
                <a:srgbClr val="000000"/>
              </a:solidFill>
              <a:latin typeface="Arial"/>
            </a:endParaRPr>
          </a:p>
        </p:txBody>
      </p:sp>
      <p:sp>
        <p:nvSpPr>
          <p:cNvPr id="88" name="Rectangle 2"/>
          <p:cNvSpPr/>
          <p:nvPr/>
        </p:nvSpPr>
        <p:spPr>
          <a:xfrm>
            <a:off x="1855800" y="1160640"/>
            <a:ext cx="6978600" cy="3184920"/>
          </a:xfrm>
          <a:prstGeom prst="rect">
            <a:avLst/>
          </a:prstGeom>
          <a:noFill/>
          <a:ln w="0">
            <a:noFill/>
          </a:ln>
        </p:spPr>
        <p:style>
          <a:lnRef idx="0"/>
          <a:fillRef idx="0"/>
          <a:effectRef idx="0"/>
          <a:fontRef idx="minor"/>
        </p:style>
        <p:txBody>
          <a:bodyPr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A policy is a function that maps a given state to probabilities of selecting each possible action from that state. We will use the symbol π to denote a policy.</a:t>
            </a:r>
            <a:endParaRPr b="0" lang="en-US" sz="2000" spc="-1" strike="noStrike">
              <a:solidFill>
                <a:srgbClr val="000000"/>
              </a:solidFill>
              <a:latin typeface="Arial"/>
            </a:endParaRPr>
          </a:p>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2000" spc="-1" strike="noStrike">
              <a:solidFill>
                <a:srgbClr val="000000"/>
              </a:solidFill>
              <a:latin typeface="Arial"/>
            </a:endParaRPr>
          </a:p>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When speaking about policies, formally we say that an agent “follows a policy.” For example, if an agent follows policy π at time t, then π(a|s) is the probability that A</a:t>
            </a:r>
            <a:r>
              <a:rPr b="0" lang="en-GB" sz="2000" spc="-1" strike="noStrike" baseline="-25000">
                <a:solidFill>
                  <a:srgbClr val="000000"/>
                </a:solidFill>
                <a:latin typeface="Arial"/>
              </a:rPr>
              <a:t>t</a:t>
            </a:r>
            <a:r>
              <a:rPr b="0" lang="en-GB" sz="2000" spc="-1" strike="noStrike">
                <a:solidFill>
                  <a:srgbClr val="000000"/>
                </a:solidFill>
                <a:latin typeface="Arial"/>
              </a:rPr>
              <a:t>=a if S</a:t>
            </a:r>
            <a:r>
              <a:rPr b="0" lang="en-GB" sz="2000" spc="-1" strike="noStrike" baseline="-25000">
                <a:solidFill>
                  <a:srgbClr val="000000"/>
                </a:solidFill>
                <a:latin typeface="Arial"/>
              </a:rPr>
              <a:t>t</a:t>
            </a:r>
            <a:r>
              <a:rPr b="0" lang="en-GB" sz="2000" spc="-1" strike="noStrike">
                <a:solidFill>
                  <a:srgbClr val="000000"/>
                </a:solidFill>
                <a:latin typeface="Arial"/>
              </a:rPr>
              <a:t>=s. This means that, at time t, under policy π, the probability of taking action a in state s is π(a|s).</a:t>
            </a:r>
            <a:endParaRPr b="0" lang="en-US" sz="2000" spc="-1" strike="noStrike">
              <a:solidFill>
                <a:srgbClr val="000000"/>
              </a:solidFill>
              <a:latin typeface="Arial"/>
            </a:endParaRPr>
          </a:p>
        </p:txBody>
      </p:sp>
      <p:sp>
        <p:nvSpPr>
          <p:cNvPr id="89" name="Rectangle 3"/>
          <p:cNvSpPr/>
          <p:nvPr/>
        </p:nvSpPr>
        <p:spPr>
          <a:xfrm>
            <a:off x="1868400" y="4383000"/>
            <a:ext cx="6818400" cy="703800"/>
          </a:xfrm>
          <a:prstGeom prst="rect">
            <a:avLst/>
          </a:prstGeom>
          <a:noFill/>
          <a:ln w="0">
            <a:noFill/>
          </a:ln>
        </p:spPr>
        <p:style>
          <a:lnRef idx="0"/>
          <a:fillRef idx="0"/>
          <a:effectRef idx="0"/>
          <a:fontRef idx="minor"/>
        </p:style>
        <p:txBody>
          <a:bodyPr lIns="90000" rIns="90000" tIns="46800" bIns="46800" anchor="t">
            <a:spAutoFit/>
          </a:bodyPr>
          <a:p>
            <a:pPr marL="343080" indent="-34308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Note that, for each state s∈S, π is a probability distribution over a∈A(s).</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 name="PlaceHolder 1"/>
          <p:cNvSpPr>
            <a:spLocks noGrp="1"/>
          </p:cNvSpPr>
          <p:nvPr>
            <p:ph type="title"/>
          </p:nvPr>
        </p:nvSpPr>
        <p:spPr>
          <a:xfrm>
            <a:off x="1639440" y="274320"/>
            <a:ext cx="7371000" cy="733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1" lang="en-GB" sz="3600" spc="-1" strike="noStrike">
                <a:solidFill>
                  <a:srgbClr val="000000"/>
                </a:solidFill>
                <a:latin typeface="Arial"/>
              </a:rPr>
              <a:t>Value Functions following Policy</a:t>
            </a:r>
            <a:endParaRPr b="0" lang="en-US" sz="3600" spc="-1" strike="noStrike">
              <a:solidFill>
                <a:srgbClr val="000000"/>
              </a:solidFill>
              <a:latin typeface="Arial"/>
            </a:endParaRPr>
          </a:p>
        </p:txBody>
      </p:sp>
      <p:sp>
        <p:nvSpPr>
          <p:cNvPr id="91" name="TextBox 2"/>
          <p:cNvSpPr/>
          <p:nvPr/>
        </p:nvSpPr>
        <p:spPr>
          <a:xfrm>
            <a:off x="1819440" y="1197000"/>
            <a:ext cx="2912760" cy="398880"/>
          </a:xfrm>
          <a:prstGeom prst="rect">
            <a:avLst/>
          </a:prstGeom>
          <a:noFill/>
          <a:ln w="0">
            <a:noFill/>
          </a:ln>
        </p:spPr>
        <p:style>
          <a:lnRef idx="0"/>
          <a:fillRef idx="0"/>
          <a:effectRef idx="0"/>
          <a:fontRef idx="minor"/>
        </p:style>
        <p:txBody>
          <a:bodyPr wrap="none"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State-Value Function </a:t>
            </a:r>
            <a:endParaRPr b="0" lang="en-US" sz="2000" spc="-1" strike="noStrike">
              <a:solidFill>
                <a:srgbClr val="000000"/>
              </a:solidFill>
              <a:latin typeface="Arial"/>
            </a:endParaRPr>
          </a:p>
        </p:txBody>
      </p:sp>
      <p:pic>
        <p:nvPicPr>
          <p:cNvPr id="92" name="Picture 2" descr=""/>
          <p:cNvPicPr/>
          <p:nvPr/>
        </p:nvPicPr>
        <p:blipFill>
          <a:blip r:embed="rId1"/>
          <a:stretch/>
        </p:blipFill>
        <p:spPr>
          <a:xfrm>
            <a:off x="1584360" y="1735200"/>
            <a:ext cx="7426440" cy="1760400"/>
          </a:xfrm>
          <a:prstGeom prst="rect">
            <a:avLst/>
          </a:prstGeom>
          <a:ln w="0">
            <a:noFill/>
          </a:ln>
        </p:spPr>
      </p:pic>
      <p:sp>
        <p:nvSpPr>
          <p:cNvPr id="93" name="TextBox 4"/>
          <p:cNvSpPr/>
          <p:nvPr/>
        </p:nvSpPr>
        <p:spPr>
          <a:xfrm>
            <a:off x="1971720" y="3809880"/>
            <a:ext cx="3026880" cy="398880"/>
          </a:xfrm>
          <a:prstGeom prst="rect">
            <a:avLst/>
          </a:prstGeom>
          <a:noFill/>
          <a:ln w="0">
            <a:noFill/>
          </a:ln>
        </p:spPr>
        <p:style>
          <a:lnRef idx="0"/>
          <a:fillRef idx="0"/>
          <a:effectRef idx="0"/>
          <a:fontRef idx="minor"/>
        </p:style>
        <p:txBody>
          <a:bodyPr wrap="none"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Action-Value Function </a:t>
            </a:r>
            <a:endParaRPr b="0" lang="en-US" sz="2000" spc="-1" strike="noStrike">
              <a:solidFill>
                <a:srgbClr val="000000"/>
              </a:solidFill>
              <a:latin typeface="Arial"/>
            </a:endParaRPr>
          </a:p>
        </p:txBody>
      </p:sp>
      <p:pic>
        <p:nvPicPr>
          <p:cNvPr id="94" name="Picture 3" descr=""/>
          <p:cNvPicPr/>
          <p:nvPr/>
        </p:nvPicPr>
        <p:blipFill>
          <a:blip r:embed="rId2"/>
          <a:stretch/>
        </p:blipFill>
        <p:spPr>
          <a:xfrm>
            <a:off x="1584360" y="4606920"/>
            <a:ext cx="7331040" cy="196992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 name="PlaceHolder 1"/>
          <p:cNvSpPr>
            <a:spLocks noGrp="1"/>
          </p:cNvSpPr>
          <p:nvPr>
            <p:ph type="title"/>
          </p:nvPr>
        </p:nvSpPr>
        <p:spPr>
          <a:xfrm>
            <a:off x="1653840" y="274320"/>
            <a:ext cx="7032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What Do Reinforcement Learning Algorithms Learn?</a:t>
            </a:r>
            <a:br>
              <a:rPr sz="4400"/>
            </a:br>
            <a:endParaRPr b="0" lang="en-US" sz="4400" spc="-1" strike="noStrike">
              <a:solidFill>
                <a:srgbClr val="000000"/>
              </a:solidFill>
              <a:latin typeface="Arial"/>
            </a:endParaRPr>
          </a:p>
        </p:txBody>
      </p:sp>
      <p:sp>
        <p:nvSpPr>
          <p:cNvPr id="96" name="TextBox 2"/>
          <p:cNvSpPr/>
          <p:nvPr/>
        </p:nvSpPr>
        <p:spPr>
          <a:xfrm>
            <a:off x="1720800" y="1855800"/>
            <a:ext cx="7221600" cy="161856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It is the goal of reinforcement learning algorithms to find a policy that will yield </a:t>
            </a:r>
            <a:r>
              <a:rPr b="0" lang="en-GB" sz="2000" spc="-1" strike="noStrike">
                <a:solidFill>
                  <a:srgbClr val="ed7d31"/>
                </a:solidFill>
                <a:latin typeface="Arial"/>
              </a:rPr>
              <a:t>a lot of rewards </a:t>
            </a:r>
            <a:r>
              <a:rPr b="0" lang="en-GB" sz="2000" spc="-1" strike="noStrike">
                <a:solidFill>
                  <a:srgbClr val="000000"/>
                </a:solidFill>
                <a:latin typeface="Arial"/>
              </a:rPr>
              <a:t>for the agent if the agent indeed </a:t>
            </a:r>
            <a:r>
              <a:rPr b="0" lang="en-GB" sz="2000" spc="-1" strike="noStrike">
                <a:solidFill>
                  <a:srgbClr val="ed7d31"/>
                </a:solidFill>
                <a:latin typeface="Arial"/>
              </a:rPr>
              <a:t>follows that policy</a:t>
            </a:r>
            <a:r>
              <a:rPr b="0" lang="en-GB" sz="2000" spc="-1" strike="noStrike">
                <a:solidFill>
                  <a:srgbClr val="000000"/>
                </a:solidFill>
                <a:latin typeface="Arial"/>
              </a:rPr>
              <a:t>. Specifically, reinforcement learning algorithms seek to </a:t>
            </a:r>
            <a:r>
              <a:rPr b="0" lang="en-GB" sz="2000" spc="-1" strike="noStrike">
                <a:solidFill>
                  <a:srgbClr val="ed7d31"/>
                </a:solidFill>
                <a:latin typeface="Arial"/>
              </a:rPr>
              <a:t>find a policy that will yield more return</a:t>
            </a:r>
            <a:r>
              <a:rPr b="0" lang="en-GB" sz="2000" spc="-1" strike="noStrike">
                <a:solidFill>
                  <a:srgbClr val="000000"/>
                </a:solidFill>
                <a:latin typeface="Arial"/>
              </a:rPr>
              <a:t> to the agent </a:t>
            </a:r>
            <a:r>
              <a:rPr b="0" lang="en-GB" sz="2000" spc="-1" strike="noStrike">
                <a:solidFill>
                  <a:srgbClr val="ed7d31"/>
                </a:solidFill>
                <a:latin typeface="Arial"/>
              </a:rPr>
              <a:t>than all other policies</a:t>
            </a:r>
            <a:r>
              <a:rPr b="0" lang="en-GB" sz="2000" spc="-1" strike="noStrike">
                <a:solidFill>
                  <a:srgbClr val="000000"/>
                </a:solidFill>
                <a:latin typeface="Arial"/>
              </a:rPr>
              <a:t>.</a:t>
            </a:r>
            <a:endParaRPr b="0" lang="en-US" sz="2000" spc="-1" strike="noStrike">
              <a:solidFill>
                <a:srgbClr val="000000"/>
              </a:solidFill>
              <a:latin typeface="Arial"/>
            </a:endParaRPr>
          </a:p>
        </p:txBody>
      </p:sp>
      <p:pic>
        <p:nvPicPr>
          <p:cNvPr id="97" name="Picture 2" descr=""/>
          <p:cNvPicPr/>
          <p:nvPr/>
        </p:nvPicPr>
        <p:blipFill>
          <a:blip r:embed="rId1"/>
          <a:stretch/>
        </p:blipFill>
        <p:spPr>
          <a:xfrm>
            <a:off x="1720800" y="3673440"/>
            <a:ext cx="7221600" cy="257796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1639440" y="274320"/>
            <a:ext cx="7047000" cy="78732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Optimal Functions</a:t>
            </a:r>
            <a:endParaRPr b="0" lang="en-US" sz="4400" spc="-1" strike="noStrike">
              <a:solidFill>
                <a:srgbClr val="000000"/>
              </a:solidFill>
              <a:latin typeface="Arial"/>
            </a:endParaRPr>
          </a:p>
        </p:txBody>
      </p:sp>
      <p:pic>
        <p:nvPicPr>
          <p:cNvPr id="99" name="Picture 2" descr=""/>
          <p:cNvPicPr/>
          <p:nvPr/>
        </p:nvPicPr>
        <p:blipFill>
          <a:blip r:embed="rId1"/>
          <a:stretch/>
        </p:blipFill>
        <p:spPr>
          <a:xfrm>
            <a:off x="1692360" y="1114560"/>
            <a:ext cx="7297560" cy="2462040"/>
          </a:xfrm>
          <a:prstGeom prst="rect">
            <a:avLst/>
          </a:prstGeom>
          <a:ln w="0">
            <a:noFill/>
          </a:ln>
        </p:spPr>
      </p:pic>
      <p:pic>
        <p:nvPicPr>
          <p:cNvPr id="100" name="Picture 3" descr=""/>
          <p:cNvPicPr/>
          <p:nvPr/>
        </p:nvPicPr>
        <p:blipFill>
          <a:blip r:embed="rId2"/>
          <a:stretch/>
        </p:blipFill>
        <p:spPr>
          <a:xfrm>
            <a:off x="1692360" y="3801960"/>
            <a:ext cx="7451640" cy="230364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 name="PlaceHolder 1"/>
          <p:cNvSpPr>
            <a:spLocks noGrp="1"/>
          </p:cNvSpPr>
          <p:nvPr>
            <p:ph type="title"/>
          </p:nvPr>
        </p:nvSpPr>
        <p:spPr>
          <a:xfrm>
            <a:off x="1523520" y="261720"/>
            <a:ext cx="747252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Q-Function (Bellman Optimality Equation for Q</a:t>
            </a:r>
            <a:r>
              <a:rPr b="0" lang="en-US" sz="4400" spc="-1" strike="noStrike" baseline="-25000">
                <a:solidFill>
                  <a:srgbClr val="000000"/>
                </a:solidFill>
                <a:latin typeface="Arial"/>
                <a:ea typeface="ＭＳ Ｐゴシック"/>
              </a:rPr>
              <a:t>*</a:t>
            </a:r>
            <a:r>
              <a:rPr b="0" lang="en-US" sz="4400" spc="-1" strike="noStrike">
                <a:solidFill>
                  <a:srgbClr val="000000"/>
                </a:solidFill>
                <a:latin typeface="Arial"/>
                <a:ea typeface="ＭＳ Ｐゴシック"/>
              </a:rPr>
              <a:t>)</a:t>
            </a:r>
            <a:endParaRPr b="0" lang="en-US" sz="4400" spc="-1" strike="noStrike">
              <a:solidFill>
                <a:srgbClr val="000000"/>
              </a:solidFill>
              <a:latin typeface="Arial"/>
            </a:endParaRPr>
          </a:p>
        </p:txBody>
      </p:sp>
      <p:pic>
        <p:nvPicPr>
          <p:cNvPr id="102" name="Picture 11" descr=""/>
          <p:cNvPicPr/>
          <p:nvPr/>
        </p:nvPicPr>
        <p:blipFill>
          <a:blip r:embed="rId1"/>
          <a:stretch/>
        </p:blipFill>
        <p:spPr>
          <a:xfrm>
            <a:off x="1679400" y="2041560"/>
            <a:ext cx="7213680" cy="1414440"/>
          </a:xfrm>
          <a:prstGeom prst="rect">
            <a:avLst/>
          </a:prstGeom>
          <a:ln w="0">
            <a:noFill/>
          </a:ln>
        </p:spPr>
      </p:pic>
      <p:pic>
        <p:nvPicPr>
          <p:cNvPr id="103" name="Picture 13" descr=""/>
          <p:cNvPicPr/>
          <p:nvPr/>
        </p:nvPicPr>
        <p:blipFill>
          <a:blip r:embed="rId2"/>
          <a:stretch/>
        </p:blipFill>
        <p:spPr>
          <a:xfrm>
            <a:off x="1625760" y="3627360"/>
            <a:ext cx="7445160" cy="207504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1574640" y="274320"/>
            <a:ext cx="7112160" cy="74124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Q-Learning example</a:t>
            </a:r>
            <a:endParaRPr b="0" lang="en-US" sz="4400" spc="-1" strike="noStrike">
              <a:solidFill>
                <a:srgbClr val="000000"/>
              </a:solidFill>
              <a:latin typeface="Arial"/>
            </a:endParaRPr>
          </a:p>
        </p:txBody>
      </p:sp>
      <p:pic>
        <p:nvPicPr>
          <p:cNvPr id="105" name="Picture 2" descr="https://deeplizard.com/images/The%20lizard%20game%20Q%20learning.jpg"/>
          <p:cNvPicPr/>
          <p:nvPr/>
        </p:nvPicPr>
        <p:blipFill>
          <a:blip r:embed="rId1"/>
          <a:stretch/>
        </p:blipFill>
        <p:spPr>
          <a:xfrm>
            <a:off x="1641600" y="1357200"/>
            <a:ext cx="2847960" cy="2465640"/>
          </a:xfrm>
          <a:prstGeom prst="rect">
            <a:avLst/>
          </a:prstGeom>
          <a:ln w="0">
            <a:noFill/>
          </a:ln>
        </p:spPr>
      </p:pic>
      <p:cxnSp>
        <p:nvCxnSpPr>
          <p:cNvPr id="106" name="Straight Arrow Connector 3"/>
          <p:cNvCxnSpPr/>
          <p:nvPr/>
        </p:nvCxnSpPr>
        <p:spPr>
          <a:xfrm>
            <a:off x="2158920" y="4495320"/>
            <a:ext cx="470880" cy="1080"/>
          </a:xfrm>
          <a:prstGeom prst="straightConnector1">
            <a:avLst/>
          </a:prstGeom>
          <a:ln w="6480">
            <a:solidFill>
              <a:srgbClr val="4472c4"/>
            </a:solidFill>
            <a:miter/>
            <a:tailEnd len="med" type="arrow" w="med"/>
          </a:ln>
        </p:spPr>
      </p:cxnSp>
      <p:cxnSp>
        <p:nvCxnSpPr>
          <p:cNvPr id="107" name="Straight Arrow Connector 5"/>
          <p:cNvCxnSpPr/>
          <p:nvPr/>
        </p:nvCxnSpPr>
        <p:spPr>
          <a:xfrm>
            <a:off x="3047760" y="4241520"/>
            <a:ext cx="13320" cy="407160"/>
          </a:xfrm>
          <a:prstGeom prst="straightConnector1">
            <a:avLst/>
          </a:prstGeom>
          <a:ln w="6480">
            <a:solidFill>
              <a:srgbClr val="4472c4"/>
            </a:solidFill>
            <a:miter/>
            <a:tailEnd len="med" type="arrow" w="med"/>
          </a:ln>
        </p:spPr>
      </p:cxnSp>
      <p:cxnSp>
        <p:nvCxnSpPr>
          <p:cNvPr id="108" name="Straight Arrow Connector 7"/>
          <p:cNvCxnSpPr/>
          <p:nvPr/>
        </p:nvCxnSpPr>
        <p:spPr>
          <a:xfrm flipH="1" flipV="1">
            <a:off x="3567960" y="4241160"/>
            <a:ext cx="13320" cy="407160"/>
          </a:xfrm>
          <a:prstGeom prst="straightConnector1">
            <a:avLst/>
          </a:prstGeom>
          <a:ln w="6480">
            <a:solidFill>
              <a:srgbClr val="4472c4"/>
            </a:solidFill>
            <a:miter/>
            <a:tailEnd len="med" type="arrow" w="med"/>
          </a:ln>
        </p:spPr>
      </p:cxnSp>
      <p:cxnSp>
        <p:nvCxnSpPr>
          <p:cNvPr id="109" name="Straight Arrow Connector 9"/>
          <p:cNvCxnSpPr/>
          <p:nvPr/>
        </p:nvCxnSpPr>
        <p:spPr>
          <a:xfrm flipH="1">
            <a:off x="3834720" y="4444560"/>
            <a:ext cx="508680" cy="1080"/>
          </a:xfrm>
          <a:prstGeom prst="straightConnector1">
            <a:avLst/>
          </a:prstGeom>
          <a:ln w="6480">
            <a:solidFill>
              <a:srgbClr val="4472c4"/>
            </a:solidFill>
            <a:miter/>
            <a:tailEnd len="med" type="arrow" w="med"/>
          </a:ln>
        </p:spPr>
      </p:cxnSp>
      <p:sp>
        <p:nvSpPr>
          <p:cNvPr id="110" name="TextBox 10"/>
          <p:cNvSpPr/>
          <p:nvPr/>
        </p:nvSpPr>
        <p:spPr>
          <a:xfrm>
            <a:off x="1645200" y="4311720"/>
            <a:ext cx="39564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A:</a:t>
            </a:r>
            <a:endParaRPr b="0" lang="en-US" sz="1800" spc="-1" strike="noStrike">
              <a:solidFill>
                <a:srgbClr val="000000"/>
              </a:solidFill>
              <a:latin typeface="Arial"/>
            </a:endParaRPr>
          </a:p>
        </p:txBody>
      </p:sp>
      <p:sp>
        <p:nvSpPr>
          <p:cNvPr id="111" name="TextBox 12"/>
          <p:cNvSpPr/>
          <p:nvPr/>
        </p:nvSpPr>
        <p:spPr>
          <a:xfrm>
            <a:off x="2112840" y="4603680"/>
            <a:ext cx="62424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right</a:t>
            </a:r>
            <a:endParaRPr b="0" lang="en-US" sz="1800" spc="-1" strike="noStrike">
              <a:solidFill>
                <a:srgbClr val="000000"/>
              </a:solidFill>
              <a:latin typeface="Arial"/>
            </a:endParaRPr>
          </a:p>
        </p:txBody>
      </p:sp>
      <p:sp>
        <p:nvSpPr>
          <p:cNvPr id="112" name="TextBox 15"/>
          <p:cNvSpPr/>
          <p:nvPr/>
        </p:nvSpPr>
        <p:spPr>
          <a:xfrm>
            <a:off x="3875040" y="4599000"/>
            <a:ext cx="48564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left</a:t>
            </a:r>
            <a:endParaRPr b="0" lang="en-US" sz="1800" spc="-1" strike="noStrike">
              <a:solidFill>
                <a:srgbClr val="000000"/>
              </a:solidFill>
              <a:latin typeface="Arial"/>
            </a:endParaRPr>
          </a:p>
        </p:txBody>
      </p:sp>
      <p:sp>
        <p:nvSpPr>
          <p:cNvPr id="113" name="TextBox 14"/>
          <p:cNvSpPr/>
          <p:nvPr/>
        </p:nvSpPr>
        <p:spPr>
          <a:xfrm>
            <a:off x="3407040" y="4586400"/>
            <a:ext cx="43380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up</a:t>
            </a:r>
            <a:endParaRPr b="0" lang="en-US" sz="1800" spc="-1" strike="noStrike">
              <a:solidFill>
                <a:srgbClr val="000000"/>
              </a:solidFill>
              <a:latin typeface="Arial"/>
            </a:endParaRPr>
          </a:p>
        </p:txBody>
      </p:sp>
      <p:sp>
        <p:nvSpPr>
          <p:cNvPr id="114" name="TextBox 16"/>
          <p:cNvSpPr/>
          <p:nvPr/>
        </p:nvSpPr>
        <p:spPr>
          <a:xfrm>
            <a:off x="2748240" y="4599000"/>
            <a:ext cx="72648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down</a:t>
            </a:r>
            <a:endParaRPr b="0" lang="en-US" sz="1800" spc="-1" strike="noStrike">
              <a:solidFill>
                <a:srgbClr val="000000"/>
              </a:solidFill>
              <a:latin typeface="Arial"/>
            </a:endParaRPr>
          </a:p>
        </p:txBody>
      </p:sp>
      <p:pic>
        <p:nvPicPr>
          <p:cNvPr id="115" name="Picture 3" descr=""/>
          <p:cNvPicPr/>
          <p:nvPr/>
        </p:nvPicPr>
        <p:blipFill>
          <a:blip r:embed="rId2"/>
          <a:stretch/>
        </p:blipFill>
        <p:spPr>
          <a:xfrm>
            <a:off x="4502160" y="1636560"/>
            <a:ext cx="4603680" cy="1771920"/>
          </a:xfrm>
          <a:prstGeom prst="rect">
            <a:avLst/>
          </a:prstGeom>
          <a:ln w="0">
            <a:noFill/>
          </a:ln>
        </p:spPr>
      </p:pic>
      <p:sp>
        <p:nvSpPr>
          <p:cNvPr id="116" name="TextBox 17"/>
          <p:cNvSpPr/>
          <p:nvPr/>
        </p:nvSpPr>
        <p:spPr>
          <a:xfrm>
            <a:off x="4678560" y="1357200"/>
            <a:ext cx="251712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Finite MDP and reward</a:t>
            </a:r>
            <a:endParaRPr b="0" lang="en-US" sz="1800" spc="-1" strike="noStrike">
              <a:solidFill>
                <a:srgbClr val="000000"/>
              </a:solidFill>
              <a:latin typeface="Arial"/>
            </a:endParaRPr>
          </a:p>
        </p:txBody>
      </p:sp>
      <p:sp>
        <p:nvSpPr>
          <p:cNvPr id="117" name="Rectangle 18"/>
          <p:cNvSpPr/>
          <p:nvPr/>
        </p:nvSpPr>
        <p:spPr>
          <a:xfrm>
            <a:off x="4533840" y="3624120"/>
            <a:ext cx="4572000" cy="277488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000000"/>
                </a:solidFill>
                <a:latin typeface="Arial"/>
              </a:rPr>
              <a:t>Now, at the start of the game, the lizard has no idea how good any given action is from any given state. It’s not aware of anything besides the current state of the environment. </a:t>
            </a: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000000"/>
                </a:solidFill>
                <a:latin typeface="Arial"/>
              </a:rPr>
              <a:t>Therefore, the </a:t>
            </a:r>
            <a:r>
              <a:rPr b="0" lang="en-GB" sz="1600" spc="-1" strike="noStrike">
                <a:solidFill>
                  <a:srgbClr val="ed7d31"/>
                </a:solidFill>
                <a:latin typeface="Arial"/>
              </a:rPr>
              <a:t>Q-values</a:t>
            </a:r>
            <a:r>
              <a:rPr b="0" lang="en-GB" sz="1600" spc="-1" strike="noStrike">
                <a:solidFill>
                  <a:srgbClr val="000000"/>
                </a:solidFill>
                <a:latin typeface="Arial"/>
              </a:rPr>
              <a:t> for each state-action pair will all be initialized to zero since the lizard knows nothing about the environment at the start. As the game is played, though, the Q-values will be iteratively updated using the Q-learning update rule (see Update the Q-Table).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7" dur="indefinite" restart="never" nodeType="tmRoot">
          <p:childTnLst>
            <p:seq>
              <p:cTn id="8" dur="indefinite" nodeType="mainSeq">
                <p:childTnLst>
                  <p:par>
                    <p:cTn id="9" nodeType="clickEffect" fill="hold">
                      <p:stCondLst>
                        <p:cond delay="indefinite"/>
                      </p:stCondLst>
                      <p:childTnLst>
                        <p:par>
                          <p:cTn id="10" nodeType="withEffect" fill="hold">
                            <p:stCondLst>
                              <p:cond delay="0"/>
                            </p:stCondLst>
                            <p:childTnLst>
                              <p:par>
                                <p:cTn id="11" nodeType="clickEffect" fill="hold" presetClass="entr" presetID="1">
                                  <p:stCondLst>
                                    <p:cond delay="0"/>
                                  </p:stCondLst>
                                  <p:childTnLst>
                                    <p:set>
                                      <p:cBhvr>
                                        <p:cTn id="12" dur="1" fill="hold">
                                          <p:stCondLst>
                                            <p:cond delay="0"/>
                                          </p:stCondLst>
                                        </p:cTn>
                                        <p:tgtEl>
                                          <p:spTgt spid="106"/>
                                        </p:tgtEl>
                                        <p:attrNameLst>
                                          <p:attrName>style.visibility</p:attrName>
                                        </p:attrNameLst>
                                      </p:cBhvr>
                                      <p:to>
                                        <p:strVal val="visible"/>
                                      </p:to>
                                    </p:set>
                                  </p:childTnLst>
                                </p:cTn>
                              </p:par>
                              <p:par>
                                <p:cTn id="13" nodeType="withEffect" fill="hold" presetClass="entr" presetID="1">
                                  <p:stCondLst>
                                    <p:cond delay="0"/>
                                  </p:stCondLst>
                                  <p:childTnLst>
                                    <p:set>
                                      <p:cBhvr>
                                        <p:cTn id="14" dur="1" fill="hold">
                                          <p:stCondLst>
                                            <p:cond delay="0"/>
                                          </p:stCondLst>
                                        </p:cTn>
                                        <p:tgtEl>
                                          <p:spTgt spid="107"/>
                                        </p:tgtEl>
                                        <p:attrNameLst>
                                          <p:attrName>style.visibility</p:attrName>
                                        </p:attrNameLst>
                                      </p:cBhvr>
                                      <p:to>
                                        <p:strVal val="visible"/>
                                      </p:to>
                                    </p:set>
                                  </p:childTnLst>
                                </p:cTn>
                              </p:par>
                              <p:par>
                                <p:cTn id="15" nodeType="withEffect" fill="hold" presetClass="entr" presetID="1">
                                  <p:stCondLst>
                                    <p:cond delay="0"/>
                                  </p:stCondLst>
                                  <p:childTnLst>
                                    <p:set>
                                      <p:cBhvr>
                                        <p:cTn id="16" dur="1" fill="hold">
                                          <p:stCondLst>
                                            <p:cond delay="0"/>
                                          </p:stCondLst>
                                        </p:cTn>
                                        <p:tgtEl>
                                          <p:spTgt spid="108"/>
                                        </p:tgtEl>
                                        <p:attrNameLst>
                                          <p:attrName>style.visibility</p:attrName>
                                        </p:attrNameLst>
                                      </p:cBhvr>
                                      <p:to>
                                        <p:strVal val="visible"/>
                                      </p:to>
                                    </p:set>
                                  </p:childTnLst>
                                </p:cTn>
                              </p:par>
                              <p:par>
                                <p:cTn id="17" nodeType="withEffect" fill="hold" presetClass="entr" presetID="1">
                                  <p:stCondLst>
                                    <p:cond delay="0"/>
                                  </p:stCondLst>
                                  <p:childTnLst>
                                    <p:set>
                                      <p:cBhvr>
                                        <p:cTn id="18" dur="1" fill="hold">
                                          <p:stCondLst>
                                            <p:cond delay="0"/>
                                          </p:stCondLst>
                                        </p:cTn>
                                        <p:tgtEl>
                                          <p:spTgt spid="109"/>
                                        </p:tgtEl>
                                        <p:attrNameLst>
                                          <p:attrName>style.visibility</p:attrName>
                                        </p:attrNameLst>
                                      </p:cBhvr>
                                      <p:to>
                                        <p:strVal val="visible"/>
                                      </p:to>
                                    </p:set>
                                  </p:childTnLst>
                                </p:cTn>
                              </p:par>
                              <p:par>
                                <p:cTn id="19" nodeType="withEffect" fill="hold" presetClass="entr" presetID="1">
                                  <p:stCondLst>
                                    <p:cond delay="0"/>
                                  </p:stCondLst>
                                  <p:childTnLst>
                                    <p:set>
                                      <p:cBhvr>
                                        <p:cTn id="20" dur="1" fill="hold">
                                          <p:stCondLst>
                                            <p:cond delay="0"/>
                                          </p:stCondLst>
                                        </p:cTn>
                                        <p:tgtEl>
                                          <p:spTgt spid="110"/>
                                        </p:tgtEl>
                                        <p:attrNameLst>
                                          <p:attrName>style.visibility</p:attrName>
                                        </p:attrNameLst>
                                      </p:cBhvr>
                                      <p:to>
                                        <p:strVal val="visible"/>
                                      </p:to>
                                    </p:set>
                                  </p:childTnLst>
                                </p:cTn>
                              </p:par>
                              <p:par>
                                <p:cTn id="21" nodeType="withEffect" fill="hold" presetClass="entr" presetID="1">
                                  <p:stCondLst>
                                    <p:cond delay="0"/>
                                  </p:stCondLst>
                                  <p:childTnLst>
                                    <p:set>
                                      <p:cBhvr>
                                        <p:cTn id="22" dur="1" fill="hold">
                                          <p:stCondLst>
                                            <p:cond delay="0"/>
                                          </p:stCondLst>
                                        </p:cTn>
                                        <p:tgtEl>
                                          <p:spTgt spid="111"/>
                                        </p:tgtEl>
                                        <p:attrNameLst>
                                          <p:attrName>style.visibility</p:attrName>
                                        </p:attrNameLst>
                                      </p:cBhvr>
                                      <p:to>
                                        <p:strVal val="visible"/>
                                      </p:to>
                                    </p:set>
                                  </p:childTnLst>
                                </p:cTn>
                              </p:par>
                              <p:par>
                                <p:cTn id="23" nodeType="withEffect" fill="hold" presetClass="entr" presetID="1">
                                  <p:stCondLst>
                                    <p:cond delay="0"/>
                                  </p:stCondLst>
                                  <p:childTnLst>
                                    <p:set>
                                      <p:cBhvr>
                                        <p:cTn id="24" dur="1" fill="hold">
                                          <p:stCondLst>
                                            <p:cond delay="0"/>
                                          </p:stCondLst>
                                        </p:cTn>
                                        <p:tgtEl>
                                          <p:spTgt spid="112"/>
                                        </p:tgtEl>
                                        <p:attrNameLst>
                                          <p:attrName>style.visibility</p:attrName>
                                        </p:attrNameLst>
                                      </p:cBhvr>
                                      <p:to>
                                        <p:strVal val="visible"/>
                                      </p:to>
                                    </p:set>
                                  </p:childTnLst>
                                </p:cTn>
                              </p:par>
                              <p:par>
                                <p:cTn id="25" nodeType="withEffect" fill="hold" presetClass="entr" presetID="1">
                                  <p:stCondLst>
                                    <p:cond delay="0"/>
                                  </p:stCondLst>
                                  <p:childTnLst>
                                    <p:set>
                                      <p:cBhvr>
                                        <p:cTn id="26" dur="1" fill="hold">
                                          <p:stCondLst>
                                            <p:cond delay="0"/>
                                          </p:stCondLst>
                                        </p:cTn>
                                        <p:tgtEl>
                                          <p:spTgt spid="113"/>
                                        </p:tgtEl>
                                        <p:attrNameLst>
                                          <p:attrName>style.visibility</p:attrName>
                                        </p:attrNameLst>
                                      </p:cBhvr>
                                      <p:to>
                                        <p:strVal val="visible"/>
                                      </p:to>
                                    </p:set>
                                  </p:childTnLst>
                                </p:cTn>
                              </p:par>
                              <p:par>
                                <p:cTn id="27" nodeType="withEffect" fill="hold" presetClass="entr" presetID="1">
                                  <p:stCondLst>
                                    <p:cond delay="0"/>
                                  </p:stCondLst>
                                  <p:childTnLst>
                                    <p:set>
                                      <p:cBhvr>
                                        <p:cTn id="28" dur="1" fill="hold">
                                          <p:stCondLst>
                                            <p:cond delay="0"/>
                                          </p:stCondLst>
                                        </p:cTn>
                                        <p:tgtEl>
                                          <p:spTgt spid="114"/>
                                        </p:tgtEl>
                                        <p:attrNameLst>
                                          <p:attrName>style.visibility</p:attrName>
                                        </p:attrNameLst>
                                      </p:cBhvr>
                                      <p:to>
                                        <p:strVal val="visible"/>
                                      </p:to>
                                    </p:set>
                                  </p:childTnLst>
                                </p:cTn>
                              </p:par>
                            </p:childTnLst>
                          </p:cTn>
                        </p:par>
                      </p:childTnLst>
                    </p:cTn>
                  </p:par>
                  <p:par>
                    <p:cTn id="29" nodeType="clickEffect" fill="hold">
                      <p:stCondLst>
                        <p:cond delay="indefinite"/>
                      </p:stCondLst>
                      <p:childTnLst>
                        <p:par>
                          <p:cTn id="30" nodeType="withEffect" fill="hold">
                            <p:stCondLst>
                              <p:cond delay="0"/>
                            </p:stCondLst>
                            <p:childTnLst>
                              <p:par>
                                <p:cTn id="31" nodeType="clickEffect" fill="hold" presetClass="entr" presetID="1">
                                  <p:stCondLst>
                                    <p:cond delay="0"/>
                                  </p:stCondLst>
                                  <p:childTnLst>
                                    <p:set>
                                      <p:cBhvr>
                                        <p:cTn id="32" dur="1" fill="hold">
                                          <p:stCondLst>
                                            <p:cond delay="0"/>
                                          </p:stCondLst>
                                        </p:cTn>
                                        <p:tgtEl>
                                          <p:spTgt spid="115"/>
                                        </p:tgtEl>
                                        <p:attrNameLst>
                                          <p:attrName>style.visibility</p:attrName>
                                        </p:attrNameLst>
                                      </p:cBhvr>
                                      <p:to>
                                        <p:strVal val="visible"/>
                                      </p:to>
                                    </p:set>
                                  </p:childTnLst>
                                </p:cTn>
                              </p:par>
                            </p:childTnLst>
                          </p:cTn>
                        </p:par>
                      </p:childTnLst>
                    </p:cTn>
                  </p:par>
                  <p:par>
                    <p:cTn id="33" nodeType="clickEffect" fill="hold">
                      <p:stCondLst>
                        <p:cond delay="indefinite"/>
                      </p:stCondLst>
                      <p:childTnLst>
                        <p:par>
                          <p:cTn id="34" nodeType="withEffect" fill="hold">
                            <p:stCondLst>
                              <p:cond delay="0"/>
                            </p:stCondLst>
                            <p:childTnLst>
                              <p:par>
                                <p:cTn id="35" nodeType="clickEffect" fill="hold" presetClass="entr" presetID="1">
                                  <p:stCondLst>
                                    <p:cond delay="0"/>
                                  </p:stCondLst>
                                  <p:childTnLst>
                                    <p:set>
                                      <p:cBhvr>
                                        <p:cTn id="36" dur="1" fill="hold">
                                          <p:stCondLst>
                                            <p:cond delay="0"/>
                                          </p:stCondLst>
                                        </p:cTn>
                                        <p:tgtEl>
                                          <p:spTgt spid="11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title"/>
          </p:nvPr>
        </p:nvSpPr>
        <p:spPr>
          <a:xfrm>
            <a:off x="1587600" y="274320"/>
            <a:ext cx="735336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1" lang="en-GB" sz="4000" spc="-1" strike="noStrike">
                <a:solidFill>
                  <a:srgbClr val="000000"/>
                </a:solidFill>
                <a:latin typeface="Arial"/>
              </a:rPr>
              <a:t>Storing Q-Values In A Q-Table</a:t>
            </a:r>
            <a:br>
              <a:rPr sz="4000"/>
            </a:br>
            <a:endParaRPr b="0" lang="en-US" sz="4000" spc="-1" strike="noStrike">
              <a:solidFill>
                <a:srgbClr val="000000"/>
              </a:solidFill>
              <a:latin typeface="Arial"/>
            </a:endParaRPr>
          </a:p>
        </p:txBody>
      </p:sp>
      <p:pic>
        <p:nvPicPr>
          <p:cNvPr id="119" name="Picture 2" descr="https://deeplizard.com/images/The%20lizard%20game%20Q%20learning.jpg"/>
          <p:cNvPicPr/>
          <p:nvPr/>
        </p:nvPicPr>
        <p:blipFill>
          <a:blip r:embed="rId1"/>
          <a:stretch/>
        </p:blipFill>
        <p:spPr>
          <a:xfrm>
            <a:off x="1608120" y="1179360"/>
            <a:ext cx="2084400" cy="1805040"/>
          </a:xfrm>
          <a:prstGeom prst="rect">
            <a:avLst/>
          </a:prstGeom>
          <a:ln w="0">
            <a:noFill/>
          </a:ln>
        </p:spPr>
      </p:pic>
      <p:pic>
        <p:nvPicPr>
          <p:cNvPr id="120" name="Picture 2" descr="https://deeplizard.com/images/The%20lizard%20game%20Q%20table%20zeros.jpg"/>
          <p:cNvPicPr/>
          <p:nvPr/>
        </p:nvPicPr>
        <p:blipFill>
          <a:blip r:embed="rId2"/>
          <a:stretch/>
        </p:blipFill>
        <p:spPr>
          <a:xfrm>
            <a:off x="4718160" y="2984400"/>
            <a:ext cx="4270320" cy="2705040"/>
          </a:xfrm>
          <a:prstGeom prst="rect">
            <a:avLst/>
          </a:prstGeom>
          <a:ln w="0">
            <a:noFill/>
          </a:ln>
        </p:spPr>
      </p:pic>
      <p:sp>
        <p:nvSpPr>
          <p:cNvPr id="121" name="TextBox 3"/>
          <p:cNvSpPr/>
          <p:nvPr/>
        </p:nvSpPr>
        <p:spPr>
          <a:xfrm>
            <a:off x="6052320" y="1496880"/>
            <a:ext cx="128556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At the start</a:t>
            </a:r>
            <a:endParaRPr b="0" lang="en-US" sz="1800" spc="-1" strike="noStrike">
              <a:solidFill>
                <a:srgbClr val="000000"/>
              </a:solidFill>
              <a:latin typeface="Arial"/>
            </a:endParaRPr>
          </a:p>
        </p:txBody>
      </p:sp>
      <p:cxnSp>
        <p:nvCxnSpPr>
          <p:cNvPr id="122" name="Straight Arrow Connector 5"/>
          <p:cNvCxnSpPr>
            <a:stCxn id="121" idx="2"/>
            <a:endCxn id="120" idx="0"/>
          </p:cNvCxnSpPr>
          <p:nvPr/>
        </p:nvCxnSpPr>
        <p:spPr>
          <a:xfrm>
            <a:off x="6695640" y="1866960"/>
            <a:ext cx="158040" cy="1117800"/>
          </a:xfrm>
          <a:prstGeom prst="straightConnector1">
            <a:avLst/>
          </a:prstGeom>
          <a:ln w="6480">
            <a:solidFill>
              <a:srgbClr val="4472c4"/>
            </a:solidFill>
            <a:miter/>
            <a:tailEnd len="med" type="arrow" w="med"/>
          </a:ln>
        </p:spPr>
      </p:cxnSp>
      <p:sp>
        <p:nvSpPr>
          <p:cNvPr id="123" name="Rectangle 7"/>
          <p:cNvSpPr/>
          <p:nvPr/>
        </p:nvSpPr>
        <p:spPr>
          <a:xfrm>
            <a:off x="1474920" y="3054240"/>
            <a:ext cx="3243240" cy="350604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1" lang="en-GB" sz="1600" spc="-1" strike="noStrike">
                <a:solidFill>
                  <a:srgbClr val="000000"/>
                </a:solidFill>
                <a:latin typeface="Arial"/>
              </a:rPr>
              <a:t>Episodes</a:t>
            </a: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000000"/>
                </a:solidFill>
                <a:latin typeface="Arial"/>
              </a:rPr>
              <a:t>Let’s say we want the lizard to play five episodes. It is during these episodes that the learning process will take place.</a:t>
            </a:r>
            <a:endParaRPr b="0" lang="en-US" sz="16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000000"/>
                </a:solidFill>
                <a:latin typeface="Arial"/>
              </a:rPr>
              <a:t>In each episode, the lizard starts out by choosing an action from the starting state based on the current Q-values in the table. The lizard chooses the action based on which action has the highest Q-value in the Q-table for the current state.</a:t>
            </a:r>
            <a:endParaRPr b="0" lang="en-US" sz="1600" spc="-1" strike="noStrike">
              <a:solidFill>
                <a:srgbClr val="000000"/>
              </a:solidFill>
              <a:latin typeface="Arial"/>
            </a:endParaRPr>
          </a:p>
        </p:txBody>
      </p:sp>
      <p:sp>
        <p:nvSpPr>
          <p:cNvPr id="124" name="TextBox 8"/>
          <p:cNvSpPr/>
          <p:nvPr/>
        </p:nvSpPr>
        <p:spPr>
          <a:xfrm>
            <a:off x="4718160" y="5870520"/>
            <a:ext cx="4425840" cy="64260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ff0000"/>
                </a:solidFill>
                <a:latin typeface="Arial"/>
              </a:rPr>
              <a:t>But, wait... That’s kind of weird for the first actions in the first episode, right?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37" dur="indefinite" restart="never" nodeType="tmRoot">
          <p:childTnLst>
            <p:seq>
              <p:cTn id="38" dur="indefinite" nodeType="mainSeq">
                <p:childTnLst>
                  <p:par>
                    <p:cTn id="39" nodeType="clickEffect" fill="hold">
                      <p:stCondLst>
                        <p:cond delay="indefinite"/>
                      </p:stCondLst>
                      <p:childTnLst>
                        <p:par>
                          <p:cTn id="40" nodeType="withEffect" fill="hold">
                            <p:stCondLst>
                              <p:cond delay="0"/>
                            </p:stCondLst>
                            <p:childTnLst>
                              <p:par>
                                <p:cTn id="41" nodeType="clickEffect" fill="hold" presetClass="entr" presetID="1">
                                  <p:stCondLst>
                                    <p:cond delay="0"/>
                                  </p:stCondLst>
                                  <p:childTnLst>
                                    <p:set>
                                      <p:cBhvr>
                                        <p:cTn id="42" dur="1" fill="hold">
                                          <p:stCondLst>
                                            <p:cond delay="0"/>
                                          </p:stCondLst>
                                        </p:cTn>
                                        <p:tgtEl>
                                          <p:spTgt spid="120"/>
                                        </p:tgtEl>
                                        <p:attrNameLst>
                                          <p:attrName>style.visibility</p:attrName>
                                        </p:attrNameLst>
                                      </p:cBhvr>
                                      <p:to>
                                        <p:strVal val="visible"/>
                                      </p:to>
                                    </p:set>
                                  </p:childTnLst>
                                </p:cTn>
                              </p:par>
                              <p:par>
                                <p:cTn id="43" nodeType="withEffect" fill="hold" presetClass="entr" presetID="1">
                                  <p:stCondLst>
                                    <p:cond delay="0"/>
                                  </p:stCondLst>
                                  <p:childTnLst>
                                    <p:set>
                                      <p:cBhvr>
                                        <p:cTn id="44" dur="1" fill="hold">
                                          <p:stCondLst>
                                            <p:cond delay="0"/>
                                          </p:stCondLst>
                                        </p:cTn>
                                        <p:tgtEl>
                                          <p:spTgt spid="121"/>
                                        </p:tgtEl>
                                        <p:attrNameLst>
                                          <p:attrName>style.visibility</p:attrName>
                                        </p:attrNameLst>
                                      </p:cBhvr>
                                      <p:to>
                                        <p:strVal val="visible"/>
                                      </p:to>
                                    </p:set>
                                  </p:childTnLst>
                                </p:cTn>
                              </p:par>
                              <p:par>
                                <p:cTn id="45" nodeType="withEffect" fill="hold" presetClass="entr" presetID="1">
                                  <p:stCondLst>
                                    <p:cond delay="0"/>
                                  </p:stCondLst>
                                  <p:childTnLst>
                                    <p:set>
                                      <p:cBhvr>
                                        <p:cTn id="46" dur="1" fill="hold">
                                          <p:stCondLst>
                                            <p:cond delay="0"/>
                                          </p:stCondLst>
                                        </p:cTn>
                                        <p:tgtEl>
                                          <p:spTgt spid="122"/>
                                        </p:tgtEl>
                                        <p:attrNameLst>
                                          <p:attrName>style.visibility</p:attrName>
                                        </p:attrNameLst>
                                      </p:cBhvr>
                                      <p:to>
                                        <p:strVal val="visible"/>
                                      </p:to>
                                    </p:set>
                                  </p:childTnLst>
                                </p:cTn>
                              </p:par>
                            </p:childTnLst>
                          </p:cTn>
                        </p:par>
                      </p:childTnLst>
                    </p:cTn>
                  </p:par>
                  <p:par>
                    <p:cTn id="47" nodeType="clickEffect" fill="hold">
                      <p:stCondLst>
                        <p:cond delay="indefinite"/>
                      </p:stCondLst>
                      <p:childTnLst>
                        <p:par>
                          <p:cTn id="48" nodeType="withEffect" fill="hold">
                            <p:stCondLst>
                              <p:cond delay="0"/>
                            </p:stCondLst>
                            <p:childTnLst>
                              <p:par>
                                <p:cTn id="49" nodeType="clickEffect" fill="hold" presetClass="entr" presetID="1">
                                  <p:stCondLst>
                                    <p:cond delay="0"/>
                                  </p:stCondLst>
                                  <p:childTnLst>
                                    <p:set>
                                      <p:cBhvr>
                                        <p:cTn id="50" dur="1" fill="hold">
                                          <p:stCondLst>
                                            <p:cond delay="0"/>
                                          </p:stCondLst>
                                        </p:cTn>
                                        <p:tgtEl>
                                          <p:spTgt spid="123"/>
                                        </p:tgtEl>
                                        <p:attrNameLst>
                                          <p:attrName>style.visibility</p:attrName>
                                        </p:attrNameLst>
                                      </p:cBhvr>
                                      <p:to>
                                        <p:strVal val="visible"/>
                                      </p:to>
                                    </p:set>
                                  </p:childTnLst>
                                </p:cTn>
                              </p:par>
                            </p:childTnLst>
                          </p:cTn>
                        </p:par>
                      </p:childTnLst>
                    </p:cTn>
                  </p:par>
                  <p:par>
                    <p:cTn id="51" nodeType="clickEffect" fill="hold">
                      <p:stCondLst>
                        <p:cond delay="indefinite"/>
                      </p:stCondLst>
                      <p:childTnLst>
                        <p:par>
                          <p:cTn id="52" nodeType="withEffect" fill="hold">
                            <p:stCondLst>
                              <p:cond delay="0"/>
                            </p:stCondLst>
                            <p:childTnLst>
                              <p:par>
                                <p:cTn id="53" nodeType="clickEffect" fill="hold" presetClass="entr" presetID="1">
                                  <p:stCondLst>
                                    <p:cond delay="0"/>
                                  </p:stCondLst>
                                  <p:childTnLst>
                                    <p:set>
                                      <p:cBhvr>
                                        <p:cTn id="54" dur="1" fill="hold">
                                          <p:stCondLst>
                                            <p:cond delay="0"/>
                                          </p:stCondLst>
                                        </p:cTn>
                                        <p:tgtEl>
                                          <p:spTgt spid="12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5" name="PlaceHolder 1"/>
          <p:cNvSpPr>
            <a:spLocks noGrp="1"/>
          </p:cNvSpPr>
          <p:nvPr>
            <p:ph type="title"/>
          </p:nvPr>
        </p:nvSpPr>
        <p:spPr>
          <a:xfrm>
            <a:off x="1549440" y="274680"/>
            <a:ext cx="7137360" cy="72864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Exploration Vs. Exploitation</a:t>
            </a:r>
            <a:endParaRPr b="0" lang="en-US" sz="4400" spc="-1" strike="noStrike">
              <a:solidFill>
                <a:srgbClr val="000000"/>
              </a:solidFill>
              <a:latin typeface="Arial"/>
            </a:endParaRPr>
          </a:p>
        </p:txBody>
      </p:sp>
      <p:sp>
        <p:nvSpPr>
          <p:cNvPr id="126" name="Rectangle 2"/>
          <p:cNvSpPr/>
          <p:nvPr/>
        </p:nvSpPr>
        <p:spPr>
          <a:xfrm>
            <a:off x="1587600" y="1420920"/>
            <a:ext cx="7353360" cy="1923480"/>
          </a:xfrm>
          <a:prstGeom prst="rect">
            <a:avLst/>
          </a:prstGeom>
          <a:noFill/>
          <a:ln w="0">
            <a:noFill/>
          </a:ln>
        </p:spPr>
        <p:style>
          <a:lnRef idx="0"/>
          <a:fillRef idx="0"/>
          <a:effectRef idx="0"/>
          <a:fontRef idx="minor"/>
        </p:style>
        <p:txBody>
          <a:bodyPr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i="1" lang="en-GB" sz="2000" spc="-1" strike="noStrike">
                <a:solidFill>
                  <a:srgbClr val="000000"/>
                </a:solidFill>
                <a:latin typeface="Arial"/>
              </a:rPr>
              <a:t>Exploration</a:t>
            </a:r>
            <a:r>
              <a:rPr b="0" lang="en-GB" sz="2000" spc="-1" strike="noStrike">
                <a:solidFill>
                  <a:srgbClr val="000000"/>
                </a:solidFill>
                <a:latin typeface="Arial"/>
              </a:rPr>
              <a:t> is the act of exploring the environment to find out information about it. </a:t>
            </a:r>
            <a:endParaRPr b="0" lang="en-US" sz="2000" spc="-1" strike="noStrike">
              <a:solidFill>
                <a:srgbClr val="000000"/>
              </a:solidFill>
              <a:latin typeface="Arial"/>
            </a:endParaRPr>
          </a:p>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2000" spc="-1" strike="noStrike">
              <a:solidFill>
                <a:srgbClr val="000000"/>
              </a:solidFill>
              <a:latin typeface="Arial"/>
            </a:endParaRPr>
          </a:p>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i="1" lang="en-GB" sz="2000" spc="-1" strike="noStrike">
                <a:solidFill>
                  <a:srgbClr val="000000"/>
                </a:solidFill>
                <a:latin typeface="Arial"/>
              </a:rPr>
              <a:t>Exploitation</a:t>
            </a:r>
            <a:r>
              <a:rPr b="0" lang="en-GB" sz="2000" spc="-1" strike="noStrike">
                <a:solidFill>
                  <a:srgbClr val="000000"/>
                </a:solidFill>
                <a:latin typeface="Arial"/>
              </a:rPr>
              <a:t> is the act of exploiting the information that is already known about the environment in order to maximize the return.</a:t>
            </a:r>
            <a:endParaRPr b="0" lang="en-US" sz="2000" spc="-1" strike="noStrike">
              <a:solidFill>
                <a:srgbClr val="000000"/>
              </a:solidFill>
              <a:latin typeface="Arial"/>
            </a:endParaRPr>
          </a:p>
        </p:txBody>
      </p:sp>
      <p:pic>
        <p:nvPicPr>
          <p:cNvPr id="127" name="Picture 2" descr="https://deeplizard.com/images/The%20lizard%20game%20Q%20learning.jpg"/>
          <p:cNvPicPr/>
          <p:nvPr/>
        </p:nvPicPr>
        <p:blipFill>
          <a:blip r:embed="rId1"/>
          <a:stretch/>
        </p:blipFill>
        <p:spPr>
          <a:xfrm>
            <a:off x="1855800" y="3556080"/>
            <a:ext cx="2670120" cy="2311200"/>
          </a:xfrm>
          <a:prstGeom prst="rect">
            <a:avLst/>
          </a:prstGeom>
          <a:ln w="0">
            <a:noFill/>
          </a:ln>
        </p:spPr>
      </p:pic>
      <p:sp>
        <p:nvSpPr>
          <p:cNvPr id="128" name="Rectangle 3"/>
          <p:cNvSpPr/>
          <p:nvPr/>
        </p:nvSpPr>
        <p:spPr>
          <a:xfrm>
            <a:off x="4660920" y="3249720"/>
            <a:ext cx="4280040" cy="338580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4472c4"/>
                </a:solidFill>
                <a:latin typeface="Arial"/>
              </a:rPr>
              <a:t>Think of our game. If our lizard got to the single cricket before it got to the group of five crickets, then only making use of exploitation, going forward the lizard would just learn to exploit the information it knows about the location of the single cricket to get single incremental points infinitely. It would then also be losing single points infinitely just to back out of the tile before it can come back in to get the cricket again.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 name="PlaceHolder 1"/>
          <p:cNvSpPr>
            <a:spLocks noGrp="1"/>
          </p:cNvSpPr>
          <p:nvPr>
            <p:ph type="title"/>
          </p:nvPr>
        </p:nvSpPr>
        <p:spPr>
          <a:xfrm>
            <a:off x="1625400" y="274320"/>
            <a:ext cx="742932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000" spc="-1" strike="noStrike">
                <a:solidFill>
                  <a:srgbClr val="000000"/>
                </a:solidFill>
                <a:latin typeface="Arial"/>
              </a:rPr>
              <a:t>Exploration Vs. Exploitation</a:t>
            </a:r>
            <a:br>
              <a:rPr sz="4000"/>
            </a:br>
            <a:r>
              <a:rPr b="0" lang="en-GB" sz="4000" spc="-1" strike="noStrike">
                <a:solidFill>
                  <a:srgbClr val="000000"/>
                </a:solidFill>
                <a:latin typeface="Arial"/>
              </a:rPr>
              <a:t>(Cont.)</a:t>
            </a:r>
            <a:endParaRPr b="0" lang="en-US" sz="4000" spc="-1" strike="noStrike">
              <a:solidFill>
                <a:srgbClr val="000000"/>
              </a:solidFill>
              <a:latin typeface="Arial"/>
            </a:endParaRPr>
          </a:p>
        </p:txBody>
      </p:sp>
      <p:sp>
        <p:nvSpPr>
          <p:cNvPr id="130" name="Rectangle 3"/>
          <p:cNvSpPr/>
          <p:nvPr/>
        </p:nvSpPr>
        <p:spPr>
          <a:xfrm>
            <a:off x="1768320" y="1708200"/>
            <a:ext cx="3527640" cy="398880"/>
          </a:xfrm>
          <a:prstGeom prst="rect">
            <a:avLst/>
          </a:prstGeom>
          <a:noFill/>
          <a:ln w="0">
            <a:noFill/>
          </a:ln>
        </p:spPr>
        <p:style>
          <a:lnRef idx="0"/>
          <a:fillRef idx="0"/>
          <a:effectRef idx="0"/>
          <a:fontRef idx="minor"/>
        </p:style>
        <p:txBody>
          <a:bodyPr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Epsilon Greedy Strategy</a:t>
            </a:r>
            <a:endParaRPr b="0" lang="en-US" sz="2000" spc="-1" strike="noStrike">
              <a:solidFill>
                <a:srgbClr val="000000"/>
              </a:solidFill>
              <a:latin typeface="Arial"/>
            </a:endParaRPr>
          </a:p>
        </p:txBody>
      </p:sp>
      <p:sp>
        <p:nvSpPr>
          <p:cNvPr id="131" name="Rectangle 4"/>
          <p:cNvSpPr/>
          <p:nvPr/>
        </p:nvSpPr>
        <p:spPr>
          <a:xfrm>
            <a:off x="1803240" y="2247840"/>
            <a:ext cx="7112160" cy="405792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With this strategy, we define an </a:t>
            </a:r>
            <a:r>
              <a:rPr b="0" i="1" lang="en-GB" sz="2000" spc="-1" strike="noStrike">
                <a:solidFill>
                  <a:srgbClr val="000000"/>
                </a:solidFill>
                <a:latin typeface="Arial"/>
              </a:rPr>
              <a:t>exploration rate</a:t>
            </a:r>
            <a:r>
              <a:rPr b="0" lang="en-GB" sz="2000" spc="-1" strike="noStrike">
                <a:solidFill>
                  <a:srgbClr val="000000"/>
                </a:solidFill>
                <a:latin typeface="Arial"/>
              </a:rPr>
              <a:t> ϵ that we initially set to 1. This exploration rate is the probability that our agent will explore the environment rather than exploit it. With ϵ=1, it is 100% certain that the agent will start out by exploring the environment.</a:t>
            </a:r>
            <a:endParaRPr b="0" lang="en-US" sz="20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20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As the agent learns more about the environment, at the start of each new episode, ϵ will decay by some rate that we set so that the likelihood of exploration becomes less and less probable as the agent learns more and more about the environment. The agent will become </a:t>
            </a:r>
            <a:r>
              <a:rPr b="0" i="1" lang="en-GB" sz="2000" spc="-1" strike="noStrike">
                <a:solidFill>
                  <a:srgbClr val="000000"/>
                </a:solidFill>
                <a:latin typeface="Arial"/>
              </a:rPr>
              <a:t>“greedy”</a:t>
            </a:r>
            <a:r>
              <a:rPr b="0" lang="en-GB" sz="2000" spc="-1" strike="noStrike">
                <a:solidFill>
                  <a:srgbClr val="000000"/>
                </a:solidFill>
                <a:latin typeface="Arial"/>
              </a:rPr>
              <a:t> in terms of exploiting the environment once it has had the opportunity to explore and learn more about it.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type="title"/>
          </p:nvPr>
        </p:nvSpPr>
        <p:spPr>
          <a:xfrm>
            <a:off x="1650960" y="274320"/>
            <a:ext cx="7035840" cy="7542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Update the Q-Table</a:t>
            </a:r>
            <a:endParaRPr b="0" lang="en-US" sz="4400" spc="-1" strike="noStrike">
              <a:solidFill>
                <a:srgbClr val="000000"/>
              </a:solidFill>
              <a:latin typeface="Arial"/>
            </a:endParaRPr>
          </a:p>
        </p:txBody>
      </p:sp>
      <p:sp>
        <p:nvSpPr>
          <p:cNvPr id="133" name="Rectangle 2"/>
          <p:cNvSpPr/>
          <p:nvPr/>
        </p:nvSpPr>
        <p:spPr>
          <a:xfrm>
            <a:off x="1714680" y="1481040"/>
            <a:ext cx="7162560" cy="1923480"/>
          </a:xfrm>
          <a:prstGeom prst="rect">
            <a:avLst/>
          </a:prstGeom>
          <a:noFill/>
          <a:ln w="0">
            <a:noFill/>
          </a:ln>
        </p:spPr>
        <p:style>
          <a:lnRef idx="0"/>
          <a:fillRef idx="0"/>
          <a:effectRef idx="0"/>
          <a:fontRef idx="minor"/>
        </p:style>
        <p:txBody>
          <a:bodyPr lIns="90000" rIns="90000" tIns="46800" bIns="46800" anchor="t">
            <a:spAutoFit/>
          </a:bodyPr>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To update the Q-value for the action of moving right taken from the previous state, we use the Bellman equation. </a:t>
            </a:r>
            <a:endParaRPr b="0" lang="en-US" sz="2000" spc="-1" strike="noStrike">
              <a:solidFill>
                <a:srgbClr val="000000"/>
              </a:solidFill>
              <a:latin typeface="Arial"/>
            </a:endParaRPr>
          </a:p>
          <a:p>
            <a:pPr marL="285840" indent="-285840">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We want to make the Q-value for the given state-action pair as close as we can to the right hand side of the Bellman equation so that the Q-value will eventually converge to the optimal Q-value.</a:t>
            </a:r>
            <a:endParaRPr b="0" lang="en-US" sz="2000" spc="-1" strike="noStrike">
              <a:solidFill>
                <a:srgbClr val="000000"/>
              </a:solidFill>
              <a:latin typeface="Arial"/>
            </a:endParaRPr>
          </a:p>
        </p:txBody>
      </p:sp>
      <p:pic>
        <p:nvPicPr>
          <p:cNvPr id="134" name="Picture 2" descr=""/>
          <p:cNvPicPr/>
          <p:nvPr/>
        </p:nvPicPr>
        <p:blipFill>
          <a:blip r:embed="rId1"/>
          <a:stretch/>
        </p:blipFill>
        <p:spPr>
          <a:xfrm>
            <a:off x="1628640" y="3421080"/>
            <a:ext cx="7363080" cy="1701720"/>
          </a:xfrm>
          <a:prstGeom prst="rect">
            <a:avLst/>
          </a:prstGeom>
          <a:ln w="0">
            <a:noFill/>
          </a:ln>
        </p:spPr>
      </p:pic>
      <p:cxnSp>
        <p:nvCxnSpPr>
          <p:cNvPr id="135" name="Straight Arrow Connector 4"/>
          <p:cNvCxnSpPr>
            <a:endCxn id="136" idx="0"/>
          </p:cNvCxnSpPr>
          <p:nvPr/>
        </p:nvCxnSpPr>
        <p:spPr>
          <a:xfrm>
            <a:off x="5880240" y="4711680"/>
            <a:ext cx="202320" cy="464400"/>
          </a:xfrm>
          <a:prstGeom prst="straightConnector1">
            <a:avLst/>
          </a:prstGeom>
          <a:ln w="6480">
            <a:solidFill>
              <a:srgbClr val="4472c4"/>
            </a:solidFill>
            <a:miter/>
            <a:tailEnd len="med" type="arrow" w="med"/>
          </a:ln>
        </p:spPr>
      </p:cxnSp>
      <p:sp>
        <p:nvSpPr>
          <p:cNvPr id="136" name="TextBox 5"/>
          <p:cNvSpPr/>
          <p:nvPr/>
        </p:nvSpPr>
        <p:spPr>
          <a:xfrm>
            <a:off x="5395320" y="5175360"/>
            <a:ext cx="1374120" cy="3376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600" spc="-1" strike="noStrike">
                <a:solidFill>
                  <a:srgbClr val="ff0000"/>
                </a:solidFill>
                <a:latin typeface="Arial"/>
              </a:rPr>
              <a:t>Learning rate</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37" name="Picture 2" descr="https://deeplizard.com/images/The%20lizard%20game%20Q%20table%20zeros.jpg"/>
          <p:cNvPicPr/>
          <p:nvPr/>
        </p:nvPicPr>
        <p:blipFill>
          <a:blip r:embed="rId1"/>
          <a:stretch/>
        </p:blipFill>
        <p:spPr>
          <a:xfrm>
            <a:off x="5054760" y="4368960"/>
            <a:ext cx="3733560" cy="2365200"/>
          </a:xfrm>
          <a:prstGeom prst="rect">
            <a:avLst/>
          </a:prstGeom>
          <a:ln w="0">
            <a:noFill/>
          </a:ln>
        </p:spPr>
      </p:pic>
      <p:sp>
        <p:nvSpPr>
          <p:cNvPr id="138" name="PlaceHolder 1"/>
          <p:cNvSpPr>
            <a:spLocks noGrp="1"/>
          </p:cNvSpPr>
          <p:nvPr>
            <p:ph type="title"/>
          </p:nvPr>
        </p:nvSpPr>
        <p:spPr>
          <a:xfrm>
            <a:off x="1663200" y="274320"/>
            <a:ext cx="702324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Update example</a:t>
            </a:r>
            <a:endParaRPr b="0" lang="en-US" sz="4400" spc="-1" strike="noStrike">
              <a:solidFill>
                <a:srgbClr val="000000"/>
              </a:solidFill>
              <a:latin typeface="Arial"/>
            </a:endParaRPr>
          </a:p>
        </p:txBody>
      </p:sp>
      <p:pic>
        <p:nvPicPr>
          <p:cNvPr id="139" name="Picture 2" descr="https://deeplizard.com/images/The%20lizard%20game%20Q%20learning.jpg"/>
          <p:cNvPicPr/>
          <p:nvPr/>
        </p:nvPicPr>
        <p:blipFill>
          <a:blip r:embed="rId2"/>
          <a:stretch/>
        </p:blipFill>
        <p:spPr>
          <a:xfrm>
            <a:off x="1527120" y="1268280"/>
            <a:ext cx="2274840" cy="1970280"/>
          </a:xfrm>
          <a:prstGeom prst="rect">
            <a:avLst/>
          </a:prstGeom>
          <a:ln w="0">
            <a:noFill/>
          </a:ln>
        </p:spPr>
      </p:pic>
      <p:sp>
        <p:nvSpPr>
          <p:cNvPr id="140" name="Right Arrow 4"/>
          <p:cNvSpPr/>
          <p:nvPr/>
        </p:nvSpPr>
        <p:spPr>
          <a:xfrm>
            <a:off x="2192400" y="2806560"/>
            <a:ext cx="372960" cy="57240"/>
          </a:xfrm>
          <a:prstGeom prst="rightArrow">
            <a:avLst>
              <a:gd name="adj1" fmla="val 50000"/>
              <a:gd name="adj2" fmla="val 49894"/>
            </a:avLst>
          </a:prstGeom>
          <a:solidFill>
            <a:srgbClr val="4472c4"/>
          </a:solidFill>
          <a:ln w="12600">
            <a:solidFill>
              <a:srgbClr val="2f528f"/>
            </a:solidFill>
            <a:miter/>
          </a:ln>
        </p:spPr>
        <p:style>
          <a:lnRef idx="0"/>
          <a:fillRef idx="0"/>
          <a:effectRef idx="0"/>
          <a:fontRef idx="minor"/>
        </p:style>
        <p:txBody>
          <a:bodyPr lIns="90000" rIns="90000" tIns="-18000" bIns="-18000" anchor="ctr">
            <a:noAutofit/>
          </a:bodyPr>
          <a:p>
            <a:pPr algn="ct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pic>
        <p:nvPicPr>
          <p:cNvPr id="141" name="Picture 3" descr=""/>
          <p:cNvPicPr/>
          <p:nvPr/>
        </p:nvPicPr>
        <p:blipFill>
          <a:blip r:embed="rId3"/>
          <a:stretch/>
        </p:blipFill>
        <p:spPr>
          <a:xfrm>
            <a:off x="3840120" y="1471680"/>
            <a:ext cx="5278320" cy="1595520"/>
          </a:xfrm>
          <a:prstGeom prst="rect">
            <a:avLst/>
          </a:prstGeom>
          <a:ln w="0">
            <a:noFill/>
          </a:ln>
        </p:spPr>
      </p:pic>
      <p:sp>
        <p:nvSpPr>
          <p:cNvPr id="142" name="Rounded Rectangle 5"/>
          <p:cNvSpPr/>
          <p:nvPr/>
        </p:nvSpPr>
        <p:spPr>
          <a:xfrm>
            <a:off x="7594560" y="1638360"/>
            <a:ext cx="622440" cy="216000"/>
          </a:xfrm>
          <a:prstGeom prst="roundRect">
            <a:avLst>
              <a:gd name="adj" fmla="val 16667"/>
            </a:avLst>
          </a:prstGeom>
          <a:noFill/>
          <a:ln w="28440">
            <a:solidFill>
              <a:srgbClr val="ff0000"/>
            </a:solidFill>
            <a:miter/>
          </a:ln>
        </p:spPr>
        <p:style>
          <a:lnRef idx="0"/>
          <a:fillRef idx="0"/>
          <a:effectRef idx="0"/>
          <a:fontRef idx="minor"/>
        </p:style>
        <p:txBody>
          <a:bodyPr lIns="90000" rIns="90000" tIns="46800" bIns="46800" anchor="ctr">
            <a:noAutofit/>
          </a:bodyPr>
          <a:p>
            <a:pPr algn="ct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pic>
        <p:nvPicPr>
          <p:cNvPr id="143" name="Picture 4" descr=""/>
          <p:cNvPicPr/>
          <p:nvPr/>
        </p:nvPicPr>
        <p:blipFill>
          <a:blip r:embed="rId4"/>
          <a:stretch/>
        </p:blipFill>
        <p:spPr>
          <a:xfrm>
            <a:off x="1989000" y="3730680"/>
            <a:ext cx="6688440" cy="857160"/>
          </a:xfrm>
          <a:prstGeom prst="rect">
            <a:avLst/>
          </a:prstGeom>
          <a:ln w="0">
            <a:noFill/>
          </a:ln>
        </p:spPr>
      </p:pic>
      <p:cxnSp>
        <p:nvCxnSpPr>
          <p:cNvPr id="144" name="Straight Arrow Connector 7"/>
          <p:cNvCxnSpPr>
            <a:endCxn id="143" idx="0"/>
          </p:cNvCxnSpPr>
          <p:nvPr/>
        </p:nvCxnSpPr>
        <p:spPr>
          <a:xfrm flipH="1">
            <a:off x="5334120" y="2958840"/>
            <a:ext cx="2349720" cy="772200"/>
          </a:xfrm>
          <a:prstGeom prst="straightConnector1">
            <a:avLst/>
          </a:prstGeom>
          <a:ln w="6480">
            <a:solidFill>
              <a:srgbClr val="4472c4"/>
            </a:solidFill>
            <a:miter/>
            <a:tailEnd len="med" type="arrow" w="med"/>
          </a:ln>
        </p:spPr>
      </p:cxnSp>
      <p:sp>
        <p:nvSpPr>
          <p:cNvPr id="145" name="TextBox 10"/>
          <p:cNvSpPr/>
          <p:nvPr/>
        </p:nvSpPr>
        <p:spPr>
          <a:xfrm>
            <a:off x="2589480" y="2670120"/>
            <a:ext cx="30708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0</a:t>
            </a:r>
            <a:endParaRPr b="0" lang="en-US" sz="1800" spc="-1" strike="noStrike">
              <a:solidFill>
                <a:srgbClr val="000000"/>
              </a:solidFill>
              <a:latin typeface="Arial"/>
            </a:endParaRPr>
          </a:p>
        </p:txBody>
      </p:sp>
      <p:pic>
        <p:nvPicPr>
          <p:cNvPr id="146" name="Picture 5" descr=""/>
          <p:cNvPicPr/>
          <p:nvPr/>
        </p:nvPicPr>
        <p:blipFill>
          <a:blip r:embed="rId5"/>
          <a:stretch/>
        </p:blipFill>
        <p:spPr>
          <a:xfrm>
            <a:off x="1511280" y="4613400"/>
            <a:ext cx="4065480" cy="1698480"/>
          </a:xfrm>
          <a:prstGeom prst="rect">
            <a:avLst/>
          </a:prstGeom>
          <a:ln w="0">
            <a:noFill/>
          </a:ln>
        </p:spPr>
      </p:pic>
      <p:sp>
        <p:nvSpPr>
          <p:cNvPr id="147" name="TextBox 11"/>
          <p:cNvSpPr/>
          <p:nvPr/>
        </p:nvSpPr>
        <p:spPr>
          <a:xfrm>
            <a:off x="7535880" y="5954760"/>
            <a:ext cx="29520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ff0000"/>
                </a:solidFill>
                <a:latin typeface="Arial"/>
              </a:rPr>
              <a:t>x</a:t>
            </a:r>
            <a:endParaRPr b="0" lang="en-US" sz="1800" spc="-1" strike="noStrike">
              <a:solidFill>
                <a:srgbClr val="000000"/>
              </a:solidFill>
              <a:latin typeface="Arial"/>
            </a:endParaRPr>
          </a:p>
        </p:txBody>
      </p:sp>
      <p:cxnSp>
        <p:nvCxnSpPr>
          <p:cNvPr id="148" name="Straight Arrow Connector 13"/>
          <p:cNvCxnSpPr>
            <a:endCxn id="147" idx="1"/>
          </p:cNvCxnSpPr>
          <p:nvPr/>
        </p:nvCxnSpPr>
        <p:spPr>
          <a:xfrm>
            <a:off x="2900160" y="6140160"/>
            <a:ext cx="4632840" cy="1080"/>
          </a:xfrm>
          <a:prstGeom prst="straightConnector1">
            <a:avLst/>
          </a:prstGeom>
          <a:ln w="6480">
            <a:solidFill>
              <a:srgbClr val="4472c4"/>
            </a:solidFill>
            <a:miter/>
            <a:tailEnd len="med" type="arrow" w="med"/>
          </a:ln>
        </p:spPr>
      </p:cxnSp>
      <p:sp>
        <p:nvSpPr>
          <p:cNvPr id="149" name="TextBox 148"/>
          <p:cNvSpPr txBox="1"/>
          <p:nvPr/>
        </p:nvSpPr>
        <p:spPr>
          <a:xfrm>
            <a:off x="1530000" y="3250000"/>
            <a:ext cx="2300000" cy="400000"/>
          </a:xfrm>
          <a:prstGeom prst="rect">
            <a:avLst/>
          </a:prstGeom>
          <a:noFill/>
        </p:spPr>
        <p:txBody>
          <a:bodyPr wrap="none">
            <a:spAutoFit/>
          </a:bodyPr>
          <a:lstStyle/>
          <a:p>
            <a:r>
              <a:rPr sz="1400"/>
              <a:t>Learning rate α = 0.7</a:t>
            </a:r>
          </a:p>
        </p:txBody>
      </p:sp>
    </p:spTree>
  </p:cSld>
  <mc:AlternateContent>
    <mc:Choice Requires="p14">
      <p:transition spd="slow" p14:dur="2000"/>
    </mc:Choice>
    <mc:Fallback>
      <p:transition spd="slow"/>
    </mc:Fallback>
  </mc:AlternateContent>
  <p:timing>
    <p:tnLst>
      <p:par>
        <p:cTn id="55" dur="indefinite" restart="never" nodeType="tmRoot">
          <p:childTnLst>
            <p:seq>
              <p:cTn id="56" dur="indefinite" nodeType="mainSeq">
                <p:childTnLst>
                  <p:par>
                    <p:cTn id="57" nodeType="clickEffect" fill="hold">
                      <p:stCondLst>
                        <p:cond delay="indefinite"/>
                      </p:stCondLst>
                      <p:childTnLst>
                        <p:par>
                          <p:cTn id="58" nodeType="withEffect" fill="hold">
                            <p:stCondLst>
                              <p:cond delay="0"/>
                            </p:stCondLst>
                            <p:childTnLst>
                              <p:par>
                                <p:cTn id="59" nodeType="clickEffect" fill="hold" presetClass="entr" presetID="14" presetSubtype="10">
                                  <p:stCondLst>
                                    <p:cond delay="0"/>
                                  </p:stCondLst>
                                  <p:childTnLst>
                                    <p:set>
                                      <p:cBhvr>
                                        <p:cTn id="60" dur="1" fill="hold">
                                          <p:stCondLst>
                                            <p:cond delay="0"/>
                                          </p:stCondLst>
                                        </p:cTn>
                                        <p:tgtEl>
                                          <p:spTgt spid="140"/>
                                        </p:tgtEl>
                                        <p:attrNameLst>
                                          <p:attrName>style.visibility</p:attrName>
                                        </p:attrNameLst>
                                      </p:cBhvr>
                                      <p:to>
                                        <p:strVal val="visible"/>
                                      </p:to>
                                    </p:set>
                                    <p:animEffect filter="randombar(horizontal)" transition="in">
                                      <p:cBhvr additive="repl">
                                        <p:cTn id="61" dur="500"/>
                                        <p:tgtEl>
                                          <p:spTgt spid="140"/>
                                        </p:tgtEl>
                                      </p:cBhvr>
                                    </p:animEffect>
                                  </p:childTnLst>
                                </p:cTn>
                              </p:par>
                            </p:childTnLst>
                          </p:cTn>
                        </p:par>
                      </p:childTnLst>
                    </p:cTn>
                  </p:par>
                  <p:par>
                    <p:cTn id="62" nodeType="clickEffect" fill="hold">
                      <p:stCondLst>
                        <p:cond delay="indefinite"/>
                      </p:stCondLst>
                      <p:childTnLst>
                        <p:par>
                          <p:cTn id="63" nodeType="withEffect" fill="hold">
                            <p:stCondLst>
                              <p:cond delay="0"/>
                            </p:stCondLst>
                            <p:childTnLst>
                              <p:par>
                                <p:cTn id="64" nodeType="clickEffect" fill="hold" presetClass="entr" presetID="1">
                                  <p:stCondLst>
                                    <p:cond delay="0"/>
                                  </p:stCondLst>
                                  <p:childTnLst>
                                    <p:set>
                                      <p:cBhvr>
                                        <p:cTn id="65" dur="1" fill="hold">
                                          <p:stCondLst>
                                            <p:cond delay="0"/>
                                          </p:stCondLst>
                                        </p:cTn>
                                        <p:tgtEl>
                                          <p:spTgt spid="141"/>
                                        </p:tgtEl>
                                        <p:attrNameLst>
                                          <p:attrName>style.visibility</p:attrName>
                                        </p:attrNameLst>
                                      </p:cBhvr>
                                      <p:to>
                                        <p:strVal val="visible"/>
                                      </p:to>
                                    </p:set>
                                  </p:childTnLst>
                                </p:cTn>
                              </p:par>
                              <p:par>
                                <p:cTn id="66" nodeType="withEffect" fill="hold" presetClass="entr" presetID="1">
                                  <p:stCondLst>
                                    <p:cond delay="0"/>
                                  </p:stCondLst>
                                  <p:childTnLst>
                                    <p:set>
                                      <p:cBhvr>
                                        <p:cTn id="67" dur="1" fill="hold">
                                          <p:stCondLst>
                                            <p:cond delay="0"/>
                                          </p:stCondLst>
                                        </p:cTn>
                                        <p:tgtEl>
                                          <p:spTgt spid="142"/>
                                        </p:tgtEl>
                                        <p:attrNameLst>
                                          <p:attrName>style.visibility</p:attrName>
                                        </p:attrNameLst>
                                      </p:cBhvr>
                                      <p:to>
                                        <p:strVal val="visible"/>
                                      </p:to>
                                    </p:set>
                                  </p:childTnLst>
                                </p:cTn>
                              </p:par>
                            </p:childTnLst>
                          </p:cTn>
                        </p:par>
                      </p:childTnLst>
                    </p:cTn>
                  </p:par>
                  <p:par>
                    <p:cTn id="68" nodeType="clickEffect" fill="hold">
                      <p:stCondLst>
                        <p:cond delay="indefinite"/>
                      </p:stCondLst>
                      <p:childTnLst>
                        <p:par>
                          <p:cTn id="69" nodeType="withEffect" fill="hold">
                            <p:stCondLst>
                              <p:cond delay="0"/>
                            </p:stCondLst>
                            <p:childTnLst>
                              <p:par>
                                <p:cTn id="70" nodeType="clickEffect" fill="hold" presetClass="entr" presetID="42">
                                  <p:stCondLst>
                                    <p:cond delay="0"/>
                                  </p:stCondLst>
                                  <p:childTnLst>
                                    <p:set>
                                      <p:cBhvr>
                                        <p:cTn id="71" dur="1" fill="hold">
                                          <p:stCondLst>
                                            <p:cond delay="0"/>
                                          </p:stCondLst>
                                        </p:cTn>
                                        <p:tgtEl>
                                          <p:spTgt spid="145"/>
                                        </p:tgtEl>
                                        <p:attrNameLst>
                                          <p:attrName>style.visibility</p:attrName>
                                        </p:attrNameLst>
                                      </p:cBhvr>
                                      <p:to>
                                        <p:strVal val="visible"/>
                                      </p:to>
                                    </p:set>
                                    <p:animEffect filter="fade" transition="in">
                                      <p:cBhvr additive="repl">
                                        <p:cTn id="72" dur="1000"/>
                                        <p:tgtEl>
                                          <p:spTgt spid="145"/>
                                        </p:tgtEl>
                                      </p:cBhvr>
                                    </p:animEffect>
                                    <p:anim calcmode="lin" valueType="num">
                                      <p:cBhvr additive="repl">
                                        <p:cTn id="73" dur="1000" fill="hold"/>
                                        <p:tgtEl>
                                          <p:spTgt spid="145"/>
                                        </p:tgtEl>
                                        <p:attrNameLst>
                                          <p:attrName>ppt_x</p:attrName>
                                        </p:attrNameLst>
                                      </p:cBhvr>
                                      <p:tavLst>
                                        <p:tav tm="0">
                                          <p:val>
                                            <p:strVal val="#ppt_x"/>
                                          </p:val>
                                        </p:tav>
                                        <p:tav tm="100000">
                                          <p:val>
                                            <p:strVal val="#ppt_x"/>
                                          </p:val>
                                        </p:tav>
                                      </p:tavLst>
                                    </p:anim>
                                    <p:anim calcmode="lin" valueType="num">
                                      <p:cBhvr additive="repl">
                                        <p:cTn id="74" dur="1000" fill="hold"/>
                                        <p:tgtEl>
                                          <p:spTgt spid="145"/>
                                        </p:tgtEl>
                                        <p:attrNameLst>
                                          <p:attrName>ppt_y</p:attrName>
                                        </p:attrNameLst>
                                      </p:cBhvr>
                                      <p:tavLst>
                                        <p:tav tm="0">
                                          <p:val>
                                            <p:strVal val="#ppt_y+.1"/>
                                          </p:val>
                                        </p:tav>
                                        <p:tav tm="100000">
                                          <p:val>
                                            <p:strVal val="#ppt_y"/>
                                          </p:val>
                                        </p:tav>
                                      </p:tavLst>
                                    </p:anim>
                                  </p:childTnLst>
                                </p:cTn>
                              </p:par>
                              <p:par>
                                <p:cTn id="75" nodeType="withEffect" fill="hold" presetClass="entr" presetID="42">
                                  <p:stCondLst>
                                    <p:cond delay="0"/>
                                  </p:stCondLst>
                                  <p:childTnLst>
                                    <p:set>
                                      <p:cBhvr>
                                        <p:cTn id="76" dur="1" fill="hold">
                                          <p:stCondLst>
                                            <p:cond delay="0"/>
                                          </p:stCondLst>
                                        </p:cTn>
                                        <p:tgtEl>
                                          <p:spTgt spid="144"/>
                                        </p:tgtEl>
                                        <p:attrNameLst>
                                          <p:attrName>style.visibility</p:attrName>
                                        </p:attrNameLst>
                                      </p:cBhvr>
                                      <p:to>
                                        <p:strVal val="visible"/>
                                      </p:to>
                                    </p:set>
                                    <p:animEffect filter="fade" transition="in">
                                      <p:cBhvr additive="repl">
                                        <p:cTn id="77" dur="1000"/>
                                        <p:tgtEl>
                                          <p:spTgt spid="144"/>
                                        </p:tgtEl>
                                      </p:cBhvr>
                                    </p:animEffect>
                                    <p:anim calcmode="lin" valueType="num">
                                      <p:cBhvr additive="repl">
                                        <p:cTn id="78" dur="1000" fill="hold"/>
                                        <p:tgtEl>
                                          <p:spTgt spid="144"/>
                                        </p:tgtEl>
                                        <p:attrNameLst>
                                          <p:attrName>ppt_x</p:attrName>
                                        </p:attrNameLst>
                                      </p:cBhvr>
                                      <p:tavLst>
                                        <p:tav tm="0">
                                          <p:val>
                                            <p:strVal val="#ppt_x"/>
                                          </p:val>
                                        </p:tav>
                                        <p:tav tm="100000">
                                          <p:val>
                                            <p:strVal val="#ppt_x"/>
                                          </p:val>
                                        </p:tav>
                                      </p:tavLst>
                                    </p:anim>
                                    <p:anim calcmode="lin" valueType="num">
                                      <p:cBhvr additive="repl">
                                        <p:cTn id="79" dur="1000" fill="hold"/>
                                        <p:tgtEl>
                                          <p:spTgt spid="144"/>
                                        </p:tgtEl>
                                        <p:attrNameLst>
                                          <p:attrName>ppt_y</p:attrName>
                                        </p:attrNameLst>
                                      </p:cBhvr>
                                      <p:tavLst>
                                        <p:tav tm="0">
                                          <p:val>
                                            <p:strVal val="#ppt_y+.1"/>
                                          </p:val>
                                        </p:tav>
                                        <p:tav tm="100000">
                                          <p:val>
                                            <p:strVal val="#ppt_y"/>
                                          </p:val>
                                        </p:tav>
                                      </p:tavLst>
                                    </p:anim>
                                  </p:childTnLst>
                                </p:cTn>
                              </p:par>
                              <p:par>
                                <p:cTn id="80" nodeType="withEffect" fill="hold" presetClass="entr" presetID="42">
                                  <p:stCondLst>
                                    <p:cond delay="0"/>
                                  </p:stCondLst>
                                  <p:childTnLst>
                                    <p:set>
                                      <p:cBhvr>
                                        <p:cTn id="81" dur="1" fill="hold">
                                          <p:stCondLst>
                                            <p:cond delay="0"/>
                                          </p:stCondLst>
                                        </p:cTn>
                                        <p:tgtEl>
                                          <p:spTgt spid="143"/>
                                        </p:tgtEl>
                                        <p:attrNameLst>
                                          <p:attrName>style.visibility</p:attrName>
                                        </p:attrNameLst>
                                      </p:cBhvr>
                                      <p:to>
                                        <p:strVal val="visible"/>
                                      </p:to>
                                    </p:set>
                                    <p:animEffect filter="fade" transition="in">
                                      <p:cBhvr additive="repl">
                                        <p:cTn id="82" dur="1000"/>
                                        <p:tgtEl>
                                          <p:spTgt spid="143"/>
                                        </p:tgtEl>
                                      </p:cBhvr>
                                    </p:animEffect>
                                    <p:anim calcmode="lin" valueType="num">
                                      <p:cBhvr additive="repl">
                                        <p:cTn id="83" dur="1000" fill="hold"/>
                                        <p:tgtEl>
                                          <p:spTgt spid="143"/>
                                        </p:tgtEl>
                                        <p:attrNameLst>
                                          <p:attrName>ppt_x</p:attrName>
                                        </p:attrNameLst>
                                      </p:cBhvr>
                                      <p:tavLst>
                                        <p:tav tm="0">
                                          <p:val>
                                            <p:strVal val="#ppt_x"/>
                                          </p:val>
                                        </p:tav>
                                        <p:tav tm="100000">
                                          <p:val>
                                            <p:strVal val="#ppt_x"/>
                                          </p:val>
                                        </p:tav>
                                      </p:tavLst>
                                    </p:anim>
                                    <p:anim calcmode="lin" valueType="num">
                                      <p:cBhvr additive="repl">
                                        <p:cTn id="84" dur="1000" fill="hold"/>
                                        <p:tgtEl>
                                          <p:spTgt spid="143"/>
                                        </p:tgtEl>
                                        <p:attrNameLst>
                                          <p:attrName>ppt_y</p:attrName>
                                        </p:attrNameLst>
                                      </p:cBhvr>
                                      <p:tavLst>
                                        <p:tav tm="0">
                                          <p:val>
                                            <p:strVal val="#ppt_y+.1"/>
                                          </p:val>
                                        </p:tav>
                                        <p:tav tm="100000">
                                          <p:val>
                                            <p:strVal val="#ppt_y"/>
                                          </p:val>
                                        </p:tav>
                                      </p:tavLst>
                                    </p:anim>
                                  </p:childTnLst>
                                </p:cTn>
                              </p:par>
                            </p:childTnLst>
                          </p:cTn>
                        </p:par>
                      </p:childTnLst>
                    </p:cTn>
                  </p:par>
                  <p:par>
                    <p:cTn id="85" nodeType="clickEffect" fill="hold">
                      <p:stCondLst>
                        <p:cond delay="indefinite"/>
                      </p:stCondLst>
                      <p:childTnLst>
                        <p:par>
                          <p:cTn id="86" nodeType="withEffect" fill="hold">
                            <p:stCondLst>
                              <p:cond delay="0"/>
                            </p:stCondLst>
                            <p:childTnLst>
                              <p:par>
                                <p:cTn id="87" nodeType="clickEffect" fill="hold" presetClass="entr" presetID="1">
                                  <p:stCondLst>
                                    <p:cond delay="0"/>
                                  </p:stCondLst>
                                  <p:childTnLst>
                                    <p:set>
                                      <p:cBhvr>
                                        <p:cTn id="88" dur="1" fill="hold">
                                          <p:stCondLst>
                                            <p:cond delay="0"/>
                                          </p:stCondLst>
                                        </p:cTn>
                                        <p:tgtEl>
                                          <p:spTgt spid="146"/>
                                        </p:tgtEl>
                                        <p:attrNameLst>
                                          <p:attrName>style.visibility</p:attrName>
                                        </p:attrNameLst>
                                      </p:cBhvr>
                                      <p:to>
                                        <p:strVal val="visible"/>
                                      </p:to>
                                    </p:set>
                                  </p:childTnLst>
                                </p:cTn>
                              </p:par>
                            </p:childTnLst>
                          </p:cTn>
                        </p:par>
                      </p:childTnLst>
                    </p:cTn>
                  </p:par>
                  <p:par>
                    <p:cTn id="89" nodeType="clickEffect" fill="hold">
                      <p:stCondLst>
                        <p:cond delay="indefinite"/>
                      </p:stCondLst>
                      <p:childTnLst>
                        <p:par>
                          <p:cTn id="90" nodeType="withEffect" fill="hold">
                            <p:stCondLst>
                              <p:cond delay="0"/>
                            </p:stCondLst>
                            <p:childTnLst>
                              <p:par>
                                <p:cTn id="91" nodeType="clickEffect" fill="hold" presetClass="entr" presetID="1">
                                  <p:stCondLst>
                                    <p:cond delay="0"/>
                                  </p:stCondLst>
                                  <p:childTnLst>
                                    <p:set>
                                      <p:cBhvr>
                                        <p:cTn id="92" dur="1" fill="hold">
                                          <p:stCondLst>
                                            <p:cond delay="0"/>
                                          </p:stCondLst>
                                        </p:cTn>
                                        <p:tgtEl>
                                          <p:spTgt spid="147"/>
                                        </p:tgtEl>
                                        <p:attrNameLst>
                                          <p:attrName>style.visibility</p:attrName>
                                        </p:attrNameLst>
                                      </p:cBhvr>
                                      <p:to>
                                        <p:strVal val="visible"/>
                                      </p:to>
                                    </p:set>
                                  </p:childTnLst>
                                </p:cTn>
                              </p:par>
                              <p:par>
                                <p:cTn id="93" nodeType="withEffect" fill="hold" presetClass="entr" presetID="1">
                                  <p:stCondLst>
                                    <p:cond delay="0"/>
                                  </p:stCondLst>
                                  <p:childTnLst>
                                    <p:set>
                                      <p:cBhvr>
                                        <p:cTn id="94" dur="1" fill="hold">
                                          <p:stCondLst>
                                            <p:cond delay="0"/>
                                          </p:stCondLst>
                                        </p:cTn>
                                        <p:tgtEl>
                                          <p:spTgt spid="14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9" name="Picture 9" descr="Image for post"/>
          <p:cNvPicPr/>
          <p:nvPr/>
        </p:nvPicPr>
        <p:blipFill>
          <a:blip r:embed="rId1"/>
          <a:stretch/>
        </p:blipFill>
        <p:spPr>
          <a:xfrm>
            <a:off x="2975040" y="2189160"/>
            <a:ext cx="5419800" cy="2441520"/>
          </a:xfrm>
          <a:prstGeom prst="rect">
            <a:avLst/>
          </a:prstGeom>
          <a:ln w="0">
            <a:noFill/>
          </a:ln>
        </p:spPr>
      </p:pic>
      <p:sp>
        <p:nvSpPr>
          <p:cNvPr id="150" name="PlaceHolder 1"/>
          <p:cNvSpPr>
            <a:spLocks noGrp="1"/>
          </p:cNvSpPr>
          <p:nvPr>
            <p:ph type="title"/>
          </p:nvPr>
        </p:nvSpPr>
        <p:spPr>
          <a:xfrm>
            <a:off x="1587600" y="274680"/>
            <a:ext cx="7099200" cy="72864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4400" spc="-1" strike="noStrike">
                <a:solidFill>
                  <a:srgbClr val="000000"/>
                </a:solidFill>
                <a:latin typeface="Arial"/>
              </a:rPr>
              <a:t>Code example</a:t>
            </a:r>
            <a:endParaRPr b="0" lang="en-US" sz="4400" spc="-1" strike="noStrike">
              <a:solidFill>
                <a:srgbClr val="000000"/>
              </a:solidFill>
              <a:latin typeface="Arial"/>
            </a:endParaRPr>
          </a:p>
        </p:txBody>
      </p:sp>
      <p:sp>
        <p:nvSpPr>
          <p:cNvPr id="151" name="Rectangle 2"/>
          <p:cNvSpPr/>
          <p:nvPr/>
        </p:nvSpPr>
        <p:spPr>
          <a:xfrm>
            <a:off x="1666800" y="1238400"/>
            <a:ext cx="7032600" cy="1008720"/>
          </a:xfrm>
          <a:prstGeom prst="rect">
            <a:avLst/>
          </a:prstGeom>
          <a:noFill/>
          <a:ln w="0">
            <a:noFill/>
          </a:ln>
        </p:spPr>
        <p:style>
          <a:lnRef idx="0"/>
          <a:fillRef idx="0"/>
          <a:effectRef idx="0"/>
          <a:fontRef idx="minor"/>
        </p:style>
        <p:txBody>
          <a:bodyPr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2000" spc="-1" strike="noStrike">
                <a:solidFill>
                  <a:srgbClr val="000000"/>
                </a:solidFill>
                <a:latin typeface="Arial"/>
              </a:rPr>
              <a:t>Gymnasium (the maintained successor of OpenAI Gym) has a ton of environments ranging from simple text-based games to Atari games like Breakout and Space Invaders. </a:t>
            </a:r>
            <a:endParaRPr b="0" lang="en-US" sz="2000" spc="-1" strike="noStrike">
              <a:solidFill>
                <a:srgbClr val="000000"/>
              </a:solidFill>
              <a:latin typeface="Arial"/>
            </a:endParaRPr>
          </a:p>
        </p:txBody>
      </p:sp>
      <p:sp>
        <p:nvSpPr>
          <p:cNvPr id="152" name="Rectangle 3"/>
          <p:cNvSpPr/>
          <p:nvPr/>
        </p:nvSpPr>
        <p:spPr>
          <a:xfrm>
            <a:off x="2564280" y="2986200"/>
            <a:ext cx="1450080" cy="36828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800" spc="-1" strike="noStrike">
                <a:solidFill>
                  <a:srgbClr val="000000"/>
                </a:solidFill>
                <a:latin typeface="Arial"/>
              </a:rPr>
              <a:t>Frozen Lake</a:t>
            </a:r>
            <a:endParaRPr b="0" lang="en-US" sz="1800" spc="-1" strike="noStrike">
              <a:solidFill>
                <a:srgbClr val="000000"/>
              </a:solidFill>
              <a:latin typeface="Arial"/>
            </a:endParaRPr>
          </a:p>
        </p:txBody>
      </p:sp>
      <p:pic>
        <p:nvPicPr>
          <p:cNvPr id="153" name="Picture 3" descr=""/>
          <p:cNvPicPr/>
          <p:nvPr/>
        </p:nvPicPr>
        <p:blipFill>
          <a:blip r:embed="rId2"/>
          <a:stretch/>
        </p:blipFill>
        <p:spPr>
          <a:xfrm>
            <a:off x="2476440" y="4614840"/>
            <a:ext cx="5756400" cy="1770120"/>
          </a:xfrm>
          <a:prstGeom prst="rect">
            <a:avLst/>
          </a:prstGeom>
          <a:ln w="0">
            <a:noFill/>
          </a:ln>
        </p:spPr>
      </p:pic>
      <p:sp>
        <p:nvSpPr>
          <p:cNvPr id="154" name="Rectangle 1"/>
          <p:cNvSpPr/>
          <p:nvPr/>
        </p:nvSpPr>
        <p:spPr>
          <a:xfrm>
            <a:off x="1666800" y="6150000"/>
            <a:ext cx="7375680" cy="600000"/>
          </a:xfrm>
          <a:prstGeom prst="rect">
            <a:avLst/>
          </a:prstGeom>
          <a:noFill/>
          <a:ln w="0">
            <a:noFill/>
          </a:ln>
        </p:spPr>
        <p:style>
          <a:lnRef idx="0"/>
          <a:fillRef idx="0"/>
          <a:effectRef idx="0"/>
          <a:fontRef idx="minor"/>
        </p:style>
        <p:txBody>
          <a:bodyPr lIns="90000" rIns="90000" tIns="46800" bIns="46800" anchor="t" wrap="square">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1400" spc="-1" strike="noStrike" u="sng">
                <a:solidFill>
                  <a:srgbClr val="0563c1"/>
                </a:solidFill>
                <a:uFillTx/>
                <a:latin typeface="Arial"/>
                <a:hlinkClick r:id="rId3"/>
              </a:rPr>
              <a:t>Try it on the course website: Lectures → Semester 1 → Week 11 → 3 Tutorial → FrozenLake_RL_Exploration.ipynb (it runs in your browser).</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95" dur="indefinite" restart="never" nodeType="tmRoot">
          <p:childTnLst>
            <p:seq>
              <p:cTn id="96" dur="indefinite" nodeType="mainSeq">
                <p:childTnLst>
                  <p:par>
                    <p:cTn id="97" nodeType="clickEffect" fill="hold">
                      <p:stCondLst>
                        <p:cond delay="indefinite"/>
                      </p:stCondLst>
                      <p:childTnLst>
                        <p:par>
                          <p:cTn id="98" nodeType="withEffect" fill="hold">
                            <p:stCondLst>
                              <p:cond delay="0"/>
                            </p:stCondLst>
                            <p:childTnLst>
                              <p:par>
                                <p:cTn id="99" nodeType="clickEffect" fill="hold" presetClass="entr" presetID="1">
                                  <p:stCondLst>
                                    <p:cond delay="0"/>
                                  </p:stCondLst>
                                  <p:childTnLst>
                                    <p:set>
                                      <p:cBhvr>
                                        <p:cTn id="100" dur="1" fill="hold">
                                          <p:stCondLst>
                                            <p:cond delay="499"/>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5" name="PlaceHolder 1"/>
          <p:cNvSpPr>
            <a:spLocks noGrp="1"/>
          </p:cNvSpPr>
          <p:nvPr>
            <p:ph type="title"/>
          </p:nvPr>
        </p:nvSpPr>
        <p:spPr>
          <a:xfrm>
            <a:off x="1625760" y="274320"/>
            <a:ext cx="706104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GB" sz="3200" spc="-1" strike="noStrike">
                <a:solidFill>
                  <a:srgbClr val="000000"/>
                </a:solidFill>
                <a:latin typeface="Arial"/>
              </a:rPr>
              <a:t>Combining Reinforcement learning with Deep Learning</a:t>
            </a:r>
            <a:endParaRPr b="0" lang="en-US" sz="3200" spc="-1" strike="noStrike">
              <a:solidFill>
                <a:srgbClr val="000000"/>
              </a:solidFill>
              <a:latin typeface="Arial"/>
            </a:endParaRPr>
          </a:p>
        </p:txBody>
      </p:sp>
      <p:sp>
        <p:nvSpPr>
          <p:cNvPr id="156" name="AutoShape 2"/>
          <p:cNvSpPr/>
          <p:nvPr/>
        </p:nvSpPr>
        <p:spPr>
          <a:xfrm>
            <a:off x="155520" y="-144360"/>
            <a:ext cx="304920" cy="304560"/>
          </a:xfrm>
          <a:prstGeom prst="rect">
            <a:avLst/>
          </a:prstGeom>
          <a:noFill/>
          <a:ln w="0">
            <a:noFill/>
          </a:ln>
        </p:spPr>
        <p:style>
          <a:lnRef idx="0"/>
          <a:fillRef idx="0"/>
          <a:effectRef idx="0"/>
          <a:fontRef idx="minor"/>
        </p:style>
        <p:txBody>
          <a:bodyPr lIns="90000" rIns="90000" tIns="46800" bIns="46800" anchor="t">
            <a:no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sp>
        <p:nvSpPr>
          <p:cNvPr id="157" name="AutoShape 4"/>
          <p:cNvSpPr/>
          <p:nvPr/>
        </p:nvSpPr>
        <p:spPr>
          <a:xfrm>
            <a:off x="307800" y="7920"/>
            <a:ext cx="304920" cy="304920"/>
          </a:xfrm>
          <a:prstGeom prst="rect">
            <a:avLst/>
          </a:prstGeom>
          <a:noFill/>
          <a:ln w="0">
            <a:noFill/>
          </a:ln>
        </p:spPr>
        <p:style>
          <a:lnRef idx="0"/>
          <a:fillRef idx="0"/>
          <a:effectRef idx="0"/>
          <a:fontRef idx="minor"/>
        </p:style>
        <p:txBody>
          <a:bodyPr lIns="90000" rIns="90000" tIns="46800" bIns="46800" anchor="t">
            <a:no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p:txBody>
      </p:sp>
      <p:pic>
        <p:nvPicPr>
          <p:cNvPr id="158" name="Picture 7" descr="Image result for deep reinforcement learning"/>
          <p:cNvPicPr/>
          <p:nvPr/>
        </p:nvPicPr>
        <p:blipFill>
          <a:blip r:embed="rId1"/>
          <a:stretch/>
        </p:blipFill>
        <p:spPr>
          <a:xfrm>
            <a:off x="1600200" y="2077920"/>
            <a:ext cx="7378560" cy="3367080"/>
          </a:xfrm>
          <a:prstGeom prst="rect">
            <a:avLst/>
          </a:prstGeom>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9" name="PlaceHolder 1"/>
          <p:cNvSpPr>
            <a:spLocks noGrp="1"/>
          </p:cNvSpPr>
          <p:nvPr>
            <p:ph type="title"/>
          </p:nvPr>
        </p:nvSpPr>
        <p:spPr>
          <a:xfrm>
            <a:off x="1566720" y="209160"/>
            <a:ext cx="8229600" cy="1143000"/>
          </a:xfrm>
          <a:prstGeom prst="rect">
            <a:avLst/>
          </a:prstGeom>
          <a:noFill/>
          <a:ln w="0">
            <a:noFill/>
          </a:ln>
        </p:spPr>
        <p:txBody>
          <a:bodyPr lIns="90000" rIns="90000" tIns="46800" bIns="46800" anchor="t">
            <a:noAutofit/>
          </a:bodyPr>
          <a:p>
            <a:pPr indent="0">
              <a:lnSpc>
                <a:spcPct val="90000"/>
              </a:lnSpc>
              <a:buNone/>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4400" spc="-1" strike="noStrike">
                <a:solidFill>
                  <a:srgbClr val="000000"/>
                </a:solidFill>
                <a:latin typeface="Arial"/>
                <a:ea typeface="ＭＳ Ｐゴシック"/>
              </a:rPr>
              <a:t>Conclusion</a:t>
            </a:r>
            <a:endParaRPr b="0" lang="en-US" sz="4400" spc="-1" strike="noStrike">
              <a:solidFill>
                <a:srgbClr val="000000"/>
              </a:solidFill>
              <a:latin typeface="Arial"/>
            </a:endParaRPr>
          </a:p>
        </p:txBody>
      </p:sp>
      <p:sp>
        <p:nvSpPr>
          <p:cNvPr id="160" name="Text Box 4"/>
          <p:cNvSpPr/>
          <p:nvPr/>
        </p:nvSpPr>
        <p:spPr>
          <a:xfrm>
            <a:off x="1633680" y="949320"/>
            <a:ext cx="7194240" cy="4483080"/>
          </a:xfrm>
          <a:prstGeom prst="rect">
            <a:avLst/>
          </a:prstGeom>
          <a:noFill/>
          <a:ln w="0">
            <a:noFill/>
          </a:ln>
        </p:spPr>
        <p:style>
          <a:lnRef idx="0"/>
          <a:fillRef idx="0"/>
          <a:effectRef idx="0"/>
          <a:fontRef idx="minor"/>
        </p:style>
        <p:txBody>
          <a:bodyPr lIns="90000" rIns="90000" tIns="46800" bIns="46800" anchor="t">
            <a:spAutoFit/>
          </a:bodyPr>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Reinforcement learning addresses a very broad and relevant question: How can we learn to survive in our environment?</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We have looked at Q-learning, which simply learns from experience. No model of the world is needed.</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We made simplifying assumptions: e.g. state of the world only depends on last state and action. This is the </a:t>
            </a:r>
            <a:r>
              <a:rPr b="0" i="1" lang="en-US" sz="1800" spc="-1" strike="noStrike">
                <a:solidFill>
                  <a:srgbClr val="000000"/>
                </a:solidFill>
                <a:latin typeface="Arial"/>
              </a:rPr>
              <a:t>Markov</a:t>
            </a:r>
            <a:r>
              <a:rPr b="0" lang="en-US" sz="1800" spc="-1" strike="noStrike">
                <a:solidFill>
                  <a:srgbClr val="000000"/>
                </a:solidFill>
                <a:latin typeface="Arial"/>
              </a:rPr>
              <a:t> assumption. The model is called a </a:t>
            </a:r>
            <a:r>
              <a:rPr b="0" i="1" lang="en-US" sz="1800" spc="-1" strike="noStrike">
                <a:solidFill>
                  <a:srgbClr val="000000"/>
                </a:solidFill>
                <a:latin typeface="Arial"/>
              </a:rPr>
              <a:t>Markov Decision Process (MDP).</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We assumed deterministic dynamics, reward function, but the world really is stochastic.</a:t>
            </a:r>
            <a:endParaRPr b="0" lang="en-US" sz="18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There are many extensions to speed up learning.</a:t>
            </a: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800" spc="-1" strike="noStrike">
              <a:solidFill>
                <a:srgbClr val="000000"/>
              </a:solidFill>
              <a:latin typeface="Arial"/>
            </a:endParaRPr>
          </a:p>
          <a:p>
            <a:pPr>
              <a:buClr>
                <a:srgbClr val="000000"/>
              </a:buClr>
              <a:buFont typeface="Arial"/>
              <a:buChar char="•"/>
              <a:tabLst>
                <a:tab algn="l" pos="914400"/>
                <a:tab algn="l" pos="1828800"/>
                <a:tab algn="l" pos="2743200"/>
                <a:tab algn="l" pos="3657600"/>
                <a:tab algn="l" pos="4572000"/>
                <a:tab algn="l" pos="5486400"/>
                <a:tab algn="l" pos="6400800"/>
                <a:tab algn="l" pos="7315200"/>
                <a:tab algn="l" pos="8229600"/>
                <a:tab algn="l" pos="9144000"/>
                <a:tab algn="l" pos="10058400"/>
              </a:tabLst>
            </a:pPr>
            <a:r>
              <a:rPr b="0" lang="en-US" sz="1800" spc="-1" strike="noStrike">
                <a:solidFill>
                  <a:srgbClr val="000000"/>
                </a:solidFill>
                <a:latin typeface="Arial"/>
              </a:rPr>
              <a:t> </a:t>
            </a:r>
            <a:r>
              <a:rPr b="0" lang="en-US" sz="1800" spc="-1" strike="noStrike">
                <a:solidFill>
                  <a:srgbClr val="000000"/>
                </a:solidFill>
                <a:latin typeface="Arial"/>
              </a:rPr>
              <a:t>There have been many successful real world applications.</a:t>
            </a:r>
            <a:endParaRPr b="0" lang="en-US" sz="1800" spc="-1" strike="noStrike">
              <a:solidFill>
                <a:srgbClr val="000000"/>
              </a:solidFill>
              <a:latin typeface="Arial"/>
            </a:endParaRPr>
          </a:p>
        </p:txBody>
      </p:sp>
      <p:sp>
        <p:nvSpPr>
          <p:cNvPr id="161" name="TextBox 5"/>
          <p:cNvSpPr/>
          <p:nvPr/>
        </p:nvSpPr>
        <p:spPr>
          <a:xfrm>
            <a:off x="1900000" y="5576760"/>
            <a:ext cx="6483960" cy="520920"/>
          </a:xfrm>
          <a:prstGeom prst="rect">
            <a:avLst/>
          </a:prstGeom>
          <a:noFill/>
          <a:ln w="0">
            <a:noFill/>
          </a:ln>
        </p:spPr>
        <p:style>
          <a:lnRef idx="0"/>
          <a:fillRef idx="0"/>
          <a:effectRef idx="0"/>
          <a:fontRef idx="minor"/>
        </p:style>
        <p:txBody>
          <a:bodyPr wrap="none" lIns="90000" rIns="90000" tIns="46800" bIns="46800" anchor="t">
            <a:spAutoFit/>
          </a:bodyPr>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r>
              <a:rPr b="0" lang="en-US" sz="1400" spc="-1" strike="noStrike" u="sng">
                <a:solidFill>
                  <a:srgbClr val="0563c1"/>
                </a:solidFill>
                <a:uFillTx/>
                <a:latin typeface="Arial"/>
                <a:hlinkClick r:id="rId1"/>
              </a:rPr>
              <a:t>Further reading: Sutton &amp; Barto, Reinforcement Learning: An Introduction (2nd ed., 2018)</a:t>
            </a:r>
            <a:endParaRPr b="0" lang="en-US" sz="1400" spc="-1" strike="noStrike">
              <a:solidFill>
                <a:srgbClr val="000000"/>
              </a:solidFill>
              <a:latin typeface="Arial"/>
            </a:endParaRPr>
          </a:p>
          <a:p>
            <a:pPr>
              <a:tabLst>
                <a:tab algn="l" pos="0"/>
                <a:tab algn="l" pos="914400"/>
                <a:tab algn="l" pos="1828800"/>
                <a:tab algn="l" pos="2743200"/>
                <a:tab algn="l" pos="3657600"/>
                <a:tab algn="l" pos="4572000"/>
                <a:tab algn="l" pos="5486400"/>
                <a:tab algn="l" pos="6400800"/>
                <a:tab algn="l" pos="7315200"/>
                <a:tab algn="l" pos="8229600"/>
                <a:tab algn="l" pos="9144000"/>
                <a:tab algn="l" pos="10058400"/>
              </a:tabLst>
            </a:pP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1004</TotalTime>
  <Application>LibreOffice/24.2.7.2$Linux_X86_64 LibreOffice_project/420$Build-2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2009-11-23T23:08:25Z</dcterms:created>
  <dc:creator>Welling</dc:creator>
  <dc:description/>
  <dc:language>en-US</dc:language>
  <cp:lastModifiedBy>Giannis Tsioulis</cp:lastModifiedBy>
  <dcterms:modified xsi:type="dcterms:W3CDTF">2025-12-09T18:24:43Z</dcterms:modified>
  <cp:revision>51</cp:revision>
  <dc:subject/>
  <dc:title>Reinforcement Learning</dc:title>
</cp:coreProperties>
</file>