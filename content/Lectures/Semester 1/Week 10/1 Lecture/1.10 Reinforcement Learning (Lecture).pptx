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49" r:id="rId3"/>
    <p:sldMasterId id="2147483651" r:id="rId4"/>
    <p:sldMasterId id="2147483652" r:id="rId5"/>
    <p:sldMasterId id="2147483653" r:id="rId6"/>
    <p:sldMasterId id="2147483654"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Lst>
  <p:sldSz cx="9144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 name=""/>
          <p:cNvSpPr/>
          <p:nvPr/>
        </p:nvSpPr>
        <p:spPr>
          <a:xfrm>
            <a:off x="0" y="0"/>
            <a:ext cx="6858000" cy="9144000"/>
          </a:xfrm>
          <a:prstGeom prst="rect">
            <a:avLst/>
          </a:prstGeom>
          <a:solidFill>
            <a:srgbClr val="ffffff"/>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2" name="PlaceHolder 1"/>
          <p:cNvSpPr>
            <a:spLocks noGrp="1"/>
          </p:cNvSpPr>
          <p:nvPr>
            <p:ph type="hdr"/>
          </p:nvPr>
        </p:nvSpPr>
        <p:spPr>
          <a:xfrm>
            <a:off x="-360" y="0"/>
            <a:ext cx="2971800" cy="457200"/>
          </a:xfrm>
          <a:prstGeom prst="rect">
            <a:avLst/>
          </a:prstGeom>
          <a:noFill/>
          <a:ln w="0">
            <a:noFill/>
          </a:ln>
        </p:spPr>
        <p:txBody>
          <a:bodyPr lIns="90000" rIns="90000" tIns="46800" bIns="46800" anchor="t">
            <a:noAutofit/>
          </a:bodyPr>
          <a:p>
            <a:pPr indent="0">
              <a:buNone/>
            </a:pPr>
            <a:endParaRPr b="0" lang="en-US" sz="2400" spc="-1" strike="noStrike">
              <a:solidFill>
                <a:srgbClr val="000000"/>
              </a:solidFill>
              <a:latin typeface="Times New Roman"/>
            </a:endParaRPr>
          </a:p>
        </p:txBody>
      </p:sp>
      <p:sp>
        <p:nvSpPr>
          <p:cNvPr id="23" name="PlaceHolder 2"/>
          <p:cNvSpPr>
            <a:spLocks noGrp="1"/>
          </p:cNvSpPr>
          <p:nvPr>
            <p:ph type="dt" idx="4"/>
          </p:nvPr>
        </p:nvSpPr>
        <p:spPr>
          <a:xfrm>
            <a:off x="3884400" y="0"/>
            <a:ext cx="2971800" cy="457200"/>
          </a:xfrm>
          <a:prstGeom prst="rect">
            <a:avLst/>
          </a:prstGeom>
          <a:noFill/>
          <a:ln w="0">
            <a:noFill/>
          </a:ln>
        </p:spPr>
        <p:txBody>
          <a:bodyPr lIns="90000" rIns="90000" tIns="46800" bIns="46800" anchor="t">
            <a:noAutofit/>
          </a:bodyPr>
          <a:p>
            <a:pPr indent="0">
              <a:buNone/>
            </a:pPr>
            <a:endParaRPr b="0" lang="en-US" sz="2400" spc="-1" strike="noStrike">
              <a:solidFill>
                <a:srgbClr val="000000"/>
              </a:solidFill>
              <a:latin typeface="Times New Roman"/>
            </a:endParaRPr>
          </a:p>
        </p:txBody>
      </p:sp>
      <p:sp>
        <p:nvSpPr>
          <p:cNvPr id="24" name="PlaceHolder 3"/>
          <p:cNvSpPr>
            <a:spLocks noGrp="1"/>
          </p:cNvSpPr>
          <p:nvPr>
            <p:ph type="sldImg"/>
          </p:nvPr>
        </p:nvSpPr>
        <p:spPr>
          <a:xfrm>
            <a:off x="1143000" y="685440"/>
            <a:ext cx="4572000" cy="3429000"/>
          </a:xfrm>
          <a:prstGeom prst="rect">
            <a:avLst/>
          </a:prstGeom>
          <a:noFill/>
          <a:ln w="9360">
            <a:solidFill>
              <a:srgbClr val="000000"/>
            </a:solidFill>
            <a:miter/>
          </a:ln>
        </p:spPr>
        <p:txBody>
          <a:bodyPr lIns="90000" rIns="90000" tIns="46800" bIns="46800" anchor="ctr">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25" name="PlaceHolder 4"/>
          <p:cNvSpPr>
            <a:spLocks noGrp="1"/>
          </p:cNvSpPr>
          <p:nvPr>
            <p:ph type="body"/>
          </p:nvPr>
        </p:nvSpPr>
        <p:spPr>
          <a:xfrm>
            <a:off x="685800" y="4343400"/>
            <a:ext cx="5486400" cy="4114800"/>
          </a:xfrm>
          <a:prstGeom prst="rect">
            <a:avLst/>
          </a:prstGeom>
          <a:noFill/>
          <a:ln w="0">
            <a:noFill/>
          </a:ln>
        </p:spPr>
        <p:txBody>
          <a:bodyPr lIns="90000" rIns="90000" tIns="46800" bIns="4680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200" spc="-1" strike="noStrike">
                <a:solidFill>
                  <a:srgbClr val="000000"/>
                </a:solidFill>
                <a:latin typeface="Arial"/>
              </a:rPr>
              <a:t>Click to edit the notes format</a:t>
            </a:r>
            <a:endParaRPr b="0" lang="en-US" sz="1200" spc="-1" strike="noStrike">
              <a:solidFill>
                <a:srgbClr val="000000"/>
              </a:solidFill>
              <a:latin typeface="Arial"/>
            </a:endParaRPr>
          </a:p>
        </p:txBody>
      </p:sp>
      <p:sp>
        <p:nvSpPr>
          <p:cNvPr id="26" name="PlaceHolder 5"/>
          <p:cNvSpPr>
            <a:spLocks noGrp="1"/>
          </p:cNvSpPr>
          <p:nvPr>
            <p:ph type="ftr" idx="5"/>
          </p:nvPr>
        </p:nvSpPr>
        <p:spPr>
          <a:xfrm>
            <a:off x="-360" y="8685360"/>
            <a:ext cx="2971800" cy="457200"/>
          </a:xfrm>
          <a:prstGeom prst="rect">
            <a:avLst/>
          </a:prstGeom>
          <a:noFill/>
          <a:ln w="0">
            <a:noFill/>
          </a:ln>
        </p:spPr>
        <p:txBody>
          <a:bodyPr lIns="90000" rIns="90000" tIns="46800" bIns="46800" anchor="b">
            <a:noAutofit/>
          </a:bodyPr>
          <a:p>
            <a:pPr indent="0">
              <a:buNone/>
            </a:pPr>
            <a:endParaRPr b="0" lang="en-US" sz="2400" spc="-1" strike="noStrike">
              <a:solidFill>
                <a:srgbClr val="000000"/>
              </a:solidFill>
              <a:latin typeface="Times New Roman"/>
            </a:endParaRPr>
          </a:p>
        </p:txBody>
      </p:sp>
      <p:sp>
        <p:nvSpPr>
          <p:cNvPr id="27" name="PlaceHolder 6"/>
          <p:cNvSpPr>
            <a:spLocks noGrp="1"/>
          </p:cNvSpPr>
          <p:nvPr>
            <p:ph type="sldNum" idx="6"/>
          </p:nvPr>
        </p:nvSpPr>
        <p:spPr>
          <a:xfrm>
            <a:off x="3884400" y="8685360"/>
            <a:ext cx="2971800" cy="457200"/>
          </a:xfrm>
          <a:prstGeom prst="rect">
            <a:avLst/>
          </a:prstGeom>
          <a:noFill/>
          <a:ln w="0">
            <a:noFill/>
          </a:ln>
        </p:spPr>
        <p:txBody>
          <a:bodyPr lIns="90000" rIns="90000" tIns="46800" bIns="46800" anchor="b">
            <a:noAutofit/>
          </a:bodyPr>
          <a:lstStyle>
            <a:lvl1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1200" spc="-1" strike="noStrike">
                <a:solidFill>
                  <a:srgbClr val="000000"/>
                </a:solidFill>
                <a:latin typeface="Times New Roman"/>
              </a:defRPr>
            </a:lvl1pPr>
          </a:lstStyle>
          <a:p>
            <a:pPr marL="216000" indent="0" algn="r">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FCCB990-7089-4244-9EB0-FEBC1EFE1C6F}" type="slidenum">
              <a:rPr b="0" lang="en-US" sz="1200" spc="-1" strike="noStrike">
                <a:solidFill>
                  <a:srgbClr val="000000"/>
                </a:solidFill>
                <a:latin typeface="Times New Roman"/>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9397E4B9-1ED7-4B6F-9C55-3E4C2887E0A5}" type="slidenum">
              <a:rPr b="0" lang="en-US" sz="1200" spc="-1" strike="noStrike">
                <a:solidFill>
                  <a:srgbClr val="000000"/>
                </a:solidFill>
                <a:latin typeface="Arial"/>
              </a:rPr>
              <a:t>&lt;number&gt;</a:t>
            </a:fld>
            <a:endParaRPr b="0" lang="en-US" sz="1200" spc="-1" strike="noStrike">
              <a:solidFill>
                <a:srgbClr val="000000"/>
              </a:solidFill>
              <a:latin typeface="Arial"/>
            </a:endParaRPr>
          </a:p>
        </p:txBody>
      </p:sp>
      <p:sp>
        <p:nvSpPr>
          <p:cNvPr id="163" name="PlaceHolder 1"/>
          <p:cNvSpPr>
            <a:spLocks noGrp="1"/>
          </p:cNvSpPr>
          <p:nvPr>
            <p:ph type="sldImg"/>
          </p:nvPr>
        </p:nvSpPr>
        <p:spPr>
          <a:xfrm>
            <a:off x="1143000" y="685800"/>
            <a:ext cx="4572000" cy="3429000"/>
          </a:xfrm>
          <a:prstGeom prst="rect">
            <a:avLst/>
          </a:prstGeom>
          <a:ln w="0">
            <a:noFill/>
          </a:ln>
        </p:spPr>
      </p:sp>
      <p:sp>
        <p:nvSpPr>
          <p:cNvPr id="164"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32835FC2-B221-44BF-9ED4-4D318DFBCDE4}" type="slidenum">
              <a:rPr b="0" lang="en-US" sz="1200" spc="-1" strike="noStrike">
                <a:solidFill>
                  <a:srgbClr val="000000"/>
                </a:solidFill>
                <a:latin typeface="Arial"/>
              </a:rPr>
              <a:t>&lt;number&gt;</a:t>
            </a:fld>
            <a:endParaRPr b="0" lang="en-US" sz="1200" spc="-1" strike="noStrike">
              <a:solidFill>
                <a:srgbClr val="000000"/>
              </a:solidFill>
              <a:latin typeface="Arial"/>
            </a:endParaRPr>
          </a:p>
        </p:txBody>
      </p:sp>
      <p:sp>
        <p:nvSpPr>
          <p:cNvPr id="166" name="PlaceHolder 1"/>
          <p:cNvSpPr>
            <a:spLocks noGrp="1"/>
          </p:cNvSpPr>
          <p:nvPr>
            <p:ph type="sldImg"/>
          </p:nvPr>
        </p:nvSpPr>
        <p:spPr>
          <a:xfrm>
            <a:off x="1143000" y="685800"/>
            <a:ext cx="4572000" cy="3429000"/>
          </a:xfrm>
          <a:prstGeom prst="rect">
            <a:avLst/>
          </a:prstGeom>
          <a:ln w="0">
            <a:noFill/>
          </a:ln>
        </p:spPr>
      </p:sp>
      <p:sp>
        <p:nvSpPr>
          <p:cNvPr id="167"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916B2BB-6340-4627-B7C3-B823548ACE51}" type="slidenum">
              <a:rPr b="0" lang="en-US" sz="1200" spc="-1" strike="noStrike">
                <a:solidFill>
                  <a:srgbClr val="000000"/>
                </a:solidFill>
                <a:latin typeface="Arial"/>
              </a:rPr>
              <a:t>&lt;number&gt;</a:t>
            </a:fld>
            <a:endParaRPr b="0" lang="en-US" sz="1200" spc="-1" strike="noStrike">
              <a:solidFill>
                <a:srgbClr val="000000"/>
              </a:solidFill>
              <a:latin typeface="Arial"/>
            </a:endParaRPr>
          </a:p>
        </p:txBody>
      </p:sp>
      <p:sp>
        <p:nvSpPr>
          <p:cNvPr id="169" name="PlaceHolder 1"/>
          <p:cNvSpPr>
            <a:spLocks noGrp="1"/>
          </p:cNvSpPr>
          <p:nvPr>
            <p:ph type="sldImg"/>
          </p:nvPr>
        </p:nvSpPr>
        <p:spPr>
          <a:xfrm>
            <a:off x="1143000" y="685800"/>
            <a:ext cx="4572000" cy="3429000"/>
          </a:xfrm>
          <a:prstGeom prst="rect">
            <a:avLst/>
          </a:prstGeom>
          <a:ln w="0">
            <a:noFill/>
          </a:ln>
        </p:spPr>
      </p:sp>
      <p:sp>
        <p:nvSpPr>
          <p:cNvPr id="170"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43C74DB6-CEAF-4C24-A5FC-8A7846AFEE22}" type="slidenum">
              <a:rPr b="0" lang="en-US" sz="1200" spc="-1" strike="noStrike">
                <a:solidFill>
                  <a:srgbClr val="000000"/>
                </a:solidFill>
                <a:latin typeface="Arial"/>
              </a:rPr>
              <a:t>&lt;number&gt;</a:t>
            </a:fld>
            <a:endParaRPr b="0" lang="en-US" sz="1200" spc="-1" strike="noStrike">
              <a:solidFill>
                <a:srgbClr val="000000"/>
              </a:solidFill>
              <a:latin typeface="Arial"/>
            </a:endParaRPr>
          </a:p>
        </p:txBody>
      </p:sp>
      <p:sp>
        <p:nvSpPr>
          <p:cNvPr id="172" name="PlaceHolder 1"/>
          <p:cNvSpPr>
            <a:spLocks noGrp="1"/>
          </p:cNvSpPr>
          <p:nvPr>
            <p:ph type="sldImg"/>
          </p:nvPr>
        </p:nvSpPr>
        <p:spPr>
          <a:xfrm>
            <a:off x="1143000" y="685800"/>
            <a:ext cx="4572000" cy="3429000"/>
          </a:xfrm>
          <a:prstGeom prst="rect">
            <a:avLst/>
          </a:prstGeom>
          <a:ln w="0">
            <a:noFill/>
          </a:ln>
        </p:spPr>
      </p:sp>
      <p:sp>
        <p:nvSpPr>
          <p:cNvPr id="173"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D9634851-09F3-401D-8AA2-033AEB6F73A0}" type="slidenum">
              <a:rPr b="0" lang="en-US" sz="1200" spc="-1" strike="noStrike">
                <a:solidFill>
                  <a:srgbClr val="000000"/>
                </a:solidFill>
                <a:latin typeface="Arial"/>
              </a:rPr>
              <a:t>&lt;number&gt;</a:t>
            </a:fld>
            <a:endParaRPr b="0" lang="en-US" sz="1200" spc="-1" strike="noStrike">
              <a:solidFill>
                <a:srgbClr val="000000"/>
              </a:solidFill>
              <a:latin typeface="Arial"/>
            </a:endParaRPr>
          </a:p>
        </p:txBody>
      </p:sp>
      <p:sp>
        <p:nvSpPr>
          <p:cNvPr id="175" name="PlaceHolder 1"/>
          <p:cNvSpPr>
            <a:spLocks noGrp="1"/>
          </p:cNvSpPr>
          <p:nvPr>
            <p:ph type="sldImg"/>
          </p:nvPr>
        </p:nvSpPr>
        <p:spPr>
          <a:xfrm>
            <a:off x="1143000" y="685800"/>
            <a:ext cx="4572000" cy="3429000"/>
          </a:xfrm>
          <a:prstGeom prst="rect">
            <a:avLst/>
          </a:prstGeom>
          <a:ln w="0">
            <a:noFill/>
          </a:ln>
        </p:spPr>
      </p:sp>
      <p:sp>
        <p:nvSpPr>
          <p:cNvPr id="176"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PlaceHolder 1"/>
          <p:cNvSpPr>
            <a:spLocks noGrp="1"/>
          </p:cNvSpPr>
          <p:nvPr>
            <p:ph type="sldImg"/>
          </p:nvPr>
        </p:nvSpPr>
        <p:spPr>
          <a:xfrm>
            <a:off x="1143000" y="685800"/>
            <a:ext cx="4572000" cy="3429000"/>
          </a:xfrm>
          <a:prstGeom prst="rect">
            <a:avLst/>
          </a:prstGeom>
          <a:ln w="0">
            <a:noFill/>
          </a:ln>
        </p:spPr>
      </p:sp>
      <p:sp>
        <p:nvSpPr>
          <p:cNvPr id="178" name="PlaceHolder 2"/>
          <p:cNvSpPr>
            <a:spLocks noGrp="1"/>
          </p:cNvSpPr>
          <p:nvPr>
            <p:ph type="body"/>
          </p:nvPr>
        </p:nvSpPr>
        <p:spPr>
          <a:xfrm>
            <a:off x="685800" y="4343400"/>
            <a:ext cx="5486400" cy="4114800"/>
          </a:xfrm>
          <a:prstGeom prst="rect">
            <a:avLst/>
          </a:prstGeom>
          <a:noFill/>
          <a:ln w="0">
            <a:noFill/>
          </a:ln>
        </p:spPr>
        <p:txBody>
          <a:bodyPr lIns="91440" rIns="91440" tIns="45720" bIns="4572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200" spc="-1" strike="noStrike">
                <a:solidFill>
                  <a:srgbClr val="000000"/>
                </a:solidFill>
                <a:latin typeface="Arial"/>
              </a:rPr>
              <a:t>This process of selecting an action from a given state, transitioning to a new state, and receiving a reward happens sequentially over and over again, which creates something called a </a:t>
            </a:r>
            <a:r>
              <a:rPr b="0" i="1" lang="en-GB" sz="1200" spc="-1" strike="noStrike">
                <a:solidFill>
                  <a:srgbClr val="000000"/>
                </a:solidFill>
                <a:latin typeface="Arial"/>
              </a:rPr>
              <a:t>trajectory</a:t>
            </a:r>
            <a:r>
              <a:rPr b="0" lang="en-GB" sz="1200" spc="-1" strike="noStrike">
                <a:solidFill>
                  <a:srgbClr val="000000"/>
                </a:solidFill>
                <a:latin typeface="Arial"/>
              </a:rPr>
              <a:t> that shows the sequence of states, actions, and rewards.</a:t>
            </a:r>
            <a:endParaRPr b="0" lang="en-US" sz="1200" spc="-1" strike="noStrike">
              <a:solidFill>
                <a:srgbClr val="000000"/>
              </a:solidFill>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200" spc="-1" strike="noStrike">
                <a:solidFill>
                  <a:srgbClr val="000000"/>
                </a:solidFill>
                <a:latin typeface="Arial"/>
              </a:rPr>
              <a:t>Throughout this process, it is the agent’s goal to maximize the total amount of rewards that it receives from taking actions in given states. This means that the agent wants to maximize not just the immediate reward, but the </a:t>
            </a:r>
            <a:r>
              <a:rPr b="0" i="1" lang="en-GB" sz="1200" spc="-1" strike="noStrike">
                <a:solidFill>
                  <a:srgbClr val="000000"/>
                </a:solidFill>
                <a:latin typeface="Arial"/>
              </a:rPr>
              <a:t>cumulative</a:t>
            </a:r>
            <a:r>
              <a:rPr b="0" lang="en-GB" sz="1200" spc="-1" strike="noStrike">
                <a:solidFill>
                  <a:srgbClr val="000000"/>
                </a:solidFill>
                <a:latin typeface="Arial"/>
              </a:rPr>
              <a:t> rewards it receives over time.</a:t>
            </a:r>
            <a:endParaRPr b="0" lang="en-US" sz="1200" spc="-1" strike="noStrike">
              <a:solidFill>
                <a:srgbClr val="000000"/>
              </a:solidFill>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79" name="Slide Number Placeholder 3"/>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6A5C1B28-390A-4740-84FC-FDF0D5C5DF26}" type="slidenum">
              <a:rPr b="0" lang="en-US" sz="1200" spc="-1" strike="noStrike">
                <a:solidFill>
                  <a:srgbClr val="000000"/>
                </a:solidFill>
                <a:latin typeface="Arial"/>
              </a:rPr>
              <a:t>&lt;number&gt;</a:t>
            </a:fld>
            <a:endParaRPr b="0" lang="en-US" sz="1200" spc="-1" strike="noStrike">
              <a:solidFill>
                <a:srgbClr val="000000"/>
              </a:solidFill>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0" name="PlaceHolder 1"/>
          <p:cNvSpPr>
            <a:spLocks noGrp="1"/>
          </p:cNvSpPr>
          <p:nvPr>
            <p:ph type="sldImg"/>
          </p:nvPr>
        </p:nvSpPr>
        <p:spPr>
          <a:xfrm>
            <a:off x="1143000" y="685800"/>
            <a:ext cx="4572000" cy="3429000"/>
          </a:xfrm>
          <a:prstGeom prst="rect">
            <a:avLst/>
          </a:prstGeom>
          <a:ln w="0">
            <a:noFill/>
          </a:ln>
        </p:spPr>
      </p:sp>
      <p:sp>
        <p:nvSpPr>
          <p:cNvPr id="181" name="PlaceHolder 2"/>
          <p:cNvSpPr>
            <a:spLocks noGrp="1"/>
          </p:cNvSpPr>
          <p:nvPr>
            <p:ph type="body"/>
          </p:nvPr>
        </p:nvSpPr>
        <p:spPr>
          <a:xfrm>
            <a:off x="685800" y="4343400"/>
            <a:ext cx="5486400" cy="4114800"/>
          </a:xfrm>
          <a:prstGeom prst="rect">
            <a:avLst/>
          </a:prstGeom>
          <a:noFill/>
          <a:ln w="0">
            <a:noFill/>
          </a:ln>
        </p:spPr>
        <p:txBody>
          <a:bodyPr lIns="91440" rIns="91440" tIns="45720" bIns="4572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200" spc="-1" strike="noStrike">
                <a:solidFill>
                  <a:srgbClr val="000000"/>
                </a:solidFill>
                <a:latin typeface="Arial"/>
              </a:rPr>
              <a:t>This infinite sum yields a finite result. If you want to understand this concept more deeply, then research </a:t>
            </a:r>
            <a:r>
              <a:rPr b="0" i="1" lang="en-GB" sz="1200" spc="-1" strike="noStrike">
                <a:solidFill>
                  <a:srgbClr val="000000"/>
                </a:solidFill>
                <a:latin typeface="Arial"/>
              </a:rPr>
              <a:t>infinite series convergence</a:t>
            </a:r>
            <a:r>
              <a:rPr b="0" lang="en-GB" sz="1200" spc="-1" strike="noStrike">
                <a:solidFill>
                  <a:srgbClr val="000000"/>
                </a:solidFill>
                <a:latin typeface="Arial"/>
              </a:rPr>
              <a:t>. For our purposes though, you’re free to just trust the fact that this is true, and understand the infinite sum of discounted returns is finite if the conditions we outlined are met.</a:t>
            </a:r>
            <a:endParaRPr b="0" lang="en-US" sz="1200" spc="-1" strike="noStrike">
              <a:solidFill>
                <a:srgbClr val="000000"/>
              </a:solidFill>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82" name="Slide Number Placeholder 3"/>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802E1162-D89D-4BB2-8AE0-298C9D495E41}" type="slidenum">
              <a:rPr b="0" lang="en-US" sz="1200" spc="-1" strike="noStrike">
                <a:solidFill>
                  <a:srgbClr val="000000"/>
                </a:solidFill>
                <a:latin typeface="Arial"/>
              </a:rPr>
              <a:t>&lt;number&gt;</a:t>
            </a:fld>
            <a:endParaRPr b="0" lang="en-US" sz="1200" spc="-1" strike="noStrike">
              <a:solidFill>
                <a:srgbClr val="000000"/>
              </a:solidFill>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3" name="PlaceHolder 1"/>
          <p:cNvSpPr>
            <a:spLocks noGrp="1"/>
          </p:cNvSpPr>
          <p:nvPr>
            <p:ph type="sldImg"/>
          </p:nvPr>
        </p:nvSpPr>
        <p:spPr>
          <a:xfrm>
            <a:off x="1143000" y="685800"/>
            <a:ext cx="4572000" cy="3429000"/>
          </a:xfrm>
          <a:prstGeom prst="rect">
            <a:avLst/>
          </a:prstGeom>
          <a:ln w="0">
            <a:noFill/>
          </a:ln>
        </p:spPr>
      </p:sp>
      <p:sp>
        <p:nvSpPr>
          <p:cNvPr id="184"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85" name="Slide Number Placeholder 3"/>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03B81CC9-38DD-446F-9AE2-C8A565694082}" type="slidenum">
              <a:rPr b="0" lang="en-US" sz="1200" spc="-1" strike="noStrike">
                <a:solidFill>
                  <a:srgbClr val="000000"/>
                </a:solidFill>
                <a:latin typeface="Arial"/>
              </a:rPr>
              <a:t>&lt;number&gt;</a:t>
            </a:fld>
            <a:endParaRPr b="0" lang="en-US" sz="1200" spc="-1" strike="noStrike">
              <a:solidFill>
                <a:srgbClr val="000000"/>
              </a:solidFill>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type="sldImg"/>
          </p:nvPr>
        </p:nvSpPr>
        <p:spPr>
          <a:xfrm>
            <a:off x="1143000" y="685800"/>
            <a:ext cx="4572000" cy="3429000"/>
          </a:xfrm>
          <a:prstGeom prst="rect">
            <a:avLst/>
          </a:prstGeom>
          <a:ln w="0">
            <a:noFill/>
          </a:ln>
        </p:spPr>
      </p:sp>
      <p:sp>
        <p:nvSpPr>
          <p:cNvPr id="187" name="PlaceHolder 2"/>
          <p:cNvSpPr>
            <a:spLocks noGrp="1"/>
          </p:cNvSpPr>
          <p:nvPr>
            <p:ph type="body"/>
          </p:nvPr>
        </p:nvSpPr>
        <p:spPr>
          <a:xfrm>
            <a:off x="685800" y="4343400"/>
            <a:ext cx="5486400" cy="4114800"/>
          </a:xfrm>
          <a:prstGeom prst="rect">
            <a:avLst/>
          </a:prstGeom>
          <a:noFill/>
          <a:ln w="0">
            <a:noFill/>
          </a:ln>
        </p:spPr>
        <p:txBody>
          <a:bodyPr lIns="91440" rIns="91440" tIns="45720" bIns="4572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200" spc="-1" strike="noStrike">
                <a:solidFill>
                  <a:srgbClr val="000000"/>
                </a:solidFill>
                <a:latin typeface="Arial"/>
              </a:rPr>
              <a:t>The </a:t>
            </a:r>
            <a:r>
              <a:rPr b="0" i="1" lang="en-GB" sz="1200" spc="-1" strike="noStrike">
                <a:solidFill>
                  <a:srgbClr val="000000"/>
                </a:solidFill>
                <a:latin typeface="Arial"/>
              </a:rPr>
              <a:t>state-value function</a:t>
            </a:r>
            <a:r>
              <a:rPr b="0" lang="en-GB" sz="1200" spc="-1" strike="noStrike">
                <a:solidFill>
                  <a:srgbClr val="000000"/>
                </a:solidFill>
                <a:latin typeface="Arial"/>
              </a:rPr>
              <a:t> for policy π, denoted as vπ, tells us how good any given state is for an agent following policy π. In other words, it gives us </a:t>
            </a:r>
            <a:r>
              <a:rPr b="0" i="1" lang="en-GB" sz="1200" spc="-1" strike="noStrike">
                <a:solidFill>
                  <a:srgbClr val="000000"/>
                </a:solidFill>
                <a:latin typeface="Arial"/>
              </a:rPr>
              <a:t>the value of a state</a:t>
            </a:r>
            <a:r>
              <a:rPr b="0" lang="en-GB" sz="1200" spc="-1" strike="noStrike">
                <a:solidFill>
                  <a:srgbClr val="000000"/>
                </a:solidFill>
                <a:latin typeface="Arial"/>
              </a:rPr>
              <a:t> under π.</a:t>
            </a:r>
            <a:endParaRPr b="0" lang="en-US" sz="1200" spc="-1" strike="noStrike">
              <a:solidFill>
                <a:srgbClr val="000000"/>
              </a:solidFill>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200" spc="-1" strike="noStrike">
                <a:solidFill>
                  <a:srgbClr val="000000"/>
                </a:solidFill>
                <a:latin typeface="Arial"/>
              </a:rPr>
              <a:t>Similarly, the </a:t>
            </a:r>
            <a:r>
              <a:rPr b="0" i="1" lang="en-GB" sz="1200" spc="-1" strike="noStrike">
                <a:solidFill>
                  <a:srgbClr val="000000"/>
                </a:solidFill>
                <a:latin typeface="Arial"/>
              </a:rPr>
              <a:t>action-value function</a:t>
            </a:r>
            <a:r>
              <a:rPr b="0" lang="en-GB" sz="1200" spc="-1" strike="noStrike">
                <a:solidFill>
                  <a:srgbClr val="000000"/>
                </a:solidFill>
                <a:latin typeface="Arial"/>
              </a:rPr>
              <a:t> for policy π, denoted as qπ, tells us how good it is for the agent to take any given action from a given state while following policy π. In other words, it gives us </a:t>
            </a:r>
            <a:r>
              <a:rPr b="0" i="1" lang="en-GB" sz="1200" spc="-1" strike="noStrike">
                <a:solidFill>
                  <a:srgbClr val="000000"/>
                </a:solidFill>
                <a:latin typeface="Arial"/>
              </a:rPr>
              <a:t>the value of an action</a:t>
            </a:r>
            <a:r>
              <a:rPr b="0" lang="en-GB" sz="1200" spc="-1" strike="noStrike">
                <a:solidFill>
                  <a:srgbClr val="000000"/>
                </a:solidFill>
                <a:latin typeface="Arial"/>
              </a:rPr>
              <a:t> under π.</a:t>
            </a:r>
            <a:endParaRPr b="0" lang="en-US" sz="1200" spc="-1" strike="noStrike">
              <a:solidFill>
                <a:srgbClr val="000000"/>
              </a:solidFill>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88" name="Slide Number Placeholder 3"/>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755DEAB4-A38E-4E10-BC41-F830CF4C986F}" type="slidenum">
              <a:rPr b="0" lang="en-US" sz="1200" spc="-1" strike="noStrike">
                <a:solidFill>
                  <a:srgbClr val="000000"/>
                </a:solidFill>
                <a:latin typeface="Arial"/>
              </a:rPr>
              <a:t>&lt;number&gt;</a:t>
            </a:fld>
            <a:endParaRPr b="0" lang="en-US" sz="1200" spc="-1" strike="noStrike">
              <a:solidFill>
                <a:srgbClr val="000000"/>
              </a:solidFill>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Rectangle 7"/>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C3A30F7-5224-49B5-A6A6-662AEBBCF120}" type="slidenum">
              <a:rPr b="0" lang="en-US" sz="1200" spc="-1" strike="noStrike">
                <a:solidFill>
                  <a:srgbClr val="000000"/>
                </a:solidFill>
                <a:latin typeface="Arial"/>
              </a:rPr>
              <a:t>&lt;number&gt;</a:t>
            </a:fld>
            <a:endParaRPr b="0" lang="en-US" sz="1200" spc="-1" strike="noStrike">
              <a:solidFill>
                <a:srgbClr val="000000"/>
              </a:solidFill>
              <a:latin typeface="Arial"/>
            </a:endParaRPr>
          </a:p>
        </p:txBody>
      </p:sp>
      <p:sp>
        <p:nvSpPr>
          <p:cNvPr id="190" name="PlaceHolder 1"/>
          <p:cNvSpPr>
            <a:spLocks noGrp="1"/>
          </p:cNvSpPr>
          <p:nvPr>
            <p:ph type="sldImg"/>
          </p:nvPr>
        </p:nvSpPr>
        <p:spPr>
          <a:xfrm>
            <a:off x="1143000" y="685800"/>
            <a:ext cx="4572000" cy="3429000"/>
          </a:xfrm>
          <a:prstGeom prst="rect">
            <a:avLst/>
          </a:prstGeom>
          <a:ln w="0">
            <a:noFill/>
          </a:ln>
        </p:spPr>
      </p:sp>
      <p:sp>
        <p:nvSpPr>
          <p:cNvPr id="191" name="PlaceHolder 2"/>
          <p:cNvSpPr>
            <a:spLocks noGrp="1"/>
          </p:cNvSpPr>
          <p:nvPr>
            <p:ph type="body"/>
          </p:nvPr>
        </p:nvSpPr>
        <p:spPr>
          <a:xfrm>
            <a:off x="685800" y="4343400"/>
            <a:ext cx="5486400" cy="4114800"/>
          </a:xfrm>
          <a:prstGeom prst="rect">
            <a:avLst/>
          </a:prstGeom>
          <a:noFill/>
          <a:ln w="0">
            <a:noFill/>
          </a:ln>
        </p:spPr>
        <p:txBody>
          <a:bodyPr lIns="91440" rIns="91440" tIns="45720" bIns="4572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200" spc="-1" strike="noStrike">
                <a:solidFill>
                  <a:srgbClr val="000000"/>
                </a:solidFill>
                <a:latin typeface="Arial"/>
              </a:rPr>
              <a:t>We're going to see how we can use the Bellman equation to find q∗. Once we have q∗, we can determine the optimal policy because, with q∗, for any state s, a reinforcement learning algorithm can find the action a that maximizes q∗(s,a).</a:t>
            </a:r>
            <a:endParaRPr b="0" lang="en-US" sz="1200" spc="-1" strike="noStrike">
              <a:solidFill>
                <a:srgbClr val="000000"/>
              </a:solidFill>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200" spc="-1" strike="noStrike">
                <a:solidFill>
                  <a:srgbClr val="000000"/>
                </a:solidFill>
                <a:latin typeface="Arial"/>
              </a:rPr>
              <a:t>We’re going to use this Bellman equation a lot going forward, so it will continue to materialize for us more as we progress.</a:t>
            </a:r>
            <a:endParaRPr b="0" lang="en-US" sz="1200" spc="-1" strike="noStrike">
              <a:solidFill>
                <a:srgbClr val="000000"/>
              </a:solidFill>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PlaceHolder 1"/>
          <p:cNvSpPr>
            <a:spLocks noGrp="1"/>
          </p:cNvSpPr>
          <p:nvPr>
            <p:ph type="sldImg"/>
          </p:nvPr>
        </p:nvSpPr>
        <p:spPr>
          <a:xfrm>
            <a:off x="1143000" y="685800"/>
            <a:ext cx="4572000" cy="3429000"/>
          </a:xfrm>
          <a:prstGeom prst="rect">
            <a:avLst/>
          </a:prstGeom>
          <a:ln w="0">
            <a:noFill/>
          </a:ln>
        </p:spPr>
      </p:sp>
      <p:sp>
        <p:nvSpPr>
          <p:cNvPr id="193" name="PlaceHolder 2"/>
          <p:cNvSpPr>
            <a:spLocks noGrp="1"/>
          </p:cNvSpPr>
          <p:nvPr>
            <p:ph type="body"/>
          </p:nvPr>
        </p:nvSpPr>
        <p:spPr>
          <a:xfrm>
            <a:off x="685800" y="4343400"/>
            <a:ext cx="5486400" cy="4114800"/>
          </a:xfrm>
          <a:prstGeom prst="rect">
            <a:avLst/>
          </a:prstGeom>
          <a:noFill/>
          <a:ln w="0">
            <a:noFill/>
          </a:ln>
        </p:spPr>
        <p:txBody>
          <a:bodyPr lIns="91440" rIns="91440" tIns="45720" bIns="4572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200" spc="-1" strike="noStrike">
                <a:solidFill>
                  <a:srgbClr val="000000"/>
                </a:solidFill>
                <a:latin typeface="Arial"/>
              </a:rPr>
              <a:t>In other words, at the beginning, the lizard doesn’t know whether navigating left, right, up, or down will result in a positive reward or negative reward.</a:t>
            </a:r>
            <a:endParaRPr b="0" lang="en-US" sz="1200" spc="-1" strike="noStrike">
              <a:solidFill>
                <a:srgbClr val="000000"/>
              </a:solidFill>
              <a:latin typeface="Arial"/>
            </a:endParaRPr>
          </a:p>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94" name="Slide Number Placeholder 3"/>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FDCC0B88-E305-43A0-8D04-115172DBCB10}" type="slidenum">
              <a:rPr b="0" lang="en-US" sz="1200" spc="-1" strike="noStrike">
                <a:solidFill>
                  <a:srgbClr val="000000"/>
                </a:solidFill>
                <a:latin typeface="Arial"/>
              </a:rPr>
              <a:t>&lt;number&gt;</a:t>
            </a:fld>
            <a:endParaRPr b="0" lang="en-US" sz="1200" spc="-1" strike="noStrike">
              <a:solidFill>
                <a:srgbClr val="000000"/>
              </a:solidFill>
              <a:latin typeface="Arial"/>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5" name="PlaceHolder 1"/>
          <p:cNvSpPr>
            <a:spLocks noGrp="1"/>
          </p:cNvSpPr>
          <p:nvPr>
            <p:ph type="sldImg"/>
          </p:nvPr>
        </p:nvSpPr>
        <p:spPr>
          <a:xfrm>
            <a:off x="1143000" y="685800"/>
            <a:ext cx="4572000" cy="3429000"/>
          </a:xfrm>
          <a:prstGeom prst="rect">
            <a:avLst/>
          </a:prstGeom>
          <a:ln w="0">
            <a:noFill/>
          </a:ln>
        </p:spPr>
      </p:sp>
      <p:sp>
        <p:nvSpPr>
          <p:cNvPr id="196" name="PlaceHolder 2"/>
          <p:cNvSpPr>
            <a:spLocks noGrp="1"/>
          </p:cNvSpPr>
          <p:nvPr>
            <p:ph type="body"/>
          </p:nvPr>
        </p:nvSpPr>
        <p:spPr>
          <a:xfrm>
            <a:off x="685800" y="4343400"/>
            <a:ext cx="5486400" cy="4114800"/>
          </a:xfrm>
          <a:prstGeom prst="rect">
            <a:avLst/>
          </a:prstGeom>
          <a:noFill/>
          <a:ln w="0">
            <a:noFill/>
          </a:ln>
        </p:spPr>
        <p:txBody>
          <a:bodyPr lIns="0" rIns="0" tIns="0" bIns="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200" spc="-1" strike="noStrike">
              <a:solidFill>
                <a:srgbClr val="000000"/>
              </a:solidFill>
              <a:latin typeface="Arial"/>
            </a:endParaRPr>
          </a:p>
        </p:txBody>
      </p:sp>
      <p:sp>
        <p:nvSpPr>
          <p:cNvPr id="197" name="Slide Number Placeholder 3"/>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5FBB7994-7459-43D9-A20C-A25CDC7BB17C}" type="slidenum">
              <a:rPr b="0" lang="en-US" sz="1200" spc="-1" strike="noStrike">
                <a:solidFill>
                  <a:srgbClr val="000000"/>
                </a:solidFill>
                <a:latin typeface="Arial"/>
              </a:rPr>
              <a:t>&lt;number&gt;</a:t>
            </a:fld>
            <a:endParaRPr b="0" lang="en-US" sz="1200" spc="-1" strike="noStrike">
              <a:solidFill>
                <a:srgbClr val="000000"/>
              </a:solidFill>
              <a:latin typeface="Arial"/>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8" name="PlaceHolder 1"/>
          <p:cNvSpPr>
            <a:spLocks noGrp="1"/>
          </p:cNvSpPr>
          <p:nvPr>
            <p:ph type="sldImg"/>
          </p:nvPr>
        </p:nvSpPr>
        <p:spPr>
          <a:xfrm>
            <a:off x="1143000" y="685800"/>
            <a:ext cx="4572000" cy="3429000"/>
          </a:xfrm>
          <a:prstGeom prst="rect">
            <a:avLst/>
          </a:prstGeom>
          <a:ln w="0">
            <a:noFill/>
          </a:ln>
        </p:spPr>
      </p:sp>
      <p:sp>
        <p:nvSpPr>
          <p:cNvPr id="199" name="PlaceHolder 2"/>
          <p:cNvSpPr>
            <a:spLocks noGrp="1"/>
          </p:cNvSpPr>
          <p:nvPr>
            <p:ph type="body"/>
          </p:nvPr>
        </p:nvSpPr>
        <p:spPr>
          <a:xfrm>
            <a:off x="685800" y="4343400"/>
            <a:ext cx="5486400" cy="4114800"/>
          </a:xfrm>
          <a:prstGeom prst="rect">
            <a:avLst/>
          </a:prstGeom>
          <a:noFill/>
          <a:ln w="0">
            <a:noFill/>
          </a:ln>
        </p:spPr>
        <p:txBody>
          <a:bodyPr lIns="91440" rIns="91440" tIns="45720" bIns="45720" anchor="t">
            <a:noAutofit/>
          </a:bodyPr>
          <a:p>
            <a:pPr indent="0">
              <a:spcBef>
                <a:spcPts val="451"/>
              </a:spcBef>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200" spc="-1" strike="noStrike">
                <a:solidFill>
                  <a:srgbClr val="000000"/>
                </a:solidFill>
                <a:latin typeface="Arial"/>
              </a:rPr>
              <a:t>This grid is our environment where S is the agent’s starting point, and it’s safe. F represents the frozen surface and is also safe. H represents a hole, and if our agent steps in a hole in the middle of a frozen lake, well, that’s not good. Finally, G represents the goal, which is the space on the grid where the prized frisbee is located.</a:t>
            </a:r>
            <a:endParaRPr b="0" lang="en-US" sz="1200" spc="-1" strike="noStrike">
              <a:solidFill>
                <a:srgbClr val="000000"/>
              </a:solidFill>
              <a:latin typeface="Arial"/>
            </a:endParaRPr>
          </a:p>
        </p:txBody>
      </p:sp>
      <p:sp>
        <p:nvSpPr>
          <p:cNvPr id="200" name="Slide Number Placeholder 3"/>
          <p:cNvSpPr/>
          <p:nvPr/>
        </p:nvSpPr>
        <p:spPr>
          <a:xfrm>
            <a:off x="3884760" y="8685360"/>
            <a:ext cx="2971800" cy="457200"/>
          </a:xfrm>
          <a:prstGeom prst="rect">
            <a:avLst/>
          </a:prstGeom>
          <a:noFill/>
          <a:ln w="0">
            <a:noFill/>
          </a:ln>
        </p:spPr>
        <p:style>
          <a:lnRef idx="0"/>
          <a:fillRef idx="0"/>
          <a:effectRef idx="0"/>
          <a:fontRef idx="minor"/>
        </p:style>
        <p:txBody>
          <a:bodyPr lIns="90000" rIns="90000" tIns="46800" bIns="46800" anchor="b">
            <a:noAutofit/>
          </a:bodyPr>
          <a:p>
            <a:pPr algn="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E1E35A99-5B56-443F-A2D3-89B77B855425}" type="slidenum">
              <a:rPr b="0" lang="en-US" sz="1200" spc="-1" strike="noStrike">
                <a:solidFill>
                  <a:srgbClr val="000000"/>
                </a:solidFill>
                <a:latin typeface="Arial"/>
              </a:rPr>
              <a:t>&lt;number&gt;</a:t>
            </a:fld>
            <a:endParaRPr b="0" lang="en-US" sz="1200" spc="-1" strike="noStrike">
              <a:solidFill>
                <a:srgbClr val="000000"/>
              </a:solidFill>
              <a:latin typeface="Arial"/>
            </a:endParaRP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1">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5">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38350D2A-B1B3-4D0F-B412-ADE5D881F066}" type="slidenum">
              <a:t>&lt;#&gt;</a:t>
            </a:fld>
          </a:p>
        </p:txBody>
      </p:sp>
      <p:sp>
        <p:nvSpPr>
          <p:cNvPr id="4" name="PlaceHolder 3"/>
          <p:cNvSpPr>
            <a:spLocks noGrp="1"/>
          </p:cNvSpPr>
          <p:nvPr>
            <p:ph type="dt" idx="1"/>
          </p:nvPr>
        </p:nvSpPr>
        <p:spPr/>
        <p:txBody>
          <a:bodyPr/>
          <a:p>
            <a:r>
              <a:rPr lang="en-US"/>
              <a:t/>
            </a: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jpeg"/><Relationship Id="rId3" Type="http://schemas.openxmlformats.org/officeDocument/2006/relationships/image" Target="../media/image2.png"/><Relationship Id="rId4" Type="http://schemas.openxmlformats.org/officeDocument/2006/relationships/image" Target="../media/image2.png"/><Relationship Id="rId5" Type="http://schemas.openxmlformats.org/officeDocument/2006/relationships/slideLayout" Target="../slideLayouts/slideLayout1.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3.jpeg"/><Relationship Id="rId3" Type="http://schemas.openxmlformats.org/officeDocument/2006/relationships/image" Target="../media/image2.png"/><Relationship Id="rId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2.png"/></Relationships>
</file>

<file path=ppt/slideMasters/_rels/slideMaster5.xml.rels><?xml version='1.0' encoding='UTF-8' standalone='yes'?>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image" Target="../media/image2.png"/></Relationships>
</file>

<file path=ppt/slideMasters/_rels/slideMaster6.xml.rels><?xml version='1.0' encoding='UTF-8' standalone='yes'?>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jpeg"/><Relationship Id="rId3" Type="http://schemas.openxmlformats.org/officeDocument/2006/relationships/image" Target="../media/image2.png"/><Relationship Id="rId4" Type="http://schemas.openxmlformats.org/officeDocument/2006/relationships/slideLayout" Target="../slideLayouts/slideLayout2.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0" name="Picture 6" descr=""/>
          <p:cNvPicPr/>
          <p:nvPr/>
        </p:nvPicPr>
        <p:blipFill>
          <a:blip r:embed="rId3"/>
          <a:stretch/>
        </p:blipFill>
        <p:spPr>
          <a:xfrm>
            <a:off x="461880" y="4924440"/>
            <a:ext cx="747720" cy="620640"/>
          </a:xfrm>
          <a:prstGeom prst="rect">
            <a:avLst/>
          </a:prstGeom>
          <a:ln w="0">
            <a:noFill/>
          </a:ln>
        </p:spPr>
      </p:pic>
      <p:sp>
        <p:nvSpPr>
          <p:cNvPr id="1" name="MSIPCMContentMarking"/>
          <p:cNvSpPr/>
          <p:nvPr/>
        </p:nvSpPr>
        <p:spPr>
          <a:xfrm>
            <a:off x="0" y="6526440"/>
            <a:ext cx="1141560" cy="366120"/>
          </a:xfrm>
          <a:prstGeom prst="rect">
            <a:avLst/>
          </a:prstGeom>
          <a:noFill/>
          <a:ln w="0">
            <a:noFill/>
          </a:ln>
        </p:spPr>
        <p:style>
          <a:lnRef idx="0"/>
          <a:fillRef idx="0"/>
          <a:effectRef idx="0"/>
          <a:fontRef idx="minor"/>
        </p:style>
        <p:txBody>
          <a:bodyPr lIns="0" rIns="0" tIns="0" bIns="0" anchor="ctr" anchorCtr="1">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200" spc="-1" strike="noStrike">
                <a:solidFill>
                  <a:srgbClr val="000000"/>
                </a:solidFill>
                <a:latin typeface="Calibri"/>
              </a:rPr>
              <a:t>Sensitivity: Internal</a:t>
            </a:r>
            <a:endParaRPr b="0" lang="en-US" sz="12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2" name="Picture 6" descr=""/>
          <p:cNvPicPr/>
          <p:nvPr/>
        </p:nvPicPr>
        <p:blipFill>
          <a:blip r:embed="rId3"/>
          <a:stretch/>
        </p:blipFill>
        <p:spPr>
          <a:xfrm>
            <a:off x="461880" y="4924440"/>
            <a:ext cx="747720" cy="620640"/>
          </a:xfrm>
          <a:prstGeom prst="rect">
            <a:avLst/>
          </a:prstGeom>
          <a:ln w="0">
            <a:noFill/>
          </a:ln>
        </p:spPr>
      </p:pic>
      <p:sp>
        <p:nvSpPr>
          <p:cNvPr id="3" name="MSIPCMContentMarking"/>
          <p:cNvSpPr/>
          <p:nvPr/>
        </p:nvSpPr>
        <p:spPr>
          <a:xfrm>
            <a:off x="0" y="6526440"/>
            <a:ext cx="1141560" cy="366120"/>
          </a:xfrm>
          <a:prstGeom prst="rect">
            <a:avLst/>
          </a:prstGeom>
          <a:noFill/>
          <a:ln w="0">
            <a:noFill/>
          </a:ln>
        </p:spPr>
        <p:style>
          <a:lnRef idx="0"/>
          <a:fillRef idx="0"/>
          <a:effectRef idx="0"/>
          <a:fontRef idx="minor"/>
        </p:style>
        <p:txBody>
          <a:bodyPr lIns="0" rIns="0" tIns="0" bIns="0" anchor="ctr" anchorCtr="1">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200" spc="-1" strike="noStrike">
                <a:solidFill>
                  <a:srgbClr val="000000"/>
                </a:solidFill>
                <a:latin typeface="Calibri"/>
              </a:rPr>
              <a:t>Sensitivity: Internal</a:t>
            </a:r>
            <a:endParaRPr b="0" lang="en-US" sz="1200" spc="-1" strike="noStrike">
              <a:solidFill>
                <a:srgbClr val="000000"/>
              </a:solidFill>
              <a:latin typeface="Arial"/>
            </a:endParaRPr>
          </a:p>
        </p:txBody>
      </p:sp>
      <p:pic>
        <p:nvPicPr>
          <p:cNvPr id="4" name="Picture 1" descr=""/>
          <p:cNvPicPr/>
          <p:nvPr/>
        </p:nvPicPr>
        <p:blipFill>
          <a:blip r:embed="rId4"/>
          <a:stretch/>
        </p:blipFill>
        <p:spPr>
          <a:xfrm>
            <a:off x="461880" y="4924440"/>
            <a:ext cx="747720" cy="620640"/>
          </a:xfrm>
          <a:prstGeom prst="rect">
            <a:avLst/>
          </a:prstGeom>
          <a:ln w="0">
            <a:noFill/>
          </a:ln>
        </p:spPr>
      </p:pic>
    </p:spTree>
  </p:cSld>
  <p:clrMap bg1="lt1" bg2="lt2" tx1="dk1" tx2="dk2" accent1="accent1" accent2="accent2" accent3="accent3" accent4="accent4" accent5="accent5" accent6="accent6" hlink="hlink" folHlink="folHlink"/>
  <p:sldLayoutIdLst>
    <p:sldLayoutId id="2147483650" r:id="rId5"/>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5" name="Picture 6" descr=""/>
          <p:cNvPicPr/>
          <p:nvPr/>
        </p:nvPicPr>
        <p:blipFill>
          <a:blip r:embed="rId3"/>
          <a:stretch/>
        </p:blipFill>
        <p:spPr>
          <a:xfrm>
            <a:off x="461880" y="4924440"/>
            <a:ext cx="747720" cy="620640"/>
          </a:xfrm>
          <a:prstGeom prst="rect">
            <a:avLst/>
          </a:prstGeom>
          <a:ln w="0">
            <a:noFill/>
          </a:ln>
        </p:spPr>
      </p:pic>
      <p:sp>
        <p:nvSpPr>
          <p:cNvPr id="6" name="MSIPCMContentMarking"/>
          <p:cNvSpPr/>
          <p:nvPr/>
        </p:nvSpPr>
        <p:spPr>
          <a:xfrm>
            <a:off x="0" y="6526440"/>
            <a:ext cx="1141560" cy="366120"/>
          </a:xfrm>
          <a:prstGeom prst="rect">
            <a:avLst/>
          </a:prstGeom>
          <a:noFill/>
          <a:ln w="0">
            <a:noFill/>
          </a:ln>
        </p:spPr>
        <p:style>
          <a:lnRef idx="0"/>
          <a:fillRef idx="0"/>
          <a:effectRef idx="0"/>
          <a:fontRef idx="minor"/>
        </p:style>
        <p:txBody>
          <a:bodyPr lIns="0" rIns="0" tIns="0" bIns="0" anchor="ctr" anchorCtr="1">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200" spc="-1" strike="noStrike">
                <a:solidFill>
                  <a:srgbClr val="000000"/>
                </a:solidFill>
                <a:latin typeface="Calibri"/>
              </a:rPr>
              <a:t>Sensitivity: Internal</a:t>
            </a:r>
            <a:endParaRPr b="0" lang="en-US" sz="1200" spc="-1" strike="noStrike">
              <a:solidFill>
                <a:srgbClr val="000000"/>
              </a:solidFill>
              <a:latin typeface="Arial"/>
            </a:endParaRPr>
          </a:p>
        </p:txBody>
      </p:sp>
      <p:pic>
        <p:nvPicPr>
          <p:cNvPr id="7" name="Picture 1" descr=""/>
          <p:cNvPicPr/>
          <p:nvPr/>
        </p:nvPicPr>
        <p:blipFill>
          <a:blip r:embed="rId4"/>
          <a:stretch/>
        </p:blipFill>
        <p:spPr>
          <a:xfrm>
            <a:off x="461880" y="4924440"/>
            <a:ext cx="747720" cy="620640"/>
          </a:xfrm>
          <a:prstGeom prst="rect">
            <a:avLst/>
          </a:prstGeom>
          <a:ln w="0">
            <a:noFill/>
          </a:ln>
        </p:spPr>
      </p:pic>
    </p:spTree>
  </p:cSld>
  <p:clrMap bg1="lt1" bg2="lt2" tx1="dk1" tx2="dk2" accent1="accent1" accent2="accent2" accent3="accent3" accent4="accent4" accent5="accent5" accent6="accent6" hlink="hlink" folHlink="folHlink"/>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8" name="Picture 6" descr=""/>
          <p:cNvPicPr/>
          <p:nvPr/>
        </p:nvPicPr>
        <p:blipFill>
          <a:blip r:embed="rId3"/>
          <a:stretch/>
        </p:blipFill>
        <p:spPr>
          <a:xfrm>
            <a:off x="461880" y="4924440"/>
            <a:ext cx="747720" cy="620640"/>
          </a:xfrm>
          <a:prstGeom prst="rect">
            <a:avLst/>
          </a:prstGeom>
          <a:ln w="0">
            <a:noFill/>
          </a:ln>
        </p:spPr>
      </p:pic>
      <p:sp>
        <p:nvSpPr>
          <p:cNvPr id="9" name="MSIPCMContentMarking"/>
          <p:cNvSpPr/>
          <p:nvPr/>
        </p:nvSpPr>
        <p:spPr>
          <a:xfrm>
            <a:off x="0" y="6526440"/>
            <a:ext cx="1141560" cy="366120"/>
          </a:xfrm>
          <a:prstGeom prst="rect">
            <a:avLst/>
          </a:prstGeom>
          <a:noFill/>
          <a:ln w="0">
            <a:noFill/>
          </a:ln>
        </p:spPr>
        <p:style>
          <a:lnRef idx="0"/>
          <a:fillRef idx="0"/>
          <a:effectRef idx="0"/>
          <a:fontRef idx="minor"/>
        </p:style>
        <p:txBody>
          <a:bodyPr lIns="0" rIns="0" tIns="0" bIns="0" anchor="ctr" anchorCtr="1">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200" spc="-1" strike="noStrike">
                <a:solidFill>
                  <a:srgbClr val="000000"/>
                </a:solidFill>
                <a:latin typeface="Calibri"/>
              </a:rPr>
              <a:t>Sensitivity: Internal</a:t>
            </a:r>
            <a:endParaRPr b="0" lang="en-US" sz="1200" spc="-1" strike="noStrike">
              <a:solidFill>
                <a:srgbClr val="000000"/>
              </a:solidFill>
              <a:latin typeface="Arial"/>
            </a:endParaRPr>
          </a:p>
        </p:txBody>
      </p:sp>
      <p:pic>
        <p:nvPicPr>
          <p:cNvPr id="10" name="Picture 1" descr=""/>
          <p:cNvPicPr/>
          <p:nvPr/>
        </p:nvPicPr>
        <p:blipFill>
          <a:blip r:embed="rId4"/>
          <a:stretch/>
        </p:blipFill>
        <p:spPr>
          <a:xfrm>
            <a:off x="461880" y="4924440"/>
            <a:ext cx="747720" cy="620640"/>
          </a:xfrm>
          <a:prstGeom prst="rect">
            <a:avLst/>
          </a:prstGeom>
          <a:ln w="0">
            <a:noFill/>
          </a:ln>
        </p:spPr>
      </p:pic>
    </p:spTree>
  </p:cSld>
  <p:clrMap bg1="lt1" bg2="lt2" tx1="dk1" tx2="dk2" accent1="accent1" accent2="accent2" accent3="accent3" accent4="accent4" accent5="accent5" accent6="accent6" hlink="hlink" folHlink="folHlink"/>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11" name="Picture 6" descr=""/>
          <p:cNvPicPr/>
          <p:nvPr/>
        </p:nvPicPr>
        <p:blipFill>
          <a:blip r:embed="rId3"/>
          <a:stretch/>
        </p:blipFill>
        <p:spPr>
          <a:xfrm>
            <a:off x="461880" y="4924440"/>
            <a:ext cx="747720" cy="620640"/>
          </a:xfrm>
          <a:prstGeom prst="rect">
            <a:avLst/>
          </a:prstGeom>
          <a:ln w="0">
            <a:noFill/>
          </a:ln>
        </p:spPr>
      </p:pic>
      <p:sp>
        <p:nvSpPr>
          <p:cNvPr id="12" name="MSIPCMContentMarking"/>
          <p:cNvSpPr/>
          <p:nvPr/>
        </p:nvSpPr>
        <p:spPr>
          <a:xfrm>
            <a:off x="0" y="6526440"/>
            <a:ext cx="1141560" cy="366120"/>
          </a:xfrm>
          <a:prstGeom prst="rect">
            <a:avLst/>
          </a:prstGeom>
          <a:noFill/>
          <a:ln w="0">
            <a:noFill/>
          </a:ln>
        </p:spPr>
        <p:style>
          <a:lnRef idx="0"/>
          <a:fillRef idx="0"/>
          <a:effectRef idx="0"/>
          <a:fontRef idx="minor"/>
        </p:style>
        <p:txBody>
          <a:bodyPr lIns="0" rIns="0" tIns="0" bIns="0" anchor="ctr" anchorCtr="1">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200" spc="-1" strike="noStrike">
                <a:solidFill>
                  <a:srgbClr val="000000"/>
                </a:solidFill>
                <a:latin typeface="Calibri"/>
              </a:rPr>
              <a:t>Sensitivity: Internal</a:t>
            </a:r>
            <a:endParaRPr b="0" lang="en-US" sz="1200" spc="-1" strike="noStrike">
              <a:solidFill>
                <a:srgbClr val="000000"/>
              </a:solidFill>
              <a:latin typeface="Arial"/>
            </a:endParaRPr>
          </a:p>
        </p:txBody>
      </p:sp>
      <p:pic>
        <p:nvPicPr>
          <p:cNvPr id="13" name="Picture 3" descr=""/>
          <p:cNvPicPr/>
          <p:nvPr/>
        </p:nvPicPr>
        <p:blipFill>
          <a:blip r:embed="rId4"/>
          <a:stretch/>
        </p:blipFill>
        <p:spPr>
          <a:xfrm>
            <a:off x="461880" y="4924440"/>
            <a:ext cx="747720" cy="620640"/>
          </a:xfrm>
          <a:prstGeom prst="rect">
            <a:avLst/>
          </a:prstGeom>
          <a:ln w="0">
            <a:noFill/>
          </a:ln>
        </p:spPr>
      </p:pic>
    </p:spTree>
  </p:cSld>
  <p:clrMap bg1="lt1" bg2="lt2" tx1="dk1" tx2="dk2" accent1="accent1" accent2="accent2" accent3="accent3" accent4="accent4" accent5="accent5" accent6="accent6" hlink="hlink" folHlink="folHlink"/>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pic>
        <p:nvPicPr>
          <p:cNvPr id="14" name="Picture 6" descr=""/>
          <p:cNvPicPr/>
          <p:nvPr/>
        </p:nvPicPr>
        <p:blipFill>
          <a:blip r:embed="rId3"/>
          <a:stretch/>
        </p:blipFill>
        <p:spPr>
          <a:xfrm>
            <a:off x="461880" y="4924440"/>
            <a:ext cx="747720" cy="620640"/>
          </a:xfrm>
          <a:prstGeom prst="rect">
            <a:avLst/>
          </a:prstGeom>
          <a:ln w="0">
            <a:noFill/>
          </a:ln>
        </p:spPr>
      </p:pic>
      <p:sp>
        <p:nvSpPr>
          <p:cNvPr id="15" name="MSIPCMContentMarking"/>
          <p:cNvSpPr/>
          <p:nvPr/>
        </p:nvSpPr>
        <p:spPr>
          <a:xfrm>
            <a:off x="0" y="6526440"/>
            <a:ext cx="1141560" cy="366120"/>
          </a:xfrm>
          <a:prstGeom prst="rect">
            <a:avLst/>
          </a:prstGeom>
          <a:noFill/>
          <a:ln w="0">
            <a:noFill/>
          </a:ln>
        </p:spPr>
        <p:style>
          <a:lnRef idx="0"/>
          <a:fillRef idx="0"/>
          <a:effectRef idx="0"/>
          <a:fontRef idx="minor"/>
        </p:style>
        <p:txBody>
          <a:bodyPr lIns="0" rIns="0" tIns="0" bIns="0" anchor="ctr" anchorCtr="1">
            <a:spAutoFit/>
          </a:bodyPr>
          <a:p>
            <a:pPr>
              <a:lnSpc>
                <a:spcPct val="100000"/>
              </a:lnSpc>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200" spc="-1" strike="noStrike">
                <a:solidFill>
                  <a:srgbClr val="000000"/>
                </a:solidFill>
                <a:latin typeface="Calibri"/>
              </a:rPr>
              <a:t>Sensitivity: Internal</a:t>
            </a:r>
            <a:endParaRPr b="0" lang="en-US" sz="1200" spc="-1" strike="noStrike">
              <a:solidFill>
                <a:srgbClr val="000000"/>
              </a:solidFill>
              <a:latin typeface="Arial"/>
            </a:endParaRPr>
          </a:p>
        </p:txBody>
      </p:sp>
      <p:sp>
        <p:nvSpPr>
          <p:cNvPr id="16" name="PlaceHolder 1"/>
          <p:cNvSpPr>
            <a:spLocks noGrp="1"/>
          </p:cNvSpPr>
          <p:nvPr>
            <p:ph type="dt" idx="1"/>
          </p:nvPr>
        </p:nvSpPr>
        <p:spPr>
          <a:xfrm>
            <a:off x="456840" y="6244920"/>
            <a:ext cx="2133720" cy="47628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sp>
        <p:nvSpPr>
          <p:cNvPr id="17" name="PlaceHolder 2"/>
          <p:cNvSpPr>
            <a:spLocks noGrp="1"/>
          </p:cNvSpPr>
          <p:nvPr>
            <p:ph type="ftr" idx="2"/>
          </p:nvPr>
        </p:nvSpPr>
        <p:spPr>
          <a:xfrm>
            <a:off x="3124080" y="6244920"/>
            <a:ext cx="2895840" cy="476280"/>
          </a:xfrm>
          <a:prstGeom prst="rect">
            <a:avLst/>
          </a:prstGeom>
          <a:noFill/>
          <a:ln w="0">
            <a:noFill/>
          </a:ln>
        </p:spPr>
        <p:txBody>
          <a:bodyPr lIns="90000" rIns="90000" tIns="46800" bIns="46800" anchor="t">
            <a:noAutofit/>
          </a:bodyPr>
          <a:p>
            <a:pPr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sp>
        <p:nvSpPr>
          <p:cNvPr id="18" name="PlaceHolder 3"/>
          <p:cNvSpPr>
            <a:spLocks noGrp="1"/>
          </p:cNvSpPr>
          <p:nvPr>
            <p:ph type="sldNum" idx="3"/>
          </p:nvPr>
        </p:nvSpPr>
        <p:spPr>
          <a:xfrm>
            <a:off x="6552720" y="6244920"/>
            <a:ext cx="2133720" cy="476280"/>
          </a:xfrm>
          <a:prstGeom prst="rect">
            <a:avLst/>
          </a:prstGeom>
          <a:noFill/>
          <a:ln w="0">
            <a:noFill/>
          </a:ln>
        </p:spPr>
        <p:txBody>
          <a:bodyPr lIns="90000" rIns="90000" tIns="46800" bIns="46800" anchor="t">
            <a:noAutofit/>
          </a:bodyPr>
          <a:lstStyle>
            <a:lvl1pPr marL="2160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defRPr b="0" lang="en-US" sz="2400" spc="-1" strike="noStrike">
                <a:solidFill>
                  <a:srgbClr val="000000"/>
                </a:solidFill>
                <a:latin typeface="Times New Roman"/>
              </a:defRPr>
            </a:lvl1pPr>
          </a:lstStyle>
          <a:p>
            <a:pPr marL="216000" indent="0">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fld id="{27933A18-BE79-4019-8FEF-655D6FCE2DA4}" type="slidenum">
              <a:rPr b="0" lang="en-US" sz="2400" spc="-1" strike="noStrike">
                <a:solidFill>
                  <a:srgbClr val="000000"/>
                </a:solidFill>
                <a:latin typeface="Times New Roman"/>
              </a:rPr>
              <a:t>&lt;number&gt;</a:t>
            </a:fld>
            <a:endParaRPr b="0" lang="en-US" sz="2400" spc="-1" strike="noStrike">
              <a:solidFill>
                <a:srgbClr val="000000"/>
              </a:solidFill>
              <a:latin typeface="Times New Roman"/>
            </a:endParaRPr>
          </a:p>
        </p:txBody>
      </p:sp>
      <p:sp>
        <p:nvSpPr>
          <p:cNvPr id="19"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20"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228600" indent="-228600">
              <a:lnSpc>
                <a:spcPct val="90000"/>
              </a:lnSpc>
              <a:spcBef>
                <a:spcPts val="100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800" spc="-1" strike="noStrike">
                <a:solidFill>
                  <a:srgbClr val="000000"/>
                </a:solidFill>
                <a:latin typeface="Arial"/>
              </a:rPr>
              <a:t>Click to edit the outline text format</a:t>
            </a:r>
            <a:endParaRPr b="0" lang="en-US" sz="2800" spc="-1" strike="noStrike">
              <a:solidFill>
                <a:srgbClr val="000000"/>
              </a:solidFill>
              <a:latin typeface="Arial"/>
            </a:endParaRPr>
          </a:p>
          <a:p>
            <a:pPr lvl="1" marL="685800" indent="-228600">
              <a:lnSpc>
                <a:spcPct val="90000"/>
              </a:lnSpc>
              <a:spcBef>
                <a:spcPts val="499"/>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143000" indent="-228600">
              <a:lnSpc>
                <a:spcPct val="90000"/>
              </a:lnSpc>
              <a:spcBef>
                <a:spcPts val="499"/>
              </a:spcBef>
              <a:buClr>
                <a:srgbClr val="000000"/>
              </a:buClr>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000000"/>
                </a:solidFill>
                <a:latin typeface="Arial"/>
              </a:rPr>
              <a:t>Third Outline Level</a:t>
            </a:r>
            <a:endParaRPr b="0" lang="en-US" sz="2000" spc="-1" strike="noStrike">
              <a:solidFill>
                <a:srgbClr val="000000"/>
              </a:solidFill>
              <a:latin typeface="Arial"/>
            </a:endParaRPr>
          </a:p>
          <a:p>
            <a:pPr lvl="3" marL="1600200" indent="-228600">
              <a:lnSpc>
                <a:spcPct val="90000"/>
              </a:lnSpc>
              <a:spcBef>
                <a:spcPts val="499"/>
              </a:spcBef>
              <a:buClr>
                <a:srgbClr val="000000"/>
              </a:buClr>
              <a:buFont typeface="Arial"/>
              <a:buChar char="•"/>
              <a:tabLst>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Fourth Outline Level</a:t>
            </a:r>
            <a:endParaRPr b="0" lang="en-US" sz="1800" spc="-1" strike="noStrike">
              <a:solidFill>
                <a:srgbClr val="000000"/>
              </a:solidFill>
              <a:latin typeface="Arial"/>
            </a:endParaRPr>
          </a:p>
          <a:p>
            <a:pPr lvl="4" marL="2057400" indent="-228600">
              <a:lnSpc>
                <a:spcPct val="90000"/>
              </a:lnSpc>
              <a:spcBef>
                <a:spcPts val="499"/>
              </a:spcBef>
              <a:buClr>
                <a:srgbClr val="000000"/>
              </a:buClr>
              <a:buFont typeface="Arial"/>
              <a:buChar char="•"/>
              <a:tabLst>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Fifth Outline Level</a:t>
            </a:r>
            <a:endParaRPr b="0" lang="en-US" sz="1800" spc="-1" strike="noStrike">
              <a:solidFill>
                <a:srgbClr val="000000"/>
              </a:solidFill>
              <a:latin typeface="Arial"/>
            </a:endParaRPr>
          </a:p>
          <a:p>
            <a:pPr lvl="5" marL="2057400" indent="-22860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Sixth Outline Level</a:t>
            </a:r>
            <a:endParaRPr b="0" lang="en-US" sz="1800" spc="-1" strike="noStrike">
              <a:solidFill>
                <a:srgbClr val="000000"/>
              </a:solidFill>
              <a:latin typeface="Arial"/>
            </a:endParaRPr>
          </a:p>
          <a:p>
            <a:pPr lvl="6" marL="2057400" indent="-228600">
              <a:spcBef>
                <a:spcPts val="451"/>
              </a:spcBef>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Seventh Outline Level</a:t>
            </a:r>
            <a:endParaRPr b="0" lang="en-US" sz="18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5" r:id="rId4"/>
  </p:sldLayoutIdLst>
</p:sldMaster>
</file>

<file path=ppt/slides/_rels/slide1.xml.rels><?xml version='1.0' encoding='UTF-8' standalone='yes'?>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34.png"/><Relationship Id="rId3" Type="http://schemas.openxmlformats.org/officeDocument/2006/relationships/slideLayout" Target="../slideLayouts/slideLayout2.xml"/><Relationship Id="rId4" Type="http://schemas.openxmlformats.org/officeDocument/2006/relationships/notesSlide" Target="../notesSlides/notesSlide6.xml"/><Relationship Id="rId5" Type="http://schemas.openxmlformats.org/officeDocument/2006/relationships/image" Target="../media/image33.png"/></Relationships>
</file>

<file path=ppt/slides/_rels/slide7.xml.rels><?xml version='1.0' encoding='UTF-8' standalone='yes'?>
<Relationships xmlns="http://schemas.openxmlformats.org/package/2006/relationships"><Relationship Id="rId1" Type="http://schemas.openxmlformats.org/officeDocument/2006/relationships/image" Target="../media/image36.png"/><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image" Target="../media/image39.png"/><Relationship Id="rId6" Type="http://schemas.openxmlformats.org/officeDocument/2006/relationships/slideLayout" Target="../slideLayouts/slideLayout2.xml"/><Relationship Id="rId7" Type="http://schemas.openxmlformats.org/officeDocument/2006/relationships/notesSlide" Target="../notesSlides/notesSlide7.xml"/><Relationship Id="rId8" Type="http://schemas.openxmlformats.org/officeDocument/2006/relationships/image" Target="../media/image35.png"/></Relationships>
</file>

<file path=ppt/slides/_rels/slide8.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hyperlink" Target="https://www.varsitytutors.com/hotmath/hotmath_help/topics/infinite-geometric-series" TargetMode="External"/><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3.jpeg"/><Relationship Id="rId2" Type="http://schemas.openxmlformats.org/officeDocument/2006/relationships/image" Target="../media/image24.png"/><Relationship Id="rId3" Type="http://schemas.openxmlformats.org/officeDocument/2006/relationships/slideLayout" Target="../slideLayouts/slideLayout2.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3.jpeg"/><Relationship Id="rId2" Type="http://schemas.openxmlformats.org/officeDocument/2006/relationships/image" Target="../media/image25.jpeg"/><Relationship Id="rId3"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image" Target="../media/image23.jpeg"/><Relationship Id="rId2"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image" Target="../media/image25.jpeg"/><Relationship Id="rId2" Type="http://schemas.openxmlformats.org/officeDocument/2006/relationships/image" Target="../media/image23.jpe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slideLayout" Target="../slideLayouts/slideLayout2.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30.png"/><Relationship Id="rId2" Type="http://schemas.openxmlformats.org/officeDocument/2006/relationships/image" Target="../media/image31.png"/><Relationship Id="rId3" Type="http://schemas.openxmlformats.org/officeDocument/2006/relationships/hyperlink" Target="https://ctsallis.github.io/frontiers_in_ai_and_data_science/" TargetMode="External"/><Relationship Id="rId4" Type="http://schemas.openxmlformats.org/officeDocument/2006/relationships/slideLayout" Target="../slideLayouts/slideLayout2.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32.png"/><Relationship Id="rId2"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hyperlink" Target="http://incompleteideas.net/book/the-book-2nd.html" TargetMode="External"/><Relationship Id="rId2"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 name="PlaceHolder 1"/>
          <p:cNvSpPr>
            <a:spLocks noGrp="1"/>
          </p:cNvSpPr>
          <p:nvPr>
            <p:ph type="title"/>
          </p:nvPr>
        </p:nvSpPr>
        <p:spPr>
          <a:xfrm>
            <a:off x="1676520" y="4748040"/>
            <a:ext cx="6711840" cy="819360"/>
          </a:xfrm>
          <a:prstGeom prst="rect">
            <a:avLst/>
          </a:prstGeom>
          <a:noFill/>
          <a:ln w="0">
            <a:noFill/>
          </a:ln>
        </p:spPr>
        <p:txBody>
          <a:bodyPr lIns="90000" rIns="90000" tIns="46800" bIns="46800" anchor="t">
            <a:noAutofit/>
          </a:bodyPr>
          <a:p>
            <a:pPr indent="0" algn="ctr">
              <a:lnSpc>
                <a:spcPct val="10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US" sz="2800" spc="-1" strike="noStrike">
                <a:solidFill>
                  <a:srgbClr val="ff0000"/>
                </a:solidFill>
                <a:latin typeface="Arial"/>
                <a:ea typeface="ＭＳ Ｐゴシック"/>
              </a:rPr>
              <a:t>Reinforcement Learning</a:t>
            </a:r>
            <a:br>
              <a:rPr sz="2800"/>
            </a:br>
            <a:br>
              <a:rPr sz="3200"/>
            </a:br>
            <a:br>
              <a:rPr sz="3200"/>
            </a:br>
            <a:endParaRPr b="0" lang="en-US" sz="2800" spc="-1" strike="noStrike">
              <a:solidFill>
                <a:srgbClr val="000000"/>
              </a:solidFill>
              <a:latin typeface="Arial"/>
            </a:endParaRPr>
          </a:p>
        </p:txBody>
      </p:sp>
      <p:sp>
        <p:nvSpPr>
          <p:cNvPr id="29" name="Rectangle 4"/>
          <p:cNvSpPr/>
          <p:nvPr/>
        </p:nvSpPr>
        <p:spPr>
          <a:xfrm>
            <a:off x="1676520" y="228600"/>
            <a:ext cx="7086600" cy="45972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2400" spc="-1" strike="noStrike">
                <a:solidFill>
                  <a:srgbClr val="0070c0"/>
                </a:solidFill>
                <a:latin typeface="Arial"/>
              </a:rPr>
              <a:t>Module 6CM521: </a:t>
            </a:r>
            <a:r>
              <a:rPr b="0" lang="en-US" sz="2400" spc="-1" strike="noStrike">
                <a:solidFill>
                  <a:srgbClr val="0070c0"/>
                </a:solidFill>
                <a:latin typeface="Arial"/>
              </a:rPr>
              <a:t>Frontiers in AI and Data Science </a:t>
            </a:r>
            <a:endParaRPr b="0" lang="en-US" sz="2400" spc="-1" strike="noStrike">
              <a:solidFill>
                <a:srgbClr val="000000"/>
              </a:solidFill>
              <a:latin typeface="Arial"/>
            </a:endParaRPr>
          </a:p>
        </p:txBody>
      </p:sp>
      <p:sp>
        <p:nvSpPr>
          <p:cNvPr id="30" name="TextBox 1"/>
          <p:cNvSpPr/>
          <p:nvPr/>
        </p:nvSpPr>
        <p:spPr>
          <a:xfrm>
            <a:off x="6477120" y="6143760"/>
            <a:ext cx="3047760" cy="58140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600" spc="-1" strike="noStrike">
                <a:solidFill>
                  <a:srgbClr val="262626"/>
                </a:solidFill>
                <a:latin typeface="Arial"/>
              </a:rPr>
              <a:t>Slides acknowledgements:</a:t>
            </a:r>
            <a:endParaRPr b="0" lang="en-US" sz="1600" spc="-1" strike="noStrike">
              <a:solidFill>
                <a:srgbClr val="000000"/>
              </a:solidFill>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600" spc="-1" strike="noStrike">
                <a:solidFill>
                  <a:srgbClr val="262626"/>
                </a:solidFill>
                <a:latin typeface="Arial"/>
              </a:rPr>
              <a:t>Dr </a:t>
            </a:r>
            <a:r>
              <a:rPr b="0" lang="en-GB" sz="1600" spc="-1" strike="noStrike">
                <a:solidFill>
                  <a:srgbClr val="000000"/>
                </a:solidFill>
                <a:latin typeface="Arial"/>
              </a:rPr>
              <a:t>Hong Qing Yu </a:t>
            </a:r>
            <a:endParaRPr b="0" lang="en-US" sz="1600" spc="-1" strike="noStrike">
              <a:solidFill>
                <a:srgbClr val="000000"/>
              </a:solidFill>
              <a:latin typeface="Arial"/>
            </a:endParaRPr>
          </a:p>
        </p:txBody>
      </p:sp>
      <p:sp>
        <p:nvSpPr>
          <p:cNvPr id="31" name="TextBox 2"/>
          <p:cNvSpPr/>
          <p:nvPr/>
        </p:nvSpPr>
        <p:spPr>
          <a:xfrm>
            <a:off x="2743200" y="5450040"/>
            <a:ext cx="4495680" cy="398880"/>
          </a:xfrm>
          <a:prstGeom prst="rect">
            <a:avLst/>
          </a:prstGeom>
          <a:noFill/>
          <a:ln w="0">
            <a:noFill/>
          </a:ln>
        </p:spPr>
        <p:style>
          <a:lnRef idx="0"/>
          <a:fillRef idx="0"/>
          <a:effectRef idx="0"/>
          <a:fontRef idx="minor"/>
        </p:style>
        <p:txBody>
          <a:bodyPr lIns="90000" rIns="90000" tIns="46800" bIns="46800" anchor="t">
            <a:sp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2000" spc="-1" strike="noStrike">
                <a:solidFill>
                  <a:srgbClr val="1f4e79"/>
                </a:solidFill>
                <a:latin typeface="Arial"/>
              </a:rPr>
              <a:t>Ioannis Tsioulis (MC)</a:t>
            </a:r>
            <a:endParaRPr b="0" lang="en-US" sz="2000" spc="-1" strike="noStrike">
              <a:solidFill>
                <a:srgbClr val="000000"/>
              </a:solidFill>
              <a:latin typeface="Arial"/>
            </a:endParaRPr>
          </a:p>
        </p:txBody>
      </p:sp>
      <p:pic>
        <p:nvPicPr>
          <p:cNvPr id="32" name="Picture 5" descr="mousemaze"/>
          <p:cNvPicPr/>
          <p:nvPr/>
        </p:nvPicPr>
        <p:blipFill>
          <a:blip r:embed="rId1"/>
          <a:stretch/>
        </p:blipFill>
        <p:spPr>
          <a:xfrm>
            <a:off x="3276720" y="1266840"/>
            <a:ext cx="3449520" cy="345132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 name="TextBox 5"/>
          <p:cNvSpPr/>
          <p:nvPr/>
        </p:nvSpPr>
        <p:spPr>
          <a:xfrm>
            <a:off x="1619280" y="692280"/>
            <a:ext cx="7056360" cy="171000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2800" spc="-1" strike="noStrike">
                <a:solidFill>
                  <a:srgbClr val="ff0000"/>
                </a:solidFill>
                <a:latin typeface="Arial"/>
              </a:rPr>
              <a:t>Acknowledgement</a:t>
            </a:r>
            <a:endParaRPr b="0" lang="en-US" sz="2800" spc="-1" strike="noStrike">
              <a:solidFill>
                <a:srgbClr val="000000"/>
              </a:solidFill>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2000" spc="-1" strike="noStrike">
                <a:solidFill>
                  <a:srgbClr val="000000"/>
                </a:solidFill>
                <a:latin typeface="Arial"/>
              </a:rPr>
              <a:t>Most of the slides are adapted from the lecture slides of Dr Hong Qing Yu (Harry).</a:t>
            </a:r>
            <a:endParaRPr b="0" lang="en-US" sz="2000" spc="-1" strike="noStrike">
              <a:solidFill>
                <a:srgbClr val="000000"/>
              </a:solidFill>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sz="1600"/>
              <a:t>Slides 3–7 and 28 are based on Max Welling's reinforcement learning lecture slides; slides 8–26 are based on deeplizard's course “Reinforcement Learning – Goal Oriented Intelligence” (deeplizard.com).</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 name="PlaceHolder 1"/>
          <p:cNvSpPr>
            <a:spLocks noGrp="1"/>
          </p:cNvSpPr>
          <p:nvPr>
            <p:ph type="title"/>
          </p:nvPr>
        </p:nvSpPr>
        <p:spPr>
          <a:xfrm>
            <a:off x="1447920" y="231480"/>
            <a:ext cx="7565760" cy="1143000"/>
          </a:xfrm>
          <a:prstGeom prst="rect">
            <a:avLst/>
          </a:prstGeom>
          <a:noFill/>
          <a:ln w="0">
            <a:noFill/>
          </a:ln>
        </p:spPr>
        <p:txBody>
          <a:bodyPr lIns="90000" rIns="90000" tIns="46800" bIns="46800" anchor="t">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pc="-1" strike="noStrike">
                <a:solidFill>
                  <a:srgbClr val="000000"/>
                </a:solidFill>
                <a:latin typeface="Arial"/>
                <a:ea typeface="ＭＳ Ｐゴシック"/>
              </a:rPr>
              <a:t>Overview</a:t>
            </a:r>
            <a:endParaRPr b="0" lang="en-US" sz="4400" spc="-1" strike="noStrike">
              <a:solidFill>
                <a:srgbClr val="000000"/>
              </a:solidFill>
              <a:latin typeface="Arial"/>
            </a:endParaRPr>
          </a:p>
        </p:txBody>
      </p:sp>
      <p:sp>
        <p:nvSpPr>
          <p:cNvPr id="35" name="Text Box 9"/>
          <p:cNvSpPr/>
          <p:nvPr/>
        </p:nvSpPr>
        <p:spPr>
          <a:xfrm>
            <a:off x="1882800" y="1081080"/>
            <a:ext cx="7130880" cy="5277960"/>
          </a:xfrm>
          <a:prstGeom prst="rect">
            <a:avLst/>
          </a:prstGeom>
          <a:noFill/>
          <a:ln w="0">
            <a:noFill/>
          </a:ln>
        </p:spPr>
        <p:style>
          <a:lnRef idx="0"/>
          <a:fillRef idx="0"/>
          <a:effectRef idx="0"/>
          <a:fontRef idx="minor"/>
        </p:style>
        <p:txBody>
          <a:bodyPr lIns="90000" rIns="90000" tIns="46800" bIns="46800" anchor="t">
            <a:spAutoFit/>
          </a:bodyPr>
          <a:p>
            <a:pPr>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700" spc="-1" strike="noStrike">
                <a:solidFill>
                  <a:srgbClr val="000000"/>
                </a:solidFill>
                <a:latin typeface="Arial"/>
              </a:rPr>
              <a:t> </a:t>
            </a:r>
            <a:r>
              <a:rPr b="0" lang="en-US" sz="1700" spc="-1" strike="noStrike">
                <a:solidFill>
                  <a:srgbClr val="000000"/>
                </a:solidFill>
                <a:latin typeface="Arial"/>
              </a:rPr>
              <a:t>Supervised Learning: Immediate feedback (labels provided for every input).</a:t>
            </a:r>
            <a:endParaRPr b="0" lang="en-US" sz="1700" spc="-1" strike="noStrike">
              <a:solidFill>
                <a:srgbClr val="000000"/>
              </a:solidFill>
              <a:latin typeface="Arial"/>
            </a:endParaRPr>
          </a:p>
          <a:p>
            <a:pPr>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700" spc="-1" strike="noStrike">
              <a:solidFill>
                <a:srgbClr val="000000"/>
              </a:solidFill>
              <a:latin typeface="Arial"/>
            </a:endParaRPr>
          </a:p>
          <a:p>
            <a:pPr>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700" spc="-1" strike="noStrike">
                <a:solidFill>
                  <a:srgbClr val="000000"/>
                </a:solidFill>
                <a:latin typeface="Arial"/>
              </a:rPr>
              <a:t> </a:t>
            </a:r>
            <a:r>
              <a:rPr b="0" lang="en-US" sz="1700" spc="-1" strike="noStrike">
                <a:solidFill>
                  <a:srgbClr val="000000"/>
                </a:solidFill>
                <a:latin typeface="Arial"/>
              </a:rPr>
              <a:t>Unsupervised Learning: No feedback (no labels provided).</a:t>
            </a:r>
            <a:endParaRPr b="0" lang="en-US" sz="1700" spc="-1" strike="noStrike">
              <a:solidFill>
                <a:srgbClr val="000000"/>
              </a:solidFill>
              <a:latin typeface="Arial"/>
            </a:endParaRPr>
          </a:p>
          <a:p>
            <a:pPr>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700" spc="-1" strike="noStrike">
              <a:solidFill>
                <a:srgbClr val="000000"/>
              </a:solidFill>
              <a:latin typeface="Arial"/>
            </a:endParaRPr>
          </a:p>
          <a:p>
            <a:pPr>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700" spc="-1" strike="noStrike">
                <a:solidFill>
                  <a:srgbClr val="000000"/>
                </a:solidFill>
                <a:latin typeface="Arial"/>
              </a:rPr>
              <a:t> </a:t>
            </a:r>
            <a:r>
              <a:rPr b="0" lang="en-US" sz="1700" spc="-1" strike="noStrike">
                <a:solidFill>
                  <a:srgbClr val="000000"/>
                </a:solidFill>
                <a:latin typeface="Arial"/>
              </a:rPr>
              <a:t>Reinforcement Learning (RL): Delayed scalar feedback (a number called reward).</a:t>
            </a:r>
            <a:endParaRPr b="0" lang="en-US" sz="1700" spc="-1" strike="noStrike">
              <a:solidFill>
                <a:srgbClr val="000000"/>
              </a:solidFill>
              <a:latin typeface="Arial"/>
            </a:endParaRPr>
          </a:p>
          <a:p>
            <a:pPr>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700" spc="-1" strike="noStrike">
              <a:solidFill>
                <a:srgbClr val="000000"/>
              </a:solidFill>
              <a:latin typeface="Arial"/>
            </a:endParaRPr>
          </a:p>
          <a:p>
            <a:pPr>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700" spc="-1" strike="noStrike">
                <a:solidFill>
                  <a:srgbClr val="000000"/>
                </a:solidFill>
                <a:latin typeface="Arial"/>
              </a:rPr>
              <a:t> </a:t>
            </a:r>
            <a:r>
              <a:rPr b="0" lang="en-US" sz="1700" spc="-1" strike="noStrike">
                <a:solidFill>
                  <a:srgbClr val="000000"/>
                </a:solidFill>
                <a:latin typeface="Arial"/>
              </a:rPr>
              <a:t>RL deals with agents that must sense &amp; act upon their environment. </a:t>
            </a:r>
            <a:endParaRPr b="0" lang="en-US" sz="1700" spc="-1" strike="noStrike">
              <a:solidFill>
                <a:srgbClr val="000000"/>
              </a:solidFill>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700" spc="-1" strike="noStrike">
                <a:solidFill>
                  <a:srgbClr val="000000"/>
                </a:solidFill>
                <a:latin typeface="Arial"/>
              </a:rPr>
              <a:t>  </a:t>
            </a:r>
            <a:r>
              <a:rPr b="0" lang="en-US" sz="1700" spc="-1" strike="noStrike">
                <a:solidFill>
                  <a:srgbClr val="000000"/>
                </a:solidFill>
                <a:latin typeface="Arial"/>
              </a:rPr>
              <a:t>This combines classical AI and machine learning techniques.</a:t>
            </a:r>
            <a:endParaRPr b="0" lang="en-US" sz="1700" spc="-1" strike="noStrike">
              <a:solidFill>
                <a:srgbClr val="000000"/>
              </a:solidFill>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700" spc="-1" strike="noStrike">
                <a:solidFill>
                  <a:srgbClr val="000000"/>
                </a:solidFill>
                <a:latin typeface="Arial"/>
              </a:rPr>
              <a:t>  </a:t>
            </a:r>
            <a:r>
              <a:rPr b="0" lang="en-US" sz="1700" spc="-1" strike="noStrike">
                <a:solidFill>
                  <a:srgbClr val="000000"/>
                </a:solidFill>
                <a:latin typeface="Arial"/>
              </a:rPr>
              <a:t>It is the most comprehensive problem setting.</a:t>
            </a:r>
            <a:endParaRPr b="0" lang="en-US" sz="1700" spc="-1" strike="noStrike">
              <a:solidFill>
                <a:srgbClr val="000000"/>
              </a:solidFill>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700" spc="-1" strike="noStrike">
              <a:solidFill>
                <a:srgbClr val="000000"/>
              </a:solidFill>
              <a:latin typeface="Arial"/>
            </a:endParaRPr>
          </a:p>
          <a:p>
            <a:pPr>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700" spc="-1" strike="noStrike">
                <a:solidFill>
                  <a:srgbClr val="000000"/>
                </a:solidFill>
                <a:latin typeface="Arial"/>
              </a:rPr>
              <a:t> </a:t>
            </a:r>
            <a:r>
              <a:rPr b="0" lang="en-US" sz="1700" spc="-1" strike="noStrike">
                <a:solidFill>
                  <a:srgbClr val="000000"/>
                </a:solidFill>
                <a:latin typeface="Arial"/>
              </a:rPr>
              <a:t>Examples:</a:t>
            </a:r>
            <a:endParaRPr b="0" lang="en-US" sz="1700" spc="-1" strike="noStrike">
              <a:solidFill>
                <a:srgbClr val="000000"/>
              </a:solidFill>
              <a:latin typeface="Arial"/>
            </a:endParaRPr>
          </a:p>
          <a:p>
            <a:pPr lvl="1" marL="457200">
              <a:lnSpc>
                <a:spcPct val="100000"/>
              </a:lnSpc>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700" spc="-1" strike="noStrike">
                <a:solidFill>
                  <a:srgbClr val="000000"/>
                </a:solidFill>
                <a:latin typeface="Arial"/>
                <a:ea typeface="ＭＳ Ｐゴシック"/>
              </a:rPr>
              <a:t> </a:t>
            </a:r>
            <a:r>
              <a:rPr b="0" lang="en-US" sz="1700" spc="-1" strike="noStrike">
                <a:solidFill>
                  <a:srgbClr val="000000"/>
                </a:solidFill>
                <a:latin typeface="Arial"/>
                <a:ea typeface="ＭＳ Ｐゴシック"/>
              </a:rPr>
              <a:t>A robot cleaning my room and recharging its battery</a:t>
            </a:r>
            <a:endParaRPr b="0" lang="en-US" sz="1700" spc="-1" strike="noStrike">
              <a:solidFill>
                <a:srgbClr val="000000"/>
              </a:solidFill>
              <a:latin typeface="Arial"/>
            </a:endParaRPr>
          </a:p>
          <a:p>
            <a:pPr lvl="1" marL="457200">
              <a:lnSpc>
                <a:spcPct val="100000"/>
              </a:lnSpc>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700" spc="-1" strike="noStrike">
                <a:solidFill>
                  <a:srgbClr val="000000"/>
                </a:solidFill>
                <a:latin typeface="Arial"/>
                <a:ea typeface="ＭＳ Ｐゴシック"/>
              </a:rPr>
              <a:t> </a:t>
            </a:r>
            <a:r>
              <a:rPr b="0" lang="en-US" sz="1700" spc="-1" strike="noStrike">
                <a:solidFill>
                  <a:srgbClr val="000000"/>
                </a:solidFill>
                <a:latin typeface="Arial"/>
                <a:ea typeface="ＭＳ Ｐゴシック"/>
              </a:rPr>
              <a:t>Robot-soccer</a:t>
            </a:r>
            <a:endParaRPr b="0" lang="en-US" sz="1700" spc="-1" strike="noStrike">
              <a:solidFill>
                <a:srgbClr val="000000"/>
              </a:solidFill>
              <a:latin typeface="Arial"/>
            </a:endParaRPr>
          </a:p>
          <a:p>
            <a:pPr lvl="1" marL="457200">
              <a:lnSpc>
                <a:spcPct val="100000"/>
              </a:lnSpc>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700" spc="-1" strike="noStrike">
                <a:solidFill>
                  <a:srgbClr val="000000"/>
                </a:solidFill>
                <a:latin typeface="Arial"/>
                <a:ea typeface="ＭＳ Ｐゴシック"/>
              </a:rPr>
              <a:t> </a:t>
            </a:r>
            <a:r>
              <a:rPr b="0" lang="en-US" sz="1700" spc="-1" strike="noStrike">
                <a:solidFill>
                  <a:srgbClr val="000000"/>
                </a:solidFill>
                <a:latin typeface="Arial"/>
                <a:ea typeface="ＭＳ Ｐゴシック"/>
              </a:rPr>
              <a:t>How to invest in shares</a:t>
            </a:r>
            <a:endParaRPr b="0" lang="en-US" sz="1700" spc="-1" strike="noStrike">
              <a:solidFill>
                <a:srgbClr val="000000"/>
              </a:solidFill>
              <a:latin typeface="Arial"/>
            </a:endParaRPr>
          </a:p>
          <a:p>
            <a:pPr lvl="1" marL="457200">
              <a:lnSpc>
                <a:spcPct val="100000"/>
              </a:lnSpc>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700" spc="-1" strike="noStrike">
                <a:solidFill>
                  <a:srgbClr val="000000"/>
                </a:solidFill>
                <a:latin typeface="Arial"/>
                <a:ea typeface="ＭＳ Ｐゴシック"/>
              </a:rPr>
              <a:t> </a:t>
            </a:r>
            <a:r>
              <a:rPr b="0" lang="en-US" sz="1700" spc="-1" strike="noStrike">
                <a:solidFill>
                  <a:srgbClr val="000000"/>
                </a:solidFill>
                <a:latin typeface="Arial"/>
                <a:ea typeface="ＭＳ Ｐゴシック"/>
              </a:rPr>
              <a:t>Modeling the economy through rational agents</a:t>
            </a:r>
            <a:endParaRPr b="0" lang="en-US" sz="1700" spc="-1" strike="noStrike">
              <a:solidFill>
                <a:srgbClr val="000000"/>
              </a:solidFill>
              <a:latin typeface="Arial"/>
            </a:endParaRPr>
          </a:p>
          <a:p>
            <a:pPr lvl="1" marL="457200">
              <a:lnSpc>
                <a:spcPct val="100000"/>
              </a:lnSpc>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700" spc="-1" strike="noStrike">
                <a:solidFill>
                  <a:srgbClr val="000000"/>
                </a:solidFill>
                <a:latin typeface="Arial"/>
                <a:ea typeface="ＭＳ Ｐゴシック"/>
              </a:rPr>
              <a:t> </a:t>
            </a:r>
            <a:r>
              <a:rPr b="0" lang="en-US" sz="1700" spc="-1" strike="noStrike">
                <a:solidFill>
                  <a:srgbClr val="000000"/>
                </a:solidFill>
                <a:latin typeface="Arial"/>
                <a:ea typeface="ＭＳ Ｐゴシック"/>
              </a:rPr>
              <a:t>Learning how to fly a helicopter</a:t>
            </a:r>
            <a:endParaRPr b="0" lang="en-US" sz="1700" spc="-1" strike="noStrike">
              <a:solidFill>
                <a:srgbClr val="000000"/>
              </a:solidFill>
              <a:latin typeface="Arial"/>
            </a:endParaRPr>
          </a:p>
          <a:p>
            <a:pPr lvl="1" marL="457200">
              <a:lnSpc>
                <a:spcPct val="100000"/>
              </a:lnSpc>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700" spc="-1" strike="noStrike">
                <a:solidFill>
                  <a:srgbClr val="000000"/>
                </a:solidFill>
                <a:latin typeface="Arial"/>
                <a:ea typeface="ＭＳ Ｐゴシック"/>
              </a:rPr>
              <a:t> </a:t>
            </a:r>
            <a:r>
              <a:rPr b="0" lang="en-US" sz="1700" spc="-1" strike="noStrike">
                <a:solidFill>
                  <a:srgbClr val="000000"/>
                </a:solidFill>
                <a:latin typeface="Arial"/>
                <a:ea typeface="ＭＳ Ｐゴシック"/>
              </a:rPr>
              <a:t>Scheduling planes to their destinations</a:t>
            </a:r>
            <a:endParaRPr b="0" lang="en-US" sz="1700" spc="-1" strike="noStrike">
              <a:solidFill>
                <a:srgbClr val="000000"/>
              </a:solidFill>
              <a:latin typeface="Arial"/>
            </a:endParaRPr>
          </a:p>
          <a:p>
            <a:pPr lvl="1" marL="457200">
              <a:lnSpc>
                <a:spcPct val="100000"/>
              </a:lnSpc>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700" spc="-1" strike="noStrike">
                <a:solidFill>
                  <a:srgbClr val="000000"/>
                </a:solidFill>
                <a:latin typeface="Arial"/>
                <a:ea typeface="ＭＳ Ｐゴシック"/>
              </a:rPr>
              <a:t> </a:t>
            </a:r>
            <a:r>
              <a:rPr b="0" lang="en-US" sz="1700" spc="-1" strike="noStrike">
                <a:solidFill>
                  <a:srgbClr val="000000"/>
                </a:solidFill>
                <a:latin typeface="Arial"/>
                <a:ea typeface="ＭＳ Ｐゴシック"/>
              </a:rPr>
              <a:t>and so on</a:t>
            </a:r>
            <a:endParaRPr b="0" lang="en-US" sz="1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 name="PlaceHolder 1"/>
          <p:cNvSpPr>
            <a:spLocks noGrp="1"/>
          </p:cNvSpPr>
          <p:nvPr>
            <p:ph type="title"/>
          </p:nvPr>
        </p:nvSpPr>
        <p:spPr>
          <a:xfrm>
            <a:off x="1490760" y="252000"/>
            <a:ext cx="8229600" cy="1143000"/>
          </a:xfrm>
          <a:prstGeom prst="rect">
            <a:avLst/>
          </a:prstGeom>
          <a:noFill/>
          <a:ln w="0">
            <a:noFill/>
          </a:ln>
        </p:spPr>
        <p:txBody>
          <a:bodyPr lIns="90000" rIns="90000" tIns="46800" bIns="46800" anchor="t">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pc="-1" strike="noStrike">
                <a:solidFill>
                  <a:srgbClr val="000000"/>
                </a:solidFill>
                <a:latin typeface="Arial"/>
                <a:ea typeface="ＭＳ Ｐゴシック"/>
              </a:rPr>
              <a:t>Complications</a:t>
            </a:r>
            <a:endParaRPr b="0" lang="en-US" sz="4400" spc="-1" strike="noStrike">
              <a:solidFill>
                <a:srgbClr val="000000"/>
              </a:solidFill>
              <a:latin typeface="Arial"/>
            </a:endParaRPr>
          </a:p>
        </p:txBody>
      </p:sp>
      <p:sp>
        <p:nvSpPr>
          <p:cNvPr id="37" name="Text Box 4"/>
          <p:cNvSpPr/>
          <p:nvPr/>
        </p:nvSpPr>
        <p:spPr>
          <a:xfrm>
            <a:off x="1698480" y="1295280"/>
            <a:ext cx="7205760" cy="4757400"/>
          </a:xfrm>
          <a:prstGeom prst="rect">
            <a:avLst/>
          </a:prstGeom>
          <a:noFill/>
          <a:ln w="0">
            <a:noFill/>
          </a:ln>
        </p:spPr>
        <p:style>
          <a:lnRef idx="0"/>
          <a:fillRef idx="0"/>
          <a:effectRef idx="0"/>
          <a:fontRef idx="minor"/>
        </p:style>
        <p:txBody>
          <a:bodyPr lIns="90000" rIns="90000" tIns="46800" bIns="46800" anchor="t">
            <a:spAutoFit/>
          </a:bodyPr>
          <a:p>
            <a:pPr>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The outcome of your actions may be uncertain</a:t>
            </a:r>
            <a:endParaRPr b="0" lang="en-US" sz="1800" spc="-1" strike="noStrike">
              <a:solidFill>
                <a:srgbClr val="000000"/>
              </a:solidFill>
              <a:latin typeface="Arial"/>
            </a:endParaRPr>
          </a:p>
          <a:p>
            <a:pPr>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a:p>
            <a:pPr>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You may not be able to perfectly sense the state of the world</a:t>
            </a:r>
            <a:endParaRPr b="0" lang="en-US" sz="1800" spc="-1" strike="noStrike">
              <a:solidFill>
                <a:srgbClr val="000000"/>
              </a:solidFill>
              <a:latin typeface="Arial"/>
            </a:endParaRPr>
          </a:p>
          <a:p>
            <a:pPr>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a:p>
            <a:pPr>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The reward may be stochastic. </a:t>
            </a:r>
            <a:endParaRPr b="0" lang="en-US" sz="1800" spc="-1" strike="noStrike">
              <a:solidFill>
                <a:srgbClr val="000000"/>
              </a:solidFill>
              <a:latin typeface="Arial"/>
            </a:endParaRPr>
          </a:p>
          <a:p>
            <a:pPr>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a:p>
            <a:pPr>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Reward is delayed (e.g. finding food in a maze)</a:t>
            </a:r>
            <a:endParaRPr b="0" lang="en-US" sz="1800" spc="-1" strike="noStrike">
              <a:solidFill>
                <a:srgbClr val="000000"/>
              </a:solidFill>
              <a:latin typeface="Arial"/>
            </a:endParaRPr>
          </a:p>
          <a:p>
            <a:pPr>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a:p>
            <a:pPr>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You may have no clue (model) about how the world responds to your actions.</a:t>
            </a:r>
            <a:endParaRPr b="0" lang="en-US" sz="1800" spc="-1" strike="noStrike">
              <a:solidFill>
                <a:srgbClr val="000000"/>
              </a:solidFill>
              <a:latin typeface="Arial"/>
            </a:endParaRPr>
          </a:p>
          <a:p>
            <a:pPr>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a:p>
            <a:pPr>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You may have no clue (model) of how rewards are being paid off.</a:t>
            </a:r>
            <a:endParaRPr b="0" lang="en-US" sz="1800" spc="-1" strike="noStrike">
              <a:solidFill>
                <a:srgbClr val="000000"/>
              </a:solidFill>
              <a:latin typeface="Arial"/>
            </a:endParaRPr>
          </a:p>
          <a:p>
            <a:pPr>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a:p>
            <a:pPr>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The world may change while you try to learn it </a:t>
            </a:r>
            <a:endParaRPr b="0" lang="en-US" sz="1800" spc="-1" strike="noStrike">
              <a:solidFill>
                <a:srgbClr val="000000"/>
              </a:solidFill>
              <a:latin typeface="Arial"/>
            </a:endParaRPr>
          </a:p>
          <a:p>
            <a:pPr>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a:p>
            <a:pPr>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How much time do you need to explore uncharted territory before you exploit what you have learned?</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title"/>
          </p:nvPr>
        </p:nvSpPr>
        <p:spPr>
          <a:xfrm>
            <a:off x="1484280" y="161640"/>
            <a:ext cx="8229600" cy="1143000"/>
          </a:xfrm>
          <a:prstGeom prst="rect">
            <a:avLst/>
          </a:prstGeom>
          <a:noFill/>
          <a:ln w="0">
            <a:noFill/>
          </a:ln>
        </p:spPr>
        <p:txBody>
          <a:bodyPr lIns="90000" rIns="90000" tIns="46800" bIns="46800" anchor="t">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pc="-1" strike="noStrike">
                <a:solidFill>
                  <a:srgbClr val="000000"/>
                </a:solidFill>
                <a:latin typeface="Arial"/>
                <a:ea typeface="ＭＳ Ｐゴシック"/>
              </a:rPr>
              <a:t>The Big Picture</a:t>
            </a:r>
            <a:endParaRPr b="0" lang="en-US" sz="4400" spc="-1" strike="noStrike">
              <a:solidFill>
                <a:srgbClr val="000000"/>
              </a:solidFill>
              <a:latin typeface="Arial"/>
            </a:endParaRPr>
          </a:p>
        </p:txBody>
      </p:sp>
      <p:sp>
        <p:nvSpPr>
          <p:cNvPr id="39" name="Text Box 15"/>
          <p:cNvSpPr/>
          <p:nvPr/>
        </p:nvSpPr>
        <p:spPr>
          <a:xfrm>
            <a:off x="1632240" y="5734080"/>
            <a:ext cx="751104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Your action influences the state of the world which determines its reward</a:t>
            </a:r>
            <a:endParaRPr b="0" lang="en-US" sz="1800" spc="-1" strike="noStrike">
              <a:solidFill>
                <a:srgbClr val="000000"/>
              </a:solidFill>
              <a:latin typeface="Arial"/>
            </a:endParaRPr>
          </a:p>
        </p:txBody>
      </p:sp>
      <p:pic>
        <p:nvPicPr>
          <p:cNvPr id="40" name="Picture 15" descr=""/>
          <p:cNvPicPr/>
          <p:nvPr/>
        </p:nvPicPr>
        <p:blipFill>
          <a:blip r:embed="rId1"/>
          <a:stretch/>
        </p:blipFill>
        <p:spPr>
          <a:xfrm>
            <a:off x="1722600" y="2205000"/>
            <a:ext cx="4457520" cy="3270240"/>
          </a:xfrm>
          <a:prstGeom prst="rect">
            <a:avLst/>
          </a:prstGeom>
          <a:ln w="0">
            <a:noFill/>
          </a:ln>
        </p:spPr>
      </p:pic>
      <p:cxnSp>
        <p:nvCxnSpPr>
          <p:cNvPr id="41" name="Straight Arrow Connector 2"/>
          <p:cNvCxnSpPr/>
          <p:nvPr/>
        </p:nvCxnSpPr>
        <p:spPr>
          <a:xfrm>
            <a:off x="5388120" y="3004920"/>
            <a:ext cx="1862640" cy="1080"/>
          </a:xfrm>
          <a:prstGeom prst="straightConnector1">
            <a:avLst/>
          </a:prstGeom>
          <a:ln w="6480">
            <a:solidFill>
              <a:srgbClr val="4472c4"/>
            </a:solidFill>
            <a:miter/>
            <a:tailEnd len="med" type="arrow" w="med"/>
          </a:ln>
        </p:spPr>
      </p:cxnSp>
      <p:sp>
        <p:nvSpPr>
          <p:cNvPr id="42" name="Snip Diagonal Corner Rectangle 3"/>
          <p:cNvSpPr/>
          <p:nvPr/>
        </p:nvSpPr>
        <p:spPr>
          <a:xfrm>
            <a:off x="7250040" y="2541600"/>
            <a:ext cx="1425600" cy="925560"/>
          </a:xfrm>
          <a:prstGeom prst="snip2DiagRect">
            <a:avLst/>
          </a:prstGeom>
          <a:solidFill>
            <a:srgbClr val="4472c4"/>
          </a:solidFill>
          <a:ln w="12600">
            <a:solidFill>
              <a:srgbClr val="2f528f"/>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800" spc="-1" strike="noStrike">
                <a:solidFill>
                  <a:srgbClr val="ffffff"/>
                </a:solidFill>
                <a:latin typeface="Arial"/>
              </a:rPr>
              <a:t>Policy</a:t>
            </a:r>
            <a:endParaRPr b="0" lang="en-US" sz="1800" spc="-1" strike="noStrike">
              <a:solidFill>
                <a:srgbClr val="000000"/>
              </a:solidFill>
              <a:latin typeface="Arial"/>
            </a:endParaRPr>
          </a:p>
        </p:txBody>
      </p:sp>
      <p:sp>
        <p:nvSpPr>
          <p:cNvPr id="43" name="Flowchart: Sequential Access Storage 4"/>
          <p:cNvSpPr/>
          <p:nvPr/>
        </p:nvSpPr>
        <p:spPr>
          <a:xfrm>
            <a:off x="7250040" y="1523880"/>
            <a:ext cx="1143000" cy="1017720"/>
          </a:xfrm>
          <a:prstGeom prst="flowChartMagneticTape">
            <a:avLst/>
          </a:prstGeom>
          <a:solidFill>
            <a:srgbClr val="4472c4"/>
          </a:solidFill>
          <a:ln w="12600">
            <a:solidFill>
              <a:srgbClr val="2f528f"/>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800" spc="-1" strike="noStrike">
                <a:solidFill>
                  <a:srgbClr val="ffffff"/>
                </a:solidFill>
                <a:latin typeface="Arial"/>
              </a:rPr>
              <a:t>e.g. Q-table</a:t>
            </a:r>
            <a:endParaRPr b="0" lang="en-US" sz="1800" spc="-1" strike="noStrike">
              <a:solidFill>
                <a:srgbClr val="000000"/>
              </a:solidFill>
              <a:latin typeface="Arial"/>
            </a:endParaRPr>
          </a:p>
        </p:txBody>
      </p:sp>
      <p:sp>
        <p:nvSpPr>
          <p:cNvPr id="44" name="TextBox 7"/>
          <p:cNvSpPr/>
          <p:nvPr/>
        </p:nvSpPr>
        <p:spPr>
          <a:xfrm>
            <a:off x="5398560" y="3005280"/>
            <a:ext cx="193320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800" spc="-1" strike="noStrike">
                <a:solidFill>
                  <a:srgbClr val="000000"/>
                </a:solidFill>
                <a:latin typeface="Arial"/>
              </a:rPr>
              <a:t>Learning process</a:t>
            </a:r>
            <a:endParaRPr b="0" lang="en-US" sz="1800" spc="-1" strike="noStrike">
              <a:solidFill>
                <a:srgbClr val="000000"/>
              </a:solidFill>
              <a:latin typeface="Arial"/>
            </a:endParaRPr>
          </a:p>
        </p:txBody>
      </p:sp>
      <p:cxnSp>
        <p:nvCxnSpPr>
          <p:cNvPr id="45" name="Elbow Connector 10"/>
          <p:cNvCxnSpPr>
            <a:stCxn id="43" idx="0"/>
            <a:endCxn id="40" idx="0"/>
          </p:cNvCxnSpPr>
          <p:nvPr/>
        </p:nvCxnSpPr>
        <p:spPr>
          <a:xfrm rot="5400000">
            <a:off x="5545080" y="-70920"/>
            <a:ext cx="681840" cy="3871080"/>
          </a:xfrm>
          <a:prstGeom prst="bentConnector3">
            <a:avLst>
              <a:gd name="adj1" fmla="val -33544"/>
            </a:avLst>
          </a:prstGeom>
          <a:ln w="6480">
            <a:solidFill>
              <a:srgbClr val="4472c4"/>
            </a:solidFill>
            <a:miter/>
            <a:tailEnd len="med" type="arrow" w="med"/>
          </a:ln>
        </p:spPr>
      </p:cxnSp>
      <p:sp>
        <p:nvSpPr>
          <p:cNvPr id="46" name="TextBox 11"/>
          <p:cNvSpPr/>
          <p:nvPr/>
        </p:nvSpPr>
        <p:spPr>
          <a:xfrm>
            <a:off x="5082480" y="1295280"/>
            <a:ext cx="183132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800" spc="-1" strike="noStrike">
                <a:solidFill>
                  <a:srgbClr val="000000"/>
                </a:solidFill>
                <a:latin typeface="Arial"/>
              </a:rPr>
              <a:t>Guiding process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 name="PlaceHolder 1"/>
          <p:cNvSpPr>
            <a:spLocks noGrp="1"/>
          </p:cNvSpPr>
          <p:nvPr>
            <p:ph type="title"/>
          </p:nvPr>
        </p:nvSpPr>
        <p:spPr>
          <a:xfrm>
            <a:off x="1487520" y="274320"/>
            <a:ext cx="8229600" cy="1143000"/>
          </a:xfrm>
          <a:prstGeom prst="rect">
            <a:avLst/>
          </a:prstGeom>
          <a:noFill/>
          <a:ln w="0">
            <a:noFill/>
          </a:ln>
        </p:spPr>
        <p:txBody>
          <a:bodyPr lIns="90000" rIns="90000" tIns="46800" bIns="46800" anchor="t">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pc="-1" strike="noStrike">
                <a:solidFill>
                  <a:srgbClr val="000000"/>
                </a:solidFill>
                <a:latin typeface="Arial"/>
                <a:ea typeface="ＭＳ Ｐゴシック"/>
              </a:rPr>
              <a:t>The Task</a:t>
            </a:r>
            <a:endParaRPr b="0" lang="en-US" sz="4400" spc="-1" strike="noStrike">
              <a:solidFill>
                <a:srgbClr val="000000"/>
              </a:solidFill>
              <a:latin typeface="Arial"/>
            </a:endParaRPr>
          </a:p>
        </p:txBody>
      </p:sp>
      <p:sp>
        <p:nvSpPr>
          <p:cNvPr id="48" name="Text Box 5"/>
          <p:cNvSpPr/>
          <p:nvPr/>
        </p:nvSpPr>
        <p:spPr>
          <a:xfrm>
            <a:off x="1611360" y="1198440"/>
            <a:ext cx="7332480" cy="2288520"/>
          </a:xfrm>
          <a:prstGeom prst="rect">
            <a:avLst/>
          </a:prstGeom>
          <a:noFill/>
          <a:ln w="0">
            <a:noFill/>
          </a:ln>
        </p:spPr>
        <p:style>
          <a:lnRef idx="0"/>
          <a:fillRef idx="0"/>
          <a:effectRef idx="0"/>
          <a:fontRef idx="minor"/>
        </p:style>
        <p:txBody>
          <a:bodyPr lIns="90000" rIns="90000" tIns="46800" bIns="46800" anchor="t">
            <a:spAutoFit/>
          </a:bodyPr>
          <a:p>
            <a:pPr>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To learn an optimal </a:t>
            </a:r>
            <a:r>
              <a:rPr b="0" i="1" lang="en-US" sz="1800" spc="-1" strike="noStrike">
                <a:solidFill>
                  <a:srgbClr val="ff0000"/>
                </a:solidFill>
                <a:latin typeface="Arial"/>
              </a:rPr>
              <a:t>policy</a:t>
            </a:r>
            <a:r>
              <a:rPr b="0" lang="en-US" sz="1800" spc="-1" strike="noStrike">
                <a:solidFill>
                  <a:srgbClr val="000000"/>
                </a:solidFill>
                <a:latin typeface="Arial"/>
              </a:rPr>
              <a:t> that maps states of the world to actions of the agent.</a:t>
            </a:r>
            <a:endParaRPr b="0" lang="en-US" sz="1800" spc="-1" strike="noStrike">
              <a:solidFill>
                <a:srgbClr val="000000"/>
              </a:solidFill>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E.g., if this patch of room is dirty, I clean it. If my battery is empty, I recharge it.</a:t>
            </a:r>
            <a:endParaRPr b="0" lang="en-US" sz="1800" spc="-1" strike="noStrike">
              <a:solidFill>
                <a:srgbClr val="000000"/>
              </a:solidFill>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endParaRPr b="0" lang="en-US" sz="1800" spc="-1" strike="noStrike">
              <a:solidFill>
                <a:srgbClr val="000000"/>
              </a:solidFill>
              <a:latin typeface="Arial"/>
            </a:endParaRPr>
          </a:p>
          <a:p>
            <a:pPr>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What is it that the agent tries to optimize?</a:t>
            </a:r>
            <a:endParaRPr b="0" lang="en-US" sz="1800" spc="-1" strike="noStrike">
              <a:solidFill>
                <a:srgbClr val="000000"/>
              </a:solidFill>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Answer: the </a:t>
            </a:r>
            <a:r>
              <a:rPr b="0" lang="en-US" sz="1800" spc="-1" strike="noStrike">
                <a:solidFill>
                  <a:srgbClr val="ff0000"/>
                </a:solidFill>
                <a:latin typeface="Arial"/>
              </a:rPr>
              <a:t>total future discounted reward:</a:t>
            </a:r>
            <a:endParaRPr b="0" lang="en-US" sz="1800" spc="-1" strike="noStrike">
              <a:solidFill>
                <a:srgbClr val="000000"/>
              </a:solidFill>
              <a:latin typeface="Arial"/>
            </a:endParaRPr>
          </a:p>
        </p:txBody>
      </p:sp>
      <p:pic>
        <p:nvPicPr>
          <p:cNvPr id="53" name="Object 2 (equation)" descr="s6_Object2.png"/>
          <p:cNvPicPr>
            <a:picLocks noChangeAspect="1"/>
          </p:cNvPicPr>
          <p:nvPr/>
        </p:nvPicPr>
        <p:blipFill>
          <a:blip r:embed="rId5"/>
          <a:stretch>
            <a:fillRect/>
          </a:stretch>
        </p:blipFill>
        <p:spPr>
          <a:xfrm>
            <a:off x="3860640" y="2352600"/>
            <a:ext cx="1387800" cy="341280"/>
          </a:xfrm>
          <a:prstGeom prst="rect">
            <a:avLst/>
          </a:prstGeom>
        </p:spPr>
      </p:pic>
      <p:pic>
        <p:nvPicPr>
          <p:cNvPr id="54" name="Object 3 (equation)" descr="s6_Object3.png"/>
          <p:cNvPicPr>
            <a:picLocks noChangeAspect="1"/>
          </p:cNvPicPr>
          <p:nvPr/>
        </p:nvPicPr>
        <p:blipFill>
          <a:blip r:embed="rId1"/>
          <a:stretch>
            <a:fillRect/>
          </a:stretch>
        </p:blipFill>
        <p:spPr>
          <a:xfrm>
            <a:off x="3187800" y="3772080"/>
            <a:ext cx="3475080" cy="1158840"/>
          </a:xfrm>
          <a:prstGeom prst="rect">
            <a:avLst/>
          </a:prstGeom>
        </p:spPr>
      </p:pic>
      <p:sp>
        <p:nvSpPr>
          <p:cNvPr id="51" name="Text Box 8"/>
          <p:cNvSpPr/>
          <p:nvPr/>
        </p:nvSpPr>
        <p:spPr>
          <a:xfrm>
            <a:off x="1612440" y="5519880"/>
            <a:ext cx="602388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Note: immediate reward is worth more than future reward.</a:t>
            </a:r>
            <a:endParaRPr b="0" lang="en-US" sz="1800" spc="-1" strike="noStrike">
              <a:solidFill>
                <a:srgbClr val="000000"/>
              </a:solidFill>
              <a:latin typeface="Arial"/>
            </a:endParaRPr>
          </a:p>
        </p:txBody>
      </p:sp>
      <p:cxnSp>
        <p:nvCxnSpPr>
          <p:cNvPr id="52" name="Straight Arrow Connector 2"/>
          <p:cNvCxnSpPr/>
          <p:nvPr/>
        </p:nvCxnSpPr>
        <p:spPr>
          <a:xfrm flipH="1">
            <a:off x="4026960" y="1459080"/>
            <a:ext cx="99360" cy="979920"/>
          </a:xfrm>
          <a:prstGeom prst="straightConnector1">
            <a:avLst/>
          </a:prstGeom>
          <a:ln w="6480">
            <a:solidFill>
              <a:srgbClr val="4472c4"/>
            </a:solidFill>
            <a:miter/>
            <a:tailEnd len="med" type="arrow" w="med"/>
          </a:ln>
        </p:spPr>
      </p:cxn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nodeType="clickEffect" fill="hold">
                      <p:stCondLst>
                        <p:cond delay="indefinite"/>
                      </p:stCondLst>
                      <p:childTnLst>
                        <p:par>
                          <p:cTn id="4" nodeType="withEffect" fill="hold">
                            <p:stCondLst>
                              <p:cond delay="0"/>
                            </p:stCondLst>
                            <p:childTnLst>
                              <p:par>
                                <p:cTn id="5" nodeType="clickEffect" fill="hold" presetClass="entr" presetID="1">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PlaceHolder 1"/>
          <p:cNvSpPr>
            <a:spLocks noGrp="1"/>
          </p:cNvSpPr>
          <p:nvPr>
            <p:ph type="title"/>
          </p:nvPr>
        </p:nvSpPr>
        <p:spPr>
          <a:xfrm>
            <a:off x="1535040" y="193320"/>
            <a:ext cx="8229600" cy="1143000"/>
          </a:xfrm>
          <a:prstGeom prst="rect">
            <a:avLst/>
          </a:prstGeom>
          <a:noFill/>
          <a:ln w="0">
            <a:noFill/>
          </a:ln>
        </p:spPr>
        <p:txBody>
          <a:bodyPr lIns="90000" rIns="90000" tIns="46800" bIns="46800" anchor="t">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pc="-1" strike="noStrike">
                <a:solidFill>
                  <a:srgbClr val="000000"/>
                </a:solidFill>
                <a:latin typeface="Arial"/>
                <a:ea typeface="ＭＳ Ｐゴシック"/>
              </a:rPr>
              <a:t>Value Function</a:t>
            </a:r>
            <a:endParaRPr b="0" lang="en-US" sz="4400" spc="-1" strike="noStrike">
              <a:solidFill>
                <a:srgbClr val="000000"/>
              </a:solidFill>
              <a:latin typeface="Arial"/>
            </a:endParaRPr>
          </a:p>
        </p:txBody>
      </p:sp>
      <p:sp>
        <p:nvSpPr>
          <p:cNvPr id="54" name="Text Box 5"/>
          <p:cNvSpPr/>
          <p:nvPr/>
        </p:nvSpPr>
        <p:spPr>
          <a:xfrm>
            <a:off x="1542960" y="1096920"/>
            <a:ext cx="6980400" cy="2014200"/>
          </a:xfrm>
          <a:prstGeom prst="rect">
            <a:avLst/>
          </a:prstGeom>
          <a:noFill/>
          <a:ln w="0">
            <a:noFill/>
          </a:ln>
        </p:spPr>
        <p:style>
          <a:lnRef idx="0"/>
          <a:fillRef idx="0"/>
          <a:effectRef idx="0"/>
          <a:fontRef idx="minor"/>
        </p:style>
        <p:txBody>
          <a:bodyPr lIns="90000" rIns="90000" tIns="46800" bIns="46800" anchor="t">
            <a:spAutoFit/>
          </a:bodyPr>
          <a:p>
            <a:pPr>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Let</a:t>
            </a:r>
            <a:r>
              <a:rPr b="0" lang="ja-JP" sz="1800" spc="-1" strike="noStrike">
                <a:solidFill>
                  <a:srgbClr val="000000"/>
                </a:solidFill>
                <a:latin typeface="Arial"/>
              </a:rPr>
              <a:t>’</a:t>
            </a:r>
            <a:r>
              <a:rPr b="0" lang="en-US" sz="1800" spc="-1" strike="noStrike">
                <a:solidFill>
                  <a:srgbClr val="000000"/>
                </a:solidFill>
                <a:latin typeface="Arial"/>
              </a:rPr>
              <a:t>s say we have access to the optimal value function that computes the total future discounted reward.           </a:t>
            </a:r>
            <a:endParaRPr b="0" lang="en-US" sz="1800" spc="-1" strike="noStrike">
              <a:solidFill>
                <a:srgbClr val="000000"/>
              </a:solidFill>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a:p>
            <a:pPr>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What would be the optimal policy            ?</a:t>
            </a:r>
            <a:endParaRPr b="0" lang="en-US" sz="1800" spc="-1" strike="noStrike">
              <a:solidFill>
                <a:srgbClr val="000000"/>
              </a:solidFill>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a:p>
            <a:pPr>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Answer: we choose the action that maximizes:  </a:t>
            </a:r>
            <a:endParaRPr b="0" lang="en-US" sz="1800" spc="-1" strike="noStrike">
              <a:solidFill>
                <a:srgbClr val="000000"/>
              </a:solidFill>
              <a:latin typeface="Arial"/>
            </a:endParaRPr>
          </a:p>
        </p:txBody>
      </p:sp>
      <p:pic>
        <p:nvPicPr>
          <p:cNvPr id="61" name="Object 2 (equation)" descr="s7_Object2.png"/>
          <p:cNvPicPr>
            <a:picLocks noChangeAspect="1"/>
          </p:cNvPicPr>
          <p:nvPr/>
        </p:nvPicPr>
        <p:blipFill>
          <a:blip r:embed="rId8"/>
          <a:stretch>
            <a:fillRect/>
          </a:stretch>
        </p:blipFill>
        <p:spPr>
          <a:xfrm>
            <a:off x="1984320" y="3368520"/>
            <a:ext cx="4554720" cy="738360"/>
          </a:xfrm>
          <a:prstGeom prst="rect">
            <a:avLst/>
          </a:prstGeom>
        </p:spPr>
      </p:pic>
      <p:pic>
        <p:nvPicPr>
          <p:cNvPr id="62" name="Object 3 (equation)" descr="s7_Object3.png"/>
          <p:cNvPicPr>
            <a:picLocks noChangeAspect="1"/>
          </p:cNvPicPr>
          <p:nvPr/>
        </p:nvPicPr>
        <p:blipFill>
          <a:blip r:embed="rId1"/>
          <a:stretch>
            <a:fillRect/>
          </a:stretch>
        </p:blipFill>
        <p:spPr>
          <a:xfrm>
            <a:off x="3625920" y="1631880"/>
            <a:ext cx="641160" cy="351000"/>
          </a:xfrm>
          <a:prstGeom prst="rect">
            <a:avLst/>
          </a:prstGeom>
        </p:spPr>
      </p:pic>
      <p:pic>
        <p:nvPicPr>
          <p:cNvPr id="63" name="Object 4 (equation)" descr="s7_Object4.png"/>
          <p:cNvPicPr>
            <a:picLocks noChangeAspect="1"/>
          </p:cNvPicPr>
          <p:nvPr/>
        </p:nvPicPr>
        <p:blipFill>
          <a:blip r:embed="rId2"/>
          <a:stretch>
            <a:fillRect/>
          </a:stretch>
        </p:blipFill>
        <p:spPr>
          <a:xfrm>
            <a:off x="3595680" y="2303640"/>
            <a:ext cx="704880" cy="384120"/>
          </a:xfrm>
          <a:prstGeom prst="rect">
            <a:avLst/>
          </a:prstGeom>
        </p:spPr>
      </p:pic>
      <p:sp>
        <p:nvSpPr>
          <p:cNvPr id="58" name="Text Box 9"/>
          <p:cNvSpPr/>
          <p:nvPr/>
        </p:nvSpPr>
        <p:spPr>
          <a:xfrm>
            <a:off x="1542960" y="4265640"/>
            <a:ext cx="7318440" cy="1739880"/>
          </a:xfrm>
          <a:prstGeom prst="rect">
            <a:avLst/>
          </a:prstGeom>
          <a:noFill/>
          <a:ln w="0">
            <a:noFill/>
          </a:ln>
        </p:spPr>
        <p:style>
          <a:lnRef idx="0"/>
          <a:fillRef idx="0"/>
          <a:effectRef idx="0"/>
          <a:fontRef idx="minor"/>
        </p:style>
        <p:txBody>
          <a:bodyPr lIns="90000" rIns="90000" tIns="46800" bIns="46800" anchor="t">
            <a:spAutoFit/>
          </a:bodyPr>
          <a:p>
            <a:pPr>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We assume that we know what the reward will be if we perform action </a:t>
            </a:r>
            <a:r>
              <a:rPr b="0" lang="ja-JP" sz="1800" spc="-1" strike="noStrike">
                <a:solidFill>
                  <a:srgbClr val="000000"/>
                </a:solidFill>
                <a:latin typeface="Arial"/>
              </a:rPr>
              <a:t>“</a:t>
            </a:r>
            <a:r>
              <a:rPr b="0" lang="en-US" sz="1800" spc="-1" strike="noStrike">
                <a:solidFill>
                  <a:srgbClr val="000000"/>
                </a:solidFill>
                <a:latin typeface="Arial"/>
              </a:rPr>
              <a:t>a</a:t>
            </a:r>
            <a:r>
              <a:rPr b="0" lang="ja-JP" sz="1800" spc="-1" strike="noStrike">
                <a:solidFill>
                  <a:srgbClr val="000000"/>
                </a:solidFill>
                <a:latin typeface="Arial"/>
              </a:rPr>
              <a:t>”</a:t>
            </a:r>
            <a:r>
              <a:rPr b="0" lang="en-US" sz="1800" spc="-1" strike="noStrike">
                <a:solidFill>
                  <a:srgbClr val="000000"/>
                </a:solidFill>
                <a:latin typeface="Arial"/>
              </a:rPr>
              <a:t> in state </a:t>
            </a:r>
            <a:r>
              <a:rPr b="0" lang="ja-JP" sz="1800" spc="-1" strike="noStrike">
                <a:solidFill>
                  <a:srgbClr val="000000"/>
                </a:solidFill>
                <a:latin typeface="Arial"/>
              </a:rPr>
              <a:t>“</a:t>
            </a:r>
            <a:r>
              <a:rPr b="0" lang="en-US" sz="1800" spc="-1" strike="noStrike">
                <a:solidFill>
                  <a:srgbClr val="000000"/>
                </a:solidFill>
                <a:latin typeface="Arial"/>
              </a:rPr>
              <a:t>s</a:t>
            </a:r>
            <a:r>
              <a:rPr b="0" lang="ja-JP" sz="1800" spc="-1" strike="noStrike">
                <a:solidFill>
                  <a:srgbClr val="000000"/>
                </a:solidFill>
                <a:latin typeface="Arial"/>
              </a:rPr>
              <a:t>”</a:t>
            </a:r>
            <a:r>
              <a:rPr b="0" lang="en-US" sz="1800" spc="-1" strike="noStrike">
                <a:solidFill>
                  <a:srgbClr val="000000"/>
                </a:solidFill>
                <a:latin typeface="Arial"/>
              </a:rPr>
              <a:t>:</a:t>
            </a:r>
            <a:endParaRPr b="0" lang="en-US" sz="1800" spc="-1" strike="noStrike">
              <a:solidFill>
                <a:srgbClr val="000000"/>
              </a:solidFill>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a:p>
            <a:pPr>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We also assume we know what the next state of the world will be if we perform action </a:t>
            </a:r>
            <a:r>
              <a:rPr b="0" lang="ja-JP" sz="1800" spc="-1" strike="noStrike">
                <a:solidFill>
                  <a:srgbClr val="000000"/>
                </a:solidFill>
                <a:latin typeface="Arial"/>
              </a:rPr>
              <a:t>“</a:t>
            </a:r>
            <a:r>
              <a:rPr b="0" lang="en-US" sz="1800" spc="-1" strike="noStrike">
                <a:solidFill>
                  <a:srgbClr val="000000"/>
                </a:solidFill>
                <a:latin typeface="Arial"/>
              </a:rPr>
              <a:t>a</a:t>
            </a:r>
            <a:r>
              <a:rPr b="0" lang="ja-JP" sz="1800" spc="-1" strike="noStrike">
                <a:solidFill>
                  <a:srgbClr val="000000"/>
                </a:solidFill>
                <a:latin typeface="Arial"/>
              </a:rPr>
              <a:t>”</a:t>
            </a:r>
            <a:r>
              <a:rPr b="0" lang="en-US" sz="1800" spc="-1" strike="noStrike">
                <a:solidFill>
                  <a:srgbClr val="000000"/>
                </a:solidFill>
                <a:latin typeface="Arial"/>
              </a:rPr>
              <a:t> in state </a:t>
            </a:r>
            <a:r>
              <a:rPr b="0" lang="ja-JP" sz="1800" spc="-1" strike="noStrike">
                <a:solidFill>
                  <a:srgbClr val="000000"/>
                </a:solidFill>
                <a:latin typeface="Arial"/>
              </a:rPr>
              <a:t>“</a:t>
            </a:r>
            <a:r>
              <a:rPr b="0" lang="en-US" sz="1800" spc="-1" strike="noStrike">
                <a:solidFill>
                  <a:srgbClr val="000000"/>
                </a:solidFill>
                <a:latin typeface="Arial"/>
              </a:rPr>
              <a:t>s</a:t>
            </a:r>
            <a:r>
              <a:rPr b="0" lang="ja-JP" sz="1800" spc="-1" strike="noStrike">
                <a:solidFill>
                  <a:srgbClr val="000000"/>
                </a:solidFill>
                <a:latin typeface="Arial"/>
              </a:rPr>
              <a:t>”</a:t>
            </a:r>
            <a:r>
              <a:rPr b="0" lang="en-US" sz="1800" spc="-1" strike="noStrike">
                <a:solidFill>
                  <a:srgbClr val="000000"/>
                </a:solidFill>
                <a:latin typeface="Arial"/>
              </a:rPr>
              <a:t>:  </a:t>
            </a:r>
            <a:endParaRPr b="0" lang="en-US" sz="1800" spc="-1" strike="noStrike">
              <a:solidFill>
                <a:srgbClr val="000000"/>
              </a:solidFill>
              <a:latin typeface="Arial"/>
            </a:endParaRPr>
          </a:p>
        </p:txBody>
      </p:sp>
      <p:pic>
        <p:nvPicPr>
          <p:cNvPr id="64" name="Object 5 (equation)" descr="s7_Object5.png"/>
          <p:cNvPicPr>
            <a:picLocks noChangeAspect="1"/>
          </p:cNvPicPr>
          <p:nvPr/>
        </p:nvPicPr>
        <p:blipFill>
          <a:blip r:embed="rId3"/>
          <a:stretch>
            <a:fillRect/>
          </a:stretch>
        </p:blipFill>
        <p:spPr>
          <a:xfrm>
            <a:off x="1604880" y="4938840"/>
            <a:ext cx="708120" cy="317520"/>
          </a:xfrm>
          <a:prstGeom prst="rect">
            <a:avLst/>
          </a:prstGeom>
        </p:spPr>
      </p:pic>
      <p:pic>
        <p:nvPicPr>
          <p:cNvPr id="65" name="Object 6 (equation)" descr="s7_Object6.png"/>
          <p:cNvPicPr>
            <a:picLocks noChangeAspect="1"/>
          </p:cNvPicPr>
          <p:nvPr/>
        </p:nvPicPr>
        <p:blipFill>
          <a:blip r:embed="rId4"/>
          <a:stretch>
            <a:fillRect/>
          </a:stretch>
        </p:blipFill>
        <p:spPr>
          <a:xfrm>
            <a:off x="3024360" y="5986440"/>
            <a:ext cx="1422360" cy="355680"/>
          </a:xfrm>
          <a:prstGeom prst="rect">
            <a:avLst/>
          </a:prstGeom>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title"/>
          </p:nvPr>
        </p:nvSpPr>
        <p:spPr>
          <a:xfrm>
            <a:off x="1557360" y="296640"/>
            <a:ext cx="7456320" cy="1150920"/>
          </a:xfrm>
          <a:prstGeom prst="rect">
            <a:avLst/>
          </a:prstGeom>
          <a:noFill/>
          <a:ln w="0">
            <a:noFill/>
          </a:ln>
        </p:spPr>
        <p:txBody>
          <a:bodyPr lIns="90000" rIns="90000" tIns="46800" bIns="46800" anchor="t">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2800" spc="-1" strike="noStrike">
                <a:solidFill>
                  <a:srgbClr val="000000"/>
                </a:solidFill>
                <a:latin typeface="Arial"/>
              </a:rPr>
              <a:t>How do we structure a Reinforcement Learning problem formally? </a:t>
            </a:r>
            <a:br>
              <a:rPr sz="3200"/>
            </a:br>
            <a:br>
              <a:rPr sz="3200"/>
            </a:br>
            <a:endParaRPr b="0" lang="en-US" sz="3200" spc="-1" strike="noStrike">
              <a:solidFill>
                <a:srgbClr val="000000"/>
              </a:solidFill>
              <a:latin typeface="Arial"/>
            </a:endParaRPr>
          </a:p>
        </p:txBody>
      </p:sp>
      <p:sp>
        <p:nvSpPr>
          <p:cNvPr id="62" name="Rectangle 2"/>
          <p:cNvSpPr/>
          <p:nvPr/>
        </p:nvSpPr>
        <p:spPr>
          <a:xfrm>
            <a:off x="1654200" y="1457280"/>
            <a:ext cx="7097760" cy="3142440"/>
          </a:xfrm>
          <a:prstGeom prst="rect">
            <a:avLst/>
          </a:prstGeom>
          <a:noFill/>
          <a:ln w="0">
            <a:noFill/>
          </a:ln>
        </p:spPr>
        <p:style>
          <a:lnRef idx="0"/>
          <a:fillRef idx="0"/>
          <a:effectRef idx="0"/>
          <a:fontRef idx="minor"/>
        </p:style>
        <p:txBody>
          <a:bodyPr lIns="90000" rIns="90000" tIns="46800" bIns="46800" anchor="t">
            <a:spAutoFit/>
          </a:bodyPr>
          <a:p>
            <a:pPr marL="457200" indent="-457200">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400" spc="-1" strike="noStrike">
                <a:solidFill>
                  <a:srgbClr val="000000"/>
                </a:solidFill>
                <a:latin typeface="Arial"/>
              </a:rPr>
              <a:t>MDP: Markov Decision Process (MDP) - Structuring A Reinforcement Learning Problem</a:t>
            </a:r>
            <a:endParaRPr b="0" lang="en-US" sz="2400" spc="-1" strike="noStrike">
              <a:solidFill>
                <a:srgbClr val="000000"/>
              </a:solidFill>
              <a:latin typeface="Arial"/>
            </a:endParaRPr>
          </a:p>
          <a:p>
            <a:pPr marL="457200" indent="-457200">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400" spc="-1" strike="noStrike">
              <a:solidFill>
                <a:srgbClr val="000000"/>
              </a:solidFill>
              <a:latin typeface="Arial"/>
            </a:endParaRPr>
          </a:p>
          <a:p>
            <a:pPr marL="457200" indent="-457200">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400" spc="-1" strike="noStrike">
                <a:solidFill>
                  <a:srgbClr val="000000"/>
                </a:solidFill>
                <a:latin typeface="Arial"/>
              </a:rPr>
              <a:t>MDP gives us a way to formalize sequential decision making. This formalization is the basis for structuring problems that are solved with reinforcement learning</a:t>
            </a:r>
            <a:r>
              <a:rPr b="0" lang="en-GB" sz="2800" spc="-1" strike="noStrike">
                <a:solidFill>
                  <a:srgbClr val="000000"/>
                </a:solidFill>
                <a:latin typeface="Arial"/>
              </a:rPr>
              <a:t>.</a:t>
            </a:r>
            <a:br>
              <a:rPr sz="2800"/>
            </a:br>
            <a:r>
              <a:rPr b="0" lang="en-GB" sz="2800" spc="-1" strike="noStrike">
                <a:solidFill>
                  <a:srgbClr val="000000"/>
                </a:solidFill>
                <a:latin typeface="Arial"/>
              </a:rPr>
              <a:t> </a:t>
            </a:r>
            <a:endParaRPr b="0" lang="en-US" sz="2800" spc="-1" strike="noStrike">
              <a:solidFill>
                <a:srgbClr val="000000"/>
              </a:solidFill>
              <a:latin typeface="Arial"/>
            </a:endParaRPr>
          </a:p>
        </p:txBody>
      </p:sp>
      <p:pic>
        <p:nvPicPr>
          <p:cNvPr id="63" name="Picture 2" descr=""/>
          <p:cNvPicPr/>
          <p:nvPr/>
        </p:nvPicPr>
        <p:blipFill>
          <a:blip r:embed="rId1"/>
          <a:stretch/>
        </p:blipFill>
        <p:spPr>
          <a:xfrm>
            <a:off x="2754360" y="4473720"/>
            <a:ext cx="5065560" cy="182232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1557360" y="274320"/>
            <a:ext cx="7129440" cy="716040"/>
          </a:xfrm>
          <a:prstGeom prst="rect">
            <a:avLst/>
          </a:prstGeom>
          <a:noFill/>
          <a:ln w="0">
            <a:noFill/>
          </a:ln>
        </p:spPr>
        <p:txBody>
          <a:bodyPr lIns="90000" rIns="90000" tIns="46800" bIns="46800" anchor="t">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000000"/>
                </a:solidFill>
                <a:latin typeface="Arial"/>
              </a:rPr>
              <a:t>Components Of An MDP</a:t>
            </a:r>
            <a:br>
              <a:rPr sz="4400"/>
            </a:br>
            <a:endParaRPr b="0" lang="en-US" sz="4400" spc="-1" strike="noStrike">
              <a:solidFill>
                <a:srgbClr val="000000"/>
              </a:solidFill>
              <a:latin typeface="Arial"/>
            </a:endParaRPr>
          </a:p>
        </p:txBody>
      </p:sp>
      <p:sp>
        <p:nvSpPr>
          <p:cNvPr id="65" name="Rectangle 2"/>
          <p:cNvSpPr/>
          <p:nvPr/>
        </p:nvSpPr>
        <p:spPr>
          <a:xfrm>
            <a:off x="1752480" y="1166760"/>
            <a:ext cx="6999480" cy="448416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2000" spc="-1" strike="noStrike">
                <a:solidFill>
                  <a:srgbClr val="000000"/>
                </a:solidFill>
                <a:latin typeface="Arial"/>
              </a:rPr>
              <a:t>In an MDP, we have a decision maker, called </a:t>
            </a:r>
            <a:r>
              <a:rPr b="1" lang="en-GB" sz="2000" spc="-1" strike="noStrike">
                <a:solidFill>
                  <a:srgbClr val="ed7d31"/>
                </a:solidFill>
                <a:latin typeface="Arial"/>
              </a:rPr>
              <a:t>an </a:t>
            </a:r>
            <a:r>
              <a:rPr b="1" i="1" lang="en-GB" sz="2000" spc="-1" strike="noStrike">
                <a:solidFill>
                  <a:srgbClr val="ed7d31"/>
                </a:solidFill>
                <a:latin typeface="Arial"/>
              </a:rPr>
              <a:t>agent</a:t>
            </a:r>
            <a:r>
              <a:rPr b="0" lang="en-GB" sz="2000" spc="-1" strike="noStrike">
                <a:solidFill>
                  <a:srgbClr val="000000"/>
                </a:solidFill>
                <a:latin typeface="Arial"/>
              </a:rPr>
              <a:t>, that interacts with the </a:t>
            </a:r>
            <a:r>
              <a:rPr b="1" i="1" lang="en-GB" sz="2000" spc="-1" strike="noStrike">
                <a:solidFill>
                  <a:srgbClr val="ed7d31"/>
                </a:solidFill>
                <a:latin typeface="Arial"/>
              </a:rPr>
              <a:t>environment</a:t>
            </a:r>
            <a:r>
              <a:rPr b="0" lang="en-GB" sz="2000" spc="-1" strike="noStrike">
                <a:solidFill>
                  <a:srgbClr val="000000"/>
                </a:solidFill>
                <a:latin typeface="Arial"/>
              </a:rPr>
              <a:t> it's placed in. These interactions occur sequentially </a:t>
            </a:r>
            <a:r>
              <a:rPr b="1" lang="en-GB" sz="2000" spc="-1" strike="noStrike">
                <a:solidFill>
                  <a:srgbClr val="ed7d31"/>
                </a:solidFill>
                <a:latin typeface="Arial"/>
              </a:rPr>
              <a:t>over time</a:t>
            </a:r>
            <a:r>
              <a:rPr b="0" lang="en-GB" sz="2000" spc="-1" strike="noStrike">
                <a:solidFill>
                  <a:srgbClr val="000000"/>
                </a:solidFill>
                <a:latin typeface="Arial"/>
              </a:rPr>
              <a:t>. At each time step, the agent will get some representation of the environment’s </a:t>
            </a:r>
            <a:r>
              <a:rPr b="1" i="1" lang="en-GB" sz="2000" spc="-1" strike="noStrike">
                <a:solidFill>
                  <a:srgbClr val="ed7d31"/>
                </a:solidFill>
                <a:latin typeface="Arial"/>
              </a:rPr>
              <a:t>state</a:t>
            </a:r>
            <a:r>
              <a:rPr b="0" lang="en-GB" sz="2000" spc="-1" strike="noStrike">
                <a:solidFill>
                  <a:srgbClr val="000000"/>
                </a:solidFill>
                <a:latin typeface="Arial"/>
              </a:rPr>
              <a:t>. Given this representation, the agent selects an </a:t>
            </a:r>
            <a:r>
              <a:rPr b="1" i="1" lang="en-GB" sz="2000" spc="-1" strike="noStrike">
                <a:solidFill>
                  <a:srgbClr val="ed7d31"/>
                </a:solidFill>
                <a:latin typeface="Arial"/>
              </a:rPr>
              <a:t>action</a:t>
            </a:r>
            <a:r>
              <a:rPr b="0" lang="en-GB" sz="2000" spc="-1" strike="noStrike">
                <a:solidFill>
                  <a:srgbClr val="000000"/>
                </a:solidFill>
                <a:latin typeface="Arial"/>
              </a:rPr>
              <a:t> to take. The environment is then transitioned into a new state, and the agent is given a </a:t>
            </a:r>
            <a:r>
              <a:rPr b="1" i="1" lang="en-GB" sz="2000" spc="-1" strike="noStrike">
                <a:solidFill>
                  <a:srgbClr val="ed7d31"/>
                </a:solidFill>
                <a:latin typeface="Arial"/>
              </a:rPr>
              <a:t>reward</a:t>
            </a:r>
            <a:r>
              <a:rPr b="0" lang="en-GB" sz="2000" spc="-1" strike="noStrike">
                <a:solidFill>
                  <a:srgbClr val="000000"/>
                </a:solidFill>
                <a:latin typeface="Arial"/>
              </a:rPr>
              <a:t> as a consequence of the previous action.</a:t>
            </a:r>
            <a:endParaRPr b="0" lang="en-US" sz="2000" spc="-1" strike="noStrike">
              <a:solidFill>
                <a:srgbClr val="000000"/>
              </a:solidFill>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2000" spc="-1" strike="noStrike">
                <a:solidFill>
                  <a:srgbClr val="000000"/>
                </a:solidFill>
                <a:latin typeface="Arial"/>
              </a:rPr>
              <a:t>Components of an MDP over time:</a:t>
            </a:r>
            <a:endParaRPr b="0" lang="en-US" sz="2000" spc="-1" strike="noStrike">
              <a:solidFill>
                <a:srgbClr val="000000"/>
              </a:solidFill>
              <a:latin typeface="Arial"/>
            </a:endParaRPr>
          </a:p>
          <a:p>
            <a:pPr lvl="1" marL="743040" indent="-285840">
              <a:lnSpc>
                <a:spcPct val="100000"/>
              </a:lnSpc>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1800" spc="-1" strike="noStrike">
                <a:solidFill>
                  <a:srgbClr val="000000"/>
                </a:solidFill>
                <a:latin typeface="Arial"/>
                <a:ea typeface="ＭＳ Ｐゴシック"/>
              </a:rPr>
              <a:t>Agent</a:t>
            </a:r>
            <a:endParaRPr b="0" lang="en-US" sz="1800" spc="-1" strike="noStrike">
              <a:solidFill>
                <a:srgbClr val="000000"/>
              </a:solidFill>
              <a:latin typeface="Arial"/>
            </a:endParaRPr>
          </a:p>
          <a:p>
            <a:pPr lvl="1" marL="743040" indent="-285840">
              <a:lnSpc>
                <a:spcPct val="100000"/>
              </a:lnSpc>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1800" spc="-1" strike="noStrike">
                <a:solidFill>
                  <a:srgbClr val="000000"/>
                </a:solidFill>
                <a:latin typeface="Arial"/>
                <a:ea typeface="ＭＳ Ｐゴシック"/>
              </a:rPr>
              <a:t>Environment</a:t>
            </a:r>
            <a:endParaRPr b="0" lang="en-US" sz="1800" spc="-1" strike="noStrike">
              <a:solidFill>
                <a:srgbClr val="000000"/>
              </a:solidFill>
              <a:latin typeface="Arial"/>
            </a:endParaRPr>
          </a:p>
          <a:p>
            <a:pPr lvl="1" marL="743040" indent="-285840">
              <a:lnSpc>
                <a:spcPct val="100000"/>
              </a:lnSpc>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1800" spc="-1" strike="noStrike">
                <a:solidFill>
                  <a:srgbClr val="000000"/>
                </a:solidFill>
                <a:latin typeface="Arial"/>
                <a:ea typeface="ＭＳ Ｐゴシック"/>
              </a:rPr>
              <a:t>State</a:t>
            </a:r>
            <a:endParaRPr b="0" lang="en-US" sz="1800" spc="-1" strike="noStrike">
              <a:solidFill>
                <a:srgbClr val="000000"/>
              </a:solidFill>
              <a:latin typeface="Arial"/>
            </a:endParaRPr>
          </a:p>
          <a:p>
            <a:pPr lvl="1" marL="743040" indent="-285840">
              <a:lnSpc>
                <a:spcPct val="100000"/>
              </a:lnSpc>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1800" spc="-1" strike="noStrike">
                <a:solidFill>
                  <a:srgbClr val="000000"/>
                </a:solidFill>
                <a:latin typeface="Arial"/>
                <a:ea typeface="ＭＳ Ｐゴシック"/>
              </a:rPr>
              <a:t>Action</a:t>
            </a:r>
            <a:endParaRPr b="0" lang="en-US" sz="1800" spc="-1" strike="noStrike">
              <a:solidFill>
                <a:srgbClr val="000000"/>
              </a:solidFill>
              <a:latin typeface="Arial"/>
            </a:endParaRPr>
          </a:p>
          <a:p>
            <a:pPr lvl="1" marL="743040" indent="-285840">
              <a:lnSpc>
                <a:spcPct val="100000"/>
              </a:lnSpc>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1800" spc="-1" strike="noStrike">
                <a:solidFill>
                  <a:srgbClr val="000000"/>
                </a:solidFill>
                <a:latin typeface="Arial"/>
                <a:ea typeface="ＭＳ Ｐゴシック"/>
              </a:rPr>
              <a:t>Reward</a:t>
            </a:r>
            <a:endParaRPr b="0" lang="en-US" sz="1800" spc="-1" strike="noStrike">
              <a:solidFill>
                <a:srgbClr val="000000"/>
              </a:solidFill>
              <a:latin typeface="Arial"/>
            </a:endParaRPr>
          </a:p>
        </p:txBody>
      </p:sp>
      <p:pic>
        <p:nvPicPr>
          <p:cNvPr id="66" name="Picture 15" descr=""/>
          <p:cNvPicPr/>
          <p:nvPr/>
        </p:nvPicPr>
        <p:blipFill>
          <a:blip r:embed="rId1"/>
          <a:stretch/>
        </p:blipFill>
        <p:spPr>
          <a:xfrm>
            <a:off x="5788080" y="4024440"/>
            <a:ext cx="3355920" cy="2463840"/>
          </a:xfrm>
          <a:prstGeom prst="rect">
            <a:avLst/>
          </a:prstGeom>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title"/>
          </p:nvPr>
        </p:nvSpPr>
        <p:spPr>
          <a:xfrm>
            <a:off x="1599840" y="274680"/>
            <a:ext cx="7086600" cy="706320"/>
          </a:xfrm>
          <a:prstGeom prst="rect">
            <a:avLst/>
          </a:prstGeom>
          <a:noFill/>
          <a:ln w="0">
            <a:noFill/>
          </a:ln>
        </p:spPr>
        <p:txBody>
          <a:bodyPr lIns="90000" rIns="90000" tIns="46800" bIns="46800" anchor="t">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000000"/>
                </a:solidFill>
                <a:latin typeface="Arial"/>
              </a:rPr>
              <a:t>MDP Notation</a:t>
            </a:r>
            <a:endParaRPr b="0" lang="en-US" sz="4400" spc="-1" strike="noStrike">
              <a:solidFill>
                <a:srgbClr val="000000"/>
              </a:solidFill>
              <a:latin typeface="Arial"/>
            </a:endParaRPr>
          </a:p>
        </p:txBody>
      </p:sp>
      <p:pic>
        <p:nvPicPr>
          <p:cNvPr id="68" name="Picture 2" descr=""/>
          <p:cNvPicPr/>
          <p:nvPr/>
        </p:nvPicPr>
        <p:blipFill>
          <a:blip r:embed="rId1"/>
          <a:stretch/>
        </p:blipFill>
        <p:spPr>
          <a:xfrm>
            <a:off x="1573200" y="1157400"/>
            <a:ext cx="7396200" cy="1236600"/>
          </a:xfrm>
          <a:prstGeom prst="rect">
            <a:avLst/>
          </a:prstGeom>
          <a:ln w="0">
            <a:noFill/>
          </a:ln>
        </p:spPr>
      </p:pic>
      <p:pic>
        <p:nvPicPr>
          <p:cNvPr id="69" name="Picture 3" descr=""/>
          <p:cNvPicPr/>
          <p:nvPr/>
        </p:nvPicPr>
        <p:blipFill>
          <a:blip r:embed="rId2"/>
          <a:stretch/>
        </p:blipFill>
        <p:spPr>
          <a:xfrm>
            <a:off x="1587600" y="2646360"/>
            <a:ext cx="7464240" cy="2813040"/>
          </a:xfrm>
          <a:prstGeom prst="rect">
            <a:avLst/>
          </a:prstGeom>
          <a:ln w="0">
            <a:noFill/>
          </a:ln>
        </p:spPr>
      </p:pic>
      <p:pic>
        <p:nvPicPr>
          <p:cNvPr id="70" name="Picture 5" descr=""/>
          <p:cNvPicPr/>
          <p:nvPr/>
        </p:nvPicPr>
        <p:blipFill>
          <a:blip r:embed="rId3"/>
          <a:stretch/>
        </p:blipFill>
        <p:spPr>
          <a:xfrm>
            <a:off x="3225960" y="5796000"/>
            <a:ext cx="4330440" cy="60948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PlaceHolder 1"/>
          <p:cNvSpPr>
            <a:spLocks noGrp="1"/>
          </p:cNvSpPr>
          <p:nvPr>
            <p:ph type="title"/>
          </p:nvPr>
        </p:nvSpPr>
        <p:spPr>
          <a:xfrm>
            <a:off x="1627200" y="274320"/>
            <a:ext cx="7059600" cy="733320"/>
          </a:xfrm>
          <a:prstGeom prst="rect">
            <a:avLst/>
          </a:prstGeom>
          <a:noFill/>
          <a:ln w="0">
            <a:noFill/>
          </a:ln>
        </p:spPr>
        <p:txBody>
          <a:bodyPr lIns="90000" rIns="90000" tIns="46800" bIns="46800" anchor="t">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000000"/>
                </a:solidFill>
                <a:latin typeface="Arial"/>
              </a:rPr>
              <a:t>Transition Probabilities</a:t>
            </a:r>
            <a:endParaRPr b="0" lang="en-US" sz="4400" spc="-1" strike="noStrike">
              <a:solidFill>
                <a:srgbClr val="000000"/>
              </a:solidFill>
              <a:latin typeface="Arial"/>
            </a:endParaRPr>
          </a:p>
        </p:txBody>
      </p:sp>
      <p:pic>
        <p:nvPicPr>
          <p:cNvPr id="72" name="Picture 2" descr=""/>
          <p:cNvPicPr/>
          <p:nvPr/>
        </p:nvPicPr>
        <p:blipFill>
          <a:blip r:embed="rId1"/>
          <a:stretch/>
        </p:blipFill>
        <p:spPr>
          <a:xfrm>
            <a:off x="1604880" y="1300320"/>
            <a:ext cx="7483680" cy="3836880"/>
          </a:xfrm>
          <a:prstGeom prst="rect">
            <a:avLst/>
          </a:prstGeom>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1587600" y="274320"/>
            <a:ext cx="7099200" cy="1143000"/>
          </a:xfrm>
          <a:prstGeom prst="rect">
            <a:avLst/>
          </a:prstGeom>
          <a:noFill/>
          <a:ln w="0">
            <a:noFill/>
          </a:ln>
        </p:spPr>
        <p:txBody>
          <a:bodyPr lIns="90000" rIns="90000" tIns="46800" bIns="46800" anchor="t">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000000"/>
                </a:solidFill>
                <a:latin typeface="Arial"/>
              </a:rPr>
              <a:t>Expected Return - What Drives A Reinforcement Learning Agent In An MDP</a:t>
            </a:r>
            <a:br>
              <a:rPr sz="4400"/>
            </a:br>
            <a:br>
              <a:rPr sz="4400"/>
            </a:br>
            <a:endParaRPr b="0" lang="en-US" sz="4400" spc="-1" strike="noStrike">
              <a:solidFill>
                <a:srgbClr val="000000"/>
              </a:solidFill>
              <a:latin typeface="Arial"/>
            </a:endParaRPr>
          </a:p>
        </p:txBody>
      </p:sp>
      <p:sp>
        <p:nvSpPr>
          <p:cNvPr id="74" name="Rectangle 2"/>
          <p:cNvSpPr/>
          <p:nvPr/>
        </p:nvSpPr>
        <p:spPr>
          <a:xfrm>
            <a:off x="1654200" y="2330280"/>
            <a:ext cx="7354800" cy="201420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800" spc="-1" strike="noStrike">
                <a:solidFill>
                  <a:srgbClr val="000000"/>
                </a:solidFill>
                <a:latin typeface="Arial"/>
              </a:rPr>
              <a:t>As we stated, the goal of an agent in an MDP is to maximize its cumulative rewards, so we need a way to aggregate and formalize these cumulative rewards. For this, we introduce the concept of the </a:t>
            </a:r>
            <a:r>
              <a:rPr b="0" i="1" lang="en-GB" sz="1800" spc="-1" strike="noStrike">
                <a:solidFill>
                  <a:srgbClr val="000000"/>
                </a:solidFill>
                <a:latin typeface="Arial"/>
              </a:rPr>
              <a:t>expected return</a:t>
            </a:r>
            <a:r>
              <a:rPr b="0" lang="en-GB" sz="1800" spc="-1" strike="noStrike">
                <a:solidFill>
                  <a:srgbClr val="000000"/>
                </a:solidFill>
                <a:latin typeface="Arial"/>
              </a:rPr>
              <a:t> of the rewards at a given time step.</a:t>
            </a:r>
            <a:endParaRPr b="0" lang="en-US" sz="1800" spc="-1" strike="noStrike">
              <a:solidFill>
                <a:srgbClr val="000000"/>
              </a:solidFill>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800" spc="-1" strike="noStrike">
                <a:solidFill>
                  <a:srgbClr val="000000"/>
                </a:solidFill>
                <a:latin typeface="Arial"/>
              </a:rPr>
              <a:t>For now, we can think of the return simply as the sum of future rewards. Mathematically, we define the return </a:t>
            </a:r>
            <a:r>
              <a:rPr b="1" i="1" lang="en-GB" sz="1800" spc="-1" strike="noStrike">
                <a:solidFill>
                  <a:srgbClr val="000000"/>
                </a:solidFill>
                <a:latin typeface="Arial"/>
              </a:rPr>
              <a:t>G</a:t>
            </a:r>
            <a:r>
              <a:rPr b="0" lang="en-GB" sz="1800" spc="-1" strike="noStrike">
                <a:solidFill>
                  <a:srgbClr val="000000"/>
                </a:solidFill>
                <a:latin typeface="Arial"/>
              </a:rPr>
              <a:t> at time </a:t>
            </a:r>
            <a:r>
              <a:rPr b="1" i="1" lang="en-GB" sz="1800" spc="-1" strike="noStrike">
                <a:solidFill>
                  <a:srgbClr val="000000"/>
                </a:solidFill>
                <a:latin typeface="Arial"/>
              </a:rPr>
              <a:t>t</a:t>
            </a:r>
            <a:r>
              <a:rPr b="0" lang="en-GB" sz="1800" spc="-1" strike="noStrike">
                <a:solidFill>
                  <a:srgbClr val="000000"/>
                </a:solidFill>
                <a:latin typeface="Arial"/>
              </a:rPr>
              <a:t> as</a:t>
            </a:r>
            <a:endParaRPr b="0" lang="en-US" sz="1800" spc="-1" strike="noStrike">
              <a:solidFill>
                <a:srgbClr val="000000"/>
              </a:solidFill>
              <a:latin typeface="Arial"/>
            </a:endParaRPr>
          </a:p>
        </p:txBody>
      </p:sp>
      <p:pic>
        <p:nvPicPr>
          <p:cNvPr id="75" name="Picture 2" descr=""/>
          <p:cNvPicPr/>
          <p:nvPr/>
        </p:nvPicPr>
        <p:blipFill>
          <a:blip r:embed="rId1"/>
          <a:stretch/>
        </p:blipFill>
        <p:spPr>
          <a:xfrm>
            <a:off x="1681200" y="4714920"/>
            <a:ext cx="6191280" cy="919080"/>
          </a:xfrm>
          <a:prstGeom prst="rect">
            <a:avLst/>
          </a:prstGeom>
          <a:ln w="0">
            <a:noFill/>
          </a:ln>
        </p:spPr>
      </p:pic>
      <p:sp>
        <p:nvSpPr>
          <p:cNvPr id="76" name="Rectangle 3"/>
          <p:cNvSpPr/>
          <p:nvPr/>
        </p:nvSpPr>
        <p:spPr>
          <a:xfrm>
            <a:off x="1666080" y="5859360"/>
            <a:ext cx="543996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800" spc="-1" strike="noStrike">
                <a:solidFill>
                  <a:srgbClr val="000000"/>
                </a:solidFill>
                <a:latin typeface="Arial"/>
              </a:rPr>
              <a:t>Think about: Episodic Vs. Continuing Tasks (          )</a:t>
            </a:r>
            <a:endParaRPr b="0" lang="en-US" sz="1800" spc="-1" strike="noStrike">
              <a:solidFill>
                <a:srgbClr val="000000"/>
              </a:solidFill>
              <a:latin typeface="Arial"/>
            </a:endParaRPr>
          </a:p>
        </p:txBody>
      </p:sp>
      <p:pic>
        <p:nvPicPr>
          <p:cNvPr id="77" name="Picture 3" descr=""/>
          <p:cNvPicPr/>
          <p:nvPr/>
        </p:nvPicPr>
        <p:blipFill>
          <a:blip r:embed="rId2"/>
          <a:stretch/>
        </p:blipFill>
        <p:spPr>
          <a:xfrm>
            <a:off x="6284880" y="5925960"/>
            <a:ext cx="609480" cy="23832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title"/>
          </p:nvPr>
        </p:nvSpPr>
        <p:spPr>
          <a:xfrm>
            <a:off x="1587600" y="274680"/>
            <a:ext cx="7099200" cy="760320"/>
          </a:xfrm>
          <a:prstGeom prst="rect">
            <a:avLst/>
          </a:prstGeom>
          <a:noFill/>
          <a:ln w="0">
            <a:noFill/>
          </a:ln>
        </p:spPr>
        <p:txBody>
          <a:bodyPr lIns="90000" rIns="90000" tIns="46800" bIns="46800" anchor="t">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000000"/>
                </a:solidFill>
                <a:latin typeface="Arial"/>
              </a:rPr>
              <a:t>Discounted Return</a:t>
            </a:r>
            <a:endParaRPr b="0" lang="en-US" sz="4400" spc="-1" strike="noStrike">
              <a:solidFill>
                <a:srgbClr val="000000"/>
              </a:solidFill>
              <a:latin typeface="Arial"/>
            </a:endParaRPr>
          </a:p>
        </p:txBody>
      </p:sp>
      <p:sp>
        <p:nvSpPr>
          <p:cNvPr id="79" name="Rectangle 2"/>
          <p:cNvSpPr/>
          <p:nvPr/>
        </p:nvSpPr>
        <p:spPr>
          <a:xfrm>
            <a:off x="1693800" y="1176480"/>
            <a:ext cx="7074000" cy="146556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800" spc="-1" strike="noStrike">
                <a:solidFill>
                  <a:srgbClr val="000000"/>
                </a:solidFill>
                <a:latin typeface="Arial"/>
              </a:rPr>
              <a:t>To define the discounted return, we first define the discount rate, γ, to be a number between 0 and 1. The discount rate will be the rate for which we discount future rewards and will determine the present value of future rewards. With this, we define the </a:t>
            </a:r>
            <a:r>
              <a:rPr b="0" i="1" lang="en-GB" sz="1800" spc="-1" strike="noStrike">
                <a:solidFill>
                  <a:srgbClr val="000000"/>
                </a:solidFill>
                <a:latin typeface="Arial"/>
              </a:rPr>
              <a:t>discounted return</a:t>
            </a:r>
            <a:r>
              <a:rPr b="0" lang="en-GB" sz="1800" spc="-1" strike="noStrike">
                <a:solidFill>
                  <a:srgbClr val="000000"/>
                </a:solidFill>
                <a:latin typeface="Arial"/>
              </a:rPr>
              <a:t> as</a:t>
            </a:r>
            <a:endParaRPr b="0" lang="en-US" sz="1800" spc="-1" strike="noStrike">
              <a:solidFill>
                <a:srgbClr val="000000"/>
              </a:solidFill>
              <a:latin typeface="Arial"/>
            </a:endParaRPr>
          </a:p>
        </p:txBody>
      </p:sp>
      <p:pic>
        <p:nvPicPr>
          <p:cNvPr id="80" name="Picture 3" descr=""/>
          <p:cNvPicPr/>
          <p:nvPr/>
        </p:nvPicPr>
        <p:blipFill>
          <a:blip r:embed="rId1"/>
          <a:stretch/>
        </p:blipFill>
        <p:spPr>
          <a:xfrm>
            <a:off x="3052800" y="2357280"/>
            <a:ext cx="3630600" cy="1155960"/>
          </a:xfrm>
          <a:prstGeom prst="rect">
            <a:avLst/>
          </a:prstGeom>
          <a:ln w="0">
            <a:noFill/>
          </a:ln>
        </p:spPr>
      </p:pic>
      <p:pic>
        <p:nvPicPr>
          <p:cNvPr id="81" name="Picture 4" descr=""/>
          <p:cNvPicPr/>
          <p:nvPr/>
        </p:nvPicPr>
        <p:blipFill>
          <a:blip r:embed="rId2"/>
          <a:stretch/>
        </p:blipFill>
        <p:spPr>
          <a:xfrm>
            <a:off x="3106800" y="3587760"/>
            <a:ext cx="4522680" cy="1279440"/>
          </a:xfrm>
          <a:prstGeom prst="rect">
            <a:avLst/>
          </a:prstGeom>
          <a:ln w="0">
            <a:noFill/>
          </a:ln>
        </p:spPr>
      </p:pic>
      <p:sp>
        <p:nvSpPr>
          <p:cNvPr id="82" name="Rectangle 3"/>
          <p:cNvSpPr/>
          <p:nvPr/>
        </p:nvSpPr>
        <p:spPr>
          <a:xfrm>
            <a:off x="2944800" y="4800600"/>
            <a:ext cx="4572000" cy="91692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800" spc="-1" strike="noStrike">
                <a:solidFill>
                  <a:srgbClr val="000000"/>
                </a:solidFill>
                <a:latin typeface="Arial"/>
              </a:rPr>
              <a:t>If the reward at each time step is a constant 1 and γ&lt;1, then the return is</a:t>
            </a:r>
            <a:endParaRPr b="0" lang="en-US" sz="1800" spc="-1" strike="noStrike">
              <a:solidFill>
                <a:srgbClr val="000000"/>
              </a:solidFill>
              <a:latin typeface="Arial"/>
            </a:endParaRPr>
          </a:p>
        </p:txBody>
      </p:sp>
      <p:pic>
        <p:nvPicPr>
          <p:cNvPr id="83" name="Picture 5" descr=""/>
          <p:cNvPicPr/>
          <p:nvPr/>
        </p:nvPicPr>
        <p:blipFill>
          <a:blip r:embed="rId3"/>
          <a:stretch/>
        </p:blipFill>
        <p:spPr>
          <a:xfrm>
            <a:off x="3240000" y="5622840"/>
            <a:ext cx="2487600" cy="833400"/>
          </a:xfrm>
          <a:prstGeom prst="rect">
            <a:avLst/>
          </a:prstGeom>
          <a:ln w="0">
            <a:noFill/>
          </a:ln>
        </p:spPr>
      </p:pic>
      <p:sp>
        <p:nvSpPr>
          <p:cNvPr id="84" name="TextBox 4"/>
          <p:cNvSpPr/>
          <p:nvPr/>
        </p:nvSpPr>
        <p:spPr>
          <a:xfrm>
            <a:off x="5986440" y="5856120"/>
            <a:ext cx="283212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800" spc="-1" strike="noStrike">
                <a:solidFill>
                  <a:srgbClr val="000000"/>
                </a:solidFill>
                <a:latin typeface="Arial"/>
              </a:rPr>
              <a:t>(</a:t>
            </a:r>
            <a:r>
              <a:rPr b="0" lang="en-GB" sz="1800" spc="-1" strike="noStrike" u="sng">
                <a:solidFill>
                  <a:srgbClr val="0563c1"/>
                </a:solidFill>
                <a:uFillTx/>
                <a:latin typeface="Arial"/>
                <a:hlinkClick r:id="rId4"/>
              </a:rPr>
              <a:t>Infinite Geometric Series</a:t>
            </a:r>
            <a:r>
              <a:rPr b="0" lang="en-GB" sz="1800" spc="-1" strike="noStrike">
                <a:solidFill>
                  <a:srgbClr val="000000"/>
                </a:solidFill>
                <a:latin typeface="Arial"/>
              </a:rPr>
              <a:t>)</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1560240" y="274320"/>
            <a:ext cx="7126200" cy="1143000"/>
          </a:xfrm>
          <a:prstGeom prst="rect">
            <a:avLst/>
          </a:prstGeom>
          <a:noFill/>
          <a:ln w="0">
            <a:noFill/>
          </a:ln>
        </p:spPr>
        <p:txBody>
          <a:bodyPr lIns="90000" rIns="90000" tIns="46800" bIns="46800" anchor="t">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000000"/>
                </a:solidFill>
                <a:latin typeface="Arial"/>
              </a:rPr>
              <a:t>How Good Is A State Or Action?</a:t>
            </a:r>
            <a:br>
              <a:rPr sz="4400"/>
            </a:br>
            <a:endParaRPr b="0" lang="en-US" sz="4400" spc="-1" strike="noStrike">
              <a:solidFill>
                <a:srgbClr val="000000"/>
              </a:solidFill>
              <a:latin typeface="Arial"/>
            </a:endParaRPr>
          </a:p>
        </p:txBody>
      </p:sp>
      <p:sp>
        <p:nvSpPr>
          <p:cNvPr id="86" name="Rectangle 2"/>
          <p:cNvSpPr/>
          <p:nvPr/>
        </p:nvSpPr>
        <p:spPr>
          <a:xfrm>
            <a:off x="1774800" y="1571760"/>
            <a:ext cx="6791400" cy="4972680"/>
          </a:xfrm>
          <a:prstGeom prst="rect">
            <a:avLst/>
          </a:prstGeom>
          <a:noFill/>
          <a:ln w="0">
            <a:noFill/>
          </a:ln>
        </p:spPr>
        <p:style>
          <a:lnRef idx="0"/>
          <a:fillRef idx="0"/>
          <a:effectRef idx="0"/>
          <a:fontRef idx="minor"/>
        </p:style>
        <p:txBody>
          <a:bodyPr lIns="90000" rIns="90000" tIns="46800" bIns="46800" anchor="t">
            <a:spAutoFit/>
          </a:bodyPr>
          <a:p>
            <a:pPr marL="343080" indent="-343080">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000" spc="-1" strike="noStrike">
                <a:solidFill>
                  <a:srgbClr val="000000"/>
                </a:solidFill>
                <a:latin typeface="Arial"/>
              </a:rPr>
              <a:t>First, we'd probably like to know how likely it is for an agent to take any given action from any given state. In other words, what is the probability that an agent will select a specific action from a specific state? This is where the notion of </a:t>
            </a:r>
            <a:r>
              <a:rPr b="1" i="1" lang="en-GB" sz="2000" spc="-1" strike="noStrike">
                <a:solidFill>
                  <a:srgbClr val="ed7d31"/>
                </a:solidFill>
                <a:latin typeface="Arial"/>
              </a:rPr>
              <a:t>policies</a:t>
            </a:r>
            <a:r>
              <a:rPr b="0" lang="en-GB" sz="2000" spc="-1" strike="noStrike">
                <a:solidFill>
                  <a:srgbClr val="000000"/>
                </a:solidFill>
                <a:latin typeface="Arial"/>
              </a:rPr>
              <a:t> comes into play, and we'll expand on this in just a moment.</a:t>
            </a:r>
            <a:endParaRPr b="0" lang="en-US" sz="2000" spc="-1" strike="noStrike">
              <a:solidFill>
                <a:srgbClr val="000000"/>
              </a:solidFill>
              <a:latin typeface="Arial"/>
            </a:endParaRPr>
          </a:p>
          <a:p>
            <a:pPr marL="343080" indent="-343080">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000" spc="-1" strike="noStrike">
                <a:solidFill>
                  <a:srgbClr val="000000"/>
                </a:solidFill>
                <a:latin typeface="Arial"/>
              </a:rPr>
              <a:t>Secondly, in addition to understanding the probability of selecting an action, we'd probably also like to know how good a given action or a given state is for the agent. In terms of rewards, selecting one action over another in a given state may increase or decrease the agent's rewards, so knowing this in advance will probably help our agent out with deciding which actions to take in which states. This is where </a:t>
            </a:r>
            <a:r>
              <a:rPr b="0" i="1" lang="en-GB" sz="2000" spc="-1" strike="noStrike">
                <a:solidFill>
                  <a:srgbClr val="000000"/>
                </a:solidFill>
                <a:latin typeface="Arial"/>
              </a:rPr>
              <a:t>value functions</a:t>
            </a:r>
            <a:r>
              <a:rPr b="0" lang="en-GB" sz="2000" spc="-1" strike="noStrike">
                <a:solidFill>
                  <a:srgbClr val="000000"/>
                </a:solidFill>
                <a:latin typeface="Arial"/>
              </a:rPr>
              <a:t> become useful, and we'll also expand on this idea in just a bit.</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1560240" y="274320"/>
            <a:ext cx="7126200" cy="733320"/>
          </a:xfrm>
          <a:prstGeom prst="rect">
            <a:avLst/>
          </a:prstGeom>
          <a:noFill/>
          <a:ln w="0">
            <a:noFill/>
          </a:ln>
        </p:spPr>
        <p:txBody>
          <a:bodyPr lIns="90000" rIns="90000" tIns="46800" bIns="46800" anchor="t">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000000"/>
                </a:solidFill>
                <a:latin typeface="Arial"/>
              </a:rPr>
              <a:t>Policies</a:t>
            </a:r>
            <a:br>
              <a:rPr sz="4400"/>
            </a:br>
            <a:endParaRPr b="0" lang="en-US" sz="4400" spc="-1" strike="noStrike">
              <a:solidFill>
                <a:srgbClr val="000000"/>
              </a:solidFill>
              <a:latin typeface="Arial"/>
            </a:endParaRPr>
          </a:p>
        </p:txBody>
      </p:sp>
      <p:sp>
        <p:nvSpPr>
          <p:cNvPr id="88" name="Rectangle 2"/>
          <p:cNvSpPr/>
          <p:nvPr/>
        </p:nvSpPr>
        <p:spPr>
          <a:xfrm>
            <a:off x="1855800" y="1160640"/>
            <a:ext cx="6978600" cy="3184920"/>
          </a:xfrm>
          <a:prstGeom prst="rect">
            <a:avLst/>
          </a:prstGeom>
          <a:noFill/>
          <a:ln w="0">
            <a:noFill/>
          </a:ln>
        </p:spPr>
        <p:style>
          <a:lnRef idx="0"/>
          <a:fillRef idx="0"/>
          <a:effectRef idx="0"/>
          <a:fontRef idx="minor"/>
        </p:style>
        <p:txBody>
          <a:bodyPr lIns="90000" rIns="90000" tIns="46800" bIns="46800" anchor="t">
            <a:spAutoFit/>
          </a:bodyPr>
          <a:p>
            <a:pPr marL="285840" indent="-285840">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000" spc="-1" strike="noStrike">
                <a:solidFill>
                  <a:srgbClr val="000000"/>
                </a:solidFill>
                <a:latin typeface="Arial"/>
              </a:rPr>
              <a:t>A policy is a function that maps a given state to probabilities of selecting each possible action from that state. We will use the symbol π to denote a policy.</a:t>
            </a:r>
            <a:endParaRPr b="0" lang="en-US" sz="2000" spc="-1" strike="noStrike">
              <a:solidFill>
                <a:srgbClr val="000000"/>
              </a:solidFill>
              <a:latin typeface="Arial"/>
            </a:endParaRPr>
          </a:p>
          <a:p>
            <a:pPr marL="285840" indent="-285840">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pc="-1" strike="noStrike">
              <a:solidFill>
                <a:srgbClr val="000000"/>
              </a:solidFill>
              <a:latin typeface="Arial"/>
            </a:endParaRPr>
          </a:p>
          <a:p>
            <a:pPr marL="285840" indent="-285840">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000" spc="-1" strike="noStrike">
                <a:solidFill>
                  <a:srgbClr val="000000"/>
                </a:solidFill>
                <a:latin typeface="Arial"/>
              </a:rPr>
              <a:t>When speaking about policies, formally we say that an agent “follows a policy.” For example, if an agent follows policy π at time t, then π(a|s) is the probability that A</a:t>
            </a:r>
            <a:r>
              <a:rPr b="0" lang="en-GB" sz="2000" spc="-1" strike="noStrike" baseline="-25000">
                <a:solidFill>
                  <a:srgbClr val="000000"/>
                </a:solidFill>
                <a:latin typeface="Arial"/>
              </a:rPr>
              <a:t>t</a:t>
            </a:r>
            <a:r>
              <a:rPr b="0" lang="en-GB" sz="2000" spc="-1" strike="noStrike">
                <a:solidFill>
                  <a:srgbClr val="000000"/>
                </a:solidFill>
                <a:latin typeface="Arial"/>
              </a:rPr>
              <a:t>=a if S</a:t>
            </a:r>
            <a:r>
              <a:rPr b="0" lang="en-GB" sz="2000" spc="-1" strike="noStrike" baseline="-25000">
                <a:solidFill>
                  <a:srgbClr val="000000"/>
                </a:solidFill>
                <a:latin typeface="Arial"/>
              </a:rPr>
              <a:t>t</a:t>
            </a:r>
            <a:r>
              <a:rPr b="0" lang="en-GB" sz="2000" spc="-1" strike="noStrike">
                <a:solidFill>
                  <a:srgbClr val="000000"/>
                </a:solidFill>
                <a:latin typeface="Arial"/>
              </a:rPr>
              <a:t>=s. This means that, at time t, under policy π, the probability of taking action a in state s is π(a|s).</a:t>
            </a:r>
            <a:endParaRPr b="0" lang="en-US" sz="2000" spc="-1" strike="noStrike">
              <a:solidFill>
                <a:srgbClr val="000000"/>
              </a:solidFill>
              <a:latin typeface="Arial"/>
            </a:endParaRPr>
          </a:p>
        </p:txBody>
      </p:sp>
      <p:sp>
        <p:nvSpPr>
          <p:cNvPr id="89" name="Rectangle 3"/>
          <p:cNvSpPr/>
          <p:nvPr/>
        </p:nvSpPr>
        <p:spPr>
          <a:xfrm>
            <a:off x="1868400" y="4383000"/>
            <a:ext cx="6818400" cy="703800"/>
          </a:xfrm>
          <a:prstGeom prst="rect">
            <a:avLst/>
          </a:prstGeom>
          <a:noFill/>
          <a:ln w="0">
            <a:noFill/>
          </a:ln>
        </p:spPr>
        <p:style>
          <a:lnRef idx="0"/>
          <a:fillRef idx="0"/>
          <a:effectRef idx="0"/>
          <a:fontRef idx="minor"/>
        </p:style>
        <p:txBody>
          <a:bodyPr lIns="90000" rIns="90000" tIns="46800" bIns="46800" anchor="t">
            <a:spAutoFit/>
          </a:bodyPr>
          <a:p>
            <a:pPr marL="343080" indent="-343080">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000" spc="-1" strike="noStrike">
                <a:solidFill>
                  <a:srgbClr val="000000"/>
                </a:solidFill>
                <a:latin typeface="Arial"/>
              </a:rPr>
              <a:t>Note that, for each state s∈S, π is a probability distribution over a∈A(s).</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1639440" y="274320"/>
            <a:ext cx="7371000" cy="733320"/>
          </a:xfrm>
          <a:prstGeom prst="rect">
            <a:avLst/>
          </a:prstGeom>
          <a:noFill/>
          <a:ln w="0">
            <a:noFill/>
          </a:ln>
        </p:spPr>
        <p:txBody>
          <a:bodyPr lIns="90000" rIns="90000" tIns="46800" bIns="46800" anchor="t">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3600" spc="-1" strike="noStrike">
                <a:solidFill>
                  <a:srgbClr val="000000"/>
                </a:solidFill>
                <a:latin typeface="Arial"/>
              </a:rPr>
              <a:t>Value Functions following Policy</a:t>
            </a:r>
            <a:endParaRPr b="0" lang="en-US" sz="3600" spc="-1" strike="noStrike">
              <a:solidFill>
                <a:srgbClr val="000000"/>
              </a:solidFill>
              <a:latin typeface="Arial"/>
            </a:endParaRPr>
          </a:p>
        </p:txBody>
      </p:sp>
      <p:sp>
        <p:nvSpPr>
          <p:cNvPr id="91" name="TextBox 2"/>
          <p:cNvSpPr/>
          <p:nvPr/>
        </p:nvSpPr>
        <p:spPr>
          <a:xfrm>
            <a:off x="1819440" y="1197000"/>
            <a:ext cx="2912760" cy="398880"/>
          </a:xfrm>
          <a:prstGeom prst="rect">
            <a:avLst/>
          </a:prstGeom>
          <a:noFill/>
          <a:ln w="0">
            <a:noFill/>
          </a:ln>
        </p:spPr>
        <p:style>
          <a:lnRef idx="0"/>
          <a:fillRef idx="0"/>
          <a:effectRef idx="0"/>
          <a:fontRef idx="minor"/>
        </p:style>
        <p:txBody>
          <a:bodyPr wrap="none" lIns="90000" rIns="90000" tIns="46800" bIns="46800" anchor="t">
            <a:spAutoFit/>
          </a:bodyPr>
          <a:p>
            <a:pPr marL="285840" indent="-285840">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000" spc="-1" strike="noStrike">
                <a:solidFill>
                  <a:srgbClr val="000000"/>
                </a:solidFill>
                <a:latin typeface="Arial"/>
              </a:rPr>
              <a:t>State-Value Function </a:t>
            </a:r>
            <a:endParaRPr b="0" lang="en-US" sz="2000" spc="-1" strike="noStrike">
              <a:solidFill>
                <a:srgbClr val="000000"/>
              </a:solidFill>
              <a:latin typeface="Arial"/>
            </a:endParaRPr>
          </a:p>
        </p:txBody>
      </p:sp>
      <p:pic>
        <p:nvPicPr>
          <p:cNvPr id="92" name="Picture 2" descr=""/>
          <p:cNvPicPr/>
          <p:nvPr/>
        </p:nvPicPr>
        <p:blipFill>
          <a:blip r:embed="rId1"/>
          <a:stretch/>
        </p:blipFill>
        <p:spPr>
          <a:xfrm>
            <a:off x="1584360" y="1735200"/>
            <a:ext cx="7426440" cy="1760400"/>
          </a:xfrm>
          <a:prstGeom prst="rect">
            <a:avLst/>
          </a:prstGeom>
          <a:ln w="0">
            <a:noFill/>
          </a:ln>
        </p:spPr>
      </p:pic>
      <p:sp>
        <p:nvSpPr>
          <p:cNvPr id="93" name="TextBox 4"/>
          <p:cNvSpPr/>
          <p:nvPr/>
        </p:nvSpPr>
        <p:spPr>
          <a:xfrm>
            <a:off x="1971720" y="3809880"/>
            <a:ext cx="3026880" cy="398880"/>
          </a:xfrm>
          <a:prstGeom prst="rect">
            <a:avLst/>
          </a:prstGeom>
          <a:noFill/>
          <a:ln w="0">
            <a:noFill/>
          </a:ln>
        </p:spPr>
        <p:style>
          <a:lnRef idx="0"/>
          <a:fillRef idx="0"/>
          <a:effectRef idx="0"/>
          <a:fontRef idx="minor"/>
        </p:style>
        <p:txBody>
          <a:bodyPr wrap="none" lIns="90000" rIns="90000" tIns="46800" bIns="46800" anchor="t">
            <a:spAutoFit/>
          </a:bodyPr>
          <a:p>
            <a:pPr marL="285840" indent="-285840">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000" spc="-1" strike="noStrike">
                <a:solidFill>
                  <a:srgbClr val="000000"/>
                </a:solidFill>
                <a:latin typeface="Arial"/>
              </a:rPr>
              <a:t>Action-Value Function </a:t>
            </a:r>
            <a:endParaRPr b="0" lang="en-US" sz="2000" spc="-1" strike="noStrike">
              <a:solidFill>
                <a:srgbClr val="000000"/>
              </a:solidFill>
              <a:latin typeface="Arial"/>
            </a:endParaRPr>
          </a:p>
        </p:txBody>
      </p:sp>
      <p:pic>
        <p:nvPicPr>
          <p:cNvPr id="94" name="Picture 3" descr=""/>
          <p:cNvPicPr/>
          <p:nvPr/>
        </p:nvPicPr>
        <p:blipFill>
          <a:blip r:embed="rId2"/>
          <a:stretch/>
        </p:blipFill>
        <p:spPr>
          <a:xfrm>
            <a:off x="1584360" y="4606920"/>
            <a:ext cx="7331040" cy="196992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1653840" y="274320"/>
            <a:ext cx="7032600" cy="1143000"/>
          </a:xfrm>
          <a:prstGeom prst="rect">
            <a:avLst/>
          </a:prstGeom>
          <a:noFill/>
          <a:ln w="0">
            <a:noFill/>
          </a:ln>
        </p:spPr>
        <p:txBody>
          <a:bodyPr lIns="90000" rIns="90000" tIns="46800" bIns="46800" anchor="t">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000000"/>
                </a:solidFill>
                <a:latin typeface="Arial"/>
              </a:rPr>
              <a:t>What Do Reinforcement Learning Algorithms Learn?</a:t>
            </a:r>
            <a:br>
              <a:rPr sz="4400"/>
            </a:br>
            <a:endParaRPr b="0" lang="en-US" sz="4400" spc="-1" strike="noStrike">
              <a:solidFill>
                <a:srgbClr val="000000"/>
              </a:solidFill>
              <a:latin typeface="Arial"/>
            </a:endParaRPr>
          </a:p>
        </p:txBody>
      </p:sp>
      <p:sp>
        <p:nvSpPr>
          <p:cNvPr id="96" name="TextBox 2"/>
          <p:cNvSpPr/>
          <p:nvPr/>
        </p:nvSpPr>
        <p:spPr>
          <a:xfrm>
            <a:off x="1720800" y="1855800"/>
            <a:ext cx="7221600" cy="161856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2000" spc="-1" strike="noStrike">
                <a:solidFill>
                  <a:srgbClr val="000000"/>
                </a:solidFill>
                <a:latin typeface="Arial"/>
              </a:rPr>
              <a:t>It is the goal of reinforcement learning algorithms to find a policy that will yield </a:t>
            </a:r>
            <a:r>
              <a:rPr b="0" lang="en-GB" sz="2000" spc="-1" strike="noStrike">
                <a:solidFill>
                  <a:srgbClr val="ed7d31"/>
                </a:solidFill>
                <a:latin typeface="Arial"/>
              </a:rPr>
              <a:t>a lot of rewards </a:t>
            </a:r>
            <a:r>
              <a:rPr b="0" lang="en-GB" sz="2000" spc="-1" strike="noStrike">
                <a:solidFill>
                  <a:srgbClr val="000000"/>
                </a:solidFill>
                <a:latin typeface="Arial"/>
              </a:rPr>
              <a:t>for the agent if the agent indeed </a:t>
            </a:r>
            <a:r>
              <a:rPr b="0" lang="en-GB" sz="2000" spc="-1" strike="noStrike">
                <a:solidFill>
                  <a:srgbClr val="ed7d31"/>
                </a:solidFill>
                <a:latin typeface="Arial"/>
              </a:rPr>
              <a:t>follows that policy</a:t>
            </a:r>
            <a:r>
              <a:rPr b="0" lang="en-GB" sz="2000" spc="-1" strike="noStrike">
                <a:solidFill>
                  <a:srgbClr val="000000"/>
                </a:solidFill>
                <a:latin typeface="Arial"/>
              </a:rPr>
              <a:t>. Specifically, reinforcement learning algorithms seek to </a:t>
            </a:r>
            <a:r>
              <a:rPr b="0" lang="en-GB" sz="2000" spc="-1" strike="noStrike">
                <a:solidFill>
                  <a:srgbClr val="ed7d31"/>
                </a:solidFill>
                <a:latin typeface="Arial"/>
              </a:rPr>
              <a:t>find a policy that will yield more return</a:t>
            </a:r>
            <a:r>
              <a:rPr b="0" lang="en-GB" sz="2000" spc="-1" strike="noStrike">
                <a:solidFill>
                  <a:srgbClr val="000000"/>
                </a:solidFill>
                <a:latin typeface="Arial"/>
              </a:rPr>
              <a:t> to the agent </a:t>
            </a:r>
            <a:r>
              <a:rPr b="0" lang="en-GB" sz="2000" spc="-1" strike="noStrike">
                <a:solidFill>
                  <a:srgbClr val="ed7d31"/>
                </a:solidFill>
                <a:latin typeface="Arial"/>
              </a:rPr>
              <a:t>than all other policies</a:t>
            </a:r>
            <a:r>
              <a:rPr b="0" lang="en-GB" sz="2000" spc="-1" strike="noStrike">
                <a:solidFill>
                  <a:srgbClr val="000000"/>
                </a:solidFill>
                <a:latin typeface="Arial"/>
              </a:rPr>
              <a:t>.</a:t>
            </a:r>
            <a:endParaRPr b="0" lang="en-US" sz="2000" spc="-1" strike="noStrike">
              <a:solidFill>
                <a:srgbClr val="000000"/>
              </a:solidFill>
              <a:latin typeface="Arial"/>
            </a:endParaRPr>
          </a:p>
        </p:txBody>
      </p:sp>
      <p:pic>
        <p:nvPicPr>
          <p:cNvPr id="97" name="Picture 2" descr=""/>
          <p:cNvPicPr/>
          <p:nvPr/>
        </p:nvPicPr>
        <p:blipFill>
          <a:blip r:embed="rId1"/>
          <a:stretch/>
        </p:blipFill>
        <p:spPr>
          <a:xfrm>
            <a:off x="1720800" y="3673440"/>
            <a:ext cx="7221600" cy="257796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1639440" y="274320"/>
            <a:ext cx="7047000" cy="787320"/>
          </a:xfrm>
          <a:prstGeom prst="rect">
            <a:avLst/>
          </a:prstGeom>
          <a:noFill/>
          <a:ln w="0">
            <a:noFill/>
          </a:ln>
        </p:spPr>
        <p:txBody>
          <a:bodyPr lIns="90000" rIns="90000" tIns="46800" bIns="46800" anchor="t">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000000"/>
                </a:solidFill>
                <a:latin typeface="Arial"/>
              </a:rPr>
              <a:t>Optimal Functions</a:t>
            </a:r>
            <a:endParaRPr b="0" lang="en-US" sz="4400" spc="-1" strike="noStrike">
              <a:solidFill>
                <a:srgbClr val="000000"/>
              </a:solidFill>
              <a:latin typeface="Arial"/>
            </a:endParaRPr>
          </a:p>
        </p:txBody>
      </p:sp>
      <p:pic>
        <p:nvPicPr>
          <p:cNvPr id="99" name="Picture 2" descr=""/>
          <p:cNvPicPr/>
          <p:nvPr/>
        </p:nvPicPr>
        <p:blipFill>
          <a:blip r:embed="rId1"/>
          <a:stretch/>
        </p:blipFill>
        <p:spPr>
          <a:xfrm>
            <a:off x="1692360" y="1114560"/>
            <a:ext cx="7297560" cy="2462040"/>
          </a:xfrm>
          <a:prstGeom prst="rect">
            <a:avLst/>
          </a:prstGeom>
          <a:ln w="0">
            <a:noFill/>
          </a:ln>
        </p:spPr>
      </p:pic>
      <p:pic>
        <p:nvPicPr>
          <p:cNvPr id="100" name="Picture 3" descr=""/>
          <p:cNvPicPr/>
          <p:nvPr/>
        </p:nvPicPr>
        <p:blipFill>
          <a:blip r:embed="rId2"/>
          <a:stretch/>
        </p:blipFill>
        <p:spPr>
          <a:xfrm>
            <a:off x="1692360" y="3801960"/>
            <a:ext cx="7451640" cy="230364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1523520" y="261720"/>
            <a:ext cx="7472520" cy="1143000"/>
          </a:xfrm>
          <a:prstGeom prst="rect">
            <a:avLst/>
          </a:prstGeom>
          <a:noFill/>
          <a:ln w="0">
            <a:noFill/>
          </a:ln>
        </p:spPr>
        <p:txBody>
          <a:bodyPr lIns="90000" rIns="90000" tIns="46800" bIns="46800" anchor="t">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pc="-1" strike="noStrike">
                <a:solidFill>
                  <a:srgbClr val="000000"/>
                </a:solidFill>
                <a:latin typeface="Arial"/>
                <a:ea typeface="ＭＳ Ｐゴシック"/>
              </a:rPr>
              <a:t>Q-Function (Bellman Optimality Equation for Q</a:t>
            </a:r>
            <a:r>
              <a:rPr b="0" lang="en-US" sz="4400" spc="-1" strike="noStrike" baseline="-25000">
                <a:solidFill>
                  <a:srgbClr val="000000"/>
                </a:solidFill>
                <a:latin typeface="Arial"/>
                <a:ea typeface="ＭＳ Ｐゴシック"/>
              </a:rPr>
              <a:t>*</a:t>
            </a:r>
            <a:r>
              <a:rPr b="0" lang="en-US" sz="4400" spc="-1" strike="noStrike">
                <a:solidFill>
                  <a:srgbClr val="000000"/>
                </a:solidFill>
                <a:latin typeface="Arial"/>
                <a:ea typeface="ＭＳ Ｐゴシック"/>
              </a:rPr>
              <a:t>)</a:t>
            </a:r>
            <a:endParaRPr b="0" lang="en-US" sz="4400" spc="-1" strike="noStrike">
              <a:solidFill>
                <a:srgbClr val="000000"/>
              </a:solidFill>
              <a:latin typeface="Arial"/>
            </a:endParaRPr>
          </a:p>
        </p:txBody>
      </p:sp>
      <p:pic>
        <p:nvPicPr>
          <p:cNvPr id="102" name="Picture 11" descr=""/>
          <p:cNvPicPr/>
          <p:nvPr/>
        </p:nvPicPr>
        <p:blipFill>
          <a:blip r:embed="rId1"/>
          <a:stretch/>
        </p:blipFill>
        <p:spPr>
          <a:xfrm>
            <a:off x="1679400" y="2041560"/>
            <a:ext cx="7213680" cy="1414440"/>
          </a:xfrm>
          <a:prstGeom prst="rect">
            <a:avLst/>
          </a:prstGeom>
          <a:ln w="0">
            <a:noFill/>
          </a:ln>
        </p:spPr>
      </p:pic>
      <p:pic>
        <p:nvPicPr>
          <p:cNvPr id="103" name="Picture 13" descr=""/>
          <p:cNvPicPr/>
          <p:nvPr/>
        </p:nvPicPr>
        <p:blipFill>
          <a:blip r:embed="rId2"/>
          <a:stretch/>
        </p:blipFill>
        <p:spPr>
          <a:xfrm>
            <a:off x="1625760" y="3627360"/>
            <a:ext cx="7445160" cy="207504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title"/>
          </p:nvPr>
        </p:nvSpPr>
        <p:spPr>
          <a:xfrm>
            <a:off x="1574640" y="274320"/>
            <a:ext cx="7112160" cy="741240"/>
          </a:xfrm>
          <a:prstGeom prst="rect">
            <a:avLst/>
          </a:prstGeom>
          <a:noFill/>
          <a:ln w="0">
            <a:noFill/>
          </a:ln>
        </p:spPr>
        <p:txBody>
          <a:bodyPr lIns="90000" rIns="90000" tIns="46800" bIns="46800" anchor="t">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000000"/>
                </a:solidFill>
                <a:latin typeface="Arial"/>
              </a:rPr>
              <a:t>Q-Learning example</a:t>
            </a:r>
            <a:endParaRPr b="0" lang="en-US" sz="4400" spc="-1" strike="noStrike">
              <a:solidFill>
                <a:srgbClr val="000000"/>
              </a:solidFill>
              <a:latin typeface="Arial"/>
            </a:endParaRPr>
          </a:p>
        </p:txBody>
      </p:sp>
      <p:pic>
        <p:nvPicPr>
          <p:cNvPr id="105" name="Picture 2" descr="https://deeplizard.com/images/The%20lizard%20game%20Q%20learning.jpg"/>
          <p:cNvPicPr/>
          <p:nvPr/>
        </p:nvPicPr>
        <p:blipFill>
          <a:blip r:embed="rId1"/>
          <a:stretch/>
        </p:blipFill>
        <p:spPr>
          <a:xfrm>
            <a:off x="1641600" y="1357200"/>
            <a:ext cx="2847960" cy="2465640"/>
          </a:xfrm>
          <a:prstGeom prst="rect">
            <a:avLst/>
          </a:prstGeom>
          <a:ln w="0">
            <a:noFill/>
          </a:ln>
        </p:spPr>
      </p:pic>
      <p:cxnSp>
        <p:nvCxnSpPr>
          <p:cNvPr id="106" name="Straight Arrow Connector 3"/>
          <p:cNvCxnSpPr/>
          <p:nvPr/>
        </p:nvCxnSpPr>
        <p:spPr>
          <a:xfrm>
            <a:off x="2158920" y="4495320"/>
            <a:ext cx="470880" cy="1080"/>
          </a:xfrm>
          <a:prstGeom prst="straightConnector1">
            <a:avLst/>
          </a:prstGeom>
          <a:ln w="6480">
            <a:solidFill>
              <a:srgbClr val="4472c4"/>
            </a:solidFill>
            <a:miter/>
            <a:tailEnd len="med" type="arrow" w="med"/>
          </a:ln>
        </p:spPr>
      </p:cxnSp>
      <p:cxnSp>
        <p:nvCxnSpPr>
          <p:cNvPr id="107" name="Straight Arrow Connector 5"/>
          <p:cNvCxnSpPr/>
          <p:nvPr/>
        </p:nvCxnSpPr>
        <p:spPr>
          <a:xfrm>
            <a:off x="3047760" y="4241520"/>
            <a:ext cx="13320" cy="407160"/>
          </a:xfrm>
          <a:prstGeom prst="straightConnector1">
            <a:avLst/>
          </a:prstGeom>
          <a:ln w="6480">
            <a:solidFill>
              <a:srgbClr val="4472c4"/>
            </a:solidFill>
            <a:miter/>
            <a:tailEnd len="med" type="arrow" w="med"/>
          </a:ln>
        </p:spPr>
      </p:cxnSp>
      <p:cxnSp>
        <p:nvCxnSpPr>
          <p:cNvPr id="108" name="Straight Arrow Connector 7"/>
          <p:cNvCxnSpPr/>
          <p:nvPr/>
        </p:nvCxnSpPr>
        <p:spPr>
          <a:xfrm flipH="1" flipV="1">
            <a:off x="3567960" y="4241160"/>
            <a:ext cx="13320" cy="407160"/>
          </a:xfrm>
          <a:prstGeom prst="straightConnector1">
            <a:avLst/>
          </a:prstGeom>
          <a:ln w="6480">
            <a:solidFill>
              <a:srgbClr val="4472c4"/>
            </a:solidFill>
            <a:miter/>
            <a:tailEnd len="med" type="arrow" w="med"/>
          </a:ln>
        </p:spPr>
      </p:cxnSp>
      <p:cxnSp>
        <p:nvCxnSpPr>
          <p:cNvPr id="109" name="Straight Arrow Connector 9"/>
          <p:cNvCxnSpPr/>
          <p:nvPr/>
        </p:nvCxnSpPr>
        <p:spPr>
          <a:xfrm flipH="1">
            <a:off x="3834720" y="4444560"/>
            <a:ext cx="508680" cy="1080"/>
          </a:xfrm>
          <a:prstGeom prst="straightConnector1">
            <a:avLst/>
          </a:prstGeom>
          <a:ln w="6480">
            <a:solidFill>
              <a:srgbClr val="4472c4"/>
            </a:solidFill>
            <a:miter/>
            <a:tailEnd len="med" type="arrow" w="med"/>
          </a:ln>
        </p:spPr>
      </p:cxnSp>
      <p:sp>
        <p:nvSpPr>
          <p:cNvPr id="110" name="TextBox 10"/>
          <p:cNvSpPr/>
          <p:nvPr/>
        </p:nvSpPr>
        <p:spPr>
          <a:xfrm>
            <a:off x="1645200" y="4311720"/>
            <a:ext cx="39564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800" spc="-1" strike="noStrike">
                <a:solidFill>
                  <a:srgbClr val="000000"/>
                </a:solidFill>
                <a:latin typeface="Arial"/>
              </a:rPr>
              <a:t>A:</a:t>
            </a:r>
            <a:endParaRPr b="0" lang="en-US" sz="1800" spc="-1" strike="noStrike">
              <a:solidFill>
                <a:srgbClr val="000000"/>
              </a:solidFill>
              <a:latin typeface="Arial"/>
            </a:endParaRPr>
          </a:p>
        </p:txBody>
      </p:sp>
      <p:sp>
        <p:nvSpPr>
          <p:cNvPr id="111" name="TextBox 12"/>
          <p:cNvSpPr/>
          <p:nvPr/>
        </p:nvSpPr>
        <p:spPr>
          <a:xfrm>
            <a:off x="2112840" y="4603680"/>
            <a:ext cx="62424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800" spc="-1" strike="noStrike">
                <a:solidFill>
                  <a:srgbClr val="000000"/>
                </a:solidFill>
                <a:latin typeface="Arial"/>
              </a:rPr>
              <a:t>right</a:t>
            </a:r>
            <a:endParaRPr b="0" lang="en-US" sz="1800" spc="-1" strike="noStrike">
              <a:solidFill>
                <a:srgbClr val="000000"/>
              </a:solidFill>
              <a:latin typeface="Arial"/>
            </a:endParaRPr>
          </a:p>
        </p:txBody>
      </p:sp>
      <p:sp>
        <p:nvSpPr>
          <p:cNvPr id="112" name="TextBox 15"/>
          <p:cNvSpPr/>
          <p:nvPr/>
        </p:nvSpPr>
        <p:spPr>
          <a:xfrm>
            <a:off x="3875040" y="4599000"/>
            <a:ext cx="48564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800" spc="-1" strike="noStrike">
                <a:solidFill>
                  <a:srgbClr val="000000"/>
                </a:solidFill>
                <a:latin typeface="Arial"/>
              </a:rPr>
              <a:t>left</a:t>
            </a:r>
            <a:endParaRPr b="0" lang="en-US" sz="1800" spc="-1" strike="noStrike">
              <a:solidFill>
                <a:srgbClr val="000000"/>
              </a:solidFill>
              <a:latin typeface="Arial"/>
            </a:endParaRPr>
          </a:p>
        </p:txBody>
      </p:sp>
      <p:sp>
        <p:nvSpPr>
          <p:cNvPr id="113" name="TextBox 14"/>
          <p:cNvSpPr/>
          <p:nvPr/>
        </p:nvSpPr>
        <p:spPr>
          <a:xfrm>
            <a:off x="3407040" y="4586400"/>
            <a:ext cx="43380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800" spc="-1" strike="noStrike">
                <a:solidFill>
                  <a:srgbClr val="000000"/>
                </a:solidFill>
                <a:latin typeface="Arial"/>
              </a:rPr>
              <a:t>up</a:t>
            </a:r>
            <a:endParaRPr b="0" lang="en-US" sz="1800" spc="-1" strike="noStrike">
              <a:solidFill>
                <a:srgbClr val="000000"/>
              </a:solidFill>
              <a:latin typeface="Arial"/>
            </a:endParaRPr>
          </a:p>
        </p:txBody>
      </p:sp>
      <p:sp>
        <p:nvSpPr>
          <p:cNvPr id="114" name="TextBox 16"/>
          <p:cNvSpPr/>
          <p:nvPr/>
        </p:nvSpPr>
        <p:spPr>
          <a:xfrm>
            <a:off x="2748240" y="4599000"/>
            <a:ext cx="72648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800" spc="-1" strike="noStrike">
                <a:solidFill>
                  <a:srgbClr val="000000"/>
                </a:solidFill>
                <a:latin typeface="Arial"/>
              </a:rPr>
              <a:t>down</a:t>
            </a:r>
            <a:endParaRPr b="0" lang="en-US" sz="1800" spc="-1" strike="noStrike">
              <a:solidFill>
                <a:srgbClr val="000000"/>
              </a:solidFill>
              <a:latin typeface="Arial"/>
            </a:endParaRPr>
          </a:p>
        </p:txBody>
      </p:sp>
      <p:pic>
        <p:nvPicPr>
          <p:cNvPr id="115" name="Picture 3" descr=""/>
          <p:cNvPicPr/>
          <p:nvPr/>
        </p:nvPicPr>
        <p:blipFill>
          <a:blip r:embed="rId2"/>
          <a:stretch/>
        </p:blipFill>
        <p:spPr>
          <a:xfrm>
            <a:off x="4502160" y="1636560"/>
            <a:ext cx="4603680" cy="1771920"/>
          </a:xfrm>
          <a:prstGeom prst="rect">
            <a:avLst/>
          </a:prstGeom>
          <a:ln w="0">
            <a:noFill/>
          </a:ln>
        </p:spPr>
      </p:pic>
      <p:sp>
        <p:nvSpPr>
          <p:cNvPr id="116" name="TextBox 17"/>
          <p:cNvSpPr/>
          <p:nvPr/>
        </p:nvSpPr>
        <p:spPr>
          <a:xfrm>
            <a:off x="4678560" y="1357200"/>
            <a:ext cx="251712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800" spc="-1" strike="noStrike">
                <a:solidFill>
                  <a:srgbClr val="000000"/>
                </a:solidFill>
                <a:latin typeface="Arial"/>
              </a:rPr>
              <a:t>Finite MDP and reward</a:t>
            </a:r>
            <a:endParaRPr b="0" lang="en-US" sz="1800" spc="-1" strike="noStrike">
              <a:solidFill>
                <a:srgbClr val="000000"/>
              </a:solidFill>
              <a:latin typeface="Arial"/>
            </a:endParaRPr>
          </a:p>
        </p:txBody>
      </p:sp>
      <p:sp>
        <p:nvSpPr>
          <p:cNvPr id="117" name="Rectangle 18"/>
          <p:cNvSpPr/>
          <p:nvPr/>
        </p:nvSpPr>
        <p:spPr>
          <a:xfrm>
            <a:off x="4533840" y="3624120"/>
            <a:ext cx="4572000" cy="277488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600" spc="-1" strike="noStrike">
                <a:solidFill>
                  <a:srgbClr val="000000"/>
                </a:solidFill>
                <a:latin typeface="Arial"/>
              </a:rPr>
              <a:t>Now, at the start of the game, the lizard has no idea how good any given action is from any given state. It’s not aware of anything besides the current state of the environment. </a:t>
            </a:r>
            <a:endParaRPr b="0" lang="en-US" sz="1600" spc="-1" strike="noStrike">
              <a:solidFill>
                <a:srgbClr val="000000"/>
              </a:solidFill>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pc="-1" strike="noStrike">
              <a:solidFill>
                <a:srgbClr val="000000"/>
              </a:solidFill>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600" spc="-1" strike="noStrike">
                <a:solidFill>
                  <a:srgbClr val="000000"/>
                </a:solidFill>
                <a:latin typeface="Arial"/>
              </a:rPr>
              <a:t>Therefore, the </a:t>
            </a:r>
            <a:r>
              <a:rPr b="0" lang="en-GB" sz="1600" spc="-1" strike="noStrike">
                <a:solidFill>
                  <a:srgbClr val="ed7d31"/>
                </a:solidFill>
                <a:latin typeface="Arial"/>
              </a:rPr>
              <a:t>Q-values</a:t>
            </a:r>
            <a:r>
              <a:rPr b="0" lang="en-GB" sz="1600" spc="-1" strike="noStrike">
                <a:solidFill>
                  <a:srgbClr val="000000"/>
                </a:solidFill>
                <a:latin typeface="Arial"/>
              </a:rPr>
              <a:t> for each state-action pair will all be initialized to zero since the lizard knows nothing about the environment at the start. As the game is played, though, the Q-values will be iteratively updated using the Q-learning update rule (see Update the Q-Table).</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7" dur="indefinite" restart="never" nodeType="tmRoot">
          <p:childTnLst>
            <p:seq>
              <p:cTn id="8" dur="indefinite" nodeType="mainSeq">
                <p:childTnLst>
                  <p:par>
                    <p:cTn id="9" nodeType="clickEffect" fill="hold">
                      <p:stCondLst>
                        <p:cond delay="indefinite"/>
                      </p:stCondLst>
                      <p:childTnLst>
                        <p:par>
                          <p:cTn id="10" nodeType="withEffect" fill="hold">
                            <p:stCondLst>
                              <p:cond delay="0"/>
                            </p:stCondLst>
                            <p:childTnLst>
                              <p:par>
                                <p:cTn id="11" nodeType="clickEffect" fill="hold" presetClass="entr" presetID="1">
                                  <p:stCondLst>
                                    <p:cond delay="0"/>
                                  </p:stCondLst>
                                  <p:childTnLst>
                                    <p:set>
                                      <p:cBhvr>
                                        <p:cTn id="12" dur="1" fill="hold">
                                          <p:stCondLst>
                                            <p:cond delay="0"/>
                                          </p:stCondLst>
                                        </p:cTn>
                                        <p:tgtEl>
                                          <p:spTgt spid="106"/>
                                        </p:tgtEl>
                                        <p:attrNameLst>
                                          <p:attrName>style.visibility</p:attrName>
                                        </p:attrNameLst>
                                      </p:cBhvr>
                                      <p:to>
                                        <p:strVal val="visible"/>
                                      </p:to>
                                    </p:set>
                                  </p:childTnLst>
                                </p:cTn>
                              </p:par>
                              <p:par>
                                <p:cTn id="13" nodeType="withEffect" fill="hold" presetClass="entr" presetID="1">
                                  <p:stCondLst>
                                    <p:cond delay="0"/>
                                  </p:stCondLst>
                                  <p:childTnLst>
                                    <p:set>
                                      <p:cBhvr>
                                        <p:cTn id="14" dur="1" fill="hold">
                                          <p:stCondLst>
                                            <p:cond delay="0"/>
                                          </p:stCondLst>
                                        </p:cTn>
                                        <p:tgtEl>
                                          <p:spTgt spid="107"/>
                                        </p:tgtEl>
                                        <p:attrNameLst>
                                          <p:attrName>style.visibility</p:attrName>
                                        </p:attrNameLst>
                                      </p:cBhvr>
                                      <p:to>
                                        <p:strVal val="visible"/>
                                      </p:to>
                                    </p:set>
                                  </p:childTnLst>
                                </p:cTn>
                              </p:par>
                              <p:par>
                                <p:cTn id="15" nodeType="withEffect" fill="hold" presetClass="entr" presetID="1">
                                  <p:stCondLst>
                                    <p:cond delay="0"/>
                                  </p:stCondLst>
                                  <p:childTnLst>
                                    <p:set>
                                      <p:cBhvr>
                                        <p:cTn id="16" dur="1" fill="hold">
                                          <p:stCondLst>
                                            <p:cond delay="0"/>
                                          </p:stCondLst>
                                        </p:cTn>
                                        <p:tgtEl>
                                          <p:spTgt spid="108"/>
                                        </p:tgtEl>
                                        <p:attrNameLst>
                                          <p:attrName>style.visibility</p:attrName>
                                        </p:attrNameLst>
                                      </p:cBhvr>
                                      <p:to>
                                        <p:strVal val="visible"/>
                                      </p:to>
                                    </p:set>
                                  </p:childTnLst>
                                </p:cTn>
                              </p:par>
                              <p:par>
                                <p:cTn id="17" nodeType="withEffect" fill="hold" presetClass="entr" presetID="1">
                                  <p:stCondLst>
                                    <p:cond delay="0"/>
                                  </p:stCondLst>
                                  <p:childTnLst>
                                    <p:set>
                                      <p:cBhvr>
                                        <p:cTn id="18" dur="1" fill="hold">
                                          <p:stCondLst>
                                            <p:cond delay="0"/>
                                          </p:stCondLst>
                                        </p:cTn>
                                        <p:tgtEl>
                                          <p:spTgt spid="109"/>
                                        </p:tgtEl>
                                        <p:attrNameLst>
                                          <p:attrName>style.visibility</p:attrName>
                                        </p:attrNameLst>
                                      </p:cBhvr>
                                      <p:to>
                                        <p:strVal val="visible"/>
                                      </p:to>
                                    </p:set>
                                  </p:childTnLst>
                                </p:cTn>
                              </p:par>
                              <p:par>
                                <p:cTn id="19" nodeType="withEffect" fill="hold" presetClass="entr" presetID="1">
                                  <p:stCondLst>
                                    <p:cond delay="0"/>
                                  </p:stCondLst>
                                  <p:childTnLst>
                                    <p:set>
                                      <p:cBhvr>
                                        <p:cTn id="20" dur="1" fill="hold">
                                          <p:stCondLst>
                                            <p:cond delay="0"/>
                                          </p:stCondLst>
                                        </p:cTn>
                                        <p:tgtEl>
                                          <p:spTgt spid="110"/>
                                        </p:tgtEl>
                                        <p:attrNameLst>
                                          <p:attrName>style.visibility</p:attrName>
                                        </p:attrNameLst>
                                      </p:cBhvr>
                                      <p:to>
                                        <p:strVal val="visible"/>
                                      </p:to>
                                    </p:set>
                                  </p:childTnLst>
                                </p:cTn>
                              </p:par>
                              <p:par>
                                <p:cTn id="21" nodeType="withEffect" fill="hold" presetClass="entr" presetID="1">
                                  <p:stCondLst>
                                    <p:cond delay="0"/>
                                  </p:stCondLst>
                                  <p:childTnLst>
                                    <p:set>
                                      <p:cBhvr>
                                        <p:cTn id="22" dur="1" fill="hold">
                                          <p:stCondLst>
                                            <p:cond delay="0"/>
                                          </p:stCondLst>
                                        </p:cTn>
                                        <p:tgtEl>
                                          <p:spTgt spid="111"/>
                                        </p:tgtEl>
                                        <p:attrNameLst>
                                          <p:attrName>style.visibility</p:attrName>
                                        </p:attrNameLst>
                                      </p:cBhvr>
                                      <p:to>
                                        <p:strVal val="visible"/>
                                      </p:to>
                                    </p:set>
                                  </p:childTnLst>
                                </p:cTn>
                              </p:par>
                              <p:par>
                                <p:cTn id="23" nodeType="withEffect" fill="hold" presetClass="entr" presetID="1">
                                  <p:stCondLst>
                                    <p:cond delay="0"/>
                                  </p:stCondLst>
                                  <p:childTnLst>
                                    <p:set>
                                      <p:cBhvr>
                                        <p:cTn id="24" dur="1" fill="hold">
                                          <p:stCondLst>
                                            <p:cond delay="0"/>
                                          </p:stCondLst>
                                        </p:cTn>
                                        <p:tgtEl>
                                          <p:spTgt spid="112"/>
                                        </p:tgtEl>
                                        <p:attrNameLst>
                                          <p:attrName>style.visibility</p:attrName>
                                        </p:attrNameLst>
                                      </p:cBhvr>
                                      <p:to>
                                        <p:strVal val="visible"/>
                                      </p:to>
                                    </p:set>
                                  </p:childTnLst>
                                </p:cTn>
                              </p:par>
                              <p:par>
                                <p:cTn id="25" nodeType="withEffect" fill="hold" presetClass="entr" presetID="1">
                                  <p:stCondLst>
                                    <p:cond delay="0"/>
                                  </p:stCondLst>
                                  <p:childTnLst>
                                    <p:set>
                                      <p:cBhvr>
                                        <p:cTn id="26" dur="1" fill="hold">
                                          <p:stCondLst>
                                            <p:cond delay="0"/>
                                          </p:stCondLst>
                                        </p:cTn>
                                        <p:tgtEl>
                                          <p:spTgt spid="113"/>
                                        </p:tgtEl>
                                        <p:attrNameLst>
                                          <p:attrName>style.visibility</p:attrName>
                                        </p:attrNameLst>
                                      </p:cBhvr>
                                      <p:to>
                                        <p:strVal val="visible"/>
                                      </p:to>
                                    </p:set>
                                  </p:childTnLst>
                                </p:cTn>
                              </p:par>
                              <p:par>
                                <p:cTn id="27" nodeType="withEffect" fill="hold" presetClass="entr" presetID="1">
                                  <p:stCondLst>
                                    <p:cond delay="0"/>
                                  </p:stCondLst>
                                  <p:childTnLst>
                                    <p:set>
                                      <p:cBhvr>
                                        <p:cTn id="28" dur="1" fill="hold">
                                          <p:stCondLst>
                                            <p:cond delay="0"/>
                                          </p:stCondLst>
                                        </p:cTn>
                                        <p:tgtEl>
                                          <p:spTgt spid="114"/>
                                        </p:tgtEl>
                                        <p:attrNameLst>
                                          <p:attrName>style.visibility</p:attrName>
                                        </p:attrNameLst>
                                      </p:cBhvr>
                                      <p:to>
                                        <p:strVal val="visible"/>
                                      </p:to>
                                    </p:set>
                                  </p:childTnLst>
                                </p:cTn>
                              </p:par>
                            </p:childTnLst>
                          </p:cTn>
                        </p:par>
                      </p:childTnLst>
                    </p:cTn>
                  </p:par>
                  <p:par>
                    <p:cTn id="29" nodeType="clickEffect" fill="hold">
                      <p:stCondLst>
                        <p:cond delay="indefinite"/>
                      </p:stCondLst>
                      <p:childTnLst>
                        <p:par>
                          <p:cTn id="30" nodeType="withEffect" fill="hold">
                            <p:stCondLst>
                              <p:cond delay="0"/>
                            </p:stCondLst>
                            <p:childTnLst>
                              <p:par>
                                <p:cTn id="31" nodeType="clickEffect" fill="hold" presetClass="entr" presetID="1">
                                  <p:stCondLst>
                                    <p:cond delay="0"/>
                                  </p:stCondLst>
                                  <p:childTnLst>
                                    <p:set>
                                      <p:cBhvr>
                                        <p:cTn id="32" dur="1" fill="hold">
                                          <p:stCondLst>
                                            <p:cond delay="0"/>
                                          </p:stCondLst>
                                        </p:cTn>
                                        <p:tgtEl>
                                          <p:spTgt spid="115"/>
                                        </p:tgtEl>
                                        <p:attrNameLst>
                                          <p:attrName>style.visibility</p:attrName>
                                        </p:attrNameLst>
                                      </p:cBhvr>
                                      <p:to>
                                        <p:strVal val="visible"/>
                                      </p:to>
                                    </p:set>
                                  </p:childTnLst>
                                </p:cTn>
                              </p:par>
                            </p:childTnLst>
                          </p:cTn>
                        </p:par>
                      </p:childTnLst>
                    </p:cTn>
                  </p:par>
                  <p:par>
                    <p:cTn id="33" nodeType="clickEffect" fill="hold">
                      <p:stCondLst>
                        <p:cond delay="indefinite"/>
                      </p:stCondLst>
                      <p:childTnLst>
                        <p:par>
                          <p:cTn id="34" nodeType="withEffect" fill="hold">
                            <p:stCondLst>
                              <p:cond delay="0"/>
                            </p:stCondLst>
                            <p:childTnLst>
                              <p:par>
                                <p:cTn id="35" nodeType="clickEffect" fill="hold" presetClass="entr" presetID="1">
                                  <p:stCondLst>
                                    <p:cond delay="0"/>
                                  </p:stCondLst>
                                  <p:childTnLst>
                                    <p:set>
                                      <p:cBhvr>
                                        <p:cTn id="36" dur="1" fill="hold">
                                          <p:stCondLst>
                                            <p:cond delay="0"/>
                                          </p:stCondLst>
                                        </p:cTn>
                                        <p:tgtEl>
                                          <p:spTgt spid="1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title"/>
          </p:nvPr>
        </p:nvSpPr>
        <p:spPr>
          <a:xfrm>
            <a:off x="1587600" y="274320"/>
            <a:ext cx="7353360" cy="1143000"/>
          </a:xfrm>
          <a:prstGeom prst="rect">
            <a:avLst/>
          </a:prstGeom>
          <a:noFill/>
          <a:ln w="0">
            <a:noFill/>
          </a:ln>
        </p:spPr>
        <p:txBody>
          <a:bodyPr lIns="90000" rIns="90000" tIns="46800" bIns="46800" anchor="t">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4000" spc="-1" strike="noStrike">
                <a:solidFill>
                  <a:srgbClr val="000000"/>
                </a:solidFill>
                <a:latin typeface="Arial"/>
              </a:rPr>
              <a:t>Storing Q-Values In A Q-Table</a:t>
            </a:r>
            <a:br>
              <a:rPr sz="4000"/>
            </a:br>
            <a:endParaRPr b="0" lang="en-US" sz="4000" spc="-1" strike="noStrike">
              <a:solidFill>
                <a:srgbClr val="000000"/>
              </a:solidFill>
              <a:latin typeface="Arial"/>
            </a:endParaRPr>
          </a:p>
        </p:txBody>
      </p:sp>
      <p:pic>
        <p:nvPicPr>
          <p:cNvPr id="119" name="Picture 2" descr="https://deeplizard.com/images/The%20lizard%20game%20Q%20learning.jpg"/>
          <p:cNvPicPr/>
          <p:nvPr/>
        </p:nvPicPr>
        <p:blipFill>
          <a:blip r:embed="rId1"/>
          <a:stretch/>
        </p:blipFill>
        <p:spPr>
          <a:xfrm>
            <a:off x="1608120" y="1179360"/>
            <a:ext cx="2084400" cy="1805040"/>
          </a:xfrm>
          <a:prstGeom prst="rect">
            <a:avLst/>
          </a:prstGeom>
          <a:ln w="0">
            <a:noFill/>
          </a:ln>
        </p:spPr>
      </p:pic>
      <p:pic>
        <p:nvPicPr>
          <p:cNvPr id="120" name="Picture 2" descr="https://deeplizard.com/images/The%20lizard%20game%20Q%20table%20zeros.jpg"/>
          <p:cNvPicPr/>
          <p:nvPr/>
        </p:nvPicPr>
        <p:blipFill>
          <a:blip r:embed="rId2"/>
          <a:stretch/>
        </p:blipFill>
        <p:spPr>
          <a:xfrm>
            <a:off x="4718160" y="2984400"/>
            <a:ext cx="4270320" cy="2705040"/>
          </a:xfrm>
          <a:prstGeom prst="rect">
            <a:avLst/>
          </a:prstGeom>
          <a:ln w="0">
            <a:noFill/>
          </a:ln>
        </p:spPr>
      </p:pic>
      <p:sp>
        <p:nvSpPr>
          <p:cNvPr id="121" name="TextBox 3"/>
          <p:cNvSpPr/>
          <p:nvPr/>
        </p:nvSpPr>
        <p:spPr>
          <a:xfrm>
            <a:off x="6052320" y="1496880"/>
            <a:ext cx="128556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800" spc="-1" strike="noStrike">
                <a:solidFill>
                  <a:srgbClr val="000000"/>
                </a:solidFill>
                <a:latin typeface="Arial"/>
              </a:rPr>
              <a:t>At the start</a:t>
            </a:r>
            <a:endParaRPr b="0" lang="en-US" sz="1800" spc="-1" strike="noStrike">
              <a:solidFill>
                <a:srgbClr val="000000"/>
              </a:solidFill>
              <a:latin typeface="Arial"/>
            </a:endParaRPr>
          </a:p>
        </p:txBody>
      </p:sp>
      <p:cxnSp>
        <p:nvCxnSpPr>
          <p:cNvPr id="122" name="Straight Arrow Connector 5"/>
          <p:cNvCxnSpPr>
            <a:stCxn id="121" idx="2"/>
            <a:endCxn id="120" idx="0"/>
          </p:cNvCxnSpPr>
          <p:nvPr/>
        </p:nvCxnSpPr>
        <p:spPr>
          <a:xfrm>
            <a:off x="6695640" y="1866960"/>
            <a:ext cx="158040" cy="1117800"/>
          </a:xfrm>
          <a:prstGeom prst="straightConnector1">
            <a:avLst/>
          </a:prstGeom>
          <a:ln w="6480">
            <a:solidFill>
              <a:srgbClr val="4472c4"/>
            </a:solidFill>
            <a:miter/>
            <a:tailEnd len="med" type="arrow" w="med"/>
          </a:ln>
        </p:spPr>
      </p:cxnSp>
      <p:sp>
        <p:nvSpPr>
          <p:cNvPr id="123" name="Rectangle 7"/>
          <p:cNvSpPr/>
          <p:nvPr/>
        </p:nvSpPr>
        <p:spPr>
          <a:xfrm>
            <a:off x="1474920" y="3054240"/>
            <a:ext cx="3243240" cy="350604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1" lang="en-GB" sz="1600" spc="-1" strike="noStrike">
                <a:solidFill>
                  <a:srgbClr val="000000"/>
                </a:solidFill>
                <a:latin typeface="Arial"/>
              </a:rPr>
              <a:t>Episodes</a:t>
            </a:r>
            <a:endParaRPr b="0" lang="en-US" sz="1600" spc="-1" strike="noStrike">
              <a:solidFill>
                <a:srgbClr val="000000"/>
              </a:solidFill>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600" spc="-1" strike="noStrike">
              <a:solidFill>
                <a:srgbClr val="000000"/>
              </a:solidFill>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600" spc="-1" strike="noStrike">
                <a:solidFill>
                  <a:srgbClr val="000000"/>
                </a:solidFill>
                <a:latin typeface="Arial"/>
              </a:rPr>
              <a:t>Let’s say we want the lizard to play five episodes. It is during these episodes that the learning process will take place.</a:t>
            </a:r>
            <a:endParaRPr b="0" lang="en-US" sz="1600" spc="-1" strike="noStrike">
              <a:solidFill>
                <a:srgbClr val="000000"/>
              </a:solidFill>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600" spc="-1" strike="noStrike">
                <a:solidFill>
                  <a:srgbClr val="000000"/>
                </a:solidFill>
                <a:latin typeface="Arial"/>
              </a:rPr>
              <a:t>In each episode, the lizard starts out by choosing an action from the starting state based on the current Q-values in the table. The lizard chooses the action based on which action has the highest Q-value in the Q-table for the current state.</a:t>
            </a:r>
            <a:endParaRPr b="0" lang="en-US" sz="1600" spc="-1" strike="noStrike">
              <a:solidFill>
                <a:srgbClr val="000000"/>
              </a:solidFill>
              <a:latin typeface="Arial"/>
            </a:endParaRPr>
          </a:p>
        </p:txBody>
      </p:sp>
      <p:sp>
        <p:nvSpPr>
          <p:cNvPr id="124" name="TextBox 8"/>
          <p:cNvSpPr/>
          <p:nvPr/>
        </p:nvSpPr>
        <p:spPr>
          <a:xfrm>
            <a:off x="4718160" y="5870520"/>
            <a:ext cx="4425840" cy="64260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800" spc="-1" strike="noStrike">
                <a:solidFill>
                  <a:srgbClr val="ff0000"/>
                </a:solidFill>
                <a:latin typeface="Arial"/>
              </a:rPr>
              <a:t>But, wait... That’s kind of weird for the first actions in the first episode, right? </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37" dur="indefinite" restart="never" nodeType="tmRoot">
          <p:childTnLst>
            <p:seq>
              <p:cTn id="38" dur="indefinite" nodeType="mainSeq">
                <p:childTnLst>
                  <p:par>
                    <p:cTn id="39" nodeType="clickEffect" fill="hold">
                      <p:stCondLst>
                        <p:cond delay="indefinite"/>
                      </p:stCondLst>
                      <p:childTnLst>
                        <p:par>
                          <p:cTn id="40" nodeType="withEffect" fill="hold">
                            <p:stCondLst>
                              <p:cond delay="0"/>
                            </p:stCondLst>
                            <p:childTnLst>
                              <p:par>
                                <p:cTn id="41" nodeType="clickEffect" fill="hold" presetClass="entr" presetID="1">
                                  <p:stCondLst>
                                    <p:cond delay="0"/>
                                  </p:stCondLst>
                                  <p:childTnLst>
                                    <p:set>
                                      <p:cBhvr>
                                        <p:cTn id="42" dur="1" fill="hold">
                                          <p:stCondLst>
                                            <p:cond delay="0"/>
                                          </p:stCondLst>
                                        </p:cTn>
                                        <p:tgtEl>
                                          <p:spTgt spid="120"/>
                                        </p:tgtEl>
                                        <p:attrNameLst>
                                          <p:attrName>style.visibility</p:attrName>
                                        </p:attrNameLst>
                                      </p:cBhvr>
                                      <p:to>
                                        <p:strVal val="visible"/>
                                      </p:to>
                                    </p:set>
                                  </p:childTnLst>
                                </p:cTn>
                              </p:par>
                              <p:par>
                                <p:cTn id="43" nodeType="withEffect" fill="hold" presetClass="entr" presetID="1">
                                  <p:stCondLst>
                                    <p:cond delay="0"/>
                                  </p:stCondLst>
                                  <p:childTnLst>
                                    <p:set>
                                      <p:cBhvr>
                                        <p:cTn id="44" dur="1" fill="hold">
                                          <p:stCondLst>
                                            <p:cond delay="0"/>
                                          </p:stCondLst>
                                        </p:cTn>
                                        <p:tgtEl>
                                          <p:spTgt spid="121"/>
                                        </p:tgtEl>
                                        <p:attrNameLst>
                                          <p:attrName>style.visibility</p:attrName>
                                        </p:attrNameLst>
                                      </p:cBhvr>
                                      <p:to>
                                        <p:strVal val="visible"/>
                                      </p:to>
                                    </p:set>
                                  </p:childTnLst>
                                </p:cTn>
                              </p:par>
                              <p:par>
                                <p:cTn id="45" nodeType="withEffect" fill="hold" presetClass="entr" presetID="1">
                                  <p:stCondLst>
                                    <p:cond delay="0"/>
                                  </p:stCondLst>
                                  <p:childTnLst>
                                    <p:set>
                                      <p:cBhvr>
                                        <p:cTn id="46" dur="1" fill="hold">
                                          <p:stCondLst>
                                            <p:cond delay="0"/>
                                          </p:stCondLst>
                                        </p:cTn>
                                        <p:tgtEl>
                                          <p:spTgt spid="122"/>
                                        </p:tgtEl>
                                        <p:attrNameLst>
                                          <p:attrName>style.visibility</p:attrName>
                                        </p:attrNameLst>
                                      </p:cBhvr>
                                      <p:to>
                                        <p:strVal val="visible"/>
                                      </p:to>
                                    </p:set>
                                  </p:childTnLst>
                                </p:cTn>
                              </p:par>
                            </p:childTnLst>
                          </p:cTn>
                        </p:par>
                      </p:childTnLst>
                    </p:cTn>
                  </p:par>
                  <p:par>
                    <p:cTn id="47" nodeType="clickEffect" fill="hold">
                      <p:stCondLst>
                        <p:cond delay="indefinite"/>
                      </p:stCondLst>
                      <p:childTnLst>
                        <p:par>
                          <p:cTn id="48" nodeType="withEffect" fill="hold">
                            <p:stCondLst>
                              <p:cond delay="0"/>
                            </p:stCondLst>
                            <p:childTnLst>
                              <p:par>
                                <p:cTn id="49" nodeType="clickEffect" fill="hold" presetClass="entr" presetID="1">
                                  <p:stCondLst>
                                    <p:cond delay="0"/>
                                  </p:stCondLst>
                                  <p:childTnLst>
                                    <p:set>
                                      <p:cBhvr>
                                        <p:cTn id="50" dur="1" fill="hold">
                                          <p:stCondLst>
                                            <p:cond delay="0"/>
                                          </p:stCondLst>
                                        </p:cTn>
                                        <p:tgtEl>
                                          <p:spTgt spid="123"/>
                                        </p:tgtEl>
                                        <p:attrNameLst>
                                          <p:attrName>style.visibility</p:attrName>
                                        </p:attrNameLst>
                                      </p:cBhvr>
                                      <p:to>
                                        <p:strVal val="visible"/>
                                      </p:to>
                                    </p:set>
                                  </p:childTnLst>
                                </p:cTn>
                              </p:par>
                            </p:childTnLst>
                          </p:cTn>
                        </p:par>
                      </p:childTnLst>
                    </p:cTn>
                  </p:par>
                  <p:par>
                    <p:cTn id="51" nodeType="clickEffect" fill="hold">
                      <p:stCondLst>
                        <p:cond delay="indefinite"/>
                      </p:stCondLst>
                      <p:childTnLst>
                        <p:par>
                          <p:cTn id="52" nodeType="withEffect" fill="hold">
                            <p:stCondLst>
                              <p:cond delay="0"/>
                            </p:stCondLst>
                            <p:childTnLst>
                              <p:par>
                                <p:cTn id="53" nodeType="clickEffect" fill="hold" presetClass="entr" presetID="1">
                                  <p:stCondLst>
                                    <p:cond delay="0"/>
                                  </p:stCondLst>
                                  <p:childTnLst>
                                    <p:set>
                                      <p:cBhvr>
                                        <p:cTn id="54" dur="1" fill="hold">
                                          <p:stCondLst>
                                            <p:cond delay="0"/>
                                          </p:stCondLst>
                                        </p:cTn>
                                        <p:tgtEl>
                                          <p:spTgt spid="1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type="title"/>
          </p:nvPr>
        </p:nvSpPr>
        <p:spPr>
          <a:xfrm>
            <a:off x="1549440" y="274680"/>
            <a:ext cx="7137360" cy="728640"/>
          </a:xfrm>
          <a:prstGeom prst="rect">
            <a:avLst/>
          </a:prstGeom>
          <a:noFill/>
          <a:ln w="0">
            <a:noFill/>
          </a:ln>
        </p:spPr>
        <p:txBody>
          <a:bodyPr lIns="90000" rIns="90000" tIns="46800" bIns="46800" anchor="t">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000000"/>
                </a:solidFill>
                <a:latin typeface="Arial"/>
              </a:rPr>
              <a:t>Exploration Vs. Exploitation</a:t>
            </a:r>
            <a:endParaRPr b="0" lang="en-US" sz="4400" spc="-1" strike="noStrike">
              <a:solidFill>
                <a:srgbClr val="000000"/>
              </a:solidFill>
              <a:latin typeface="Arial"/>
            </a:endParaRPr>
          </a:p>
        </p:txBody>
      </p:sp>
      <p:sp>
        <p:nvSpPr>
          <p:cNvPr id="126" name="Rectangle 2"/>
          <p:cNvSpPr/>
          <p:nvPr/>
        </p:nvSpPr>
        <p:spPr>
          <a:xfrm>
            <a:off x="1587600" y="1420920"/>
            <a:ext cx="7353360" cy="1923480"/>
          </a:xfrm>
          <a:prstGeom prst="rect">
            <a:avLst/>
          </a:prstGeom>
          <a:noFill/>
          <a:ln w="0">
            <a:noFill/>
          </a:ln>
        </p:spPr>
        <p:style>
          <a:lnRef idx="0"/>
          <a:fillRef idx="0"/>
          <a:effectRef idx="0"/>
          <a:fontRef idx="minor"/>
        </p:style>
        <p:txBody>
          <a:bodyPr lIns="90000" rIns="90000" tIns="46800" bIns="46800" anchor="t">
            <a:spAutoFit/>
          </a:bodyPr>
          <a:p>
            <a:pPr marL="285840" indent="-285840">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i="1" lang="en-GB" sz="2000" spc="-1" strike="noStrike">
                <a:solidFill>
                  <a:srgbClr val="000000"/>
                </a:solidFill>
                <a:latin typeface="Arial"/>
              </a:rPr>
              <a:t>Exploration</a:t>
            </a:r>
            <a:r>
              <a:rPr b="0" lang="en-GB" sz="2000" spc="-1" strike="noStrike">
                <a:solidFill>
                  <a:srgbClr val="000000"/>
                </a:solidFill>
                <a:latin typeface="Arial"/>
              </a:rPr>
              <a:t> is the act of exploring the environment to find out information about it. </a:t>
            </a:r>
            <a:endParaRPr b="0" lang="en-US" sz="2000" spc="-1" strike="noStrike">
              <a:solidFill>
                <a:srgbClr val="000000"/>
              </a:solidFill>
              <a:latin typeface="Arial"/>
            </a:endParaRPr>
          </a:p>
          <a:p>
            <a:pPr marL="285840" indent="-285840">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pc="-1" strike="noStrike">
              <a:solidFill>
                <a:srgbClr val="000000"/>
              </a:solidFill>
              <a:latin typeface="Arial"/>
            </a:endParaRPr>
          </a:p>
          <a:p>
            <a:pPr marL="285840" indent="-285840">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i="1" lang="en-GB" sz="2000" spc="-1" strike="noStrike">
                <a:solidFill>
                  <a:srgbClr val="000000"/>
                </a:solidFill>
                <a:latin typeface="Arial"/>
              </a:rPr>
              <a:t>Exploitation</a:t>
            </a:r>
            <a:r>
              <a:rPr b="0" lang="en-GB" sz="2000" spc="-1" strike="noStrike">
                <a:solidFill>
                  <a:srgbClr val="000000"/>
                </a:solidFill>
                <a:latin typeface="Arial"/>
              </a:rPr>
              <a:t> is the act of exploiting the information that is already known about the environment in order to maximize the return.</a:t>
            </a:r>
            <a:endParaRPr b="0" lang="en-US" sz="2000" spc="-1" strike="noStrike">
              <a:solidFill>
                <a:srgbClr val="000000"/>
              </a:solidFill>
              <a:latin typeface="Arial"/>
            </a:endParaRPr>
          </a:p>
        </p:txBody>
      </p:sp>
      <p:pic>
        <p:nvPicPr>
          <p:cNvPr id="127" name="Picture 2" descr="https://deeplizard.com/images/The%20lizard%20game%20Q%20learning.jpg"/>
          <p:cNvPicPr/>
          <p:nvPr/>
        </p:nvPicPr>
        <p:blipFill>
          <a:blip r:embed="rId1"/>
          <a:stretch/>
        </p:blipFill>
        <p:spPr>
          <a:xfrm>
            <a:off x="1855800" y="3556080"/>
            <a:ext cx="2670120" cy="2311200"/>
          </a:xfrm>
          <a:prstGeom prst="rect">
            <a:avLst/>
          </a:prstGeom>
          <a:ln w="0">
            <a:noFill/>
          </a:ln>
        </p:spPr>
      </p:pic>
      <p:sp>
        <p:nvSpPr>
          <p:cNvPr id="128" name="Rectangle 3"/>
          <p:cNvSpPr/>
          <p:nvPr/>
        </p:nvSpPr>
        <p:spPr>
          <a:xfrm>
            <a:off x="4660920" y="3249720"/>
            <a:ext cx="4280040" cy="338580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800" spc="-1" strike="noStrike">
                <a:solidFill>
                  <a:srgbClr val="4472c4"/>
                </a:solidFill>
                <a:latin typeface="Arial"/>
              </a:rPr>
              <a:t>Think of our game. If our lizard got to the single cricket before it got to the group of five crickets, then only making use of exploitation, going forward the lizard would just learn to exploit the information it knows about the location of the single cricket to get single incremental points infinitely. It would then also be losing single points infinitely just to back out of the tile before it can come back in to get the cricket again.</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PlaceHolder 1"/>
          <p:cNvSpPr>
            <a:spLocks noGrp="1"/>
          </p:cNvSpPr>
          <p:nvPr>
            <p:ph type="title"/>
          </p:nvPr>
        </p:nvSpPr>
        <p:spPr>
          <a:xfrm>
            <a:off x="1625400" y="274320"/>
            <a:ext cx="7429320" cy="1143000"/>
          </a:xfrm>
          <a:prstGeom prst="rect">
            <a:avLst/>
          </a:prstGeom>
          <a:noFill/>
          <a:ln w="0">
            <a:noFill/>
          </a:ln>
        </p:spPr>
        <p:txBody>
          <a:bodyPr lIns="90000" rIns="90000" tIns="46800" bIns="46800" anchor="t">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000" spc="-1" strike="noStrike">
                <a:solidFill>
                  <a:srgbClr val="000000"/>
                </a:solidFill>
                <a:latin typeface="Arial"/>
              </a:rPr>
              <a:t>Exploration Vs. Exploitation</a:t>
            </a:r>
            <a:br>
              <a:rPr sz="4000"/>
            </a:br>
            <a:r>
              <a:rPr b="0" lang="en-GB" sz="4000" spc="-1" strike="noStrike">
                <a:solidFill>
                  <a:srgbClr val="000000"/>
                </a:solidFill>
                <a:latin typeface="Arial"/>
              </a:rPr>
              <a:t>(Cont.)</a:t>
            </a:r>
            <a:endParaRPr b="0" lang="en-US" sz="4000" spc="-1" strike="noStrike">
              <a:solidFill>
                <a:srgbClr val="000000"/>
              </a:solidFill>
              <a:latin typeface="Arial"/>
            </a:endParaRPr>
          </a:p>
        </p:txBody>
      </p:sp>
      <p:sp>
        <p:nvSpPr>
          <p:cNvPr id="130" name="Rectangle 3"/>
          <p:cNvSpPr/>
          <p:nvPr/>
        </p:nvSpPr>
        <p:spPr>
          <a:xfrm>
            <a:off x="1768320" y="1708200"/>
            <a:ext cx="3527640" cy="398880"/>
          </a:xfrm>
          <a:prstGeom prst="rect">
            <a:avLst/>
          </a:prstGeom>
          <a:noFill/>
          <a:ln w="0">
            <a:noFill/>
          </a:ln>
        </p:spPr>
        <p:style>
          <a:lnRef idx="0"/>
          <a:fillRef idx="0"/>
          <a:effectRef idx="0"/>
          <a:fontRef idx="minor"/>
        </p:style>
        <p:txBody>
          <a:bodyPr lIns="90000" rIns="90000" tIns="46800" bIns="46800" anchor="t">
            <a:spAutoFit/>
          </a:bodyPr>
          <a:p>
            <a:pPr marL="285840" indent="-285840">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000" spc="-1" strike="noStrike">
                <a:solidFill>
                  <a:srgbClr val="000000"/>
                </a:solidFill>
                <a:latin typeface="Arial"/>
              </a:rPr>
              <a:t>Epsilon Greedy Strategy</a:t>
            </a:r>
            <a:endParaRPr b="0" lang="en-US" sz="2000" spc="-1" strike="noStrike">
              <a:solidFill>
                <a:srgbClr val="000000"/>
              </a:solidFill>
              <a:latin typeface="Arial"/>
            </a:endParaRPr>
          </a:p>
        </p:txBody>
      </p:sp>
      <p:sp>
        <p:nvSpPr>
          <p:cNvPr id="131" name="Rectangle 4"/>
          <p:cNvSpPr/>
          <p:nvPr/>
        </p:nvSpPr>
        <p:spPr>
          <a:xfrm>
            <a:off x="1803240" y="2247840"/>
            <a:ext cx="7112160" cy="405792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2000" spc="-1" strike="noStrike">
                <a:solidFill>
                  <a:srgbClr val="000000"/>
                </a:solidFill>
                <a:latin typeface="Arial"/>
              </a:rPr>
              <a:t>With this strategy, we define an </a:t>
            </a:r>
            <a:r>
              <a:rPr b="0" i="1" lang="en-GB" sz="2000" spc="-1" strike="noStrike">
                <a:solidFill>
                  <a:srgbClr val="000000"/>
                </a:solidFill>
                <a:latin typeface="Arial"/>
              </a:rPr>
              <a:t>exploration rate</a:t>
            </a:r>
            <a:r>
              <a:rPr b="0" lang="en-GB" sz="2000" spc="-1" strike="noStrike">
                <a:solidFill>
                  <a:srgbClr val="000000"/>
                </a:solidFill>
                <a:latin typeface="Arial"/>
              </a:rPr>
              <a:t> ϵ that we initially set to 1. This exploration rate is the probability that our agent will explore the environment rather than exploit it. With ϵ=1, it is 100% certain that the agent will start out by exploring the environment.</a:t>
            </a:r>
            <a:endParaRPr b="0" lang="en-US" sz="2000" spc="-1" strike="noStrike">
              <a:solidFill>
                <a:srgbClr val="000000"/>
              </a:solidFill>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2000" spc="-1" strike="noStrike">
              <a:solidFill>
                <a:srgbClr val="000000"/>
              </a:solidFill>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2000" spc="-1" strike="noStrike">
                <a:solidFill>
                  <a:srgbClr val="000000"/>
                </a:solidFill>
                <a:latin typeface="Arial"/>
              </a:rPr>
              <a:t>As the agent learns more about the environment, at the start of each new episode, ϵ will decay by some rate that we set so that the likelihood of exploration becomes less and less probable as the agent learns more and more about the environment. The agent will become </a:t>
            </a:r>
            <a:r>
              <a:rPr b="0" i="1" lang="en-GB" sz="2000" spc="-1" strike="noStrike">
                <a:solidFill>
                  <a:srgbClr val="000000"/>
                </a:solidFill>
                <a:latin typeface="Arial"/>
              </a:rPr>
              <a:t>“greedy”</a:t>
            </a:r>
            <a:r>
              <a:rPr b="0" lang="en-GB" sz="2000" spc="-1" strike="noStrike">
                <a:solidFill>
                  <a:srgbClr val="000000"/>
                </a:solidFill>
                <a:latin typeface="Arial"/>
              </a:rPr>
              <a:t> in terms of exploiting the environment once it has had the opportunity to explore and learn more about it.</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1650960" y="274320"/>
            <a:ext cx="7035840" cy="754200"/>
          </a:xfrm>
          <a:prstGeom prst="rect">
            <a:avLst/>
          </a:prstGeom>
          <a:noFill/>
          <a:ln w="0">
            <a:noFill/>
          </a:ln>
        </p:spPr>
        <p:txBody>
          <a:bodyPr lIns="90000" rIns="90000" tIns="46800" bIns="46800" anchor="t">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000000"/>
                </a:solidFill>
                <a:latin typeface="Arial"/>
              </a:rPr>
              <a:t>Update the Q-Table</a:t>
            </a:r>
            <a:endParaRPr b="0" lang="en-US" sz="4400" spc="-1" strike="noStrike">
              <a:solidFill>
                <a:srgbClr val="000000"/>
              </a:solidFill>
              <a:latin typeface="Arial"/>
            </a:endParaRPr>
          </a:p>
        </p:txBody>
      </p:sp>
      <p:sp>
        <p:nvSpPr>
          <p:cNvPr id="133" name="Rectangle 2"/>
          <p:cNvSpPr/>
          <p:nvPr/>
        </p:nvSpPr>
        <p:spPr>
          <a:xfrm>
            <a:off x="1714680" y="1481040"/>
            <a:ext cx="7162560" cy="1923480"/>
          </a:xfrm>
          <a:prstGeom prst="rect">
            <a:avLst/>
          </a:prstGeom>
          <a:noFill/>
          <a:ln w="0">
            <a:noFill/>
          </a:ln>
        </p:spPr>
        <p:style>
          <a:lnRef idx="0"/>
          <a:fillRef idx="0"/>
          <a:effectRef idx="0"/>
          <a:fontRef idx="minor"/>
        </p:style>
        <p:txBody>
          <a:bodyPr lIns="90000" rIns="90000" tIns="46800" bIns="46800" anchor="t">
            <a:spAutoFit/>
          </a:bodyPr>
          <a:p>
            <a:pPr marL="285840" indent="-285840">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000" spc="-1" strike="noStrike">
                <a:solidFill>
                  <a:srgbClr val="000000"/>
                </a:solidFill>
                <a:latin typeface="Arial"/>
              </a:rPr>
              <a:t>To update the Q-value for the action of moving right taken from the previous state, we use the Bellman equation. </a:t>
            </a:r>
            <a:endParaRPr b="0" lang="en-US" sz="2000" spc="-1" strike="noStrike">
              <a:solidFill>
                <a:srgbClr val="000000"/>
              </a:solidFill>
              <a:latin typeface="Arial"/>
            </a:endParaRPr>
          </a:p>
          <a:p>
            <a:pPr marL="285840" indent="-285840">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GB" sz="2000" spc="-1" strike="noStrike">
                <a:solidFill>
                  <a:srgbClr val="000000"/>
                </a:solidFill>
                <a:latin typeface="Arial"/>
              </a:rPr>
              <a:t>We want to make the Q-value for the given state-action pair as close as we can to the right hand side of the Bellman equation so that the Q-value will eventually converge to the optimal Q-value.</a:t>
            </a:r>
            <a:endParaRPr b="0" lang="en-US" sz="2000" spc="-1" strike="noStrike">
              <a:solidFill>
                <a:srgbClr val="000000"/>
              </a:solidFill>
              <a:latin typeface="Arial"/>
            </a:endParaRPr>
          </a:p>
        </p:txBody>
      </p:sp>
      <p:pic>
        <p:nvPicPr>
          <p:cNvPr id="134" name="Picture 2" descr=""/>
          <p:cNvPicPr/>
          <p:nvPr/>
        </p:nvPicPr>
        <p:blipFill>
          <a:blip r:embed="rId1"/>
          <a:stretch/>
        </p:blipFill>
        <p:spPr>
          <a:xfrm>
            <a:off x="1628640" y="3421080"/>
            <a:ext cx="7363080" cy="1701720"/>
          </a:xfrm>
          <a:prstGeom prst="rect">
            <a:avLst/>
          </a:prstGeom>
          <a:ln w="0">
            <a:noFill/>
          </a:ln>
        </p:spPr>
      </p:pic>
      <p:cxnSp>
        <p:nvCxnSpPr>
          <p:cNvPr id="135" name="Straight Arrow Connector 4"/>
          <p:cNvCxnSpPr>
            <a:endCxn id="136" idx="0"/>
          </p:cNvCxnSpPr>
          <p:nvPr/>
        </p:nvCxnSpPr>
        <p:spPr>
          <a:xfrm>
            <a:off x="5880240" y="4711680"/>
            <a:ext cx="202320" cy="464400"/>
          </a:xfrm>
          <a:prstGeom prst="straightConnector1">
            <a:avLst/>
          </a:prstGeom>
          <a:ln w="6480">
            <a:solidFill>
              <a:srgbClr val="4472c4"/>
            </a:solidFill>
            <a:miter/>
            <a:tailEnd len="med" type="arrow" w="med"/>
          </a:ln>
        </p:spPr>
      </p:cxnSp>
      <p:sp>
        <p:nvSpPr>
          <p:cNvPr id="136" name="TextBox 5"/>
          <p:cNvSpPr/>
          <p:nvPr/>
        </p:nvSpPr>
        <p:spPr>
          <a:xfrm>
            <a:off x="5395320" y="5175360"/>
            <a:ext cx="1374120" cy="3376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600" spc="-1" strike="noStrike">
                <a:solidFill>
                  <a:srgbClr val="ff0000"/>
                </a:solidFill>
                <a:latin typeface="Arial"/>
              </a:rPr>
              <a:t>Learning rate</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7" name="Picture 2" descr="https://deeplizard.com/images/The%20lizard%20game%20Q%20table%20zeros.jpg"/>
          <p:cNvPicPr/>
          <p:nvPr/>
        </p:nvPicPr>
        <p:blipFill>
          <a:blip r:embed="rId1"/>
          <a:stretch/>
        </p:blipFill>
        <p:spPr>
          <a:xfrm>
            <a:off x="5054760" y="4368960"/>
            <a:ext cx="3733560" cy="2365200"/>
          </a:xfrm>
          <a:prstGeom prst="rect">
            <a:avLst/>
          </a:prstGeom>
          <a:ln w="0">
            <a:noFill/>
          </a:ln>
        </p:spPr>
      </p:pic>
      <p:sp>
        <p:nvSpPr>
          <p:cNvPr id="138" name="PlaceHolder 1"/>
          <p:cNvSpPr>
            <a:spLocks noGrp="1"/>
          </p:cNvSpPr>
          <p:nvPr>
            <p:ph type="title"/>
          </p:nvPr>
        </p:nvSpPr>
        <p:spPr>
          <a:xfrm>
            <a:off x="1663200" y="274320"/>
            <a:ext cx="7023240" cy="1143000"/>
          </a:xfrm>
          <a:prstGeom prst="rect">
            <a:avLst/>
          </a:prstGeom>
          <a:noFill/>
          <a:ln w="0">
            <a:noFill/>
          </a:ln>
        </p:spPr>
        <p:txBody>
          <a:bodyPr lIns="90000" rIns="90000" tIns="46800" bIns="46800" anchor="t">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000000"/>
                </a:solidFill>
                <a:latin typeface="Arial"/>
              </a:rPr>
              <a:t>Update example</a:t>
            </a:r>
            <a:endParaRPr b="0" lang="en-US" sz="4400" spc="-1" strike="noStrike">
              <a:solidFill>
                <a:srgbClr val="000000"/>
              </a:solidFill>
              <a:latin typeface="Arial"/>
            </a:endParaRPr>
          </a:p>
        </p:txBody>
      </p:sp>
      <p:pic>
        <p:nvPicPr>
          <p:cNvPr id="139" name="Picture 2" descr="https://deeplizard.com/images/The%20lizard%20game%20Q%20learning.jpg"/>
          <p:cNvPicPr/>
          <p:nvPr/>
        </p:nvPicPr>
        <p:blipFill>
          <a:blip r:embed="rId2"/>
          <a:stretch/>
        </p:blipFill>
        <p:spPr>
          <a:xfrm>
            <a:off x="1527120" y="1268280"/>
            <a:ext cx="2274840" cy="1970280"/>
          </a:xfrm>
          <a:prstGeom prst="rect">
            <a:avLst/>
          </a:prstGeom>
          <a:ln w="0">
            <a:noFill/>
          </a:ln>
        </p:spPr>
      </p:pic>
      <p:sp>
        <p:nvSpPr>
          <p:cNvPr id="140" name="Right Arrow 4"/>
          <p:cNvSpPr/>
          <p:nvPr/>
        </p:nvSpPr>
        <p:spPr>
          <a:xfrm>
            <a:off x="2192400" y="2806560"/>
            <a:ext cx="372960" cy="57240"/>
          </a:xfrm>
          <a:prstGeom prst="rightArrow">
            <a:avLst>
              <a:gd name="adj1" fmla="val 50000"/>
              <a:gd name="adj2" fmla="val 49894"/>
            </a:avLst>
          </a:prstGeom>
          <a:solidFill>
            <a:srgbClr val="4472c4"/>
          </a:solidFill>
          <a:ln w="12600">
            <a:solidFill>
              <a:srgbClr val="2f528f"/>
            </a:solidFill>
            <a:miter/>
          </a:ln>
        </p:spPr>
        <p:style>
          <a:lnRef idx="0"/>
          <a:fillRef idx="0"/>
          <a:effectRef idx="0"/>
          <a:fontRef idx="minor"/>
        </p:style>
        <p:txBody>
          <a:bodyPr lIns="90000" rIns="90000" tIns="-18000" bIns="-180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pic>
        <p:nvPicPr>
          <p:cNvPr id="141" name="Picture 3" descr=""/>
          <p:cNvPicPr/>
          <p:nvPr/>
        </p:nvPicPr>
        <p:blipFill>
          <a:blip r:embed="rId3"/>
          <a:stretch/>
        </p:blipFill>
        <p:spPr>
          <a:xfrm>
            <a:off x="3840120" y="1471680"/>
            <a:ext cx="5278320" cy="1595520"/>
          </a:xfrm>
          <a:prstGeom prst="rect">
            <a:avLst/>
          </a:prstGeom>
          <a:ln w="0">
            <a:noFill/>
          </a:ln>
        </p:spPr>
      </p:pic>
      <p:sp>
        <p:nvSpPr>
          <p:cNvPr id="142" name="Rounded Rectangle 5"/>
          <p:cNvSpPr/>
          <p:nvPr/>
        </p:nvSpPr>
        <p:spPr>
          <a:xfrm>
            <a:off x="7594560" y="1638360"/>
            <a:ext cx="622440" cy="216000"/>
          </a:xfrm>
          <a:prstGeom prst="roundRect">
            <a:avLst>
              <a:gd name="adj" fmla="val 16667"/>
            </a:avLst>
          </a:prstGeom>
          <a:noFill/>
          <a:ln w="28440">
            <a:solidFill>
              <a:srgbClr val="ff0000"/>
            </a:solidFill>
            <a:miter/>
          </a:ln>
        </p:spPr>
        <p:style>
          <a:lnRef idx="0"/>
          <a:fillRef idx="0"/>
          <a:effectRef idx="0"/>
          <a:fontRef idx="minor"/>
        </p:style>
        <p:txBody>
          <a:bodyPr lIns="90000" rIns="90000" tIns="46800" bIns="46800" anchor="ctr">
            <a:noAutofit/>
          </a:bodyPr>
          <a:p>
            <a:pPr algn="ct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pic>
        <p:nvPicPr>
          <p:cNvPr id="143" name="Picture 4" descr=""/>
          <p:cNvPicPr/>
          <p:nvPr/>
        </p:nvPicPr>
        <p:blipFill>
          <a:blip r:embed="rId4"/>
          <a:stretch/>
        </p:blipFill>
        <p:spPr>
          <a:xfrm>
            <a:off x="1989000" y="3730680"/>
            <a:ext cx="6688440" cy="857160"/>
          </a:xfrm>
          <a:prstGeom prst="rect">
            <a:avLst/>
          </a:prstGeom>
          <a:ln w="0">
            <a:noFill/>
          </a:ln>
        </p:spPr>
      </p:pic>
      <p:cxnSp>
        <p:nvCxnSpPr>
          <p:cNvPr id="144" name="Straight Arrow Connector 7"/>
          <p:cNvCxnSpPr>
            <a:endCxn id="143" idx="0"/>
          </p:cNvCxnSpPr>
          <p:nvPr/>
        </p:nvCxnSpPr>
        <p:spPr>
          <a:xfrm flipH="1">
            <a:off x="5334120" y="2958840"/>
            <a:ext cx="2349720" cy="772200"/>
          </a:xfrm>
          <a:prstGeom prst="straightConnector1">
            <a:avLst/>
          </a:prstGeom>
          <a:ln w="6480">
            <a:solidFill>
              <a:srgbClr val="4472c4"/>
            </a:solidFill>
            <a:miter/>
            <a:tailEnd len="med" type="arrow" w="med"/>
          </a:ln>
        </p:spPr>
      </p:cxnSp>
      <p:sp>
        <p:nvSpPr>
          <p:cNvPr id="145" name="TextBox 10"/>
          <p:cNvSpPr/>
          <p:nvPr/>
        </p:nvSpPr>
        <p:spPr>
          <a:xfrm>
            <a:off x="2589480" y="2670120"/>
            <a:ext cx="30708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800" spc="-1" strike="noStrike">
                <a:solidFill>
                  <a:srgbClr val="000000"/>
                </a:solidFill>
                <a:latin typeface="Arial"/>
              </a:rPr>
              <a:t>0</a:t>
            </a:r>
            <a:endParaRPr b="0" lang="en-US" sz="1800" spc="-1" strike="noStrike">
              <a:solidFill>
                <a:srgbClr val="000000"/>
              </a:solidFill>
              <a:latin typeface="Arial"/>
            </a:endParaRPr>
          </a:p>
        </p:txBody>
      </p:sp>
      <p:pic>
        <p:nvPicPr>
          <p:cNvPr id="146" name="Picture 5" descr=""/>
          <p:cNvPicPr/>
          <p:nvPr/>
        </p:nvPicPr>
        <p:blipFill>
          <a:blip r:embed="rId5"/>
          <a:stretch/>
        </p:blipFill>
        <p:spPr>
          <a:xfrm>
            <a:off x="1511280" y="4613400"/>
            <a:ext cx="4065480" cy="1698480"/>
          </a:xfrm>
          <a:prstGeom prst="rect">
            <a:avLst/>
          </a:prstGeom>
          <a:ln w="0">
            <a:noFill/>
          </a:ln>
        </p:spPr>
      </p:pic>
      <p:sp>
        <p:nvSpPr>
          <p:cNvPr id="147" name="TextBox 11"/>
          <p:cNvSpPr/>
          <p:nvPr/>
        </p:nvSpPr>
        <p:spPr>
          <a:xfrm>
            <a:off x="7535880" y="5954760"/>
            <a:ext cx="29520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800" spc="-1" strike="noStrike">
                <a:solidFill>
                  <a:srgbClr val="ff0000"/>
                </a:solidFill>
                <a:latin typeface="Arial"/>
              </a:rPr>
              <a:t>x</a:t>
            </a:r>
            <a:endParaRPr b="0" lang="en-US" sz="1800" spc="-1" strike="noStrike">
              <a:solidFill>
                <a:srgbClr val="000000"/>
              </a:solidFill>
              <a:latin typeface="Arial"/>
            </a:endParaRPr>
          </a:p>
        </p:txBody>
      </p:sp>
      <p:cxnSp>
        <p:nvCxnSpPr>
          <p:cNvPr id="148" name="Straight Arrow Connector 13"/>
          <p:cNvCxnSpPr>
            <a:endCxn id="147" idx="1"/>
          </p:cNvCxnSpPr>
          <p:nvPr/>
        </p:nvCxnSpPr>
        <p:spPr>
          <a:xfrm>
            <a:off x="2900160" y="6140160"/>
            <a:ext cx="4632840" cy="1080"/>
          </a:xfrm>
          <a:prstGeom prst="straightConnector1">
            <a:avLst/>
          </a:prstGeom>
          <a:ln w="6480">
            <a:solidFill>
              <a:srgbClr val="4472c4"/>
            </a:solidFill>
            <a:miter/>
            <a:tailEnd len="med" type="arrow" w="med"/>
          </a:ln>
        </p:spPr>
      </p:cxnSp>
      <p:sp>
        <p:nvSpPr>
          <p:cNvPr id="149" name="TextBox 148"/>
          <p:cNvSpPr txBox="1"/>
          <p:nvPr/>
        </p:nvSpPr>
        <p:spPr>
          <a:xfrm>
            <a:off x="1530000" y="3250000"/>
            <a:ext cx="2300000" cy="400000"/>
          </a:xfrm>
          <a:prstGeom prst="rect">
            <a:avLst/>
          </a:prstGeom>
          <a:noFill/>
        </p:spPr>
        <p:txBody>
          <a:bodyPr wrap="none">
            <a:spAutoFit/>
          </a:bodyPr>
          <a:lstStyle/>
          <a:p>
            <a:r>
              <a:rPr sz="1400"/>
              <a:t>Learning rate α = 0.7</a:t>
            </a:r>
          </a:p>
        </p:txBody>
      </p:sp>
    </p:spTree>
  </p:cSld>
  <mc:AlternateContent>
    <mc:Choice Requires="p14">
      <p:transition spd="slow" p14:dur="2000"/>
    </mc:Choice>
    <mc:Fallback>
      <p:transition spd="slow"/>
    </mc:Fallback>
  </mc:AlternateContent>
  <p:timing>
    <p:tnLst>
      <p:par>
        <p:cTn id="55" dur="indefinite" restart="never" nodeType="tmRoot">
          <p:childTnLst>
            <p:seq>
              <p:cTn id="56" dur="indefinite" nodeType="mainSeq">
                <p:childTnLst>
                  <p:par>
                    <p:cTn id="57" nodeType="clickEffect" fill="hold">
                      <p:stCondLst>
                        <p:cond delay="indefinite"/>
                      </p:stCondLst>
                      <p:childTnLst>
                        <p:par>
                          <p:cTn id="58" nodeType="withEffect" fill="hold">
                            <p:stCondLst>
                              <p:cond delay="0"/>
                            </p:stCondLst>
                            <p:childTnLst>
                              <p:par>
                                <p:cTn id="59" nodeType="clickEffect" fill="hold" presetClass="entr" presetID="14" presetSubtype="10">
                                  <p:stCondLst>
                                    <p:cond delay="0"/>
                                  </p:stCondLst>
                                  <p:childTnLst>
                                    <p:set>
                                      <p:cBhvr>
                                        <p:cTn id="60" dur="1" fill="hold">
                                          <p:stCondLst>
                                            <p:cond delay="0"/>
                                          </p:stCondLst>
                                        </p:cTn>
                                        <p:tgtEl>
                                          <p:spTgt spid="140"/>
                                        </p:tgtEl>
                                        <p:attrNameLst>
                                          <p:attrName>style.visibility</p:attrName>
                                        </p:attrNameLst>
                                      </p:cBhvr>
                                      <p:to>
                                        <p:strVal val="visible"/>
                                      </p:to>
                                    </p:set>
                                    <p:animEffect filter="randombar(horizontal)" transition="in">
                                      <p:cBhvr additive="repl">
                                        <p:cTn id="61" dur="500"/>
                                        <p:tgtEl>
                                          <p:spTgt spid="140"/>
                                        </p:tgtEl>
                                      </p:cBhvr>
                                    </p:animEffect>
                                  </p:childTnLst>
                                </p:cTn>
                              </p:par>
                            </p:childTnLst>
                          </p:cTn>
                        </p:par>
                      </p:childTnLst>
                    </p:cTn>
                  </p:par>
                  <p:par>
                    <p:cTn id="62" nodeType="clickEffect" fill="hold">
                      <p:stCondLst>
                        <p:cond delay="indefinite"/>
                      </p:stCondLst>
                      <p:childTnLst>
                        <p:par>
                          <p:cTn id="63" nodeType="withEffect" fill="hold">
                            <p:stCondLst>
                              <p:cond delay="0"/>
                            </p:stCondLst>
                            <p:childTnLst>
                              <p:par>
                                <p:cTn id="64" nodeType="clickEffect" fill="hold" presetClass="entr" presetID="1">
                                  <p:stCondLst>
                                    <p:cond delay="0"/>
                                  </p:stCondLst>
                                  <p:childTnLst>
                                    <p:set>
                                      <p:cBhvr>
                                        <p:cTn id="65" dur="1" fill="hold">
                                          <p:stCondLst>
                                            <p:cond delay="0"/>
                                          </p:stCondLst>
                                        </p:cTn>
                                        <p:tgtEl>
                                          <p:spTgt spid="141"/>
                                        </p:tgtEl>
                                        <p:attrNameLst>
                                          <p:attrName>style.visibility</p:attrName>
                                        </p:attrNameLst>
                                      </p:cBhvr>
                                      <p:to>
                                        <p:strVal val="visible"/>
                                      </p:to>
                                    </p:set>
                                  </p:childTnLst>
                                </p:cTn>
                              </p:par>
                              <p:par>
                                <p:cTn id="66" nodeType="withEffect" fill="hold" presetClass="entr" presetID="1">
                                  <p:stCondLst>
                                    <p:cond delay="0"/>
                                  </p:stCondLst>
                                  <p:childTnLst>
                                    <p:set>
                                      <p:cBhvr>
                                        <p:cTn id="67" dur="1" fill="hold">
                                          <p:stCondLst>
                                            <p:cond delay="0"/>
                                          </p:stCondLst>
                                        </p:cTn>
                                        <p:tgtEl>
                                          <p:spTgt spid="142"/>
                                        </p:tgtEl>
                                        <p:attrNameLst>
                                          <p:attrName>style.visibility</p:attrName>
                                        </p:attrNameLst>
                                      </p:cBhvr>
                                      <p:to>
                                        <p:strVal val="visible"/>
                                      </p:to>
                                    </p:set>
                                  </p:childTnLst>
                                </p:cTn>
                              </p:par>
                            </p:childTnLst>
                          </p:cTn>
                        </p:par>
                      </p:childTnLst>
                    </p:cTn>
                  </p:par>
                  <p:par>
                    <p:cTn id="68" nodeType="clickEffect" fill="hold">
                      <p:stCondLst>
                        <p:cond delay="indefinite"/>
                      </p:stCondLst>
                      <p:childTnLst>
                        <p:par>
                          <p:cTn id="69" nodeType="withEffect" fill="hold">
                            <p:stCondLst>
                              <p:cond delay="0"/>
                            </p:stCondLst>
                            <p:childTnLst>
                              <p:par>
                                <p:cTn id="70" nodeType="clickEffect" fill="hold" presetClass="entr" presetID="42">
                                  <p:stCondLst>
                                    <p:cond delay="0"/>
                                  </p:stCondLst>
                                  <p:childTnLst>
                                    <p:set>
                                      <p:cBhvr>
                                        <p:cTn id="71" dur="1" fill="hold">
                                          <p:stCondLst>
                                            <p:cond delay="0"/>
                                          </p:stCondLst>
                                        </p:cTn>
                                        <p:tgtEl>
                                          <p:spTgt spid="145"/>
                                        </p:tgtEl>
                                        <p:attrNameLst>
                                          <p:attrName>style.visibility</p:attrName>
                                        </p:attrNameLst>
                                      </p:cBhvr>
                                      <p:to>
                                        <p:strVal val="visible"/>
                                      </p:to>
                                    </p:set>
                                    <p:animEffect filter="fade" transition="in">
                                      <p:cBhvr additive="repl">
                                        <p:cTn id="72" dur="1000"/>
                                        <p:tgtEl>
                                          <p:spTgt spid="145"/>
                                        </p:tgtEl>
                                      </p:cBhvr>
                                    </p:animEffect>
                                    <p:anim calcmode="lin" valueType="num">
                                      <p:cBhvr additive="repl">
                                        <p:cTn id="73" dur="1000" fill="hold"/>
                                        <p:tgtEl>
                                          <p:spTgt spid="145"/>
                                        </p:tgtEl>
                                        <p:attrNameLst>
                                          <p:attrName>ppt_x</p:attrName>
                                        </p:attrNameLst>
                                      </p:cBhvr>
                                      <p:tavLst>
                                        <p:tav tm="0">
                                          <p:val>
                                            <p:strVal val="#ppt_x"/>
                                          </p:val>
                                        </p:tav>
                                        <p:tav tm="100000">
                                          <p:val>
                                            <p:strVal val="#ppt_x"/>
                                          </p:val>
                                        </p:tav>
                                      </p:tavLst>
                                    </p:anim>
                                    <p:anim calcmode="lin" valueType="num">
                                      <p:cBhvr additive="repl">
                                        <p:cTn id="74" dur="1000" fill="hold"/>
                                        <p:tgtEl>
                                          <p:spTgt spid="145"/>
                                        </p:tgtEl>
                                        <p:attrNameLst>
                                          <p:attrName>ppt_y</p:attrName>
                                        </p:attrNameLst>
                                      </p:cBhvr>
                                      <p:tavLst>
                                        <p:tav tm="0">
                                          <p:val>
                                            <p:strVal val="#ppt_y+.1"/>
                                          </p:val>
                                        </p:tav>
                                        <p:tav tm="100000">
                                          <p:val>
                                            <p:strVal val="#ppt_y"/>
                                          </p:val>
                                        </p:tav>
                                      </p:tavLst>
                                    </p:anim>
                                  </p:childTnLst>
                                </p:cTn>
                              </p:par>
                              <p:par>
                                <p:cTn id="75" nodeType="withEffect" fill="hold" presetClass="entr" presetID="42">
                                  <p:stCondLst>
                                    <p:cond delay="0"/>
                                  </p:stCondLst>
                                  <p:childTnLst>
                                    <p:set>
                                      <p:cBhvr>
                                        <p:cTn id="76" dur="1" fill="hold">
                                          <p:stCondLst>
                                            <p:cond delay="0"/>
                                          </p:stCondLst>
                                        </p:cTn>
                                        <p:tgtEl>
                                          <p:spTgt spid="144"/>
                                        </p:tgtEl>
                                        <p:attrNameLst>
                                          <p:attrName>style.visibility</p:attrName>
                                        </p:attrNameLst>
                                      </p:cBhvr>
                                      <p:to>
                                        <p:strVal val="visible"/>
                                      </p:to>
                                    </p:set>
                                    <p:animEffect filter="fade" transition="in">
                                      <p:cBhvr additive="repl">
                                        <p:cTn id="77" dur="1000"/>
                                        <p:tgtEl>
                                          <p:spTgt spid="144"/>
                                        </p:tgtEl>
                                      </p:cBhvr>
                                    </p:animEffect>
                                    <p:anim calcmode="lin" valueType="num">
                                      <p:cBhvr additive="repl">
                                        <p:cTn id="78" dur="1000" fill="hold"/>
                                        <p:tgtEl>
                                          <p:spTgt spid="144"/>
                                        </p:tgtEl>
                                        <p:attrNameLst>
                                          <p:attrName>ppt_x</p:attrName>
                                        </p:attrNameLst>
                                      </p:cBhvr>
                                      <p:tavLst>
                                        <p:tav tm="0">
                                          <p:val>
                                            <p:strVal val="#ppt_x"/>
                                          </p:val>
                                        </p:tav>
                                        <p:tav tm="100000">
                                          <p:val>
                                            <p:strVal val="#ppt_x"/>
                                          </p:val>
                                        </p:tav>
                                      </p:tavLst>
                                    </p:anim>
                                    <p:anim calcmode="lin" valueType="num">
                                      <p:cBhvr additive="repl">
                                        <p:cTn id="79" dur="1000" fill="hold"/>
                                        <p:tgtEl>
                                          <p:spTgt spid="144"/>
                                        </p:tgtEl>
                                        <p:attrNameLst>
                                          <p:attrName>ppt_y</p:attrName>
                                        </p:attrNameLst>
                                      </p:cBhvr>
                                      <p:tavLst>
                                        <p:tav tm="0">
                                          <p:val>
                                            <p:strVal val="#ppt_y+.1"/>
                                          </p:val>
                                        </p:tav>
                                        <p:tav tm="100000">
                                          <p:val>
                                            <p:strVal val="#ppt_y"/>
                                          </p:val>
                                        </p:tav>
                                      </p:tavLst>
                                    </p:anim>
                                  </p:childTnLst>
                                </p:cTn>
                              </p:par>
                              <p:par>
                                <p:cTn id="80" nodeType="withEffect" fill="hold" presetClass="entr" presetID="42">
                                  <p:stCondLst>
                                    <p:cond delay="0"/>
                                  </p:stCondLst>
                                  <p:childTnLst>
                                    <p:set>
                                      <p:cBhvr>
                                        <p:cTn id="81" dur="1" fill="hold">
                                          <p:stCondLst>
                                            <p:cond delay="0"/>
                                          </p:stCondLst>
                                        </p:cTn>
                                        <p:tgtEl>
                                          <p:spTgt spid="143"/>
                                        </p:tgtEl>
                                        <p:attrNameLst>
                                          <p:attrName>style.visibility</p:attrName>
                                        </p:attrNameLst>
                                      </p:cBhvr>
                                      <p:to>
                                        <p:strVal val="visible"/>
                                      </p:to>
                                    </p:set>
                                    <p:animEffect filter="fade" transition="in">
                                      <p:cBhvr additive="repl">
                                        <p:cTn id="82" dur="1000"/>
                                        <p:tgtEl>
                                          <p:spTgt spid="143"/>
                                        </p:tgtEl>
                                      </p:cBhvr>
                                    </p:animEffect>
                                    <p:anim calcmode="lin" valueType="num">
                                      <p:cBhvr additive="repl">
                                        <p:cTn id="83" dur="1000" fill="hold"/>
                                        <p:tgtEl>
                                          <p:spTgt spid="143"/>
                                        </p:tgtEl>
                                        <p:attrNameLst>
                                          <p:attrName>ppt_x</p:attrName>
                                        </p:attrNameLst>
                                      </p:cBhvr>
                                      <p:tavLst>
                                        <p:tav tm="0">
                                          <p:val>
                                            <p:strVal val="#ppt_x"/>
                                          </p:val>
                                        </p:tav>
                                        <p:tav tm="100000">
                                          <p:val>
                                            <p:strVal val="#ppt_x"/>
                                          </p:val>
                                        </p:tav>
                                      </p:tavLst>
                                    </p:anim>
                                    <p:anim calcmode="lin" valueType="num">
                                      <p:cBhvr additive="repl">
                                        <p:cTn id="84" dur="1000" fill="hold"/>
                                        <p:tgtEl>
                                          <p:spTgt spid="143"/>
                                        </p:tgtEl>
                                        <p:attrNameLst>
                                          <p:attrName>ppt_y</p:attrName>
                                        </p:attrNameLst>
                                      </p:cBhvr>
                                      <p:tavLst>
                                        <p:tav tm="0">
                                          <p:val>
                                            <p:strVal val="#ppt_y+.1"/>
                                          </p:val>
                                        </p:tav>
                                        <p:tav tm="100000">
                                          <p:val>
                                            <p:strVal val="#ppt_y"/>
                                          </p:val>
                                        </p:tav>
                                      </p:tavLst>
                                    </p:anim>
                                  </p:childTnLst>
                                </p:cTn>
                              </p:par>
                            </p:childTnLst>
                          </p:cTn>
                        </p:par>
                      </p:childTnLst>
                    </p:cTn>
                  </p:par>
                  <p:par>
                    <p:cTn id="85" nodeType="clickEffect" fill="hold">
                      <p:stCondLst>
                        <p:cond delay="indefinite"/>
                      </p:stCondLst>
                      <p:childTnLst>
                        <p:par>
                          <p:cTn id="86" nodeType="withEffect" fill="hold">
                            <p:stCondLst>
                              <p:cond delay="0"/>
                            </p:stCondLst>
                            <p:childTnLst>
                              <p:par>
                                <p:cTn id="87" nodeType="clickEffect" fill="hold" presetClass="entr" presetID="1">
                                  <p:stCondLst>
                                    <p:cond delay="0"/>
                                  </p:stCondLst>
                                  <p:childTnLst>
                                    <p:set>
                                      <p:cBhvr>
                                        <p:cTn id="88" dur="1" fill="hold">
                                          <p:stCondLst>
                                            <p:cond delay="0"/>
                                          </p:stCondLst>
                                        </p:cTn>
                                        <p:tgtEl>
                                          <p:spTgt spid="146"/>
                                        </p:tgtEl>
                                        <p:attrNameLst>
                                          <p:attrName>style.visibility</p:attrName>
                                        </p:attrNameLst>
                                      </p:cBhvr>
                                      <p:to>
                                        <p:strVal val="visible"/>
                                      </p:to>
                                    </p:set>
                                  </p:childTnLst>
                                </p:cTn>
                              </p:par>
                            </p:childTnLst>
                          </p:cTn>
                        </p:par>
                      </p:childTnLst>
                    </p:cTn>
                  </p:par>
                  <p:par>
                    <p:cTn id="89" nodeType="clickEffect" fill="hold">
                      <p:stCondLst>
                        <p:cond delay="indefinite"/>
                      </p:stCondLst>
                      <p:childTnLst>
                        <p:par>
                          <p:cTn id="90" nodeType="withEffect" fill="hold">
                            <p:stCondLst>
                              <p:cond delay="0"/>
                            </p:stCondLst>
                            <p:childTnLst>
                              <p:par>
                                <p:cTn id="91" nodeType="clickEffect" fill="hold" presetClass="entr" presetID="1">
                                  <p:stCondLst>
                                    <p:cond delay="0"/>
                                  </p:stCondLst>
                                  <p:childTnLst>
                                    <p:set>
                                      <p:cBhvr>
                                        <p:cTn id="92" dur="1" fill="hold">
                                          <p:stCondLst>
                                            <p:cond delay="0"/>
                                          </p:stCondLst>
                                        </p:cTn>
                                        <p:tgtEl>
                                          <p:spTgt spid="147"/>
                                        </p:tgtEl>
                                        <p:attrNameLst>
                                          <p:attrName>style.visibility</p:attrName>
                                        </p:attrNameLst>
                                      </p:cBhvr>
                                      <p:to>
                                        <p:strVal val="visible"/>
                                      </p:to>
                                    </p:set>
                                  </p:childTnLst>
                                </p:cTn>
                              </p:par>
                              <p:par>
                                <p:cTn id="93" nodeType="withEffect" fill="hold" presetClass="entr" presetID="1">
                                  <p:stCondLst>
                                    <p:cond delay="0"/>
                                  </p:stCondLst>
                                  <p:childTnLst>
                                    <p:set>
                                      <p:cBhvr>
                                        <p:cTn id="94" dur="1" fill="hold">
                                          <p:stCondLst>
                                            <p:cond delay="0"/>
                                          </p:stCondLst>
                                        </p:cTn>
                                        <p:tgtEl>
                                          <p:spTgt spid="1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9" name="Picture 9" descr="Image for post"/>
          <p:cNvPicPr/>
          <p:nvPr/>
        </p:nvPicPr>
        <p:blipFill>
          <a:blip r:embed="rId1"/>
          <a:stretch/>
        </p:blipFill>
        <p:spPr>
          <a:xfrm>
            <a:off x="2975040" y="2189160"/>
            <a:ext cx="5419800" cy="2441520"/>
          </a:xfrm>
          <a:prstGeom prst="rect">
            <a:avLst/>
          </a:prstGeom>
          <a:ln w="0">
            <a:noFill/>
          </a:ln>
        </p:spPr>
      </p:pic>
      <p:sp>
        <p:nvSpPr>
          <p:cNvPr id="150" name="PlaceHolder 1"/>
          <p:cNvSpPr>
            <a:spLocks noGrp="1"/>
          </p:cNvSpPr>
          <p:nvPr>
            <p:ph type="title"/>
          </p:nvPr>
        </p:nvSpPr>
        <p:spPr>
          <a:xfrm>
            <a:off x="1587600" y="274680"/>
            <a:ext cx="7099200" cy="728640"/>
          </a:xfrm>
          <a:prstGeom prst="rect">
            <a:avLst/>
          </a:prstGeom>
          <a:noFill/>
          <a:ln w="0">
            <a:noFill/>
          </a:ln>
        </p:spPr>
        <p:txBody>
          <a:bodyPr lIns="90000" rIns="90000" tIns="46800" bIns="46800" anchor="t">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4400" spc="-1" strike="noStrike">
                <a:solidFill>
                  <a:srgbClr val="000000"/>
                </a:solidFill>
                <a:latin typeface="Arial"/>
              </a:rPr>
              <a:t>Code example</a:t>
            </a:r>
            <a:endParaRPr b="0" lang="en-US" sz="4400" spc="-1" strike="noStrike">
              <a:solidFill>
                <a:srgbClr val="000000"/>
              </a:solidFill>
              <a:latin typeface="Arial"/>
            </a:endParaRPr>
          </a:p>
        </p:txBody>
      </p:sp>
      <p:sp>
        <p:nvSpPr>
          <p:cNvPr id="151" name="Rectangle 2"/>
          <p:cNvSpPr/>
          <p:nvPr/>
        </p:nvSpPr>
        <p:spPr>
          <a:xfrm>
            <a:off x="1666800" y="1238400"/>
            <a:ext cx="7032600" cy="1008720"/>
          </a:xfrm>
          <a:prstGeom prst="rect">
            <a:avLst/>
          </a:prstGeom>
          <a:noFill/>
          <a:ln w="0">
            <a:noFill/>
          </a:ln>
        </p:spPr>
        <p:style>
          <a:lnRef idx="0"/>
          <a:fillRef idx="0"/>
          <a:effectRef idx="0"/>
          <a:fontRef idx="minor"/>
        </p:style>
        <p:txBody>
          <a:bodyPr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2000" spc="-1" strike="noStrike">
                <a:solidFill>
                  <a:srgbClr val="000000"/>
                </a:solidFill>
                <a:latin typeface="Arial"/>
              </a:rPr>
              <a:t>Gymnasium (the maintained successor of OpenAI Gym) has a ton of environments ranging from simple text-based games to Atari games like Breakout and Space Invaders. </a:t>
            </a:r>
            <a:endParaRPr b="0" lang="en-US" sz="2000" spc="-1" strike="noStrike">
              <a:solidFill>
                <a:srgbClr val="000000"/>
              </a:solidFill>
              <a:latin typeface="Arial"/>
            </a:endParaRPr>
          </a:p>
        </p:txBody>
      </p:sp>
      <p:sp>
        <p:nvSpPr>
          <p:cNvPr id="152" name="Rectangle 3"/>
          <p:cNvSpPr/>
          <p:nvPr/>
        </p:nvSpPr>
        <p:spPr>
          <a:xfrm>
            <a:off x="2564280" y="2986200"/>
            <a:ext cx="1450080" cy="36828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800" spc="-1" strike="noStrike">
                <a:solidFill>
                  <a:srgbClr val="000000"/>
                </a:solidFill>
                <a:latin typeface="Arial"/>
              </a:rPr>
              <a:t>Frozen Lake</a:t>
            </a:r>
            <a:endParaRPr b="0" lang="en-US" sz="1800" spc="-1" strike="noStrike">
              <a:solidFill>
                <a:srgbClr val="000000"/>
              </a:solidFill>
              <a:latin typeface="Arial"/>
            </a:endParaRPr>
          </a:p>
        </p:txBody>
      </p:sp>
      <p:pic>
        <p:nvPicPr>
          <p:cNvPr id="153" name="Picture 3" descr=""/>
          <p:cNvPicPr/>
          <p:nvPr/>
        </p:nvPicPr>
        <p:blipFill>
          <a:blip r:embed="rId2"/>
          <a:stretch/>
        </p:blipFill>
        <p:spPr>
          <a:xfrm>
            <a:off x="2476440" y="4614840"/>
            <a:ext cx="5756400" cy="1770120"/>
          </a:xfrm>
          <a:prstGeom prst="rect">
            <a:avLst/>
          </a:prstGeom>
          <a:ln w="0">
            <a:noFill/>
          </a:ln>
        </p:spPr>
      </p:pic>
      <p:sp>
        <p:nvSpPr>
          <p:cNvPr id="154" name="Rectangle 1"/>
          <p:cNvSpPr/>
          <p:nvPr/>
        </p:nvSpPr>
        <p:spPr>
          <a:xfrm>
            <a:off x="1666800" y="6150000"/>
            <a:ext cx="7375680" cy="600000"/>
          </a:xfrm>
          <a:prstGeom prst="rect">
            <a:avLst/>
          </a:prstGeom>
          <a:noFill/>
          <a:ln w="0">
            <a:noFill/>
          </a:ln>
        </p:spPr>
        <p:style>
          <a:lnRef idx="0"/>
          <a:fillRef idx="0"/>
          <a:effectRef idx="0"/>
          <a:fontRef idx="minor"/>
        </p:style>
        <p:txBody>
          <a:bodyPr lIns="90000" rIns="90000" tIns="46800" bIns="46800" anchor="t" wrap="square">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1400" spc="-1" strike="noStrike" u="sng">
                <a:solidFill>
                  <a:srgbClr val="0563c1"/>
                </a:solidFill>
                <a:uFillTx/>
                <a:latin typeface="Arial"/>
                <a:hlinkClick r:id="rId3"/>
              </a:rPr>
              <a:t>Try it on the course website: Lectures → Semester 1 → Week 11 → 3 Tutorial → FrozenLake_RL_Exploration.ipynb (it runs in your browser).</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95" dur="indefinite" restart="never" nodeType="tmRoot">
          <p:childTnLst>
            <p:seq>
              <p:cTn id="96" dur="indefinite" nodeType="mainSeq">
                <p:childTnLst>
                  <p:par>
                    <p:cTn id="97" nodeType="clickEffect" fill="hold">
                      <p:stCondLst>
                        <p:cond delay="indefinite"/>
                      </p:stCondLst>
                      <p:childTnLst>
                        <p:par>
                          <p:cTn id="98" nodeType="withEffect" fill="hold">
                            <p:stCondLst>
                              <p:cond delay="0"/>
                            </p:stCondLst>
                            <p:childTnLst>
                              <p:par>
                                <p:cTn id="99" nodeType="clickEffect" fill="hold" presetClass="entr" presetID="1">
                                  <p:stCondLst>
                                    <p:cond delay="0"/>
                                  </p:stCondLst>
                                  <p:childTnLst>
                                    <p:set>
                                      <p:cBhvr>
                                        <p:cTn id="100" dur="1" fill="hold">
                                          <p:stCondLst>
                                            <p:cond delay="499"/>
                                          </p:stCondLst>
                                        </p:cTn>
                                        <p:tgtEl>
                                          <p:spTgt spid="1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PlaceHolder 1"/>
          <p:cNvSpPr>
            <a:spLocks noGrp="1"/>
          </p:cNvSpPr>
          <p:nvPr>
            <p:ph type="title"/>
          </p:nvPr>
        </p:nvSpPr>
        <p:spPr>
          <a:xfrm>
            <a:off x="1625760" y="274320"/>
            <a:ext cx="7061040" cy="1143000"/>
          </a:xfrm>
          <a:prstGeom prst="rect">
            <a:avLst/>
          </a:prstGeom>
          <a:noFill/>
          <a:ln w="0">
            <a:noFill/>
          </a:ln>
        </p:spPr>
        <p:txBody>
          <a:bodyPr lIns="90000" rIns="90000" tIns="46800" bIns="46800" anchor="t">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GB" sz="3200" spc="-1" strike="noStrike">
                <a:solidFill>
                  <a:srgbClr val="000000"/>
                </a:solidFill>
                <a:latin typeface="Arial"/>
              </a:rPr>
              <a:t>Combining Reinforcement learning with Deep Learning</a:t>
            </a:r>
            <a:endParaRPr b="0" lang="en-US" sz="3200" spc="-1" strike="noStrike">
              <a:solidFill>
                <a:srgbClr val="000000"/>
              </a:solidFill>
              <a:latin typeface="Arial"/>
            </a:endParaRPr>
          </a:p>
        </p:txBody>
      </p:sp>
      <p:sp>
        <p:nvSpPr>
          <p:cNvPr id="156" name="AutoShape 2"/>
          <p:cNvSpPr/>
          <p:nvPr/>
        </p:nvSpPr>
        <p:spPr>
          <a:xfrm>
            <a:off x="155520" y="-144360"/>
            <a:ext cx="304920" cy="304560"/>
          </a:xfrm>
          <a:prstGeom prst="rect">
            <a:avLst/>
          </a:prstGeom>
          <a:noFill/>
          <a:ln w="0">
            <a:no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sp>
        <p:nvSpPr>
          <p:cNvPr id="157" name="AutoShape 4"/>
          <p:cNvSpPr/>
          <p:nvPr/>
        </p:nvSpPr>
        <p:spPr>
          <a:xfrm>
            <a:off x="307800" y="7920"/>
            <a:ext cx="304920" cy="304920"/>
          </a:xfrm>
          <a:prstGeom prst="rect">
            <a:avLst/>
          </a:prstGeom>
          <a:noFill/>
          <a:ln w="0">
            <a:noFill/>
          </a:ln>
        </p:spPr>
        <p:style>
          <a:lnRef idx="0"/>
          <a:fillRef idx="0"/>
          <a:effectRef idx="0"/>
          <a:fontRef idx="minor"/>
        </p:style>
        <p:txBody>
          <a:bodyPr lIns="90000" rIns="90000" tIns="46800" bIns="46800" anchor="t">
            <a:no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p:txBody>
      </p:sp>
      <p:pic>
        <p:nvPicPr>
          <p:cNvPr id="158" name="Picture 7" descr="Image result for deep reinforcement learning"/>
          <p:cNvPicPr/>
          <p:nvPr/>
        </p:nvPicPr>
        <p:blipFill>
          <a:blip r:embed="rId1"/>
          <a:stretch/>
        </p:blipFill>
        <p:spPr>
          <a:xfrm>
            <a:off x="1600200" y="2077920"/>
            <a:ext cx="7378560" cy="3367080"/>
          </a:xfrm>
          <a:prstGeom prst="rect">
            <a:avLst/>
          </a:prstGeom>
          <a:ln w="0">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title"/>
          </p:nvPr>
        </p:nvSpPr>
        <p:spPr>
          <a:xfrm>
            <a:off x="1566720" y="209160"/>
            <a:ext cx="8229600" cy="1143000"/>
          </a:xfrm>
          <a:prstGeom prst="rect">
            <a:avLst/>
          </a:prstGeom>
          <a:noFill/>
          <a:ln w="0">
            <a:noFill/>
          </a:ln>
        </p:spPr>
        <p:txBody>
          <a:bodyPr lIns="90000" rIns="90000" tIns="46800" bIns="46800" anchor="t">
            <a:noAutofit/>
          </a:bodyPr>
          <a:p>
            <a:pPr indent="0">
              <a:lnSpc>
                <a:spcPct val="90000"/>
              </a:lnSpc>
              <a:buNone/>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4400" spc="-1" strike="noStrike">
                <a:solidFill>
                  <a:srgbClr val="000000"/>
                </a:solidFill>
                <a:latin typeface="Arial"/>
                <a:ea typeface="ＭＳ Ｐゴシック"/>
              </a:rPr>
              <a:t>Conclusion</a:t>
            </a:r>
            <a:endParaRPr b="0" lang="en-US" sz="4400" spc="-1" strike="noStrike">
              <a:solidFill>
                <a:srgbClr val="000000"/>
              </a:solidFill>
              <a:latin typeface="Arial"/>
            </a:endParaRPr>
          </a:p>
        </p:txBody>
      </p:sp>
      <p:sp>
        <p:nvSpPr>
          <p:cNvPr id="160" name="Text Box 4"/>
          <p:cNvSpPr/>
          <p:nvPr/>
        </p:nvSpPr>
        <p:spPr>
          <a:xfrm>
            <a:off x="1633680" y="949320"/>
            <a:ext cx="7194240" cy="4483080"/>
          </a:xfrm>
          <a:prstGeom prst="rect">
            <a:avLst/>
          </a:prstGeom>
          <a:noFill/>
          <a:ln w="0">
            <a:noFill/>
          </a:ln>
        </p:spPr>
        <p:style>
          <a:lnRef idx="0"/>
          <a:fillRef idx="0"/>
          <a:effectRef idx="0"/>
          <a:fontRef idx="minor"/>
        </p:style>
        <p:txBody>
          <a:bodyPr lIns="90000" rIns="90000" tIns="46800" bIns="46800" anchor="t">
            <a:spAutoFit/>
          </a:bodyPr>
          <a:p>
            <a:pPr>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Reinforcement learning addresses a very broad and relevant question: How can we learn to survive in our environment?</a:t>
            </a:r>
            <a:endParaRPr b="0" lang="en-US" sz="1800" spc="-1" strike="noStrike">
              <a:solidFill>
                <a:srgbClr val="000000"/>
              </a:solidFill>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a:p>
            <a:pPr>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We have looked at Q-learning, which simply learns from experience. No model of the world is needed.</a:t>
            </a:r>
            <a:endParaRPr b="0" lang="en-US" sz="1800" spc="-1" strike="noStrike">
              <a:solidFill>
                <a:srgbClr val="000000"/>
              </a:solidFill>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a:p>
            <a:pPr>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We made simplifying assumptions: e.g. state of the world only depends on last state and action. This is the </a:t>
            </a:r>
            <a:r>
              <a:rPr b="0" i="1" lang="en-US" sz="1800" spc="-1" strike="noStrike">
                <a:solidFill>
                  <a:srgbClr val="000000"/>
                </a:solidFill>
                <a:latin typeface="Arial"/>
              </a:rPr>
              <a:t>Markov</a:t>
            </a:r>
            <a:r>
              <a:rPr b="0" lang="en-US" sz="1800" spc="-1" strike="noStrike">
                <a:solidFill>
                  <a:srgbClr val="000000"/>
                </a:solidFill>
                <a:latin typeface="Arial"/>
              </a:rPr>
              <a:t> assumption. The model is called a </a:t>
            </a:r>
            <a:r>
              <a:rPr b="0" i="1" lang="en-US" sz="1800" spc="-1" strike="noStrike">
                <a:solidFill>
                  <a:srgbClr val="000000"/>
                </a:solidFill>
                <a:latin typeface="Arial"/>
              </a:rPr>
              <a:t>Markov Decision Process (MDP).</a:t>
            </a:r>
            <a:endParaRPr b="0" lang="en-US" sz="1800" spc="-1" strike="noStrike">
              <a:solidFill>
                <a:srgbClr val="000000"/>
              </a:solidFill>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a:p>
            <a:pPr>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We assumed deterministic dynamics, reward function, but the world really is stochastic.</a:t>
            </a:r>
            <a:endParaRPr b="0" lang="en-US" sz="1800" spc="-1" strike="noStrike">
              <a:solidFill>
                <a:srgbClr val="000000"/>
              </a:solidFill>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a:p>
            <a:pPr>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There are many extensions to speed up learning.</a:t>
            </a:r>
            <a:endParaRPr b="0" lang="en-US" sz="1800" spc="-1" strike="noStrike">
              <a:solidFill>
                <a:srgbClr val="000000"/>
              </a:solidFill>
              <a:latin typeface="Arial"/>
            </a:endParaRPr>
          </a:p>
          <a:p>
            <a:pPr>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800" spc="-1" strike="noStrike">
              <a:solidFill>
                <a:srgbClr val="000000"/>
              </a:solidFill>
              <a:latin typeface="Arial"/>
            </a:endParaRPr>
          </a:p>
          <a:p>
            <a:pPr>
              <a:buClr>
                <a:srgbClr val="000000"/>
              </a:buClr>
              <a:buFont typeface="Arial"/>
              <a:buChar char="•"/>
              <a:tabLst>
                <a:tab algn="l" pos="914400"/>
                <a:tab algn="l" pos="1828800"/>
                <a:tab algn="l" pos="2743200"/>
                <a:tab algn="l" pos="3657600"/>
                <a:tab algn="l" pos="4572000"/>
                <a:tab algn="l" pos="5486400"/>
                <a:tab algn="l" pos="6400800"/>
                <a:tab algn="l" pos="7315200"/>
                <a:tab algn="l" pos="8229600"/>
                <a:tab algn="l" pos="9144000"/>
                <a:tab algn="l" pos="10058400"/>
              </a:tabLst>
            </a:pPr>
            <a:r>
              <a:rPr b="0" lang="en-US" sz="1800" spc="-1" strike="noStrike">
                <a:solidFill>
                  <a:srgbClr val="000000"/>
                </a:solidFill>
                <a:latin typeface="Arial"/>
              </a:rPr>
              <a:t> </a:t>
            </a:r>
            <a:r>
              <a:rPr b="0" lang="en-US" sz="1800" spc="-1" strike="noStrike">
                <a:solidFill>
                  <a:srgbClr val="000000"/>
                </a:solidFill>
                <a:latin typeface="Arial"/>
              </a:rPr>
              <a:t>There have been many successful real world applications.</a:t>
            </a:r>
            <a:endParaRPr b="0" lang="en-US" sz="1800" spc="-1" strike="noStrike">
              <a:solidFill>
                <a:srgbClr val="000000"/>
              </a:solidFill>
              <a:latin typeface="Arial"/>
            </a:endParaRPr>
          </a:p>
        </p:txBody>
      </p:sp>
      <p:sp>
        <p:nvSpPr>
          <p:cNvPr id="161" name="TextBox 5"/>
          <p:cNvSpPr/>
          <p:nvPr/>
        </p:nvSpPr>
        <p:spPr>
          <a:xfrm>
            <a:off x="1900000" y="5576760"/>
            <a:ext cx="6483960" cy="520920"/>
          </a:xfrm>
          <a:prstGeom prst="rect">
            <a:avLst/>
          </a:prstGeom>
          <a:noFill/>
          <a:ln w="0">
            <a:noFill/>
          </a:ln>
        </p:spPr>
        <p:style>
          <a:lnRef idx="0"/>
          <a:fillRef idx="0"/>
          <a:effectRef idx="0"/>
          <a:fontRef idx="minor"/>
        </p:style>
        <p:txBody>
          <a:bodyPr wrap="none" lIns="90000" rIns="90000" tIns="46800" bIns="46800" anchor="t">
            <a:spAutoFit/>
          </a:bodyPr>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r>
              <a:rPr b="0" lang="en-US" sz="1400" spc="-1" strike="noStrike" u="sng">
                <a:solidFill>
                  <a:srgbClr val="0563c1"/>
                </a:solidFill>
                <a:uFillTx/>
                <a:latin typeface="Arial"/>
                <a:hlinkClick r:id="rId1"/>
              </a:rPr>
              <a:t>Further reading: Sutton &amp; Barto, Reinforcement Learning: An Introduction (2nd ed., 2018)</a:t>
            </a:r>
            <a:endParaRPr b="0" lang="en-US" sz="1400" spc="-1" strike="noStrike">
              <a:solidFill>
                <a:srgbClr val="000000"/>
              </a:solidFill>
              <a:latin typeface="Arial"/>
            </a:endParaRPr>
          </a:p>
          <a:p>
            <a:pPr>
              <a:tabLst>
                <a:tab algn="l" pos="0"/>
                <a:tab algn="l" pos="914400"/>
                <a:tab algn="l" pos="1828800"/>
                <a:tab algn="l" pos="2743200"/>
                <a:tab algn="l" pos="3657600"/>
                <a:tab algn="l" pos="4572000"/>
                <a:tab algn="l" pos="5486400"/>
                <a:tab algn="l" pos="6400800"/>
                <a:tab algn="l" pos="7315200"/>
                <a:tab algn="l" pos="8229600"/>
                <a:tab algn="l" pos="9144000"/>
                <a:tab algn="l" pos="10058400"/>
              </a:tabLst>
            </a:pP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1004</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2009-11-23T23:08:25Z</dcterms:created>
  <dc:creator>Welling</dc:creator>
  <dc:description/>
  <dc:language>en-US</dc:language>
  <cp:lastModifiedBy>Giannis Tsioulis</cp:lastModifiedBy>
  <dcterms:modified xsi:type="dcterms:W3CDTF">2025-12-09T18:24:43Z</dcterms:modified>
  <cp:revision>51</cp:revision>
  <dc:subject/>
  <dc:title>Reinforcement Learning</dc:title>
</cp:coreProperties>
</file>