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6"/>
  </p:notesMasterIdLst>
  <p:sldIdLst>
    <p:sldId id="256" r:id="rId2"/>
    <p:sldId id="298" r:id="rId3"/>
    <p:sldId id="257" r:id="rId4"/>
    <p:sldId id="259" r:id="rId5"/>
    <p:sldId id="260" r:id="rId6"/>
    <p:sldId id="261" r:id="rId7"/>
    <p:sldId id="262" r:id="rId8"/>
    <p:sldId id="263" r:id="rId9"/>
    <p:sldId id="264" r:id="rId10"/>
    <p:sldId id="266" r:id="rId11"/>
    <p:sldId id="267" r:id="rId12"/>
    <p:sldId id="283" r:id="rId13"/>
    <p:sldId id="268" r:id="rId14"/>
    <p:sldId id="269" r:id="rId15"/>
    <p:sldId id="270" r:id="rId16"/>
    <p:sldId id="271" r:id="rId17"/>
    <p:sldId id="272" r:id="rId18"/>
    <p:sldId id="273" r:id="rId19"/>
    <p:sldId id="274" r:id="rId20"/>
    <p:sldId id="275" r:id="rId21"/>
    <p:sldId id="276" r:id="rId22"/>
    <p:sldId id="278" r:id="rId23"/>
    <p:sldId id="277" r:id="rId24"/>
    <p:sldId id="279" r:id="rId25"/>
    <p:sldId id="280" r:id="rId26"/>
    <p:sldId id="281" r:id="rId27"/>
    <p:sldId id="284" r:id="rId28"/>
    <p:sldId id="282" r:id="rId29"/>
    <p:sldId id="285" r:id="rId30"/>
    <p:sldId id="286" r:id="rId31"/>
    <p:sldId id="287" r:id="rId32"/>
    <p:sldId id="288" r:id="rId33"/>
    <p:sldId id="289" r:id="rId34"/>
    <p:sldId id="290" r:id="rId35"/>
    <p:sldId id="292" r:id="rId36"/>
    <p:sldId id="291" r:id="rId37"/>
    <p:sldId id="300" r:id="rId38"/>
    <p:sldId id="295" r:id="rId39"/>
    <p:sldId id="296" r:id="rId40"/>
    <p:sldId id="293" r:id="rId41"/>
    <p:sldId id="294" r:id="rId42"/>
    <p:sldId id="299" r:id="rId43"/>
    <p:sldId id="301" r:id="rId44"/>
    <p:sldId id="258"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26" autoAdjust="0"/>
  </p:normalViewPr>
  <p:slideViewPr>
    <p:cSldViewPr>
      <p:cViewPr varScale="1">
        <p:scale>
          <a:sx n="60" d="100"/>
          <a:sy n="60" d="100"/>
        </p:scale>
        <p:origin x="1460" y="28"/>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3134" y="2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undo custSel addSld delSld modSld">
      <pc:chgData name="Giannis Tsioulis" userId="d59c48a07cb29050" providerId="LiveId" clId="{D1FB67B2-2F40-423F-AEB1-7CE013CAD466}" dt="2025-11-04T20:24:04.018" v="12" actId="47"/>
      <pc:docMkLst>
        <pc:docMk/>
      </pc:docMkLst>
      <pc:sldChg chg="modSp add mod">
        <pc:chgData name="Giannis Tsioulis" userId="d59c48a07cb29050" providerId="LiveId" clId="{D1FB67B2-2F40-423F-AEB1-7CE013CAD466}" dt="2025-11-04T20:23:49.345" v="11" actId="1076"/>
        <pc:sldMkLst>
          <pc:docMk/>
          <pc:sldMk cId="1762119713" sldId="256"/>
        </pc:sldMkLst>
        <pc:spChg chg="mod">
          <ac:chgData name="Giannis Tsioulis" userId="d59c48a07cb29050" providerId="LiveId" clId="{D1FB67B2-2F40-423F-AEB1-7CE013CAD466}" dt="2025-11-04T20:23:49.345" v="11" actId="1076"/>
          <ac:spMkLst>
            <pc:docMk/>
            <pc:sldMk cId="1762119713" sldId="256"/>
            <ac:spMk id="3" creationId="{F506DA0F-9E79-2E9B-A996-5C8CE0755C04}"/>
          </ac:spMkLst>
        </pc:spChg>
        <pc:spChg chg="mod">
          <ac:chgData name="Giannis Tsioulis" userId="d59c48a07cb29050" providerId="LiveId" clId="{D1FB67B2-2F40-423F-AEB1-7CE013CAD466}" dt="2025-11-04T20:23:44.811" v="10" actId="14100"/>
          <ac:spMkLst>
            <pc:docMk/>
            <pc:sldMk cId="1762119713" sldId="256"/>
            <ac:spMk id="4" creationId="{00000000-0000-0000-0000-000000000000}"/>
          </ac:spMkLst>
        </pc:spChg>
      </pc:sldChg>
      <pc:sldChg chg="addSp delSp del mod">
        <pc:chgData name="Giannis Tsioulis" userId="d59c48a07cb29050" providerId="LiveId" clId="{D1FB67B2-2F40-423F-AEB1-7CE013CAD466}" dt="2025-11-04T20:24:04.018" v="12" actId="47"/>
        <pc:sldMkLst>
          <pc:docMk/>
          <pc:sldMk cId="341771142" sldId="297"/>
        </pc:sldMkLst>
        <pc:spChg chg="add del">
          <ac:chgData name="Giannis Tsioulis" userId="d59c48a07cb29050" providerId="LiveId" clId="{D1FB67B2-2F40-423F-AEB1-7CE013CAD466}" dt="2025-11-04T20:22:41.797" v="1" actId="22"/>
          <ac:spMkLst>
            <pc:docMk/>
            <pc:sldMk cId="341771142" sldId="297"/>
            <ac:spMk id="3" creationId="{E6D41C57-DAD3-1BC5-46C7-A93C6E8B2C9D}"/>
          </ac:spMkLst>
        </pc:spChg>
        <pc:spChg chg="add del">
          <ac:chgData name="Giannis Tsioulis" userId="d59c48a07cb29050" providerId="LiveId" clId="{D1FB67B2-2F40-423F-AEB1-7CE013CAD466}" dt="2025-11-04T20:22:46.501" v="3" actId="22"/>
          <ac:spMkLst>
            <pc:docMk/>
            <pc:sldMk cId="341771142" sldId="297"/>
            <ac:spMk id="6" creationId="{DBEEC645-BE06-0782-5486-88D8140FD35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EDB842-14EC-47B9-BF0A-B8BC67F03A54}" type="datetimeFigureOut">
              <a:rPr lang="en-GB" smtClean="0"/>
              <a:t>04/11/2025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2B7554-6125-4C52-A217-773BCE16F2E2}" type="slidenum">
              <a:rPr lang="en-GB" smtClean="0"/>
              <a:t>‹#›</a:t>
            </a:fld>
            <a:endParaRPr lang="en-GB"/>
          </a:p>
        </p:txBody>
      </p:sp>
    </p:spTree>
    <p:extLst>
      <p:ext uri="{BB962C8B-B14F-4D97-AF65-F5344CB8AC3E}">
        <p14:creationId xmlns:p14="http://schemas.microsoft.com/office/powerpoint/2010/main" val="290026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Unlike binary classification, multi-class classification does not have the notion of normal and abnormal outcomes. Instead, examples are classified as belonging to one among a range of known classes.</a:t>
            </a:r>
            <a:r>
              <a:rPr lang="en-GB" baseline="0" dirty="0"/>
              <a:t> </a:t>
            </a:r>
            <a:r>
              <a:rPr lang="en-GB" dirty="0"/>
              <a:t>The number of class labels may be very large on some problems. For example, a model may predict a photo as belonging to one among thousands or tens of thousands of faces in a face recognition system.</a:t>
            </a:r>
          </a:p>
        </p:txBody>
      </p:sp>
      <p:sp>
        <p:nvSpPr>
          <p:cNvPr id="4" name="Slide Number Placeholder 3"/>
          <p:cNvSpPr>
            <a:spLocks noGrp="1"/>
          </p:cNvSpPr>
          <p:nvPr>
            <p:ph type="sldNum" sz="quarter" idx="10"/>
          </p:nvPr>
        </p:nvSpPr>
        <p:spPr/>
        <p:txBody>
          <a:bodyPr/>
          <a:lstStyle/>
          <a:p>
            <a:fld id="{8F2B7554-6125-4C52-A217-773BCE16F2E2}" type="slidenum">
              <a:rPr lang="en-GB" smtClean="0"/>
              <a:t>6</a:t>
            </a:fld>
            <a:endParaRPr lang="en-GB" dirty="0"/>
          </a:p>
        </p:txBody>
      </p:sp>
    </p:spTree>
    <p:extLst>
      <p:ext uri="{BB962C8B-B14F-4D97-AF65-F5344CB8AC3E}">
        <p14:creationId xmlns:p14="http://schemas.microsoft.com/office/powerpoint/2010/main" val="2637964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decision tree is a structure that includes a root node, branches, and leaf nodes. Each internal node denotes a test on an attribute, each branch denotes the outcome of a test, and each leaf node holds a class label. The topmost node in the tree is the root node.</a:t>
            </a:r>
          </a:p>
          <a:p>
            <a:r>
              <a:rPr lang="en-GB" dirty="0"/>
              <a:t>The following decision tree is for the concept </a:t>
            </a:r>
            <a:r>
              <a:rPr lang="en-GB" dirty="0" err="1"/>
              <a:t>buy_computer</a:t>
            </a:r>
            <a:r>
              <a:rPr lang="en-GB" dirty="0"/>
              <a:t> that indicates whether a customer at a company is likely to buy a computer or not. Each internal node represents a test on an attribute. Each leaf node represents a class.</a:t>
            </a:r>
          </a:p>
        </p:txBody>
      </p:sp>
      <p:sp>
        <p:nvSpPr>
          <p:cNvPr id="4" name="Slide Number Placeholder 3"/>
          <p:cNvSpPr>
            <a:spLocks noGrp="1"/>
          </p:cNvSpPr>
          <p:nvPr>
            <p:ph type="sldNum" sz="quarter" idx="10"/>
          </p:nvPr>
        </p:nvSpPr>
        <p:spPr/>
        <p:txBody>
          <a:bodyPr/>
          <a:lstStyle/>
          <a:p>
            <a:fld id="{8F2B7554-6125-4C52-A217-773BCE16F2E2}" type="slidenum">
              <a:rPr lang="en-GB" smtClean="0"/>
              <a:t>9</a:t>
            </a:fld>
            <a:endParaRPr lang="en-GB"/>
          </a:p>
        </p:txBody>
      </p:sp>
    </p:spTree>
    <p:extLst>
      <p:ext uri="{BB962C8B-B14F-4D97-AF65-F5344CB8AC3E}">
        <p14:creationId xmlns:p14="http://schemas.microsoft.com/office/powerpoint/2010/main" val="383888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to choose An Attribute? • An attribute selection measure is a heuristic for selecting the splitting criterion that “best” separates a given data partition, D, of class </a:t>
            </a:r>
            <a:r>
              <a:rPr lang="en-GB" dirty="0" err="1"/>
              <a:t>labeled</a:t>
            </a:r>
            <a:r>
              <a:rPr lang="en-GB" dirty="0"/>
              <a:t> training tuples into individual classes. Ideally ‒ Each resulting partition would be pure ‒ A pure partition is a partition containing tuples that all belong to the same class • Attribute selection measures (splitting rules) ‒ Determine how the tuples at a given node are to be split ‒ Provide ranking for each attribute describing the tuples ‒ The attribute with highest score is chosen ‒ Determine a split point or a splitting subset • Methods – Information gain (ID3 (Iterative </a:t>
            </a:r>
            <a:r>
              <a:rPr lang="en-GB" dirty="0" err="1"/>
              <a:t>Dichotomiser</a:t>
            </a:r>
            <a:r>
              <a:rPr lang="en-GB" dirty="0"/>
              <a:t> 3) /C4.5) – Gain ratio – Gini Index (IBM </a:t>
            </a:r>
            <a:r>
              <a:rPr lang="en-GB" dirty="0" err="1"/>
              <a:t>IntelligentMiner</a:t>
            </a:r>
            <a:r>
              <a:rPr lang="en-GB" dirty="0"/>
              <a:t>) Attribute Selection Measures </a:t>
            </a:r>
          </a:p>
        </p:txBody>
      </p:sp>
      <p:sp>
        <p:nvSpPr>
          <p:cNvPr id="4" name="Slide Number Placeholder 3"/>
          <p:cNvSpPr>
            <a:spLocks noGrp="1"/>
          </p:cNvSpPr>
          <p:nvPr>
            <p:ph type="sldNum" sz="quarter" idx="10"/>
          </p:nvPr>
        </p:nvSpPr>
        <p:spPr/>
        <p:txBody>
          <a:bodyPr/>
          <a:lstStyle/>
          <a:p>
            <a:fld id="{8F2B7554-6125-4C52-A217-773BCE16F2E2}" type="slidenum">
              <a:rPr lang="en-GB" smtClean="0"/>
              <a:t>13</a:t>
            </a:fld>
            <a:endParaRPr lang="en-GB"/>
          </a:p>
        </p:txBody>
      </p:sp>
    </p:spTree>
    <p:extLst>
      <p:ext uri="{BB962C8B-B14F-4D97-AF65-F5344CB8AC3E}">
        <p14:creationId xmlns:p14="http://schemas.microsoft.com/office/powerpoint/2010/main" val="20007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Ink </a:t>
            </a:r>
            <a:r>
              <a:rPr lang="en-GB" dirty="0"/>
              <a:t>molecules</a:t>
            </a:r>
          </a:p>
        </p:txBody>
      </p:sp>
      <p:sp>
        <p:nvSpPr>
          <p:cNvPr id="4" name="Slide Number Placeholder 3"/>
          <p:cNvSpPr>
            <a:spLocks noGrp="1"/>
          </p:cNvSpPr>
          <p:nvPr>
            <p:ph type="sldNum" sz="quarter" idx="10"/>
          </p:nvPr>
        </p:nvSpPr>
        <p:spPr/>
        <p:txBody>
          <a:bodyPr/>
          <a:lstStyle/>
          <a:p>
            <a:fld id="{8F2B7554-6125-4C52-A217-773BCE16F2E2}" type="slidenum">
              <a:rPr lang="en-GB" smtClean="0"/>
              <a:t>15</a:t>
            </a:fld>
            <a:endParaRPr lang="en-GB"/>
          </a:p>
        </p:txBody>
      </p:sp>
    </p:spTree>
    <p:extLst>
      <p:ext uri="{BB962C8B-B14F-4D97-AF65-F5344CB8AC3E}">
        <p14:creationId xmlns:p14="http://schemas.microsoft.com/office/powerpoint/2010/main" val="3413884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pic>
        <p:nvPicPr>
          <p:cNvPr id="7" name="Picture 6">
            <a:extLst>
              <a:ext uri="{FF2B5EF4-FFF2-40B4-BE49-F238E27FC236}">
                <a16:creationId xmlns:a16="http://schemas.microsoft.com/office/drawing/2014/main" id="{5276B2E5-FD2E-2F48-B255-21F97B6C0E40}"/>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pic>
        <p:nvPicPr>
          <p:cNvPr id="7" name="Picture 6">
            <a:extLst>
              <a:ext uri="{FF2B5EF4-FFF2-40B4-BE49-F238E27FC236}">
                <a16:creationId xmlns:a16="http://schemas.microsoft.com/office/drawing/2014/main" id="{1B90AFCE-B625-D845-858E-A0692B422D71}"/>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pic>
        <p:nvPicPr>
          <p:cNvPr id="7" name="Picture 6">
            <a:extLst>
              <a:ext uri="{FF2B5EF4-FFF2-40B4-BE49-F238E27FC236}">
                <a16:creationId xmlns:a16="http://schemas.microsoft.com/office/drawing/2014/main" id="{45A86DEB-DB85-A34A-BADA-0D640BBCD362}"/>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pic>
        <p:nvPicPr>
          <p:cNvPr id="8" name="Picture 7">
            <a:extLst>
              <a:ext uri="{FF2B5EF4-FFF2-40B4-BE49-F238E27FC236}">
                <a16:creationId xmlns:a16="http://schemas.microsoft.com/office/drawing/2014/main" id="{EE1306C6-F56C-F74F-AD6E-673B032DAFEE}"/>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9776922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emf"/><Relationship Id="rId7" Type="http://schemas.openxmlformats.org/officeDocument/2006/relationships/image" Target="../media/image2.png"/><Relationship Id="rId8"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7"/>
          <a:stretch>
            <a:fillRect/>
          </a:stretch>
        </p:blipFill>
        <p:spPr>
          <a:xfrm>
            <a:off x="461745" y="4925113"/>
            <a:ext cx="748535" cy="619477"/>
          </a:xfrm>
          <a:prstGeom prst="rect">
            <a:avLst/>
          </a:prstGeom>
        </p:spPr>
      </p:pic>
      <p:sp>
        <p:nvSpPr>
          <p:cNvPr id="2" name="MSIPCMContentMarking" descr="{&quot;HashCode&quot;:269818377,&quot;Placement&quot;:&quot;Footer&quot;}"/>
          <p:cNvSpPr txBox="1"/>
          <p:nvPr/>
        </p:nvSpPr>
        <p:spPr>
          <a:xfrm>
            <a:off x="0" y="6525073"/>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a:solidFill>
                  <a:srgbClr val="000000"/>
                </a:solidFill>
                <a:latin typeface="Calibri" panose="020F0502020204030204" pitchFamily="34" charset="0"/>
              </a:rPr>
              <a:t>Sensitivity: Internal</a:t>
            </a:r>
          </a:p>
        </p:txBody>
      </p:sp>
      <p:pic>
        <p:nvPicPr>
          <p:cNvPr id="4" name="Picture 3">
            <a:extLst>
              <a:ext uri="{FF2B5EF4-FFF2-40B4-BE49-F238E27FC236}">
                <a16:creationId xmlns:a16="http://schemas.microsoft.com/office/drawing/2014/main" id="{043BB501-FC9D-43D6-9A3C-37F1DDC66378}"/>
              </a:ext>
            </a:extLst>
          </p:cNvPr>
          <p:cNvPicPr>
            <a:picLocks noChangeAspect="1"/>
          </p:cNvPicPr>
          <p:nvPr userDrawn="1"/>
        </p:nvPicPr>
        <p:blipFill>
          <a:blip r:embed="rId8"/>
          <a:stretch>
            <a:fillRect/>
          </a:stretch>
        </p:blipFill>
        <p:spPr>
          <a:xfrm>
            <a:off x="228600" y="5638800"/>
            <a:ext cx="1028701" cy="519113"/>
          </a:xfrm>
          <a:prstGeom prst="rect">
            <a:avLst/>
          </a:prstGeom>
        </p:spPr>
      </p:pic>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 Id="rId3"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machinelearningmastery.com/object-recognition-with-deep-learning/" TargetMode="Externa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hyperlink" Target="https://machinelearningmastery.com/random-oversampling-and-undersampling-for-imbalanced-classification/" TargetMode="External"/><Relationship Id="rId4" Type="http://schemas.openxmlformats.org/officeDocument/2006/relationships/hyperlink" Target="https://machinelearningmastery.com/smote-oversampling-for-imbalanced-classificati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eg"/><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hyperlink" Target="https://en.wikipedia.org/wiki/Entropy_(statistical_thermodynamic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abEdGKuzsvY" TargetMode="External"/><Relationship Id="rId3" Type="http://schemas.openxmlformats.org/officeDocument/2006/relationships/hyperlink" Target="https://www.imdb.com/title/tt0156515/" TargetMode="External"/><Relationship Id="rId4" Type="http://schemas.openxmlformats.org/officeDocument/2006/relationships/image" Target="../media/image19.jpeg"/><Relationship Id="rId5" Type="http://schemas.openxmlformats.org/officeDocument/2006/relationships/image" Target="../media/image2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hyperlink" Target="https://scholar.harvard.edu/files/schwartz/files/6-entropy.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medium.com/@lope.ai/decision-trees-from-scratch-using-id3-python-coding-it-up-6b79e3458de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31.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29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image" Target="../media/image3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hyperlink" Target="https://www.saedsayad.com/categorical_categorical.ht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i.org/10.1016/0020-0190(76)90095-8"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tutorialspoint.com/data_mining/dm_classification_prediction.htm" TargetMode="External"/><Relationship Id="rId3" Type="http://schemas.openxmlformats.org/officeDocument/2006/relationships/hyperlink" Target="https://machinelearningmastery.com/types-of-classification-in-machine-learning/" TargetMode="External"/><Relationship Id="rId4" Type="http://schemas.openxmlformats.org/officeDocument/2006/relationships/hyperlink" Target="https://www.softwaretestinghelp.com/decision-tree-algorithm-examples-data-mining/" TargetMode="External"/><Relationship Id="rId5" Type="http://schemas.openxmlformats.org/officeDocument/2006/relationships/hyperlink" Target="https://www.aitimejournal.com/@akshay.chavan/a-comprehensive-guide-to-decision-tree-learning" TargetMode="External"/><Relationship Id="rId6" Type="http://schemas.openxmlformats.org/officeDocument/2006/relationships/hyperlink" Target="https://www.saedsayad.com/decision_tree_overfitting.htm" TargetMode="External"/><Relationship Id="rId7" Type="http://schemas.openxmlformats.org/officeDocument/2006/relationships/hyperlink" Target="https://machinelearningmastery.com/implement-decision-tree-algorithm-scratch-python/" TargetMode="External"/><Relationship Id="rId8" Type="http://schemas.openxmlformats.org/officeDocument/2006/relationships/hyperlink" Target="https://stackabuse.com/decision-trees-in-python-with-scikit-lear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76400" y="3019456"/>
            <a:ext cx="7315200" cy="819088"/>
          </a:xfrm>
        </p:spPr>
        <p:txBody>
          <a:bodyPr/>
          <a:lstStyle/>
          <a:p>
            <a:r>
              <a:rPr lang="en-GB" sz="2600" dirty="0">
                <a:solidFill>
                  <a:srgbClr val="FF0000"/>
                </a:solidFill>
              </a:rPr>
              <a:t>Classification Problems and Decision Trees</a:t>
            </a:r>
            <a:br>
              <a:rPr lang="en-GB" dirty="0"/>
            </a:br>
            <a:br>
              <a:rPr lang="en-GB" dirty="0"/>
            </a:br>
            <a:endParaRPr lang="en-GB" sz="2000" dirty="0"/>
          </a:p>
        </p:txBody>
      </p:sp>
      <p:pic>
        <p:nvPicPr>
          <p:cNvPr id="1026" name="Picture 2" descr="Robot Artificial Intelligence World Connection Gear Vector Illustration  Royalty Free Cliparts, Vectors, And Stock Illustration. Image 10890186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76400" y="228600"/>
            <a:ext cx="7086600" cy="461665"/>
          </a:xfrm>
          <a:prstGeom prst="rect">
            <a:avLst/>
          </a:prstGeom>
        </p:spPr>
        <p:txBody>
          <a:bodyPr wrap="square">
            <a:spAutoFit/>
          </a:bodyPr>
          <a:lstStyle/>
          <a:p>
            <a:r>
              <a:rPr lang="en-GB" sz="2400" dirty="0">
                <a:solidFill>
                  <a:srgbClr val="0070C0"/>
                </a:solidFill>
              </a:rPr>
              <a:t>Module 6CM521: </a:t>
            </a:r>
            <a:r>
              <a:rPr lang="en-US" sz="2400" dirty="0">
                <a:solidFill>
                  <a:srgbClr val="0070C0"/>
                </a:solidFill>
              </a:rPr>
              <a:t>Frontiers in AI and Data Science </a:t>
            </a:r>
            <a:endParaRPr lang="en-GB" sz="2400" dirty="0"/>
          </a:p>
        </p:txBody>
      </p:sp>
      <p:sp>
        <p:nvSpPr>
          <p:cNvPr id="2" name="TextBox 1">
            <a:extLst>
              <a:ext uri="{FF2B5EF4-FFF2-40B4-BE49-F238E27FC236}">
                <a16:creationId xmlns:a16="http://schemas.microsoft.com/office/drawing/2014/main" id="{6B246FF1-9020-F3E7-8FC5-A95BBE191469}"/>
              </a:ext>
            </a:extLst>
          </p:cNvPr>
          <p:cNvSpPr txBox="1"/>
          <p:nvPr/>
        </p:nvSpPr>
        <p:spPr>
          <a:xfrm>
            <a:off x="6477000" y="6144089"/>
            <a:ext cx="3048000" cy="584775"/>
          </a:xfrm>
          <a:prstGeom prst="rect">
            <a:avLst/>
          </a:prstGeom>
          <a:noFill/>
        </p:spPr>
        <p:txBody>
          <a:bodyPr wrap="square" rtlCol="0">
            <a:spAutoFit/>
          </a:bodyPr>
          <a:lstStyle/>
          <a:p>
            <a:r>
              <a:rPr lang="en-GB" sz="1600" dirty="0">
                <a:solidFill>
                  <a:schemeClr val="tx1">
                    <a:lumMod val="85000"/>
                    <a:lumOff val="15000"/>
                  </a:schemeClr>
                </a:solidFill>
              </a:rPr>
              <a:t>Slides acknowledgements:</a:t>
            </a:r>
          </a:p>
          <a:p>
            <a:r>
              <a:rPr lang="en-GB" sz="1600" dirty="0">
                <a:solidFill>
                  <a:schemeClr val="tx1">
                    <a:lumMod val="85000"/>
                    <a:lumOff val="15000"/>
                  </a:schemeClr>
                </a:solidFill>
              </a:rPr>
              <a:t>Dr Aaisha Makkar</a:t>
            </a:r>
            <a:endParaRPr lang="el-GR" sz="1600" dirty="0">
              <a:solidFill>
                <a:schemeClr val="tx1">
                  <a:lumMod val="85000"/>
                  <a:lumOff val="15000"/>
                </a:schemeClr>
              </a:solidFill>
            </a:endParaRPr>
          </a:p>
        </p:txBody>
      </p:sp>
      <p:sp>
        <p:nvSpPr>
          <p:cNvPr id="3" name="TextBox 2">
            <a:extLst>
              <a:ext uri="{FF2B5EF4-FFF2-40B4-BE49-F238E27FC236}">
                <a16:creationId xmlns:a16="http://schemas.microsoft.com/office/drawing/2014/main" id="{F506DA0F-9E79-2E9B-A996-5C8CE0755C04}"/>
              </a:ext>
            </a:extLst>
          </p:cNvPr>
          <p:cNvSpPr txBox="1"/>
          <p:nvPr/>
        </p:nvSpPr>
        <p:spPr>
          <a:xfrm>
            <a:off x="2819400" y="3838544"/>
            <a:ext cx="4495800" cy="400110"/>
          </a:xfrm>
          <a:prstGeom prst="rect">
            <a:avLst/>
          </a:prstGeom>
          <a:noFill/>
        </p:spPr>
        <p:txBody>
          <a:bodyPr wrap="square" rtlCol="0">
            <a:spAutoFit/>
          </a:bodyPr>
          <a:lstStyle/>
          <a:p>
            <a:pPr algn="ctr"/>
            <a:r>
              <a:rPr lang="en-US" sz="2000" dirty="0">
                <a:solidFill>
                  <a:schemeClr val="accent5">
                    <a:lumMod val="50000"/>
                  </a:schemeClr>
                </a:solidFill>
              </a:rPr>
              <a:t>Ioannis Tsioulis (MC)</a:t>
            </a:r>
            <a:endParaRPr lang="el-GR" sz="2000" dirty="0">
              <a:solidFill>
                <a:schemeClr val="accent5">
                  <a:lumMod val="50000"/>
                </a:schemeClr>
              </a:solidFill>
            </a:endParaRPr>
          </a:p>
        </p:txBody>
      </p:sp>
    </p:spTree>
    <p:extLst>
      <p:ext uri="{BB962C8B-B14F-4D97-AF65-F5344CB8AC3E}">
        <p14:creationId xmlns:p14="http://schemas.microsoft.com/office/powerpoint/2010/main" val="176211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Declaration </a:t>
            </a:r>
          </a:p>
        </p:txBody>
      </p:sp>
      <p:sp>
        <p:nvSpPr>
          <p:cNvPr id="3" name="Content Placeholder 2"/>
          <p:cNvSpPr>
            <a:spLocks noGrp="1"/>
          </p:cNvSpPr>
          <p:nvPr>
            <p:ph idx="1"/>
          </p:nvPr>
        </p:nvSpPr>
        <p:spPr/>
        <p:txBody>
          <a:bodyPr/>
          <a:lstStyle/>
          <a:p>
            <a:r>
              <a:rPr lang="en-GB" dirty="0"/>
              <a:t>These slides are organised based on Chapter 8 of the book </a:t>
            </a:r>
            <a:r>
              <a:rPr lang="en-GB" dirty="0" i="1"/>
              <a:t>Data Mining: Concepts and Techniques</a:t>
            </a:r>
            <a:r>
              <a:rPr lang="en-GB" dirty="0"/>
              <a:t> (Han, Kamber &amp; Pei). Other online resources that helped to create the slides are referenced at the end. </a:t>
            </a:r>
          </a:p>
          <a:p>
            <a:endParaRPr lang="en-GB" dirty="0"/>
          </a:p>
          <a:p>
            <a:r>
              <a:rPr lang="en-GB" sz="3200" dirty="0">
                <a:solidFill>
                  <a:srgbClr val="FF0000"/>
                </a:solidFill>
              </a:rPr>
              <a:t>Acknowledgement</a:t>
            </a:r>
          </a:p>
          <a:p>
            <a:endParaRPr lang="en-GB" dirty="0">
              <a:solidFill>
                <a:srgbClr val="FF0000"/>
              </a:solidFill>
            </a:endParaRPr>
          </a:p>
          <a:p>
            <a:r>
              <a:rPr lang="en-GB" sz="2400" b="0" dirty="0"/>
              <a:t>Most of the slides are adapted from the lecture slides of Dr Hong Qing Yu (Harry).</a:t>
            </a:r>
          </a:p>
          <a:p>
            <a:endParaRPr lang="en-GB" dirty="0"/>
          </a:p>
        </p:txBody>
      </p:sp>
    </p:spTree>
    <p:extLst>
      <p:ext uri="{BB962C8B-B14F-4D97-AF65-F5344CB8AC3E}">
        <p14:creationId xmlns:p14="http://schemas.microsoft.com/office/powerpoint/2010/main" val="2521499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Classification problems in machine learning</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sz="2200" dirty="0"/>
              <a:t>The task of classification is to use a machine learning algorithm that learns how to assign class labels to examples in the training dataset and performs well on the testing dataset from a specific problem domain.</a:t>
            </a:r>
          </a:p>
          <a:p>
            <a:pPr marL="342900" indent="-342900">
              <a:buFont typeface="Arial" panose="020B0604020202020204" pitchFamily="34" charset="0"/>
              <a:buChar char="•"/>
            </a:pPr>
            <a:r>
              <a:rPr lang="en-GB" sz="2200" dirty="0"/>
              <a:t>General approach:</a:t>
            </a:r>
          </a:p>
          <a:p>
            <a:pPr marL="0" indent="0">
              <a:buNone/>
            </a:pPr>
            <a:endParaRPr lang="en-GB" dirty="0"/>
          </a:p>
          <a:p>
            <a:pPr marL="0" indent="0">
              <a:buNone/>
            </a:pPr>
            <a:r>
              <a:rPr lang="en-GB" dirty="0"/>
              <a:t> </a:t>
            </a:r>
          </a:p>
        </p:txBody>
      </p:sp>
      <p:pic>
        <p:nvPicPr>
          <p:cNvPr id="1026" name="Picture 2" descr="Building the Classifier or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08" y="3931239"/>
            <a:ext cx="4651490" cy="25574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sing the Classif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949450"/>
            <a:ext cx="4390602" cy="24513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101702" y="6488668"/>
            <a:ext cx="787395" cy="369332"/>
          </a:xfrm>
          <a:prstGeom prst="rect">
            <a:avLst/>
          </a:prstGeom>
          <a:noFill/>
        </p:spPr>
        <p:txBody>
          <a:bodyPr wrap="none" rtlCol="0">
            <a:spAutoFit/>
          </a:bodyPr>
          <a:lstStyle/>
          <a:p>
            <a:r>
              <a:rPr lang="en-GB" dirty="0"/>
              <a:t>Step1</a:t>
            </a:r>
          </a:p>
        </p:txBody>
      </p:sp>
      <p:sp>
        <p:nvSpPr>
          <p:cNvPr id="5" name="TextBox 4"/>
          <p:cNvSpPr txBox="1"/>
          <p:nvPr/>
        </p:nvSpPr>
        <p:spPr>
          <a:xfrm>
            <a:off x="6595477" y="6433066"/>
            <a:ext cx="787395" cy="369332"/>
          </a:xfrm>
          <a:prstGeom prst="rect">
            <a:avLst/>
          </a:prstGeom>
          <a:noFill/>
        </p:spPr>
        <p:txBody>
          <a:bodyPr wrap="none" rtlCol="0">
            <a:spAutoFit/>
          </a:bodyPr>
          <a:lstStyle/>
          <a:p>
            <a:r>
              <a:rPr lang="en-GB" dirty="0"/>
              <a:t>Step2</a:t>
            </a:r>
          </a:p>
        </p:txBody>
      </p:sp>
    </p:spTree>
    <p:extLst>
      <p:ext uri="{BB962C8B-B14F-4D97-AF65-F5344CB8AC3E}">
        <p14:creationId xmlns:p14="http://schemas.microsoft.com/office/powerpoint/2010/main" val="2849315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Different types of classification problems</a:t>
            </a:r>
          </a:p>
        </p:txBody>
      </p:sp>
      <p:sp>
        <p:nvSpPr>
          <p:cNvPr id="3" name="Content Placeholder 2"/>
          <p:cNvSpPr>
            <a:spLocks noGrp="1"/>
          </p:cNvSpPr>
          <p:nvPr>
            <p:ph idx="1"/>
          </p:nvPr>
        </p:nvSpPr>
        <p:spPr/>
        <p:txBody>
          <a:bodyPr/>
          <a:lstStyle/>
          <a:p>
            <a:r>
              <a:rPr lang="en-GB" dirty="0"/>
              <a:t>From label size or property point of view, there are 4 different classification problems</a:t>
            </a:r>
          </a:p>
          <a:p>
            <a:endParaRPr lang="en-GB" dirty="0"/>
          </a:p>
          <a:p>
            <a:pPr lvl="1"/>
            <a:r>
              <a:rPr lang="en-GB" sz="2000" dirty="0"/>
              <a:t>Binary classification</a:t>
            </a:r>
          </a:p>
          <a:p>
            <a:pPr lvl="1"/>
            <a:endParaRPr lang="en-GB" sz="2000" dirty="0"/>
          </a:p>
          <a:p>
            <a:pPr lvl="1"/>
            <a:r>
              <a:rPr lang="en-GB" sz="2000" dirty="0"/>
              <a:t>Multi-class classification</a:t>
            </a:r>
          </a:p>
          <a:p>
            <a:pPr lvl="1"/>
            <a:endParaRPr lang="en-GB" sz="2000" dirty="0"/>
          </a:p>
          <a:p>
            <a:pPr lvl="1"/>
            <a:r>
              <a:rPr lang="en-GB" sz="2000" dirty="0"/>
              <a:t>Multi-label classification</a:t>
            </a:r>
          </a:p>
          <a:p>
            <a:pPr lvl="1"/>
            <a:endParaRPr lang="en-GB" sz="2000" dirty="0"/>
          </a:p>
          <a:p>
            <a:pPr lvl="1"/>
            <a:r>
              <a:rPr lang="en-GB" sz="2000" dirty="0"/>
              <a:t>Imbalanced classification</a:t>
            </a:r>
          </a:p>
        </p:txBody>
      </p:sp>
    </p:spTree>
    <p:extLst>
      <p:ext uri="{BB962C8B-B14F-4D97-AF65-F5344CB8AC3E}">
        <p14:creationId xmlns:p14="http://schemas.microsoft.com/office/powerpoint/2010/main" val="3341823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Binary Classification</a:t>
            </a:r>
            <a:endParaRPr lang="en-GB" dirty="0"/>
          </a:p>
        </p:txBody>
      </p:sp>
      <p:sp>
        <p:nvSpPr>
          <p:cNvPr id="3" name="Content Placeholder 2"/>
          <p:cNvSpPr>
            <a:spLocks noGrp="1"/>
          </p:cNvSpPr>
          <p:nvPr>
            <p:ph idx="1"/>
          </p:nvPr>
        </p:nvSpPr>
        <p:spPr/>
        <p:txBody>
          <a:bodyPr>
            <a:normAutofit/>
          </a:bodyPr>
          <a:lstStyle/>
          <a:p>
            <a:r>
              <a:rPr lang="en-GB" sz="1800" dirty="0"/>
              <a:t>Binary classification refers to those classification tasks that have only two class labels. Typically, binary classification tasks involve one class that is the normal state and another class that is the abnormal state.</a:t>
            </a:r>
          </a:p>
          <a:p>
            <a:r>
              <a:rPr lang="en-GB" sz="1800" dirty="0"/>
              <a:t>Examples include:</a:t>
            </a:r>
          </a:p>
          <a:p>
            <a:pPr lvl="1"/>
            <a:r>
              <a:rPr lang="en-GB" sz="1800" dirty="0"/>
              <a:t>Email spam detection (spam or not).</a:t>
            </a:r>
          </a:p>
          <a:p>
            <a:pPr lvl="1"/>
            <a:r>
              <a:rPr lang="en-GB" sz="1800" dirty="0"/>
              <a:t>Churn prediction (churn or not).</a:t>
            </a:r>
          </a:p>
          <a:p>
            <a:pPr lvl="1"/>
            <a:r>
              <a:rPr lang="en-GB" sz="1800" dirty="0"/>
              <a:t>Conversion prediction (buy or not).</a:t>
            </a:r>
          </a:p>
          <a:p>
            <a:r>
              <a:rPr lang="en-GB" sz="1800" dirty="0"/>
              <a:t>Popular algorithms </a:t>
            </a:r>
          </a:p>
          <a:p>
            <a:pPr lvl="1"/>
            <a:r>
              <a:rPr lang="en-GB" sz="1800" dirty="0"/>
              <a:t>Logistic Regression</a:t>
            </a:r>
          </a:p>
          <a:p>
            <a:pPr lvl="1"/>
            <a:r>
              <a:rPr lang="en-GB" sz="1800" dirty="0"/>
              <a:t>k-Nearest Neighbours</a:t>
            </a:r>
          </a:p>
          <a:p>
            <a:pPr lvl="1"/>
            <a:r>
              <a:rPr lang="en-GB" sz="1800" dirty="0"/>
              <a:t>Decision Trees</a:t>
            </a:r>
          </a:p>
          <a:p>
            <a:pPr lvl="1"/>
            <a:r>
              <a:rPr lang="en-GB" sz="1800" dirty="0"/>
              <a:t>Support Vector Machine</a:t>
            </a:r>
          </a:p>
          <a:p>
            <a:pPr lvl="1"/>
            <a:r>
              <a:rPr lang="en-GB" sz="1800" dirty="0"/>
              <a:t>Naive Bayes</a:t>
            </a:r>
          </a:p>
          <a:p>
            <a:pPr marL="274320" lvl="1" indent="0">
              <a:buNone/>
            </a:pPr>
            <a:endParaRPr lang="en-GB" sz="1800" dirty="0"/>
          </a:p>
          <a:p>
            <a:endParaRPr lang="en-GB"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9200" y="3810000"/>
            <a:ext cx="4064000"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2710543"/>
            <a:ext cx="24511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2306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Multi-Class Classification</a:t>
            </a:r>
            <a:endParaRPr lang="en-GB" dirty="0"/>
          </a:p>
        </p:txBody>
      </p:sp>
      <p:sp>
        <p:nvSpPr>
          <p:cNvPr id="3" name="Content Placeholder 2"/>
          <p:cNvSpPr>
            <a:spLocks noGrp="1"/>
          </p:cNvSpPr>
          <p:nvPr>
            <p:ph idx="1"/>
          </p:nvPr>
        </p:nvSpPr>
        <p:spPr/>
        <p:txBody>
          <a:bodyPr>
            <a:normAutofit/>
          </a:bodyPr>
          <a:lstStyle/>
          <a:p>
            <a:r>
              <a:rPr lang="en-GB" b="1" dirty="0"/>
              <a:t>Multi-Class Classification </a:t>
            </a:r>
            <a:r>
              <a:rPr lang="en-GB" dirty="0"/>
              <a:t>refers to those classification tasks that have more than two class labels. </a:t>
            </a:r>
          </a:p>
          <a:p>
            <a:r>
              <a:rPr lang="en-GB" dirty="0"/>
              <a:t>Examples include:</a:t>
            </a:r>
          </a:p>
          <a:p>
            <a:pPr lvl="1"/>
            <a:r>
              <a:rPr lang="en-GB" dirty="0"/>
              <a:t>Face classification.</a:t>
            </a:r>
          </a:p>
          <a:p>
            <a:pPr lvl="1"/>
            <a:r>
              <a:rPr lang="en-GB" dirty="0"/>
              <a:t>Plant species classification.</a:t>
            </a:r>
          </a:p>
          <a:p>
            <a:pPr lvl="1"/>
            <a:r>
              <a:rPr lang="en-GB" dirty="0"/>
              <a:t>Optical character recognition.</a:t>
            </a:r>
          </a:p>
          <a:p>
            <a:r>
              <a:rPr lang="en-GB" dirty="0"/>
              <a:t>Popular algorithms:</a:t>
            </a:r>
          </a:p>
          <a:p>
            <a:pPr lvl="1"/>
            <a:r>
              <a:rPr lang="en-GB" dirty="0"/>
              <a:t>k-Nearest Neighbours.</a:t>
            </a:r>
          </a:p>
          <a:p>
            <a:pPr lvl="1"/>
            <a:r>
              <a:rPr lang="en-GB" dirty="0"/>
              <a:t>Decision Trees.</a:t>
            </a:r>
          </a:p>
          <a:p>
            <a:pPr lvl="1"/>
            <a:r>
              <a:rPr lang="en-GB" dirty="0"/>
              <a:t>Naive Bayes.</a:t>
            </a:r>
          </a:p>
          <a:p>
            <a:pPr lvl="1"/>
            <a:r>
              <a:rPr lang="en-GB" dirty="0"/>
              <a:t>Random Forest.</a:t>
            </a:r>
          </a:p>
          <a:p>
            <a:pPr lvl="1"/>
            <a:r>
              <a:rPr lang="en-GB" dirty="0"/>
              <a:t>Gradient Boosting.</a:t>
            </a:r>
          </a:p>
          <a:p>
            <a:pPr marL="274320" lvl="1" indent="0">
              <a:buNone/>
            </a:pPr>
            <a:endParaRPr lang="en-GB" dirty="0"/>
          </a:p>
          <a:p>
            <a:endParaRPr lang="en-GB" dirty="0"/>
          </a:p>
        </p:txBody>
      </p:sp>
      <p:pic>
        <p:nvPicPr>
          <p:cNvPr id="3074" name="Picture 2" descr="Scatter Plot of Multi-Class Classification Datas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3733800"/>
            <a:ext cx="3962399" cy="2971800"/>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Image result for dog and cat classifica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3348" y="2512423"/>
            <a:ext cx="3784452" cy="1145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369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Multi-Label Classification</a:t>
            </a:r>
            <a:endParaRPr lang="en-GB" dirty="0"/>
          </a:p>
        </p:txBody>
      </p:sp>
      <p:sp>
        <p:nvSpPr>
          <p:cNvPr id="3" name="Content Placeholder 2"/>
          <p:cNvSpPr>
            <a:spLocks noGrp="1"/>
          </p:cNvSpPr>
          <p:nvPr>
            <p:ph idx="1"/>
          </p:nvPr>
        </p:nvSpPr>
        <p:spPr/>
        <p:txBody>
          <a:bodyPr>
            <a:normAutofit/>
          </a:bodyPr>
          <a:lstStyle/>
          <a:p>
            <a:r>
              <a:rPr lang="en-GB" sz="2000" b="1" dirty="0"/>
              <a:t>Multi-Label Classification </a:t>
            </a:r>
            <a:r>
              <a:rPr lang="en-GB" sz="2000" dirty="0"/>
              <a:t>refers to those classification tasks that have two or more class labels, where one or more class labels may be predicted for each example.</a:t>
            </a:r>
          </a:p>
          <a:p>
            <a:r>
              <a:rPr lang="en-GB" sz="1600" dirty="0"/>
              <a:t>Consider the example of </a:t>
            </a:r>
            <a:r>
              <a:rPr lang="en-GB" sz="1600" dirty="0">
                <a:hlinkClick r:id="rId2"/>
              </a:rPr>
              <a:t>photo classification</a:t>
            </a:r>
            <a:r>
              <a:rPr lang="en-GB" sz="1600" dirty="0"/>
              <a:t>, where a given photo may have multiple objects in the scene and a model may predict the presence of multiple known objects in the photo, such as “</a:t>
            </a:r>
            <a:r>
              <a:rPr lang="en-GB" sz="1600" i="1" dirty="0"/>
              <a:t>bicycle</a:t>
            </a:r>
            <a:r>
              <a:rPr lang="en-GB" sz="1600" dirty="0"/>
              <a:t>,” “</a:t>
            </a:r>
            <a:r>
              <a:rPr lang="en-GB" sz="1600" i="1" dirty="0"/>
              <a:t>apple</a:t>
            </a:r>
            <a:r>
              <a:rPr lang="en-GB" sz="1600" dirty="0"/>
              <a:t>,” “</a:t>
            </a:r>
            <a:r>
              <a:rPr lang="en-GB" sz="1600" i="1" dirty="0"/>
              <a:t>person</a:t>
            </a:r>
            <a:r>
              <a:rPr lang="en-GB" sz="1600" dirty="0"/>
              <a:t>,” etc.</a:t>
            </a:r>
          </a:p>
          <a:p>
            <a:r>
              <a:rPr lang="en-GB" sz="1600" dirty="0"/>
              <a:t>Specialized versions of standard classification algorithms need to be implemented, so-called multi-label versions of the algorithms, including:</a:t>
            </a:r>
          </a:p>
          <a:p>
            <a:pPr lvl="1"/>
            <a:r>
              <a:rPr lang="en-GB" dirty="0"/>
              <a:t>Multi-label Decision Trees</a:t>
            </a:r>
          </a:p>
          <a:p>
            <a:pPr lvl="1"/>
            <a:r>
              <a:rPr lang="en-GB" dirty="0"/>
              <a:t>Multi-label Random Forests</a:t>
            </a:r>
          </a:p>
          <a:p>
            <a:pPr lvl="1"/>
            <a:r>
              <a:rPr lang="en-GB" dirty="0"/>
              <a:t>Multi-label Gradient Boosting</a:t>
            </a:r>
          </a:p>
          <a:p>
            <a:endParaRPr lang="en-GB" sz="1600"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4856975"/>
            <a:ext cx="4565124" cy="1897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5555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Imbalanced Classification</a:t>
            </a:r>
            <a:endParaRPr lang="en-GB" dirty="0"/>
          </a:p>
        </p:txBody>
      </p:sp>
      <p:sp>
        <p:nvSpPr>
          <p:cNvPr id="3" name="Content Placeholder 2"/>
          <p:cNvSpPr>
            <a:spLocks noGrp="1"/>
          </p:cNvSpPr>
          <p:nvPr>
            <p:ph idx="1"/>
          </p:nvPr>
        </p:nvSpPr>
        <p:spPr/>
        <p:txBody>
          <a:bodyPr/>
          <a:lstStyle/>
          <a:p>
            <a:r>
              <a:rPr lang="en-GB" b="1" dirty="0"/>
              <a:t>Imbalanced Classification </a:t>
            </a:r>
            <a:r>
              <a:rPr lang="en-GB" dirty="0"/>
              <a:t>refers to classification tasks where the number of examples in each class is unequally distributed.</a:t>
            </a:r>
            <a:endParaRPr lang="en-GB" b="1" dirty="0"/>
          </a:p>
          <a:p>
            <a:endParaRPr lang="en-GB" dirty="0"/>
          </a:p>
        </p:txBody>
      </p:sp>
      <p:pic>
        <p:nvPicPr>
          <p:cNvPr id="5122" name="Picture 2" descr="Scatter Plot of Imbalanced Binary Classification Datas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5156" y="2535866"/>
            <a:ext cx="4238844" cy="317913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00200" y="2832771"/>
            <a:ext cx="3657600" cy="3447098"/>
          </a:xfrm>
          <a:prstGeom prst="rect">
            <a:avLst/>
          </a:prstGeom>
        </p:spPr>
        <p:txBody>
          <a:bodyPr wrap="square">
            <a:spAutoFit/>
          </a:bodyPr>
          <a:lstStyle/>
          <a:p>
            <a:r>
              <a:rPr lang="en-GB" sz="2000" b="1" dirty="0">
                <a:hlinkClick r:id="rId3"/>
              </a:rPr>
              <a:t>Random </a:t>
            </a:r>
            <a:r>
              <a:rPr lang="en-GB" sz="2000" b="1" dirty="0" err="1">
                <a:hlinkClick r:id="rId3"/>
              </a:rPr>
              <a:t>Resampling</a:t>
            </a:r>
            <a:r>
              <a:rPr lang="en-GB" sz="2000" b="1" dirty="0"/>
              <a:t>:</a:t>
            </a:r>
          </a:p>
          <a:p>
            <a:endParaRPr lang="en-GB" dirty="0"/>
          </a:p>
          <a:p>
            <a:pPr marL="285750" indent="-285750" fontAlgn="base">
              <a:buFont typeface="Arial" panose="020B0604020202020204" pitchFamily="34" charset="0"/>
              <a:buChar char="•"/>
            </a:pPr>
            <a:r>
              <a:rPr lang="en-GB" b="1" dirty="0"/>
              <a:t>Random Oversampling</a:t>
            </a:r>
            <a:r>
              <a:rPr lang="en-GB" dirty="0"/>
              <a:t>: Randomly duplicate examples in the minority class.</a:t>
            </a:r>
          </a:p>
          <a:p>
            <a:pPr marL="285750" indent="-285750" fontAlgn="base">
              <a:buFont typeface="Arial" panose="020B0604020202020204" pitchFamily="34" charset="0"/>
              <a:buChar char="•"/>
            </a:pPr>
            <a:r>
              <a:rPr lang="en-GB" b="1" dirty="0"/>
              <a:t>Random </a:t>
            </a:r>
            <a:r>
              <a:rPr lang="en-GB" b="1" dirty="0" err="1"/>
              <a:t>Undersampling</a:t>
            </a:r>
            <a:r>
              <a:rPr lang="en-GB" dirty="0"/>
              <a:t>: Randomly delete examples in the majority class.</a:t>
            </a:r>
          </a:p>
          <a:p>
            <a:endParaRPr lang="en-GB" dirty="0"/>
          </a:p>
          <a:p>
            <a:r>
              <a:rPr lang="en-GB" sz="2000" b="1" dirty="0">
                <a:hlinkClick r:id="rId4"/>
              </a:rPr>
              <a:t>SMOTE Oversampling</a:t>
            </a:r>
            <a:r>
              <a:rPr lang="en-GB" sz="2000" b="1" dirty="0"/>
              <a:t>: </a:t>
            </a:r>
            <a:r>
              <a:rPr lang="en-GB" dirty="0"/>
              <a:t>synthesising new minority examples between neighbours</a:t>
            </a:r>
          </a:p>
        </p:txBody>
      </p:sp>
    </p:spTree>
    <p:extLst>
      <p:ext uri="{BB962C8B-B14F-4D97-AF65-F5344CB8AC3E}">
        <p14:creationId xmlns:p14="http://schemas.microsoft.com/office/powerpoint/2010/main" val="3336243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Decision Tree (Induction/Learning)</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sz="2000" dirty="0"/>
              <a:t>Decision tree induction is one of the simplest, and yet most successful forms of learning algorithm for solving classification problems.</a:t>
            </a:r>
          </a:p>
          <a:p>
            <a:pPr marL="342900" indent="-342900">
              <a:buFont typeface="Arial" panose="020B0604020202020204" pitchFamily="34" charset="0"/>
              <a:buChar char="•"/>
            </a:pPr>
            <a:r>
              <a:rPr lang="en-GB" sz="2000" dirty="0"/>
              <a:t>It also serves as a good introduction to the area of inductive learning in the AI domain.</a:t>
            </a:r>
          </a:p>
          <a:p>
            <a:pPr marL="342900" indent="-342900">
              <a:buFont typeface="Arial" panose="020B0604020202020204" pitchFamily="34" charset="0"/>
              <a:buChar char="•"/>
            </a:pPr>
            <a:r>
              <a:rPr lang="en-GB" sz="2000" dirty="0"/>
              <a:t>See example </a:t>
            </a:r>
          </a:p>
        </p:txBody>
      </p:sp>
      <p:pic>
        <p:nvPicPr>
          <p:cNvPr id="6146" name="Picture 2" descr="Decision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128" y="3101876"/>
            <a:ext cx="3995871" cy="284172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24000" y="3505200"/>
            <a:ext cx="3733800" cy="2308324"/>
          </a:xfrm>
          <a:prstGeom prst="rect">
            <a:avLst/>
          </a:prstGeom>
        </p:spPr>
        <p:txBody>
          <a:bodyPr wrap="square">
            <a:spAutoFit/>
          </a:bodyPr>
          <a:lstStyle/>
          <a:p>
            <a:r>
              <a:rPr lang="en-GB" dirty="0">
                <a:solidFill>
                  <a:srgbClr val="0070C0"/>
                </a:solidFill>
              </a:rPr>
              <a:t>The benefits:</a:t>
            </a:r>
          </a:p>
          <a:p>
            <a:endParaRPr lang="en-GB" dirty="0">
              <a:solidFill>
                <a:srgbClr val="0070C0"/>
              </a:solidFill>
            </a:endParaRPr>
          </a:p>
          <a:p>
            <a:pPr marL="285750" indent="-285750">
              <a:buFont typeface="Arial" panose="020B0604020202020204" pitchFamily="34" charset="0"/>
              <a:buChar char="•"/>
            </a:pPr>
            <a:r>
              <a:rPr lang="en-GB" dirty="0">
                <a:solidFill>
                  <a:srgbClr val="0070C0"/>
                </a:solidFill>
              </a:rPr>
              <a:t>It does not require any domain knowledge.</a:t>
            </a:r>
          </a:p>
          <a:p>
            <a:pPr marL="285750" indent="-285750">
              <a:buFont typeface="Arial" panose="020B0604020202020204" pitchFamily="34" charset="0"/>
              <a:buChar char="•"/>
            </a:pPr>
            <a:r>
              <a:rPr lang="en-GB" dirty="0">
                <a:solidFill>
                  <a:srgbClr val="0070C0"/>
                </a:solidFill>
              </a:rPr>
              <a:t>It is easy to comprehend.</a:t>
            </a:r>
          </a:p>
          <a:p>
            <a:pPr marL="285750" indent="-285750">
              <a:buFont typeface="Arial" panose="020B0604020202020204" pitchFamily="34" charset="0"/>
              <a:buChar char="•"/>
            </a:pPr>
            <a:r>
              <a:rPr lang="en-GB" dirty="0">
                <a:solidFill>
                  <a:srgbClr val="0070C0"/>
                </a:solidFill>
              </a:rPr>
              <a:t>The learning and classification steps of a decision tree are simple and fast.</a:t>
            </a:r>
          </a:p>
        </p:txBody>
      </p:sp>
    </p:spTree>
    <p:extLst>
      <p:ext uri="{BB962C8B-B14F-4D97-AF65-F5344CB8AC3E}">
        <p14:creationId xmlns:p14="http://schemas.microsoft.com/office/powerpoint/2010/main" val="2334705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Decision Tree Basic Algorithm: construction and output</a:t>
            </a:r>
            <a:endParaRPr lang="en-GB" dirty="0"/>
          </a:p>
        </p:txBody>
      </p:sp>
      <p:pic>
        <p:nvPicPr>
          <p:cNvPr id="6" name="Picture 2" descr="Decision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45" y="4021236"/>
            <a:ext cx="3476359" cy="24722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447800" y="6493501"/>
            <a:ext cx="3044423" cy="369332"/>
          </a:xfrm>
          <a:prstGeom prst="rect">
            <a:avLst/>
          </a:prstGeom>
          <a:noFill/>
        </p:spPr>
        <p:txBody>
          <a:bodyPr wrap="none" rtlCol="0">
            <a:spAutoFit/>
          </a:bodyPr>
          <a:lstStyle/>
          <a:p>
            <a:r>
              <a:rPr lang="en-GB" dirty="0" err="1"/>
              <a:t>Buy_computer</a:t>
            </a:r>
            <a:r>
              <a:rPr lang="en-GB" dirty="0"/>
              <a:t> decision tree</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0011" y="1219199"/>
            <a:ext cx="5539809" cy="370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a:extLst>
              <a:ext uri="{FF2B5EF4-FFF2-40B4-BE49-F238E27FC236}">
                <a16:creationId xmlns:a16="http://schemas.microsoft.com/office/drawing/2014/main" id="{D855E139-59C7-4FDD-A9C8-17847E1F9CED}"/>
              </a:ext>
            </a:extLst>
          </p:cNvPr>
          <p:cNvSpPr/>
          <p:nvPr/>
        </p:nvSpPr>
        <p:spPr>
          <a:xfrm>
            <a:off x="1371600" y="3962400"/>
            <a:ext cx="838200" cy="4572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5EB3B665-10EA-4699-88F5-382D4C27DDEA}"/>
              </a:ext>
            </a:extLst>
          </p:cNvPr>
          <p:cNvSpPr/>
          <p:nvPr/>
        </p:nvSpPr>
        <p:spPr>
          <a:xfrm>
            <a:off x="1347537" y="5021776"/>
            <a:ext cx="838200" cy="4572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B01B4FB5-F1AE-4C69-9E56-50E2CC1D13D6}"/>
              </a:ext>
            </a:extLst>
          </p:cNvPr>
          <p:cNvSpPr/>
          <p:nvPr/>
        </p:nvSpPr>
        <p:spPr>
          <a:xfrm>
            <a:off x="304800" y="5018032"/>
            <a:ext cx="838200" cy="4572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9142D33E-6B64-4BE3-8938-366DFBBE9E9E}"/>
              </a:ext>
            </a:extLst>
          </p:cNvPr>
          <p:cNvSpPr/>
          <p:nvPr/>
        </p:nvSpPr>
        <p:spPr>
          <a:xfrm>
            <a:off x="2476786" y="5038708"/>
            <a:ext cx="838200" cy="4572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CFC85DFE-087B-4E42-9519-BDCB15385653}"/>
              </a:ext>
            </a:extLst>
          </p:cNvPr>
          <p:cNvSpPr/>
          <p:nvPr/>
        </p:nvSpPr>
        <p:spPr>
          <a:xfrm>
            <a:off x="76200" y="6057775"/>
            <a:ext cx="592738" cy="414254"/>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7435692B-89BB-43E8-A996-9264BF8D3273}"/>
              </a:ext>
            </a:extLst>
          </p:cNvPr>
          <p:cNvSpPr/>
          <p:nvPr/>
        </p:nvSpPr>
        <p:spPr>
          <a:xfrm>
            <a:off x="754799" y="6067249"/>
            <a:ext cx="592738" cy="414254"/>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3DDB3535-924E-4A9C-B258-B7FDAF01A93C}"/>
              </a:ext>
            </a:extLst>
          </p:cNvPr>
          <p:cNvSpPr/>
          <p:nvPr/>
        </p:nvSpPr>
        <p:spPr>
          <a:xfrm>
            <a:off x="2249882" y="6100592"/>
            <a:ext cx="592738" cy="347567"/>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864C0B0A-F8A8-45AB-AB83-AA0C8285D582}"/>
              </a:ext>
            </a:extLst>
          </p:cNvPr>
          <p:cNvSpPr/>
          <p:nvPr/>
        </p:nvSpPr>
        <p:spPr>
          <a:xfrm>
            <a:off x="2890265" y="6025349"/>
            <a:ext cx="691135" cy="485083"/>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71797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0" grpId="0" animBg="1"/>
      <p:bldP spid="11"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533400"/>
            <a:ext cx="7162800" cy="990600"/>
          </a:xfrm>
        </p:spPr>
        <p:txBody>
          <a:bodyPr>
            <a:normAutofit/>
          </a:bodyPr>
          <a:lstStyle/>
          <a:p>
            <a:r>
              <a:rPr lang="en-GB" dirty="0"/>
              <a:t>Partitioning</a:t>
            </a:r>
          </a:p>
        </p:txBody>
      </p:sp>
      <p:sp>
        <p:nvSpPr>
          <p:cNvPr id="3" name="Content Placeholder 2"/>
          <p:cNvSpPr>
            <a:spLocks noGrp="1"/>
          </p:cNvSpPr>
          <p:nvPr>
            <p:ph idx="1"/>
          </p:nvPr>
        </p:nvSpPr>
        <p:spPr/>
        <p:txBody>
          <a:bodyPr/>
          <a:lstStyle/>
          <a:p>
            <a:endParaRPr lang="en-GB" dirty="0"/>
          </a:p>
        </p:txBody>
      </p:sp>
      <p:pic>
        <p:nvPicPr>
          <p:cNvPr id="9218" name="Picture 2" descr="Lect9 Decision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95400"/>
            <a:ext cx="7086600" cy="5320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3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Think (Can you do another DT?) </a:t>
            </a:r>
          </a:p>
        </p:txBody>
      </p:sp>
      <p:pic>
        <p:nvPicPr>
          <p:cNvPr id="4" name="Picture 2" descr="https://www.saedsayad.com/images/Decision_Tree_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66" y="2057400"/>
            <a:ext cx="9021034" cy="3384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5879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Attribute Selection Measures</a:t>
            </a:r>
          </a:p>
        </p:txBody>
      </p:sp>
      <p:sp>
        <p:nvSpPr>
          <p:cNvPr id="3" name="Content Placeholder 2"/>
          <p:cNvSpPr>
            <a:spLocks noGrp="1"/>
          </p:cNvSpPr>
          <p:nvPr>
            <p:ph idx="1"/>
          </p:nvPr>
        </p:nvSpPr>
        <p:spPr/>
        <p:txBody>
          <a:bodyPr>
            <a:normAutofit fontScale="92500" lnSpcReduction="20000"/>
          </a:bodyPr>
          <a:lstStyle/>
          <a:p>
            <a:pPr marL="342900" indent="-342900">
              <a:buFont typeface="Arial" panose="020B0604020202020204" pitchFamily="34" charset="0"/>
              <a:buChar char="•"/>
            </a:pPr>
            <a:r>
              <a:rPr lang="en-GB" dirty="0">
                <a:solidFill>
                  <a:schemeClr val="accent4">
                    <a:lumMod val="75000"/>
                  </a:schemeClr>
                </a:solidFill>
              </a:rPr>
              <a:t>An attribute selection measure is a heuristic for selecting the splitting criterion that “best” separates a given data partition, D, of class labelled training tuples into individual classes.</a:t>
            </a:r>
          </a:p>
          <a:p>
            <a:pPr marL="342900" indent="-342900">
              <a:buFont typeface="Arial" panose="020B0604020202020204" pitchFamily="34" charset="0"/>
              <a:buChar char="•"/>
            </a:pPr>
            <a:r>
              <a:rPr lang="en-GB" dirty="0">
                <a:solidFill>
                  <a:schemeClr val="accent1">
                    <a:lumMod val="75000"/>
                  </a:schemeClr>
                </a:solidFill>
              </a:rPr>
              <a:t>Ideally ‒ Each resulting partition would be pure ‒ A pure partition is a partition containing tuples that all belong to the same class.</a:t>
            </a:r>
          </a:p>
          <a:p>
            <a:pPr marL="342900" indent="-342900">
              <a:buFont typeface="Arial" panose="020B0604020202020204" pitchFamily="34" charset="0"/>
              <a:buChar char="•"/>
            </a:pPr>
            <a:r>
              <a:rPr lang="en-GB" dirty="0">
                <a:solidFill>
                  <a:srgbClr val="7030A0"/>
                </a:solidFill>
              </a:rPr>
              <a:t>Attribute selection measures (splitting rules) ‒ Determine how the tuples at a given node are to be split ‒ Provide ranking for each attribute describing the tuples ‒ The attribute with highest score is chosen ‒ Determine a split point or a splitting subset </a:t>
            </a:r>
          </a:p>
          <a:p>
            <a:pPr marL="342900" indent="-342900">
              <a:buFont typeface="Arial" panose="020B0604020202020204" pitchFamily="34" charset="0"/>
              <a:buChar char="•"/>
            </a:pPr>
            <a:r>
              <a:rPr lang="en-GB" dirty="0">
                <a:solidFill>
                  <a:srgbClr val="FF0000"/>
                </a:solidFill>
              </a:rPr>
              <a:t>There are around 30 different attribute selection measures.</a:t>
            </a:r>
          </a:p>
          <a:p>
            <a:endParaRPr lang="en-GB" dirty="0"/>
          </a:p>
        </p:txBody>
      </p:sp>
    </p:spTree>
    <p:extLst>
      <p:ext uri="{BB962C8B-B14F-4D97-AF65-F5344CB8AC3E}">
        <p14:creationId xmlns:p14="http://schemas.microsoft.com/office/powerpoint/2010/main" val="1271924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Well known measuring methods</a:t>
            </a:r>
          </a:p>
        </p:txBody>
      </p:sp>
      <p:sp>
        <p:nvSpPr>
          <p:cNvPr id="3" name="Content Placeholder 2"/>
          <p:cNvSpPr>
            <a:spLocks noGrp="1"/>
          </p:cNvSpPr>
          <p:nvPr>
            <p:ph idx="1"/>
          </p:nvPr>
        </p:nvSpPr>
        <p:spPr/>
        <p:txBody>
          <a:bodyPr/>
          <a:lstStyle/>
          <a:p>
            <a:r>
              <a:rPr lang="en-GB" dirty="0"/>
              <a:t>Information Gain</a:t>
            </a:r>
          </a:p>
          <a:p>
            <a:endParaRPr lang="en-GB" dirty="0"/>
          </a:p>
          <a:p>
            <a:r>
              <a:rPr lang="en-GB" dirty="0"/>
              <a:t>Gain Ratio</a:t>
            </a:r>
          </a:p>
          <a:p>
            <a:endParaRPr lang="en-GB" dirty="0"/>
          </a:p>
          <a:p>
            <a:r>
              <a:rPr lang="en-GB" dirty="0"/>
              <a:t>Gini Index</a:t>
            </a:r>
          </a:p>
          <a:p>
            <a:endParaRPr lang="en-GB" dirty="0"/>
          </a:p>
          <a:p>
            <a:pPr marL="0" indent="0">
              <a:buNone/>
            </a:pPr>
            <a:r>
              <a:rPr lang="en-GB" dirty="0"/>
              <a:t>Before introducing the methods, we need to know a definition: “Entropy” - Shannon's metric of "Entropy" of information is a foundational concept of information theory.</a:t>
            </a:r>
          </a:p>
          <a:p>
            <a:endParaRPr lang="en-GB" dirty="0"/>
          </a:p>
        </p:txBody>
      </p:sp>
    </p:spTree>
    <p:extLst>
      <p:ext uri="{BB962C8B-B14F-4D97-AF65-F5344CB8AC3E}">
        <p14:creationId xmlns:p14="http://schemas.microsoft.com/office/powerpoint/2010/main" val="3690263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Entropy in physics </a:t>
            </a:r>
          </a:p>
        </p:txBody>
      </p:sp>
      <p:sp>
        <p:nvSpPr>
          <p:cNvPr id="3" name="Content Placeholder 2"/>
          <p:cNvSpPr>
            <a:spLocks noGrp="1"/>
          </p:cNvSpPr>
          <p:nvPr>
            <p:ph idx="1"/>
          </p:nvPr>
        </p:nvSpPr>
        <p:spPr/>
        <p:txBody>
          <a:bodyPr/>
          <a:lstStyle/>
          <a:p>
            <a:r>
              <a:rPr lang="en-GB" dirty="0"/>
              <a:t>In statistical mechanics, </a:t>
            </a:r>
            <a:r>
              <a:rPr lang="en-GB" b="1" dirty="0"/>
              <a:t>entropy</a:t>
            </a:r>
            <a:r>
              <a:rPr lang="en-GB" dirty="0"/>
              <a:t> is an extensive property of a thermodynamic system. It quantifies the number Ω of microscopic configurations (known as microstates) that are consistent with the macroscopic quantities that characterize the system (such as its volume, pressure and temperature). </a:t>
            </a:r>
            <a:r>
              <a:rPr lang="en-GB" baseline="30000" dirty="0">
                <a:hlinkClick r:id="rId4"/>
              </a:rPr>
              <a:t>Wiki</a:t>
            </a:r>
            <a:r>
              <a:rPr lang="en-GB" dirty="0"/>
              <a:t>   </a:t>
            </a:r>
          </a:p>
          <a:p>
            <a:endParaRPr lang="en-GB"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088218"/>
            <a:ext cx="3886200" cy="204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209259" y="3777734"/>
            <a:ext cx="492443" cy="369332"/>
          </a:xfrm>
          <a:prstGeom prst="rect">
            <a:avLst/>
          </a:prstGeom>
          <a:noFill/>
        </p:spPr>
        <p:txBody>
          <a:bodyPr wrap="none" rtlCol="0">
            <a:spAutoFit/>
          </a:bodyPr>
          <a:lstStyle/>
          <a:p>
            <a:r>
              <a:rPr lang="en-GB" dirty="0"/>
              <a:t>Ink</a:t>
            </a:r>
          </a:p>
        </p:txBody>
      </p:sp>
      <p:cxnSp>
        <p:nvCxnSpPr>
          <p:cNvPr id="6" name="Straight Arrow Connector 5"/>
          <p:cNvCxnSpPr/>
          <p:nvPr/>
        </p:nvCxnSpPr>
        <p:spPr>
          <a:xfrm>
            <a:off x="3701702" y="6324600"/>
            <a:ext cx="201329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791200" y="6159427"/>
            <a:ext cx="2044149" cy="369332"/>
          </a:xfrm>
          <a:prstGeom prst="rect">
            <a:avLst/>
          </a:prstGeom>
          <a:noFill/>
        </p:spPr>
        <p:txBody>
          <a:bodyPr wrap="none" rtlCol="0">
            <a:spAutoFit/>
          </a:bodyPr>
          <a:lstStyle/>
          <a:p>
            <a:r>
              <a:rPr lang="en-GB" dirty="0"/>
              <a:t>Entropy increased</a:t>
            </a:r>
          </a:p>
        </p:txBody>
      </p:sp>
    </p:spTree>
    <p:extLst>
      <p:ext uri="{BB962C8B-B14F-4D97-AF65-F5344CB8AC3E}">
        <p14:creationId xmlns:p14="http://schemas.microsoft.com/office/powerpoint/2010/main" val="291769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Entropy in information theory</a:t>
            </a:r>
          </a:p>
        </p:txBody>
      </p:sp>
      <p:sp>
        <p:nvSpPr>
          <p:cNvPr id="3" name="Content Placeholder 2"/>
          <p:cNvSpPr>
            <a:spLocks noGrp="1"/>
          </p:cNvSpPr>
          <p:nvPr>
            <p:ph idx="1"/>
          </p:nvPr>
        </p:nvSpPr>
        <p:spPr/>
        <p:txBody>
          <a:bodyPr>
            <a:normAutofit/>
          </a:bodyPr>
          <a:lstStyle/>
          <a:p>
            <a:r>
              <a:rPr lang="en-GB" dirty="0"/>
              <a:t>Entropy is a measure of the average information content one is missing when one does not know the value of the random variable.</a:t>
            </a:r>
          </a:p>
          <a:p>
            <a:pPr lvl="1"/>
            <a:r>
              <a:rPr lang="en-GB" dirty="0"/>
              <a:t>Shannon's metric of "Entropy" of information is a foundational concept of information theory. </a:t>
            </a:r>
          </a:p>
          <a:p>
            <a:pPr lvl="1"/>
            <a:r>
              <a:rPr lang="en-GB" dirty="0"/>
              <a:t>The entropy of a variable is the "amount of information" contained in the variable.</a:t>
            </a:r>
          </a:p>
          <a:p>
            <a:r>
              <a:rPr lang="en-GB" dirty="0"/>
              <a:t>High Entropy</a:t>
            </a:r>
          </a:p>
          <a:p>
            <a:pPr lvl="1"/>
            <a:r>
              <a:rPr lang="en-GB" dirty="0"/>
              <a:t>X is from a uniform like distribution</a:t>
            </a:r>
          </a:p>
          <a:p>
            <a:pPr lvl="1"/>
            <a:r>
              <a:rPr lang="en-GB" dirty="0"/>
              <a:t>Flat histogram </a:t>
            </a:r>
          </a:p>
          <a:p>
            <a:pPr lvl="1"/>
            <a:r>
              <a:rPr lang="en-GB" dirty="0"/>
              <a:t>Values sampled from it are less predictable</a:t>
            </a:r>
          </a:p>
          <a:p>
            <a:r>
              <a:rPr lang="en-GB" dirty="0"/>
              <a:t>Low Entropy</a:t>
            </a:r>
          </a:p>
          <a:p>
            <a:pPr lvl="1"/>
            <a:r>
              <a:rPr lang="en-GB" dirty="0"/>
              <a:t>X is from a varied (peaks and valleys) distribution</a:t>
            </a:r>
          </a:p>
          <a:p>
            <a:pPr lvl="1"/>
            <a:r>
              <a:rPr lang="en-GB" dirty="0"/>
              <a:t>Histogram has many lows and highs</a:t>
            </a:r>
          </a:p>
          <a:p>
            <a:pPr lvl="1"/>
            <a:r>
              <a:rPr lang="en-GB" dirty="0"/>
              <a:t>Values sampled from it are more predictable</a:t>
            </a:r>
          </a:p>
        </p:txBody>
      </p:sp>
      <p:sp>
        <p:nvSpPr>
          <p:cNvPr id="4" name="TextBox 3"/>
          <p:cNvSpPr txBox="1"/>
          <p:nvPr/>
        </p:nvSpPr>
        <p:spPr>
          <a:xfrm>
            <a:off x="7010399" y="3208887"/>
            <a:ext cx="1749261" cy="369332"/>
          </a:xfrm>
          <a:prstGeom prst="rect">
            <a:avLst/>
          </a:prstGeom>
          <a:noFill/>
        </p:spPr>
        <p:txBody>
          <a:bodyPr wrap="none" rtlCol="0">
            <a:spAutoFit/>
          </a:bodyPr>
          <a:lstStyle/>
          <a:p>
            <a:r>
              <a:rPr lang="en-GB" dirty="0">
                <a:hlinkClick r:id="rId2"/>
              </a:rPr>
              <a:t>Tenet film 2020</a:t>
            </a:r>
            <a:endParaRPr lang="en-GB" dirty="0"/>
          </a:p>
        </p:txBody>
      </p:sp>
      <p:sp>
        <p:nvSpPr>
          <p:cNvPr id="5" name="TextBox 4"/>
          <p:cNvSpPr txBox="1"/>
          <p:nvPr/>
        </p:nvSpPr>
        <p:spPr>
          <a:xfrm>
            <a:off x="7162800" y="4896785"/>
            <a:ext cx="1556836" cy="369332"/>
          </a:xfrm>
          <a:prstGeom prst="rect">
            <a:avLst/>
          </a:prstGeom>
          <a:noFill/>
        </p:spPr>
        <p:txBody>
          <a:bodyPr wrap="none" rtlCol="0">
            <a:spAutoFit/>
          </a:bodyPr>
          <a:lstStyle/>
          <a:p>
            <a:r>
              <a:rPr lang="en-GB" dirty="0">
                <a:hlinkClick r:id="rId3"/>
              </a:rPr>
              <a:t>Entropy 1999</a:t>
            </a:r>
            <a:endParaRPr lang="en-GB" dirty="0"/>
          </a:p>
        </p:txBody>
      </p:sp>
      <p:pic>
        <p:nvPicPr>
          <p:cNvPr id="3074" name="Picture 2" descr="Entropy film poste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5257800"/>
            <a:ext cx="1008289" cy="155121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Tene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74608" y="3613502"/>
            <a:ext cx="907392" cy="1343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43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Method</a:t>
            </a:r>
          </a:p>
        </p:txBody>
      </p:sp>
      <p:sp>
        <p:nvSpPr>
          <p:cNvPr id="3" name="Content Placeholder 2"/>
          <p:cNvSpPr>
            <a:spLocks noGrp="1"/>
          </p:cNvSpPr>
          <p:nvPr>
            <p:ph idx="1"/>
          </p:nvPr>
        </p:nvSpPr>
        <p:spPr/>
        <p:txBody>
          <a:bodyPr/>
          <a:lstStyle/>
          <a:p>
            <a:r>
              <a:rPr lang="en-GB" dirty="0"/>
              <a:t>The information gain is based on the decrease in entropy after a dataset is split on an attribute. Constructing a decision tree is all about finding the attribute that returns the highest information gain (i.e., the most homogeneous branches).</a:t>
            </a:r>
          </a:p>
          <a:p>
            <a:r>
              <a:rPr lang="en-GB" dirty="0"/>
              <a:t>It has 2 steps</a:t>
            </a:r>
          </a:p>
        </p:txBody>
      </p:sp>
      <p:pic>
        <p:nvPicPr>
          <p:cNvPr id="11268" name="Picture 4" descr="https://www.saedsayad.com/images/Decision_Tree_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038600"/>
            <a:ext cx="670222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618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First step: two types of entropy computation</a:t>
            </a:r>
          </a:p>
        </p:txBody>
      </p:sp>
      <p:sp>
        <p:nvSpPr>
          <p:cNvPr id="3" name="Content Placeholder 2"/>
          <p:cNvSpPr>
            <a:spLocks noGrp="1"/>
          </p:cNvSpPr>
          <p:nvPr>
            <p:ph idx="1"/>
          </p:nvPr>
        </p:nvSpPr>
        <p:spPr/>
        <p:txBody>
          <a:bodyPr/>
          <a:lstStyle/>
          <a:p>
            <a:pPr marL="457200" indent="-457200">
              <a:buFont typeface="+mj-lt"/>
              <a:buAutoNum type="alphaLcParenR"/>
            </a:pPr>
            <a:r>
              <a:rPr lang="en-GB" dirty="0"/>
              <a:t>Entropy using the frequency table of one attribute:</a:t>
            </a:r>
          </a:p>
        </p:txBody>
      </p:sp>
      <p:pic>
        <p:nvPicPr>
          <p:cNvPr id="12290" name="Picture 2" descr="https://www.saedsayad.com/images/Entropy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219" y="2209800"/>
            <a:ext cx="5726444" cy="3505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553200" y="2634734"/>
            <a:ext cx="2210926" cy="369332"/>
          </a:xfrm>
          <a:prstGeom prst="rect">
            <a:avLst/>
          </a:prstGeom>
          <a:noFill/>
        </p:spPr>
        <p:txBody>
          <a:bodyPr wrap="none" rtlCol="0">
            <a:spAutoFit/>
          </a:bodyPr>
          <a:lstStyle/>
          <a:p>
            <a:r>
              <a:rPr lang="en-GB" dirty="0">
                <a:hlinkClick r:id="rId3"/>
              </a:rPr>
              <a:t>A math explanation</a:t>
            </a:r>
            <a:endParaRPr lang="en-GB" dirty="0"/>
          </a:p>
        </p:txBody>
      </p:sp>
      <p:cxnSp>
        <p:nvCxnSpPr>
          <p:cNvPr id="8" name="Straight Arrow Connector 7"/>
          <p:cNvCxnSpPr/>
          <p:nvPr/>
        </p:nvCxnSpPr>
        <p:spPr>
          <a:xfrm flipV="1">
            <a:off x="5410200" y="3962400"/>
            <a:ext cx="7620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072093" y="3733800"/>
            <a:ext cx="633507" cy="369332"/>
          </a:xfrm>
          <a:prstGeom prst="rect">
            <a:avLst/>
          </a:prstGeom>
          <a:noFill/>
        </p:spPr>
        <p:txBody>
          <a:bodyPr wrap="none" rtlCol="0">
            <a:spAutoFit/>
          </a:bodyPr>
          <a:lstStyle/>
          <a:p>
            <a:r>
              <a:rPr lang="en-GB" dirty="0"/>
              <a:t>5/14</a:t>
            </a:r>
          </a:p>
        </p:txBody>
      </p:sp>
    </p:spTree>
    <p:extLst>
      <p:ext uri="{BB962C8B-B14F-4D97-AF65-F5344CB8AC3E}">
        <p14:creationId xmlns:p14="http://schemas.microsoft.com/office/powerpoint/2010/main" val="3428906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https://www.saedsayad.com/images/Entropy_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5376" y="1981200"/>
            <a:ext cx="6539023" cy="464790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dirty="0"/>
              <a:t>Two types of entropy computation</a:t>
            </a:r>
          </a:p>
        </p:txBody>
      </p:sp>
      <p:sp>
        <p:nvSpPr>
          <p:cNvPr id="3" name="Content Placeholder 2"/>
          <p:cNvSpPr>
            <a:spLocks noGrp="1"/>
          </p:cNvSpPr>
          <p:nvPr>
            <p:ph idx="1"/>
          </p:nvPr>
        </p:nvSpPr>
        <p:spPr/>
        <p:txBody>
          <a:bodyPr/>
          <a:lstStyle/>
          <a:p>
            <a:pPr marL="0" indent="0">
              <a:buNone/>
            </a:pPr>
            <a:r>
              <a:rPr lang="en-GB" dirty="0"/>
              <a:t>b) Entropy using the frequency table of two attributes:</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2879203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Second Step: Information Gain Computation steps:</a:t>
            </a:r>
          </a:p>
        </p:txBody>
      </p:sp>
      <p:sp>
        <p:nvSpPr>
          <p:cNvPr id="3" name="Content Placeholder 2"/>
          <p:cNvSpPr>
            <a:spLocks noGrp="1"/>
          </p:cNvSpPr>
          <p:nvPr>
            <p:ph idx="1"/>
          </p:nvPr>
        </p:nvSpPr>
        <p:spPr/>
        <p:txBody>
          <a:bodyPr/>
          <a:lstStyle/>
          <a:p>
            <a:r>
              <a:rPr lang="en-GB" sz="1800" dirty="0"/>
              <a:t>Step 1: Calculate entropy of the target:</a:t>
            </a:r>
          </a:p>
          <a:p>
            <a:endParaRPr lang="en-GB" sz="1800" dirty="0"/>
          </a:p>
          <a:p>
            <a:endParaRPr lang="en-GB" sz="1800" dirty="0"/>
          </a:p>
          <a:p>
            <a:endParaRPr lang="en-GB" sz="1800" dirty="0"/>
          </a:p>
          <a:p>
            <a:endParaRPr lang="en-GB" sz="1800" dirty="0"/>
          </a:p>
          <a:p>
            <a:r>
              <a:rPr lang="en-GB" sz="1800" dirty="0"/>
              <a:t>Step 2: The dataset is then split on the different attributes. The entropy for each branch is calculated. Then it is added proportionally, to get total entropy for the split. The resulting entropy is subtracted from the entropy before the split. The result is the Information Gain, or decrease in entropy.</a:t>
            </a:r>
          </a:p>
          <a:p>
            <a:endParaRPr lang="en-GB" dirty="0"/>
          </a:p>
        </p:txBody>
      </p:sp>
      <p:pic>
        <p:nvPicPr>
          <p:cNvPr id="14338" name="Picture 2" descr="https://www.saedsayad.com/images/Entropy_targe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1742" y="1752600"/>
            <a:ext cx="4239982"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https://www.saedsayad.com/images/Entropy_g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3405" y="4571999"/>
            <a:ext cx="5284945" cy="2057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523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normAutofit/>
          </a:bodyPr>
          <a:lstStyle/>
          <a:p>
            <a:r>
              <a:rPr lang="en-GB" sz="1800" dirty="0"/>
              <a:t>Step 3: Choose attribute with the largest information gain as the decision node, divide the dataset by its branches and repeat the same process on every branch.</a:t>
            </a:r>
          </a:p>
        </p:txBody>
      </p:sp>
      <p:pic>
        <p:nvPicPr>
          <p:cNvPr id="15362" name="Picture 2" descr="https://www.saedsayad.com/images/Entropy_attribut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362200"/>
            <a:ext cx="6781800" cy="3947159"/>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82667361-6BFD-4584-BA6A-6DAB7F296686}"/>
              </a:ext>
            </a:extLst>
          </p:cNvPr>
          <p:cNvSpPr/>
          <p:nvPr/>
        </p:nvSpPr>
        <p:spPr>
          <a:xfrm>
            <a:off x="2971800" y="3962400"/>
            <a:ext cx="990600" cy="3048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3215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lstStyle/>
          <a:p>
            <a:pPr marL="0" indent="0">
              <a:buNone/>
            </a:pPr>
            <a:r>
              <a:rPr lang="en-GB" dirty="0"/>
              <a:t>Step 4: loop the process to find all leaf nodes</a:t>
            </a:r>
          </a:p>
        </p:txBody>
      </p:sp>
      <p:pic>
        <p:nvPicPr>
          <p:cNvPr id="17410" name="Picture 2" descr="https://www.saedsayad.com/images/decision_tree_slic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86000"/>
            <a:ext cx="7889418"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718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lstStyle/>
          <a:p>
            <a:r>
              <a:rPr lang="en-GB" dirty="0"/>
              <a:t>Step 4a: A branch with entropy of 0 is a leaf node.</a:t>
            </a:r>
          </a:p>
        </p:txBody>
      </p:sp>
      <p:pic>
        <p:nvPicPr>
          <p:cNvPr id="16386" name="Picture 2" descr="https://www.saedsayad.com/images/Entropy_overcas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623" y="2438400"/>
            <a:ext cx="6934200" cy="3141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081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lstStyle/>
          <a:p>
            <a:r>
              <a:rPr lang="en-GB" dirty="0"/>
              <a:t>Step 4b: A branch with entropy more than 0 needs further splitting.</a:t>
            </a:r>
          </a:p>
        </p:txBody>
      </p:sp>
      <p:pic>
        <p:nvPicPr>
          <p:cNvPr id="18434" name="Picture 2" descr="https://www.saedsayad.com/images/Entropy_Sunn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580166"/>
            <a:ext cx="6629400" cy="3693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924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lstStyle/>
          <a:p>
            <a:r>
              <a:rPr lang="en-GB" dirty="0"/>
              <a:t>The finalised decision tree can easily be transformed into rules </a:t>
            </a:r>
          </a:p>
        </p:txBody>
      </p:sp>
      <p:pic>
        <p:nvPicPr>
          <p:cNvPr id="19458" name="Picture 2" descr="https://www.saedsayad.com/images/Decision_rul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514600"/>
            <a:ext cx="6953693" cy="3834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489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ID3</a:t>
            </a:r>
          </a:p>
        </p:txBody>
      </p:sp>
      <p:sp>
        <p:nvSpPr>
          <p:cNvPr id="3" name="Content Placeholder 2"/>
          <p:cNvSpPr>
            <a:spLocks noGrp="1"/>
          </p:cNvSpPr>
          <p:nvPr>
            <p:ph idx="1"/>
          </p:nvPr>
        </p:nvSpPr>
        <p:spPr/>
        <p:txBody>
          <a:bodyPr>
            <a:normAutofit fontScale="85000" lnSpcReduction="10000"/>
          </a:bodyPr>
          <a:lstStyle/>
          <a:p>
            <a:r>
              <a:rPr lang="en-GB" dirty="0"/>
              <a:t>ID3 is a decision tree construction algorithm based entirely on information gain.</a:t>
            </a:r>
          </a:p>
          <a:p>
            <a:pPr marL="0" indent="0">
              <a:buNone/>
            </a:pPr>
            <a:r>
              <a:rPr lang="en-GB" sz="2000" b="1" dirty="0"/>
              <a:t>1. Use a library (scikit-learn: information gain, binary splits):</a:t>
            </a:r>
          </a:p>
          <a:p>
            <a:pPr marL="0" indent="0">
              <a:buNone/>
            </a:pPr>
            <a:r>
              <a:rPr lang="en-GB" sz="2000" dirty="0"/>
              <a:t>&gt;&gt;&gt; from sklearn.datasets import load_breast_cancer</a:t>
            </a:r>
          </a:p>
          <a:p>
            <a:pPr marL="0" indent="0">
              <a:buNone/>
            </a:pPr>
            <a:r>
              <a:rPr lang="en-GB" sz="2000" dirty="0"/>
              <a:t>&gt;&gt;&gt; from sklearn.tree import DecisionTreeClassifier, export_text</a:t>
            </a:r>
          </a:p>
          <a:p>
            <a:pPr marL="0" indent="0">
              <a:buNone/>
            </a:pPr>
            <a:r>
              <a:rPr lang="en-GB" sz="2000" dirty="0"/>
              <a:t>&gt;&gt;&gt; bunch = load_breast_cancer()</a:t>
            </a:r>
          </a:p>
          <a:p>
            <a:pPr marL="0" indent="0">
              <a:buNone/>
            </a:pPr>
            <a:r>
              <a:rPr lang="en-GB" sz="2000" dirty="0"/>
              <a:t>&gt;&gt;&gt; estimator = DecisionTreeClassifier(criterion='entropy')</a:t>
            </a:r>
          </a:p>
          <a:p>
            <a:pPr marL="0" indent="0">
              <a:buNone/>
            </a:pPr>
            <a:r>
              <a:rPr lang="en-GB" sz="2000" dirty="0"/>
              <a:t>&gt;&gt;&gt; estimator.fit(bunch.data, bunch.target)</a:t>
            </a:r>
          </a:p>
          <a:p>
            <a:pPr marL="0" indent="0">
              <a:buNone/>
            </a:pPr>
            <a:r>
              <a:rPr lang="en-GB" sz="2000" dirty="0"/>
              <a:t>&gt;&gt;&gt; print(export_text(estimator, feature_names=list(bunch.feature_names)))</a:t>
            </a:r>
          </a:p>
          <a:p>
            <a:pPr marL="0" indent="0">
              <a:buNone/>
            </a:pPr>
            <a:r>
              <a:rPr lang="en-GB" sz="2000" b="1" dirty="0"/>
              <a:t>2. Implement ID3 yourself:</a:t>
            </a:r>
          </a:p>
          <a:p>
            <a:pPr marL="0" indent="0">
              <a:buNone/>
            </a:pPr>
            <a:r>
              <a:rPr lang="en-GB" sz="2000" dirty="0">
                <a:hlinkClick r:id="rId2"/>
              </a:rPr>
              <a:t>https://medium.com/@lope.ai/decision-trees-from-scratch-using-id3-python-coding-it-up-6b79e3458de4</a:t>
            </a:r>
            <a:r>
              <a:rPr lang="en-GB" sz="2000" dirty="0"/>
              <a:t> </a:t>
            </a:r>
          </a:p>
          <a:p>
            <a:pPr marL="0" indent="0">
              <a:buNone/>
            </a:pPr>
            <a:endParaRPr lang="en-GB" sz="2000" dirty="0"/>
          </a:p>
        </p:txBody>
      </p:sp>
    </p:spTree>
    <p:extLst>
      <p:ext uri="{BB962C8B-B14F-4D97-AF65-F5344CB8AC3E}">
        <p14:creationId xmlns:p14="http://schemas.microsoft.com/office/powerpoint/2010/main" val="1266358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 of information gain</a:t>
            </a:r>
          </a:p>
        </p:txBody>
      </p:sp>
      <p:sp>
        <p:nvSpPr>
          <p:cNvPr id="3" name="Content Placeholder 2"/>
          <p:cNvSpPr>
            <a:spLocks noGrp="1"/>
          </p:cNvSpPr>
          <p:nvPr>
            <p:ph idx="1"/>
          </p:nvPr>
        </p:nvSpPr>
        <p:spPr/>
        <p:txBody>
          <a:bodyPr/>
          <a:lstStyle/>
          <a:p>
            <a:r>
              <a:rPr lang="en-GB" dirty="0"/>
              <a:t>Information gain is a good measure but it has some flaws that we need to understand</a:t>
            </a:r>
          </a:p>
          <a:p>
            <a:r>
              <a:rPr lang="en-GB" dirty="0"/>
              <a:t>If we split our dataset on the Day attribute, we end up with singleton subsets: each day is either play or not play.</a:t>
            </a:r>
          </a:p>
          <a:p>
            <a:endParaRPr lang="en-GB" dirty="0"/>
          </a:p>
          <a:p>
            <a:r>
              <a:rPr lang="en-GB" dirty="0"/>
              <a:t>E.g. a new day, D15?</a:t>
            </a:r>
          </a:p>
          <a:p>
            <a:pPr marL="0" indent="0">
              <a:buNone/>
            </a:pPr>
            <a:r>
              <a:rPr lang="en-GB" dirty="0"/>
              <a:t>It fails.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4114800"/>
            <a:ext cx="462280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6289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Gain Ratio</a:t>
            </a:r>
          </a:p>
        </p:txBody>
      </p:sp>
      <p:sp>
        <p:nvSpPr>
          <p:cNvPr id="3" name="Content Placeholder 2"/>
          <p:cNvSpPr>
            <a:spLocks noGrp="1"/>
          </p:cNvSpPr>
          <p:nvPr>
            <p:ph idx="1"/>
          </p:nvPr>
        </p:nvSpPr>
        <p:spPr/>
        <p:txBody>
          <a:bodyPr/>
          <a:lstStyle/>
          <a:p>
            <a:r>
              <a:rPr lang="en-GB" dirty="0"/>
              <a:t>Penalising attributes with many splits using the gain ratio</a:t>
            </a: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438400"/>
            <a:ext cx="7553391"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9326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031962"/>
            <a:ext cx="4225443" cy="2225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Gain Ratio (Cont.)</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66800"/>
            <a:ext cx="6400800" cy="16143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096001" y="2699266"/>
            <a:ext cx="3048000" cy="954107"/>
          </a:xfrm>
          <a:prstGeom prst="rect">
            <a:avLst/>
          </a:prstGeom>
          <a:noFill/>
        </p:spPr>
        <p:txBody>
          <a:bodyPr wrap="square" rtlCol="0">
            <a:spAutoFit/>
          </a:bodyPr>
          <a:lstStyle/>
          <a:p>
            <a:r>
              <a:rPr lang="en-GB" sz="1400" dirty="0" err="1"/>
              <a:t>SplitEntropy</a:t>
            </a:r>
            <a:r>
              <a:rPr lang="en-GB" sz="1400" dirty="0"/>
              <a:t> (S, A)</a:t>
            </a:r>
          </a:p>
          <a:p>
            <a:r>
              <a:rPr lang="en-GB" sz="1400" dirty="0"/>
              <a:t>= -5/14*log₂(5/14)+ -4/14*log₂(4/14)+ -5/14*log₂(5/14) </a:t>
            </a:r>
          </a:p>
          <a:p>
            <a:r>
              <a:rPr lang="en-GB" sz="1400" dirty="0"/>
              <a:t>= 1.577</a:t>
            </a:r>
          </a:p>
        </p:txBody>
      </p:sp>
      <p:sp>
        <p:nvSpPr>
          <p:cNvPr id="7" name="TextBox 6"/>
          <p:cNvSpPr txBox="1"/>
          <p:nvPr/>
        </p:nvSpPr>
        <p:spPr>
          <a:xfrm>
            <a:off x="1524000" y="2819400"/>
            <a:ext cx="1621021" cy="369332"/>
          </a:xfrm>
          <a:prstGeom prst="rect">
            <a:avLst/>
          </a:prstGeom>
          <a:noFill/>
        </p:spPr>
        <p:txBody>
          <a:bodyPr wrap="none" rtlCol="0">
            <a:spAutoFit/>
          </a:bodyPr>
          <a:lstStyle/>
          <a:p>
            <a:r>
              <a:rPr lang="en-GB" dirty="0"/>
              <a:t>Entropy (S, A)</a:t>
            </a:r>
          </a:p>
        </p:txBody>
      </p:sp>
      <p:sp>
        <p:nvSpPr>
          <p:cNvPr id="8" name="TextBox 7"/>
          <p:cNvSpPr txBox="1"/>
          <p:nvPr/>
        </p:nvSpPr>
        <p:spPr>
          <a:xfrm>
            <a:off x="1750618" y="5269468"/>
            <a:ext cx="4269182" cy="369332"/>
          </a:xfrm>
          <a:prstGeom prst="rect">
            <a:avLst/>
          </a:prstGeom>
          <a:noFill/>
        </p:spPr>
        <p:txBody>
          <a:bodyPr wrap="none" rtlCol="0">
            <a:spAutoFit/>
          </a:bodyPr>
          <a:lstStyle/>
          <a:p>
            <a:r>
              <a:rPr lang="en-GB" dirty="0"/>
              <a:t>Gain (S, A) = Entropy (S)- Entropy(S,A) </a:t>
            </a: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7885" y="5660844"/>
            <a:ext cx="4357106" cy="1120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6096000" y="4032328"/>
            <a:ext cx="3048000" cy="1077218"/>
          </a:xfrm>
          <a:prstGeom prst="rect">
            <a:avLst/>
          </a:prstGeom>
        </p:spPr>
        <p:txBody>
          <a:bodyPr wrap="square">
            <a:spAutoFit/>
          </a:bodyPr>
          <a:lstStyle/>
          <a:p>
            <a:r>
              <a:rPr lang="en-GB" sz="1600" dirty="0" err="1">
                <a:solidFill>
                  <a:srgbClr val="FF0000"/>
                </a:solidFill>
              </a:rPr>
              <a:t>GainRatio</a:t>
            </a:r>
            <a:r>
              <a:rPr lang="en-GB" sz="1600" dirty="0">
                <a:solidFill>
                  <a:srgbClr val="FF0000"/>
                </a:solidFill>
              </a:rPr>
              <a:t> (S, A) </a:t>
            </a:r>
          </a:p>
          <a:p>
            <a:r>
              <a:rPr lang="en-GB" sz="1600" dirty="0">
                <a:solidFill>
                  <a:srgbClr val="FF0000"/>
                </a:solidFill>
              </a:rPr>
              <a:t>= Gain(S, A)/</a:t>
            </a:r>
            <a:r>
              <a:rPr lang="en-GB" sz="1600" dirty="0" err="1">
                <a:solidFill>
                  <a:srgbClr val="FF0000"/>
                </a:solidFill>
              </a:rPr>
              <a:t>SplitEntropy</a:t>
            </a:r>
            <a:r>
              <a:rPr lang="en-GB" sz="1600" dirty="0">
                <a:solidFill>
                  <a:srgbClr val="FF0000"/>
                </a:solidFill>
              </a:rPr>
              <a:t>(S, A)</a:t>
            </a:r>
          </a:p>
          <a:p>
            <a:r>
              <a:rPr lang="en-GB" sz="1600" dirty="0">
                <a:solidFill>
                  <a:srgbClr val="FF0000"/>
                </a:solidFill>
              </a:rPr>
              <a:t>=0.247/1.577</a:t>
            </a:r>
          </a:p>
          <a:p>
            <a:r>
              <a:rPr lang="en-GB" sz="1600" dirty="0">
                <a:solidFill>
                  <a:srgbClr val="FF0000"/>
                </a:solidFill>
              </a:rPr>
              <a:t>= 0.157</a:t>
            </a:r>
          </a:p>
        </p:txBody>
      </p:sp>
    </p:spTree>
    <p:extLst>
      <p:ext uri="{BB962C8B-B14F-4D97-AF65-F5344CB8AC3E}">
        <p14:creationId xmlns:p14="http://schemas.microsoft.com/office/powerpoint/2010/main" val="387389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Gain Ratio results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725" y="1981200"/>
            <a:ext cx="7381628"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a:xfrm>
            <a:off x="1653534" y="3200400"/>
            <a:ext cx="3581400" cy="304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52942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Gain Ratio potential issue and C4.5</a:t>
            </a:r>
          </a:p>
        </p:txBody>
      </p:sp>
      <p:sp>
        <p:nvSpPr>
          <p:cNvPr id="3" name="Content Placeholder 2"/>
          <p:cNvSpPr>
            <a:spLocks noGrp="1"/>
          </p:cNvSpPr>
          <p:nvPr>
            <p:ph idx="1"/>
          </p:nvPr>
        </p:nvSpPr>
        <p:spPr/>
        <p:txBody>
          <a:bodyPr/>
          <a:lstStyle/>
          <a:p>
            <a:r>
              <a:rPr lang="en-GB" dirty="0"/>
              <a:t>It may overcompensate. May choose an attribute just because its intrinsic information is very low.</a:t>
            </a:r>
          </a:p>
          <a:p>
            <a:endParaRPr lang="en-GB" dirty="0"/>
          </a:p>
          <a:p>
            <a:r>
              <a:rPr lang="en-GB" dirty="0"/>
              <a:t>Standard fix: only consider attributes with greater than average information gain </a:t>
            </a:r>
          </a:p>
          <a:p>
            <a:endParaRPr lang="en-GB" dirty="0"/>
          </a:p>
          <a:p>
            <a:r>
              <a:rPr lang="en-GB" dirty="0"/>
              <a:t>C4.5 implements the gain ratio. It is a successor of ID3 that also deals with numeric attributes, missing values and noisy data. </a:t>
            </a:r>
          </a:p>
        </p:txBody>
      </p:sp>
    </p:spTree>
    <p:extLst>
      <p:ext uri="{BB962C8B-B14F-4D97-AF65-F5344CB8AC3E}">
        <p14:creationId xmlns:p14="http://schemas.microsoft.com/office/powerpoint/2010/main" val="1151099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Gini Index</a:t>
            </a:r>
          </a:p>
        </p:txBody>
      </p:sp>
      <p:sp>
        <p:nvSpPr>
          <p:cNvPr id="3" name="Content Placeholder 2"/>
          <p:cNvSpPr>
            <a:spLocks noGrp="1"/>
          </p:cNvSpPr>
          <p:nvPr>
            <p:ph idx="1"/>
          </p:nvPr>
        </p:nvSpPr>
        <p:spPr/>
        <p:txBody>
          <a:bodyPr/>
          <a:lstStyle/>
          <a:p>
            <a:r>
              <a:rPr lang="en-GB" dirty="0"/>
              <a:t>In computation, entropy is not preferred due to the ‘log’ function as it increases the computational complexity.</a:t>
            </a:r>
          </a:p>
          <a:p>
            <a:endParaRPr lang="en-GB" dirty="0"/>
          </a:p>
          <a:p>
            <a:endParaRPr lang="en-GB" dirty="0"/>
          </a:p>
          <a:p>
            <a:r>
              <a:rPr lang="en-GB" dirty="0"/>
              <a:t>The Gini index uses a simpler computation (no logarithm). It considers a binary split for each attribute.</a:t>
            </a:r>
          </a:p>
          <a:p>
            <a:endParaRPr lang="en-GB" dirty="0"/>
          </a:p>
          <a:p>
            <a:endParaRPr lang="en-GB" dirty="0"/>
          </a:p>
          <a:p>
            <a:r>
              <a:rPr lang="en-GB" b="1" dirty="0">
                <a:solidFill>
                  <a:srgbClr val="FF0000"/>
                </a:solidFill>
              </a:rPr>
              <a:t>Reduction in impurity = Gini (D) - Gini</a:t>
            </a:r>
            <a:r>
              <a:rPr lang="en-GB" b="1" baseline="-25000" dirty="0">
                <a:solidFill>
                  <a:srgbClr val="FF0000"/>
                </a:solidFill>
              </a:rPr>
              <a:t>A</a:t>
            </a:r>
            <a:r>
              <a:rPr lang="en-GB" b="1" dirty="0">
                <a:solidFill>
                  <a:srgbClr val="FF0000"/>
                </a:solidFill>
              </a:rPr>
              <a:t>(D)</a:t>
            </a:r>
          </a:p>
          <a:p>
            <a:endParaRPr lang="en-GB" dirty="0"/>
          </a:p>
          <a:p>
            <a:pPr marL="0" indent="0">
              <a:buNone/>
            </a:pPr>
            <a:endParaRPr lang="en-GB"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0422" y="2667000"/>
            <a:ext cx="2857500"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2209800" y="4593266"/>
                <a:ext cx="5478744" cy="676724"/>
              </a:xfrm>
              <a:prstGeom prst="rect">
                <a:avLst/>
              </a:prstGeom>
              <a:noFill/>
            </p:spPr>
            <p:txBody>
              <a:bodyPr wrap="none" rtlCol="0">
                <a:spAutoFit/>
              </a:bodyPr>
              <a:lstStyle/>
              <a:p>
                <a:r>
                  <a:rPr lang="en-GB" sz="2400" dirty="0"/>
                  <a:t>Gini</a:t>
                </a:r>
                <a:r>
                  <a:rPr lang="en-GB" sz="2400" baseline="-25000" dirty="0"/>
                  <a:t>A</a:t>
                </a:r>
                <a:r>
                  <a:rPr lang="en-GB" sz="2400" dirty="0"/>
                  <a:t>(D) =  </a:t>
                </a:r>
                <a14:m>
                  <m:oMath xmlns:m="http://schemas.openxmlformats.org/officeDocument/2006/math">
                    <m:f>
                      <m:fPr>
                        <m:ctrlPr>
                          <a:rPr lang="en-GB" sz="2400" i="1" smtClean="0">
                            <a:latin typeface="Cambria Math" panose="02040503050406030204" pitchFamily="18" charset="0"/>
                          </a:rPr>
                        </m:ctrlPr>
                      </m:fPr>
                      <m:num>
                        <m:d>
                          <m:dPr>
                            <m:begChr m:val="|"/>
                            <m:endChr m:val="|"/>
                            <m:ctrlPr>
                              <a:rPr lang="en-GB" sz="2400" b="0" i="1" smtClean="0">
                                <a:latin typeface="Cambria Math" panose="02040503050406030204" pitchFamily="18" charset="0"/>
                              </a:rPr>
                            </m:ctrlPr>
                          </m:dPr>
                          <m:e>
                            <m:r>
                              <a:rPr lang="en-GB" sz="2400" b="0" i="1" smtClean="0">
                                <a:latin typeface="Cambria Math"/>
                              </a:rPr>
                              <m:t>𝐷</m:t>
                            </m:r>
                            <m:r>
                              <a:rPr lang="en-GB" sz="2400" b="0" i="1" smtClean="0">
                                <a:latin typeface="Cambria Math"/>
                              </a:rPr>
                              <m:t>1</m:t>
                            </m:r>
                          </m:e>
                        </m:d>
                      </m:num>
                      <m:den>
                        <m:d>
                          <m:dPr>
                            <m:begChr m:val="|"/>
                            <m:endChr m:val="|"/>
                            <m:ctrlPr>
                              <a:rPr lang="en-GB" sz="2400" b="0" i="1" smtClean="0">
                                <a:latin typeface="Cambria Math" panose="02040503050406030204" pitchFamily="18" charset="0"/>
                              </a:rPr>
                            </m:ctrlPr>
                          </m:dPr>
                          <m:e>
                            <m:r>
                              <a:rPr lang="en-GB" sz="2400" b="0" i="1" smtClean="0">
                                <a:latin typeface="Cambria Math"/>
                              </a:rPr>
                              <m:t>𝐷</m:t>
                            </m:r>
                          </m:e>
                        </m:d>
                      </m:den>
                    </m:f>
                    <m:r>
                      <a:rPr lang="en-GB" sz="2400" b="0" i="1" smtClean="0">
                        <a:latin typeface="Cambria Math"/>
                      </a:rPr>
                      <m:t>𝐺𝑖𝑛𝑖</m:t>
                    </m:r>
                    <m:r>
                      <a:rPr lang="en-GB" sz="2400" b="0" i="1" smtClean="0">
                        <a:latin typeface="Cambria Math"/>
                      </a:rPr>
                      <m:t>(</m:t>
                    </m:r>
                    <m:r>
                      <a:rPr lang="en-GB" sz="2400" b="0" i="1" smtClean="0">
                        <a:latin typeface="Cambria Math"/>
                      </a:rPr>
                      <m:t>𝐷</m:t>
                    </m:r>
                    <m:r>
                      <a:rPr lang="en-GB" sz="2400" b="0" i="1" smtClean="0">
                        <a:latin typeface="Cambria Math"/>
                      </a:rPr>
                      <m:t>1)</m:t>
                    </m:r>
                  </m:oMath>
                </a14:m>
                <a:r>
                  <a:rPr lang="en-GB" sz="2400" dirty="0"/>
                  <a:t> + </a:t>
                </a:r>
                <a14:m>
                  <m:oMath xmlns:m="http://schemas.openxmlformats.org/officeDocument/2006/math">
                    <m:f>
                      <m:fPr>
                        <m:ctrlPr>
                          <a:rPr lang="en-GB" sz="2400" i="1">
                            <a:latin typeface="Cambria Math" panose="02040503050406030204" pitchFamily="18" charset="0"/>
                          </a:rPr>
                        </m:ctrlPr>
                      </m:fPr>
                      <m:num>
                        <m:d>
                          <m:dPr>
                            <m:begChr m:val="|"/>
                            <m:endChr m:val="|"/>
                            <m:ctrlPr>
                              <a:rPr lang="en-GB" sz="2400" i="1">
                                <a:latin typeface="Cambria Math" panose="02040503050406030204" pitchFamily="18" charset="0"/>
                              </a:rPr>
                            </m:ctrlPr>
                          </m:dPr>
                          <m:e>
                            <m:r>
                              <a:rPr lang="en-GB" sz="2400" i="1">
                                <a:latin typeface="Cambria Math"/>
                              </a:rPr>
                              <m:t>𝐷</m:t>
                            </m:r>
                            <m:r>
                              <a:rPr lang="en-GB" sz="2400" b="0" i="1" smtClean="0">
                                <a:latin typeface="Cambria Math"/>
                              </a:rPr>
                              <m:t>2</m:t>
                            </m:r>
                          </m:e>
                        </m:d>
                      </m:num>
                      <m:den>
                        <m:d>
                          <m:dPr>
                            <m:begChr m:val="|"/>
                            <m:endChr m:val="|"/>
                            <m:ctrlPr>
                              <a:rPr lang="en-GB" sz="2400" i="1">
                                <a:latin typeface="Cambria Math" panose="02040503050406030204" pitchFamily="18" charset="0"/>
                              </a:rPr>
                            </m:ctrlPr>
                          </m:dPr>
                          <m:e>
                            <m:r>
                              <a:rPr lang="en-GB" sz="2400" i="1">
                                <a:latin typeface="Cambria Math"/>
                              </a:rPr>
                              <m:t>𝐷</m:t>
                            </m:r>
                          </m:e>
                        </m:d>
                      </m:den>
                    </m:f>
                    <m:r>
                      <a:rPr lang="en-GB" sz="2400" i="1">
                        <a:latin typeface="Cambria Math"/>
                      </a:rPr>
                      <m:t>𝐺𝑖𝑛𝑖</m:t>
                    </m:r>
                    <m:r>
                      <a:rPr lang="en-GB" sz="2400" i="1">
                        <a:latin typeface="Cambria Math"/>
                      </a:rPr>
                      <m:t>(</m:t>
                    </m:r>
                    <m:r>
                      <a:rPr lang="en-GB" sz="2400" i="1">
                        <a:latin typeface="Cambria Math"/>
                      </a:rPr>
                      <m:t>𝐷</m:t>
                    </m:r>
                    <m:r>
                      <a:rPr lang="en-GB" sz="2400" b="0" i="1" smtClean="0">
                        <a:latin typeface="Cambria Math"/>
                      </a:rPr>
                      <m:t>2</m:t>
                    </m:r>
                    <m:r>
                      <a:rPr lang="en-GB" sz="2400" i="1">
                        <a:latin typeface="Cambria Math"/>
                      </a:rPr>
                      <m:t>)</m:t>
                    </m:r>
                  </m:oMath>
                </a14:m>
                <a:endParaRPr lang="en-GB"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2209800" y="4593266"/>
                <a:ext cx="5478744" cy="676724"/>
              </a:xfrm>
              <a:prstGeom prst="rect">
                <a:avLst/>
              </a:prstGeom>
              <a:blipFill rotWithShape="1">
                <a:blip r:embed="rId3"/>
                <a:stretch>
                  <a:fillRect l="-1782" b="-2703"/>
                </a:stretch>
              </a:blipFill>
            </p:spPr>
            <p:txBody>
              <a:bodyPr/>
              <a:lstStyle/>
              <a:p>
                <a:r>
                  <a:rPr lang="en-GB">
                    <a:noFill/>
                  </a:rPr>
                  <a:t> </a:t>
                </a:r>
              </a:p>
            </p:txBody>
          </p:sp>
        </mc:Fallback>
      </mc:AlternateContent>
    </p:spTree>
    <p:extLst>
      <p:ext uri="{BB962C8B-B14F-4D97-AF65-F5344CB8AC3E}">
        <p14:creationId xmlns:p14="http://schemas.microsoft.com/office/powerpoint/2010/main" val="1083671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Gini Index example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5010" y="914400"/>
            <a:ext cx="3750405"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390770" y="1463381"/>
            <a:ext cx="3570208" cy="338554"/>
          </a:xfrm>
          <a:prstGeom prst="rect">
            <a:avLst/>
          </a:prstGeom>
          <a:noFill/>
        </p:spPr>
        <p:txBody>
          <a:bodyPr wrap="none" rtlCol="0">
            <a:spAutoFit/>
          </a:bodyPr>
          <a:lstStyle/>
          <a:p>
            <a:r>
              <a:rPr lang="en-GB" sz="1600" dirty="0"/>
              <a:t>Gini (D) = 1- (9/14)</a:t>
            </a:r>
            <a:r>
              <a:rPr lang="en-GB" sz="1600" baseline="30000" dirty="0"/>
              <a:t>2</a:t>
            </a:r>
            <a:r>
              <a:rPr lang="en-GB" sz="1600" dirty="0"/>
              <a:t> – (5/14)</a:t>
            </a:r>
            <a:r>
              <a:rPr lang="en-GB" sz="1600" baseline="30000" dirty="0"/>
              <a:t>2</a:t>
            </a:r>
            <a:r>
              <a:rPr lang="en-GB" sz="1600" dirty="0"/>
              <a:t> = 0.4592</a:t>
            </a:r>
          </a:p>
        </p:txBody>
      </p:sp>
      <p:sp>
        <p:nvSpPr>
          <p:cNvPr id="5" name="TextBox 4"/>
          <p:cNvSpPr txBox="1"/>
          <p:nvPr/>
        </p:nvSpPr>
        <p:spPr>
          <a:xfrm>
            <a:off x="5513400" y="914400"/>
            <a:ext cx="3324949" cy="338554"/>
          </a:xfrm>
          <a:prstGeom prst="rect">
            <a:avLst/>
          </a:prstGeom>
          <a:noFill/>
        </p:spPr>
        <p:txBody>
          <a:bodyPr wrap="none" rtlCol="0">
            <a:spAutoFit/>
          </a:bodyPr>
          <a:lstStyle/>
          <a:p>
            <a:r>
              <a:rPr lang="en-GB" sz="1600" dirty="0"/>
              <a:t>1. Play = 9 days, not play = 5 days</a:t>
            </a:r>
          </a:p>
        </p:txBody>
      </p:sp>
      <p:sp>
        <p:nvSpPr>
          <p:cNvPr id="7" name="TextBox 6"/>
          <p:cNvSpPr txBox="1"/>
          <p:nvPr/>
        </p:nvSpPr>
        <p:spPr>
          <a:xfrm>
            <a:off x="5320949" y="1981200"/>
            <a:ext cx="3873176" cy="1569660"/>
          </a:xfrm>
          <a:prstGeom prst="rect">
            <a:avLst/>
          </a:prstGeom>
          <a:noFill/>
        </p:spPr>
        <p:txBody>
          <a:bodyPr wrap="none" rtlCol="0">
            <a:spAutoFit/>
          </a:bodyPr>
          <a:lstStyle/>
          <a:p>
            <a:r>
              <a:rPr lang="en-GB" sz="1600" dirty="0"/>
              <a:t>2. </a:t>
            </a:r>
          </a:p>
          <a:p>
            <a:r>
              <a:rPr lang="en-GB" sz="1600" dirty="0"/>
              <a:t>Rainy (5 days): </a:t>
            </a:r>
          </a:p>
          <a:p>
            <a:r>
              <a:rPr lang="en-GB" sz="1600" dirty="0"/>
              <a:t>Play = 2 days, not play = 3 days</a:t>
            </a:r>
          </a:p>
          <a:p>
            <a:r>
              <a:rPr lang="en-GB" sz="1600" dirty="0" err="1"/>
              <a:t>Not_rainy</a:t>
            </a:r>
            <a:r>
              <a:rPr lang="en-GB" sz="1600" dirty="0"/>
              <a:t>: </a:t>
            </a:r>
          </a:p>
          <a:p>
            <a:r>
              <a:rPr lang="en-GB" sz="1600" dirty="0"/>
              <a:t>play (9 days) = 7 days, not play = 2 days</a:t>
            </a:r>
          </a:p>
          <a:p>
            <a:endParaRPr lang="en-GB" sz="1600" dirty="0"/>
          </a:p>
        </p:txBody>
      </p:sp>
      <p:sp>
        <p:nvSpPr>
          <p:cNvPr id="9" name="TextBox 8"/>
          <p:cNvSpPr txBox="1"/>
          <p:nvPr/>
        </p:nvSpPr>
        <p:spPr>
          <a:xfrm>
            <a:off x="3828453" y="3875782"/>
            <a:ext cx="5285421" cy="1077218"/>
          </a:xfrm>
          <a:prstGeom prst="rect">
            <a:avLst/>
          </a:prstGeom>
          <a:noFill/>
        </p:spPr>
        <p:txBody>
          <a:bodyPr wrap="none" rtlCol="0">
            <a:spAutoFit/>
          </a:bodyPr>
          <a:lstStyle/>
          <a:p>
            <a:r>
              <a:rPr lang="en-GB" sz="1600" dirty="0"/>
              <a:t>Gini</a:t>
            </a:r>
            <a:r>
              <a:rPr lang="en-GB" sz="1600" baseline="-25000" dirty="0"/>
              <a:t>rainy</a:t>
            </a:r>
            <a:r>
              <a:rPr lang="en-GB" sz="1600" dirty="0"/>
              <a:t> (D) = 5/14(Gini(D1))+9/14(Gini(D2)) </a:t>
            </a:r>
          </a:p>
          <a:p>
            <a:r>
              <a:rPr lang="en-GB" sz="1600" dirty="0"/>
              <a:t>                   =5/14(1-(2/5)</a:t>
            </a:r>
            <a:r>
              <a:rPr lang="en-GB" sz="1600" baseline="30000" dirty="0"/>
              <a:t>2</a:t>
            </a:r>
            <a:r>
              <a:rPr lang="en-GB" sz="1600" dirty="0"/>
              <a:t>-</a:t>
            </a:r>
            <a:r>
              <a:rPr lang="en-GB" sz="1600" baseline="30000" dirty="0"/>
              <a:t> </a:t>
            </a:r>
            <a:r>
              <a:rPr lang="en-GB" sz="1600" dirty="0"/>
              <a:t>(3/5)</a:t>
            </a:r>
            <a:r>
              <a:rPr lang="en-GB" sz="1600" baseline="30000" dirty="0"/>
              <a:t>2</a:t>
            </a:r>
            <a:r>
              <a:rPr lang="en-GB" sz="1600" dirty="0"/>
              <a:t>) + 9/14(1-(7/9)</a:t>
            </a:r>
            <a:r>
              <a:rPr lang="en-GB" sz="1600" baseline="30000" dirty="0"/>
              <a:t>2</a:t>
            </a:r>
            <a:r>
              <a:rPr lang="en-GB" sz="1600" dirty="0"/>
              <a:t>-</a:t>
            </a:r>
            <a:r>
              <a:rPr lang="en-GB" sz="1600" baseline="30000" dirty="0"/>
              <a:t> </a:t>
            </a:r>
            <a:r>
              <a:rPr lang="en-GB" sz="1600" dirty="0"/>
              <a:t>(2/9)</a:t>
            </a:r>
            <a:r>
              <a:rPr lang="en-GB" sz="1600" baseline="30000" dirty="0"/>
              <a:t>2</a:t>
            </a:r>
            <a:r>
              <a:rPr lang="en-GB" sz="1600" dirty="0"/>
              <a:t>)</a:t>
            </a:r>
          </a:p>
          <a:p>
            <a:r>
              <a:rPr lang="en-GB" sz="1600" dirty="0"/>
              <a:t>	     = 0.1714 + 0.2222</a:t>
            </a:r>
          </a:p>
          <a:p>
            <a:r>
              <a:rPr lang="en-GB" sz="1600" dirty="0"/>
              <a:t>	     = 0.3937 </a:t>
            </a:r>
          </a:p>
        </p:txBody>
      </p:sp>
      <p:sp>
        <p:nvSpPr>
          <p:cNvPr id="6" name="Rectangle 5"/>
          <p:cNvSpPr/>
          <p:nvPr/>
        </p:nvSpPr>
        <p:spPr>
          <a:xfrm>
            <a:off x="1676400" y="4727515"/>
            <a:ext cx="3018775" cy="923330"/>
          </a:xfrm>
          <a:prstGeom prst="rect">
            <a:avLst/>
          </a:prstGeom>
        </p:spPr>
        <p:txBody>
          <a:bodyPr wrap="none">
            <a:spAutoFit/>
          </a:bodyPr>
          <a:lstStyle/>
          <a:p>
            <a:r>
              <a:rPr lang="en-GB" b="1" dirty="0">
                <a:solidFill>
                  <a:srgbClr val="FF0000"/>
                </a:solidFill>
              </a:rPr>
              <a:t>3. Gini (D) - Gini</a:t>
            </a:r>
            <a:r>
              <a:rPr lang="en-GB" b="1" baseline="-25000" dirty="0">
                <a:solidFill>
                  <a:srgbClr val="FF0000"/>
                </a:solidFill>
              </a:rPr>
              <a:t>A</a:t>
            </a:r>
            <a:r>
              <a:rPr lang="en-GB" b="1" dirty="0">
                <a:solidFill>
                  <a:srgbClr val="FF0000"/>
                </a:solidFill>
              </a:rPr>
              <a:t>(D)</a:t>
            </a:r>
          </a:p>
          <a:p>
            <a:r>
              <a:rPr lang="en-GB" b="1" dirty="0">
                <a:solidFill>
                  <a:srgbClr val="FF0000"/>
                </a:solidFill>
              </a:rPr>
              <a:t>    = 0.4592 – 0.3937 = 0.0655</a:t>
            </a:r>
          </a:p>
          <a:p>
            <a:r>
              <a:rPr lang="en-GB" b="1" dirty="0">
                <a:solidFill>
                  <a:srgbClr val="FF0000"/>
                </a:solidFill>
              </a:rPr>
              <a:t>    = reduction in impurity</a:t>
            </a:r>
          </a:p>
        </p:txBody>
      </p:sp>
      <p:sp>
        <p:nvSpPr>
          <p:cNvPr id="10" name="TextBox 9"/>
          <p:cNvSpPr txBox="1"/>
          <p:nvPr/>
        </p:nvSpPr>
        <p:spPr>
          <a:xfrm>
            <a:off x="1676463" y="5943600"/>
            <a:ext cx="3736920" cy="646331"/>
          </a:xfrm>
          <a:prstGeom prst="rect">
            <a:avLst/>
          </a:prstGeom>
          <a:noFill/>
        </p:spPr>
        <p:txBody>
          <a:bodyPr wrap="none" rtlCol="0">
            <a:spAutoFit/>
          </a:bodyPr>
          <a:lstStyle/>
          <a:p>
            <a:r>
              <a:rPr lang="en-GB" b="1" dirty="0">
                <a:solidFill>
                  <a:srgbClr val="FF0000"/>
                </a:solidFill>
              </a:rPr>
              <a:t>The Gini index is used by the  </a:t>
            </a:r>
          </a:p>
          <a:p>
            <a:r>
              <a:rPr lang="en-GB" b="1" dirty="0">
                <a:solidFill>
                  <a:srgbClr val="FF0000"/>
                </a:solidFill>
              </a:rPr>
              <a:t>CART algorithm</a:t>
            </a: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7615" y="4816097"/>
            <a:ext cx="1678172" cy="380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2" name="TextBox 11"/>
              <p:cNvSpPr txBox="1"/>
              <p:nvPr/>
            </p:nvSpPr>
            <p:spPr>
              <a:xfrm>
                <a:off x="5385454" y="3328073"/>
                <a:ext cx="3722558" cy="481927"/>
              </a:xfrm>
              <a:prstGeom prst="rect">
                <a:avLst/>
              </a:prstGeom>
              <a:noFill/>
            </p:spPr>
            <p:txBody>
              <a:bodyPr wrap="none" rtlCol="0">
                <a:spAutoFit/>
              </a:bodyPr>
              <a:lstStyle/>
              <a:p>
                <a:r>
                  <a:rPr lang="en-GB" sz="1600" dirty="0"/>
                  <a:t>Gini</a:t>
                </a:r>
                <a:r>
                  <a:rPr lang="en-GB" sz="1600" baseline="-25000" dirty="0"/>
                  <a:t>A</a:t>
                </a:r>
                <a:r>
                  <a:rPr lang="en-GB" sz="1600" dirty="0"/>
                  <a:t>(D) =  </a:t>
                </a:r>
                <a14:m>
                  <m:oMath xmlns:m="http://schemas.openxmlformats.org/officeDocument/2006/math">
                    <m:f>
                      <m:fPr>
                        <m:ctrlPr>
                          <a:rPr lang="en-GB" sz="1600" i="1" smtClean="0">
                            <a:latin typeface="Cambria Math" panose="02040503050406030204" pitchFamily="18" charset="0"/>
                          </a:rPr>
                        </m:ctrlPr>
                      </m:fPr>
                      <m:num>
                        <m:d>
                          <m:dPr>
                            <m:begChr m:val="|"/>
                            <m:endChr m:val="|"/>
                            <m:ctrlPr>
                              <a:rPr lang="en-GB" sz="1600" b="0" i="1" smtClean="0">
                                <a:latin typeface="Cambria Math" panose="02040503050406030204" pitchFamily="18" charset="0"/>
                              </a:rPr>
                            </m:ctrlPr>
                          </m:dPr>
                          <m:e>
                            <m:r>
                              <a:rPr lang="en-GB" sz="1600" b="0" i="1" smtClean="0">
                                <a:latin typeface="Cambria Math"/>
                              </a:rPr>
                              <m:t>𝐷</m:t>
                            </m:r>
                            <m:r>
                              <a:rPr lang="en-GB" sz="1600" b="0" i="1" smtClean="0">
                                <a:latin typeface="Cambria Math"/>
                              </a:rPr>
                              <m:t>1</m:t>
                            </m:r>
                          </m:e>
                        </m:d>
                      </m:num>
                      <m:den>
                        <m:d>
                          <m:dPr>
                            <m:begChr m:val="|"/>
                            <m:endChr m:val="|"/>
                            <m:ctrlPr>
                              <a:rPr lang="en-GB" sz="1600" b="0" i="1" smtClean="0">
                                <a:latin typeface="Cambria Math" panose="02040503050406030204" pitchFamily="18" charset="0"/>
                              </a:rPr>
                            </m:ctrlPr>
                          </m:dPr>
                          <m:e>
                            <m:r>
                              <a:rPr lang="en-GB" sz="1600" b="0" i="1" smtClean="0">
                                <a:latin typeface="Cambria Math"/>
                              </a:rPr>
                              <m:t>𝐷</m:t>
                            </m:r>
                          </m:e>
                        </m:d>
                      </m:den>
                    </m:f>
                    <m:r>
                      <a:rPr lang="en-GB" sz="1600" b="0" i="1" smtClean="0">
                        <a:latin typeface="Cambria Math"/>
                      </a:rPr>
                      <m:t>𝐺𝑖𝑛𝑖</m:t>
                    </m:r>
                    <m:r>
                      <a:rPr lang="en-GB" sz="1600" b="0" i="1" smtClean="0">
                        <a:latin typeface="Cambria Math"/>
                      </a:rPr>
                      <m:t>(</m:t>
                    </m:r>
                    <m:r>
                      <a:rPr lang="en-GB" sz="1600" b="0" i="1" smtClean="0">
                        <a:latin typeface="Cambria Math"/>
                      </a:rPr>
                      <m:t>𝐷</m:t>
                    </m:r>
                    <m:r>
                      <a:rPr lang="en-GB" sz="1600" b="0" i="1" smtClean="0">
                        <a:latin typeface="Cambria Math"/>
                      </a:rPr>
                      <m:t>1)</m:t>
                    </m:r>
                  </m:oMath>
                </a14:m>
                <a:r>
                  <a:rPr lang="en-GB" sz="1600" dirty="0"/>
                  <a:t> + </a:t>
                </a:r>
                <a14:m>
                  <m:oMath xmlns:m="http://schemas.openxmlformats.org/officeDocument/2006/math">
                    <m:f>
                      <m:fPr>
                        <m:ctrlPr>
                          <a:rPr lang="en-GB" sz="1600" i="1">
                            <a:latin typeface="Cambria Math" panose="02040503050406030204" pitchFamily="18" charset="0"/>
                          </a:rPr>
                        </m:ctrlPr>
                      </m:fPr>
                      <m:num>
                        <m:d>
                          <m:dPr>
                            <m:begChr m:val="|"/>
                            <m:endChr m:val="|"/>
                            <m:ctrlPr>
                              <a:rPr lang="en-GB" sz="1600" i="1">
                                <a:latin typeface="Cambria Math" panose="02040503050406030204" pitchFamily="18" charset="0"/>
                              </a:rPr>
                            </m:ctrlPr>
                          </m:dPr>
                          <m:e>
                            <m:r>
                              <a:rPr lang="en-GB" sz="1600" i="1">
                                <a:latin typeface="Cambria Math"/>
                              </a:rPr>
                              <m:t>𝐷</m:t>
                            </m:r>
                            <m:r>
                              <a:rPr lang="en-GB" sz="1600" b="0" i="1" smtClean="0">
                                <a:latin typeface="Cambria Math"/>
                              </a:rPr>
                              <m:t>2</m:t>
                            </m:r>
                          </m:e>
                        </m:d>
                      </m:num>
                      <m:den>
                        <m:d>
                          <m:dPr>
                            <m:begChr m:val="|"/>
                            <m:endChr m:val="|"/>
                            <m:ctrlPr>
                              <a:rPr lang="en-GB" sz="1600" i="1">
                                <a:latin typeface="Cambria Math" panose="02040503050406030204" pitchFamily="18" charset="0"/>
                              </a:rPr>
                            </m:ctrlPr>
                          </m:dPr>
                          <m:e>
                            <m:r>
                              <a:rPr lang="en-GB" sz="1600" i="1">
                                <a:latin typeface="Cambria Math"/>
                              </a:rPr>
                              <m:t>𝐷</m:t>
                            </m:r>
                          </m:e>
                        </m:d>
                      </m:den>
                    </m:f>
                    <m:r>
                      <a:rPr lang="en-GB" sz="1600" i="1">
                        <a:latin typeface="Cambria Math"/>
                      </a:rPr>
                      <m:t>𝐺𝑖𝑛𝑖</m:t>
                    </m:r>
                    <m:r>
                      <a:rPr lang="en-GB" sz="1600" i="1">
                        <a:latin typeface="Cambria Math"/>
                      </a:rPr>
                      <m:t>(</m:t>
                    </m:r>
                    <m:r>
                      <a:rPr lang="en-GB" sz="1600" i="1">
                        <a:latin typeface="Cambria Math"/>
                      </a:rPr>
                      <m:t>𝐷</m:t>
                    </m:r>
                    <m:r>
                      <a:rPr lang="en-GB" sz="1600" b="0" i="1" smtClean="0">
                        <a:latin typeface="Cambria Math"/>
                      </a:rPr>
                      <m:t>2</m:t>
                    </m:r>
                    <m:r>
                      <a:rPr lang="en-GB" sz="1600" i="1">
                        <a:latin typeface="Cambria Math"/>
                      </a:rPr>
                      <m:t>)</m:t>
                    </m:r>
                  </m:oMath>
                </a14:m>
                <a:endParaRPr lang="en-GB" sz="1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385454" y="3328073"/>
                <a:ext cx="3722558" cy="481927"/>
              </a:xfrm>
              <a:prstGeom prst="rect">
                <a:avLst/>
              </a:prstGeom>
              <a:blipFill rotWithShape="1">
                <a:blip r:embed="rId4"/>
                <a:stretch>
                  <a:fillRect l="-818"/>
                </a:stretch>
              </a:blipFill>
            </p:spPr>
            <p:txBody>
              <a:bodyPr/>
              <a:lstStyle/>
              <a:p>
                <a:r>
                  <a:rPr lang="en-GB">
                    <a:noFill/>
                  </a:rPr>
                  <a:t> </a:t>
                </a:r>
              </a:p>
            </p:txBody>
          </p:sp>
        </mc:Fallback>
      </mc:AlternateContent>
    </p:spTree>
    <p:extLst>
      <p:ext uri="{BB962C8B-B14F-4D97-AF65-F5344CB8AC3E}">
        <p14:creationId xmlns:p14="http://schemas.microsoft.com/office/powerpoint/2010/main" val="232250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Other attribute selection measures </a:t>
            </a:r>
          </a:p>
        </p:txBody>
      </p:sp>
      <p:sp>
        <p:nvSpPr>
          <p:cNvPr id="3" name="Content Placeholder 2"/>
          <p:cNvSpPr>
            <a:spLocks noGrp="1"/>
          </p:cNvSpPr>
          <p:nvPr>
            <p:ph idx="1"/>
          </p:nvPr>
        </p:nvSpPr>
        <p:spPr/>
        <p:txBody>
          <a:bodyPr>
            <a:normAutofit/>
          </a:bodyPr>
          <a:lstStyle/>
          <a:p>
            <a:r>
              <a:rPr lang="en-GB" dirty="0"/>
              <a:t>Decision Tree Regression approach</a:t>
            </a:r>
          </a:p>
          <a:p>
            <a:pPr lvl="1"/>
            <a:r>
              <a:rPr lang="en-GB" dirty="0"/>
              <a:t>In regression, instead of assigning a point to a class, we predict a real value.</a:t>
            </a:r>
          </a:p>
          <a:p>
            <a:pPr lvl="1"/>
            <a:r>
              <a:rPr lang="en-GB" dirty="0"/>
              <a:t>Unlike calculating the information gain, we calculate the variance and try to minimize it. So we split the data into subsets based on the attributes and take the split with the minimum variance.</a:t>
            </a:r>
          </a:p>
          <a:p>
            <a:pPr lvl="1"/>
            <a:r>
              <a:rPr lang="en-GB" dirty="0"/>
              <a:t>When testing, we follow the tree to a leaf node and assign the average of the training points in that leaf to the test point.</a:t>
            </a:r>
          </a:p>
          <a:p>
            <a:endParaRPr lang="en-GB" dirty="0"/>
          </a:p>
          <a:p>
            <a:r>
              <a:rPr lang="en-GB" dirty="0"/>
              <a:t>MDL (Minimum Description Length) approach</a:t>
            </a:r>
          </a:p>
        </p:txBody>
      </p:sp>
    </p:spTree>
    <p:extLst>
      <p:ext uri="{BB962C8B-B14F-4D97-AF65-F5344CB8AC3E}">
        <p14:creationId xmlns:p14="http://schemas.microsoft.com/office/powerpoint/2010/main" val="261433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Avoiding overfitting in decision tree</a:t>
            </a:r>
            <a:endParaRPr lang="en-GB" dirty="0"/>
          </a:p>
        </p:txBody>
      </p:sp>
      <p:sp>
        <p:nvSpPr>
          <p:cNvPr id="3" name="Content Placeholder 2"/>
          <p:cNvSpPr>
            <a:spLocks noGrp="1"/>
          </p:cNvSpPr>
          <p:nvPr>
            <p:ph idx="1"/>
          </p:nvPr>
        </p:nvSpPr>
        <p:spPr/>
        <p:txBody>
          <a:bodyPr>
            <a:normAutofit/>
          </a:bodyPr>
          <a:lstStyle/>
          <a:p>
            <a:r>
              <a:rPr lang="en-GB" sz="2000" dirty="0"/>
              <a:t>Overfitting is a significant practical difficulty for decision tree models and many other predictive models. Overfitting happens when the learning algorithm continues to develop hypotheses that reduce training set error at the cost of an increased test set error. </a:t>
            </a: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800" y="2819400"/>
            <a:ext cx="5105400"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0187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Tree Pruning</a:t>
            </a:r>
          </a:p>
        </p:txBody>
      </p:sp>
      <p:sp>
        <p:nvSpPr>
          <p:cNvPr id="3" name="Content Placeholder 2"/>
          <p:cNvSpPr>
            <a:spLocks noGrp="1"/>
          </p:cNvSpPr>
          <p:nvPr>
            <p:ph idx="1"/>
          </p:nvPr>
        </p:nvSpPr>
        <p:spPr/>
        <p:txBody>
          <a:bodyPr>
            <a:normAutofit/>
          </a:bodyPr>
          <a:lstStyle/>
          <a:p>
            <a:r>
              <a:rPr lang="en-GB" dirty="0"/>
              <a:t>Prevent overfitting to noise in the data</a:t>
            </a:r>
          </a:p>
          <a:p>
            <a:r>
              <a:rPr lang="en-GB" dirty="0"/>
              <a:t>Two strategies:</a:t>
            </a:r>
          </a:p>
          <a:p>
            <a:pPr lvl="1"/>
            <a:r>
              <a:rPr lang="en-GB" sz="2000" dirty="0"/>
              <a:t>Post-pruning: take a fully-grown decision tree and discard unreliable parts</a:t>
            </a:r>
          </a:p>
          <a:p>
            <a:pPr lvl="1"/>
            <a:r>
              <a:rPr lang="en-GB" sz="2000" dirty="0"/>
              <a:t>Pre-pruning: stop growing a branch when information becomes unreliable</a:t>
            </a:r>
          </a:p>
          <a:p>
            <a:pPr lvl="1"/>
            <a:endParaRPr lang="en-GB" sz="2000" dirty="0"/>
          </a:p>
          <a:p>
            <a:pPr indent="-228600"/>
            <a:r>
              <a:rPr lang="en-GB" dirty="0"/>
              <a:t>In practice, post-pruning is the more commonly used strategy</a:t>
            </a:r>
          </a:p>
          <a:p>
            <a:endParaRPr lang="en-GB" dirty="0"/>
          </a:p>
        </p:txBody>
      </p:sp>
    </p:spTree>
    <p:extLst>
      <p:ext uri="{BB962C8B-B14F-4D97-AF65-F5344CB8AC3E}">
        <p14:creationId xmlns:p14="http://schemas.microsoft.com/office/powerpoint/2010/main" val="11997487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72B3-D6D9-40E8-BA77-CF642252E174}"/>
              </a:ext>
            </a:extLst>
          </p:cNvPr>
          <p:cNvSpPr>
            <a:spLocks noGrp="1"/>
          </p:cNvSpPr>
          <p:nvPr>
            <p:ph type="title"/>
          </p:nvPr>
        </p:nvSpPr>
        <p:spPr>
          <a:xfrm>
            <a:off x="1809893" y="3962400"/>
            <a:ext cx="6705457" cy="595996"/>
          </a:xfrm>
        </p:spPr>
        <p:txBody>
          <a:bodyPr/>
          <a:lstStyle/>
          <a:p>
            <a:r>
              <a:rPr lang="en-GB" dirty="0"/>
              <a:t>Self-study part for your interest</a:t>
            </a:r>
          </a:p>
        </p:txBody>
      </p:sp>
    </p:spTree>
    <p:extLst>
      <p:ext uri="{BB962C8B-B14F-4D97-AF65-F5344CB8AC3E}">
        <p14:creationId xmlns:p14="http://schemas.microsoft.com/office/powerpoint/2010/main" val="854176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Post-pruning in detail </a:t>
            </a:r>
          </a:p>
        </p:txBody>
      </p:sp>
      <p:sp>
        <p:nvSpPr>
          <p:cNvPr id="3" name="Content Placeholder 2"/>
          <p:cNvSpPr>
            <a:spLocks noGrp="1"/>
          </p:cNvSpPr>
          <p:nvPr>
            <p:ph idx="1"/>
          </p:nvPr>
        </p:nvSpPr>
        <p:spPr>
          <a:xfrm>
            <a:off x="1609725" y="1066800"/>
            <a:ext cx="7239000" cy="4876800"/>
          </a:xfrm>
        </p:spPr>
        <p:txBody>
          <a:bodyPr>
            <a:normAutofit/>
          </a:bodyPr>
          <a:lstStyle/>
          <a:p>
            <a:r>
              <a:rPr lang="en-GB" sz="1400" dirty="0"/>
              <a:t>In post-pruning, we take training data and divide it into 2 parts. Hide one part of the data completely from the algorithm (the validation set, called “CV” in the pseudo-code below) and train a full decision tree until we get leaf nodes.</a:t>
            </a:r>
          </a:p>
          <a:p>
            <a:r>
              <a:rPr lang="en-GB" sz="1400" dirty="0"/>
              <a:t>Now take the validation set and test it on the learned tree, which will not give 100% accuracy because the model has </a:t>
            </a:r>
            <a:r>
              <a:rPr lang="en-GB" sz="1400" dirty="0" err="1"/>
              <a:t>overfitted</a:t>
            </a:r>
            <a:r>
              <a:rPr lang="en-GB" sz="1400" dirty="0"/>
              <a:t>. </a:t>
            </a:r>
          </a:p>
          <a:p>
            <a:r>
              <a:rPr lang="en-GB" sz="1400" dirty="0"/>
              <a:t>After this for each non-leaf node in the tree, we temporarily prune the node and replace it by majority class. Again test the validation set on the pruned tree we get another accuracy. </a:t>
            </a:r>
          </a:p>
          <a:p>
            <a:r>
              <a:rPr lang="en-GB" sz="1400" dirty="0"/>
              <a:t>Repeat the same procedure for each non-leaf node, record the validation accuracy and keep the pruned tree that gives the highest accuracy on the validation data.</a:t>
            </a:r>
          </a:p>
          <a:p>
            <a:endParaRPr lang="en-GB"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9255" y="3711809"/>
            <a:ext cx="4178541" cy="2190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7796" y="3963889"/>
            <a:ext cx="3290003" cy="1674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925632" y="3656112"/>
            <a:ext cx="2084225" cy="307777"/>
          </a:xfrm>
          <a:prstGeom prst="rect">
            <a:avLst/>
          </a:prstGeom>
          <a:noFill/>
        </p:spPr>
        <p:txBody>
          <a:bodyPr wrap="none" rtlCol="0">
            <a:spAutoFit/>
          </a:bodyPr>
          <a:lstStyle/>
          <a:p>
            <a:r>
              <a:rPr lang="en-GB" sz="1400" dirty="0"/>
              <a:t>Error estimate function: </a:t>
            </a:r>
          </a:p>
        </p:txBody>
      </p:sp>
      <p:sp>
        <p:nvSpPr>
          <p:cNvPr id="6" name="TextBox 5"/>
          <p:cNvSpPr txBox="1"/>
          <p:nvPr/>
        </p:nvSpPr>
        <p:spPr>
          <a:xfrm>
            <a:off x="2936648" y="6094710"/>
            <a:ext cx="6045309" cy="646331"/>
          </a:xfrm>
          <a:prstGeom prst="rect">
            <a:avLst/>
          </a:prstGeom>
          <a:noFill/>
        </p:spPr>
        <p:txBody>
          <a:bodyPr wrap="none" rtlCol="0">
            <a:spAutoFit/>
          </a:bodyPr>
          <a:lstStyle/>
          <a:p>
            <a:r>
              <a:rPr lang="en-GB" dirty="0"/>
              <a:t>Another error-estimation method uses the Chi</a:t>
            </a:r>
            <a:r>
              <a:rPr lang="en-GB" baseline="30000" dirty="0"/>
              <a:t>2</a:t>
            </a:r>
            <a:r>
              <a:rPr lang="en-GB" dirty="0"/>
              <a:t> test</a:t>
            </a:r>
          </a:p>
          <a:p>
            <a:r>
              <a:rPr lang="en-GB" dirty="0">
                <a:hlinkClick r:id="rId4"/>
              </a:rPr>
              <a:t>https://www.saedsayad.com/categorical_categorical.htm</a:t>
            </a:r>
            <a:r>
              <a:rPr lang="en-GB" dirty="0"/>
              <a:t>  </a:t>
            </a:r>
          </a:p>
        </p:txBody>
      </p:sp>
    </p:spTree>
    <p:extLst>
      <p:ext uri="{BB962C8B-B14F-4D97-AF65-F5344CB8AC3E}">
        <p14:creationId xmlns:p14="http://schemas.microsoft.com/office/powerpoint/2010/main" val="2578905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Pruning example</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967" y="1295400"/>
            <a:ext cx="5257800" cy="5308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H="1" flipV="1">
            <a:off x="3962767" y="4893339"/>
            <a:ext cx="685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048734" y="4614108"/>
            <a:ext cx="914033" cy="338554"/>
          </a:xfrm>
          <a:prstGeom prst="rect">
            <a:avLst/>
          </a:prstGeom>
          <a:noFill/>
        </p:spPr>
        <p:txBody>
          <a:bodyPr wrap="none" rtlCol="0">
            <a:spAutoFit/>
          </a:bodyPr>
          <a:lstStyle/>
          <a:p>
            <a:r>
              <a:rPr lang="en-GB" sz="1600" dirty="0"/>
              <a:t>2 wrong</a:t>
            </a:r>
          </a:p>
        </p:txBody>
      </p:sp>
      <p:sp>
        <p:nvSpPr>
          <p:cNvPr id="8" name="TextBox 7"/>
          <p:cNvSpPr txBox="1"/>
          <p:nvPr/>
        </p:nvSpPr>
        <p:spPr>
          <a:xfrm>
            <a:off x="8306167" y="4952662"/>
            <a:ext cx="914033" cy="338554"/>
          </a:xfrm>
          <a:prstGeom prst="rect">
            <a:avLst/>
          </a:prstGeom>
          <a:noFill/>
        </p:spPr>
        <p:txBody>
          <a:bodyPr wrap="none" rtlCol="0">
            <a:spAutoFit/>
          </a:bodyPr>
          <a:lstStyle/>
          <a:p>
            <a:r>
              <a:rPr lang="en-GB" sz="1600" dirty="0"/>
              <a:t>2 wrong</a:t>
            </a:r>
          </a:p>
        </p:txBody>
      </p:sp>
      <p:cxnSp>
        <p:nvCxnSpPr>
          <p:cNvPr id="9" name="Straight Arrow Connector 8"/>
          <p:cNvCxnSpPr/>
          <p:nvPr/>
        </p:nvCxnSpPr>
        <p:spPr>
          <a:xfrm flipV="1">
            <a:off x="7925167" y="5156114"/>
            <a:ext cx="762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574832" y="5002226"/>
            <a:ext cx="821059" cy="307777"/>
          </a:xfrm>
          <a:prstGeom prst="rect">
            <a:avLst/>
          </a:prstGeom>
          <a:noFill/>
        </p:spPr>
        <p:txBody>
          <a:bodyPr wrap="none" rtlCol="0">
            <a:spAutoFit/>
          </a:bodyPr>
          <a:lstStyle/>
          <a:p>
            <a:r>
              <a:rPr lang="en-GB" sz="1400" dirty="0"/>
              <a:t>1 wrong</a:t>
            </a:r>
          </a:p>
        </p:txBody>
      </p:sp>
      <p:cxnSp>
        <p:nvCxnSpPr>
          <p:cNvPr id="12" name="Straight Arrow Connector 11"/>
          <p:cNvCxnSpPr/>
          <p:nvPr/>
        </p:nvCxnSpPr>
        <p:spPr>
          <a:xfrm flipV="1">
            <a:off x="6401167" y="5156115"/>
            <a:ext cx="304800" cy="2879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447800" y="1230868"/>
            <a:ext cx="3079898" cy="738664"/>
          </a:xfrm>
          <a:prstGeom prst="rect">
            <a:avLst/>
          </a:prstGeom>
        </p:spPr>
        <p:txBody>
          <a:bodyPr wrap="square">
            <a:spAutoFit/>
          </a:bodyPr>
          <a:lstStyle/>
          <a:p>
            <a:r>
              <a:rPr lang="en-GB" sz="1400" dirty="0"/>
              <a:t>In the following example we set </a:t>
            </a:r>
            <a:r>
              <a:rPr lang="en-GB" sz="1400" i="1" dirty="0"/>
              <a:t>Z</a:t>
            </a:r>
            <a:r>
              <a:rPr lang="en-GB" sz="1400" dirty="0"/>
              <a:t> to 0.69 which is equal to a confidence level of 75%</a:t>
            </a:r>
          </a:p>
        </p:txBody>
      </p: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0689" y="2133600"/>
            <a:ext cx="2957878" cy="1505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77378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 and Space complexity</a:t>
            </a:r>
          </a:p>
        </p:txBody>
      </p:sp>
      <p:sp>
        <p:nvSpPr>
          <p:cNvPr id="3" name="Content Placeholder 2"/>
          <p:cNvSpPr>
            <a:spLocks noGrp="1"/>
          </p:cNvSpPr>
          <p:nvPr>
            <p:ph idx="1"/>
          </p:nvPr>
        </p:nvSpPr>
        <p:spPr/>
        <p:txBody>
          <a:bodyPr/>
          <a:lstStyle/>
          <a:p>
            <a:r>
              <a:rPr lang="en-GB" b="1" dirty="0"/>
              <a:t>Training phase : </a:t>
            </a:r>
            <a:endParaRPr lang="en-GB" dirty="0"/>
          </a:p>
          <a:p>
            <a:pPr marL="0" indent="0">
              <a:buNone/>
            </a:pPr>
            <a:r>
              <a:rPr lang="en-GB" dirty="0"/>
              <a:t>T (n) = O (</a:t>
            </a:r>
            <a:r>
              <a:rPr lang="en-GB" dirty="0" err="1"/>
              <a:t>n log n</a:t>
            </a:r>
            <a:r>
              <a:rPr lang="en-GB" dirty="0"/>
              <a:t> · m) for the greedy algorithm; finding the optimal tree is NP-hard (</a:t>
            </a:r>
            <a:r>
              <a:rPr lang="en-GB" dirty="0">
                <a:hlinkClick r:id="rId2"/>
              </a:rPr>
              <a:t>here is the proof</a:t>
            </a:r>
            <a:r>
              <a:rPr lang="en-GB" dirty="0"/>
              <a:t>)</a:t>
            </a:r>
          </a:p>
          <a:p>
            <a:pPr marL="0" indent="0">
              <a:buNone/>
            </a:pPr>
            <a:r>
              <a:rPr lang="en-GB" dirty="0"/>
              <a:t>Where m = number of features</a:t>
            </a:r>
          </a:p>
          <a:p>
            <a:pPr marL="0" indent="0">
              <a:buNone/>
            </a:pPr>
            <a:r>
              <a:rPr lang="en-GB" b="1" dirty="0"/>
              <a:t>Testing phase:</a:t>
            </a:r>
            <a:endParaRPr lang="en-GB" dirty="0"/>
          </a:p>
          <a:p>
            <a:pPr marL="0" indent="0">
              <a:buNone/>
            </a:pPr>
            <a:r>
              <a:rPr lang="en-GB" dirty="0"/>
              <a:t>S (n) = script of nested if-else condition</a:t>
            </a:r>
          </a:p>
          <a:p>
            <a:pPr marL="0" indent="0">
              <a:buNone/>
            </a:pPr>
            <a:r>
              <a:rPr lang="en-GB" dirty="0"/>
              <a:t>∴ </a:t>
            </a:r>
            <a:r>
              <a:rPr lang="en-GB" b="1" dirty="0"/>
              <a:t> </a:t>
            </a:r>
            <a:r>
              <a:rPr lang="en-GB" dirty="0"/>
              <a:t>S (n) = O (Total nodes)</a:t>
            </a:r>
          </a:p>
          <a:p>
            <a:pPr marL="0" indent="0">
              <a:buNone/>
            </a:pPr>
            <a:r>
              <a:rPr lang="en-GB" dirty="0"/>
              <a:t>T (n) = O (Depth)</a:t>
            </a:r>
          </a:p>
          <a:p>
            <a:endParaRPr lang="en-GB" dirty="0"/>
          </a:p>
        </p:txBody>
      </p:sp>
    </p:spTree>
    <p:extLst>
      <p:ext uri="{BB962C8B-B14F-4D97-AF65-F5344CB8AC3E}">
        <p14:creationId xmlns:p14="http://schemas.microsoft.com/office/powerpoint/2010/main" val="2717563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Summarisation: </a:t>
            </a:r>
            <a:br>
              <a:rPr lang="en-GB" b="1" dirty="0"/>
            </a:br>
            <a:r>
              <a:rPr lang="en-GB" b="1" dirty="0"/>
              <a:t>Pros and Cons of the decision tree</a:t>
            </a:r>
            <a:endParaRPr lang="en-GB" dirty="0"/>
          </a:p>
        </p:txBody>
      </p:sp>
      <p:sp>
        <p:nvSpPr>
          <p:cNvPr id="3" name="Content Placeholder 2"/>
          <p:cNvSpPr>
            <a:spLocks noGrp="1"/>
          </p:cNvSpPr>
          <p:nvPr>
            <p:ph idx="1"/>
          </p:nvPr>
        </p:nvSpPr>
        <p:spPr/>
        <p:txBody>
          <a:bodyPr>
            <a:normAutofit/>
          </a:bodyPr>
          <a:lstStyle/>
          <a:p>
            <a:pPr marL="0" indent="0">
              <a:buNone/>
            </a:pPr>
            <a:r>
              <a:rPr lang="en-GB" b="1" dirty="0"/>
              <a:t>Pros:  </a:t>
            </a:r>
            <a:endParaRPr lang="en-GB" dirty="0"/>
          </a:p>
          <a:p>
            <a:pPr marL="731520" lvl="1" indent="-457200">
              <a:buFont typeface="+mj-lt"/>
              <a:buAutoNum type="arabicPeriod"/>
            </a:pPr>
            <a:r>
              <a:rPr lang="en-GB" dirty="0"/>
              <a:t>DT is a sequence of if-else which is highly interpretable to humans.</a:t>
            </a:r>
          </a:p>
          <a:p>
            <a:pPr marL="731520" lvl="1" indent="-457200">
              <a:buFont typeface="+mj-lt"/>
              <a:buAutoNum type="arabicPeriod"/>
            </a:pPr>
            <a:r>
              <a:rPr lang="en-GB" dirty="0"/>
              <a:t>It handles the irrelevant attributes easily.</a:t>
            </a:r>
          </a:p>
          <a:p>
            <a:pPr marL="731520" lvl="1" indent="-457200">
              <a:buFont typeface="+mj-lt"/>
              <a:buAutoNum type="arabicPeriod"/>
            </a:pPr>
            <a:r>
              <a:rPr lang="en-GB" dirty="0"/>
              <a:t>DT handles multiclass classification naturally.</a:t>
            </a:r>
          </a:p>
          <a:p>
            <a:pPr marL="731520" lvl="1" indent="-457200">
              <a:buFont typeface="+mj-lt"/>
              <a:buAutoNum type="arabicPeriod"/>
            </a:pPr>
            <a:r>
              <a:rPr lang="en-GB" dirty="0"/>
              <a:t>Once the DT is built it becomes very fast at the testing time.</a:t>
            </a:r>
          </a:p>
          <a:p>
            <a:pPr marL="731520" lvl="1" indent="-457200">
              <a:buFont typeface="+mj-lt"/>
              <a:buAutoNum type="arabicPeriod"/>
            </a:pPr>
            <a:r>
              <a:rPr lang="en-GB" dirty="0"/>
              <a:t>DTs are very compact.</a:t>
            </a:r>
          </a:p>
          <a:p>
            <a:pPr marL="0" indent="0">
              <a:buNone/>
            </a:pPr>
            <a:r>
              <a:rPr lang="en-GB" b="1" dirty="0"/>
              <a:t>Cons: </a:t>
            </a:r>
            <a:endParaRPr lang="en-GB" dirty="0"/>
          </a:p>
          <a:p>
            <a:pPr marL="731520" lvl="1" indent="-457200">
              <a:buFont typeface="+mj-lt"/>
              <a:buAutoNum type="arabicPeriod"/>
            </a:pPr>
            <a:r>
              <a:rPr lang="en-GB" dirty="0"/>
              <a:t>The decision tree may not always find the best tree because it uses a greedy approach to build the tree.</a:t>
            </a:r>
          </a:p>
          <a:p>
            <a:pPr marL="731520" lvl="1" indent="-457200">
              <a:buFont typeface="+mj-lt"/>
              <a:buAutoNum type="arabicPeriod"/>
            </a:pPr>
            <a:r>
              <a:rPr lang="en-GB" dirty="0"/>
              <a:t>For very high-dimensional data, the training time is high.</a:t>
            </a:r>
          </a:p>
          <a:p>
            <a:pPr marL="731520" lvl="1" indent="-457200">
              <a:buFont typeface="+mj-lt"/>
              <a:buAutoNum type="arabicPeriod"/>
            </a:pPr>
            <a:r>
              <a:rPr lang="en-GB" dirty="0"/>
              <a:t>DT only forms axis-parallel hyperplanes for real-valued attributes.</a:t>
            </a:r>
          </a:p>
          <a:p>
            <a:endParaRPr lang="en-GB" dirty="0"/>
          </a:p>
        </p:txBody>
      </p:sp>
    </p:spTree>
    <p:extLst>
      <p:ext uri="{BB962C8B-B14F-4D97-AF65-F5344CB8AC3E}">
        <p14:creationId xmlns:p14="http://schemas.microsoft.com/office/powerpoint/2010/main" val="30076419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Next Week</a:t>
            </a:r>
          </a:p>
        </p:txBody>
      </p:sp>
      <p:sp>
        <p:nvSpPr>
          <p:cNvPr id="3" name="Content Placeholder 2"/>
          <p:cNvSpPr>
            <a:spLocks noGrp="1"/>
          </p:cNvSpPr>
          <p:nvPr>
            <p:ph idx="1"/>
          </p:nvPr>
        </p:nvSpPr>
        <p:spPr/>
        <p:txBody>
          <a:bodyPr/>
          <a:lstStyle/>
          <a:p>
            <a:pPr marL="457200" indent="-457200">
              <a:buAutoNum type="arabicPeriod"/>
            </a:pPr>
            <a:r>
              <a:rPr lang="en-GB" dirty="0"/>
              <a:t>Random Forest</a:t>
            </a:r>
          </a:p>
          <a:p>
            <a:pPr marL="457200" indent="-457200">
              <a:buAutoNum type="arabicPeriod"/>
            </a:pPr>
            <a:r>
              <a:rPr lang="en-GB" dirty="0"/>
              <a:t>K-NN  </a:t>
            </a:r>
          </a:p>
        </p:txBody>
      </p:sp>
    </p:spTree>
    <p:extLst>
      <p:ext uri="{BB962C8B-B14F-4D97-AF65-F5344CB8AC3E}">
        <p14:creationId xmlns:p14="http://schemas.microsoft.com/office/powerpoint/2010/main" val="1827042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48C56-B1EA-4DF2-970A-85ACB3ABEB26}"/>
              </a:ext>
            </a:extLst>
          </p:cNvPr>
          <p:cNvSpPr>
            <a:spLocks noGrp="1"/>
          </p:cNvSpPr>
          <p:nvPr>
            <p:ph type="title"/>
          </p:nvPr>
        </p:nvSpPr>
        <p:spPr/>
        <p:txBody>
          <a:bodyPr/>
          <a:lstStyle/>
          <a:p>
            <a:r>
              <a:rPr lang="en-GB" dirty="0"/>
              <a:t>Now let’s do DT using Python </a:t>
            </a:r>
          </a:p>
        </p:txBody>
      </p:sp>
      <p:sp>
        <p:nvSpPr>
          <p:cNvPr id="3" name="Content Placeholder 2">
            <a:extLst>
              <a:ext uri="{FF2B5EF4-FFF2-40B4-BE49-F238E27FC236}">
                <a16:creationId xmlns:a16="http://schemas.microsoft.com/office/drawing/2014/main" id="{3A084B2A-A173-42B2-AB9B-0B2CECC67294}"/>
              </a:ext>
            </a:extLst>
          </p:cNvPr>
          <p:cNvSpPr>
            <a:spLocks noGrp="1"/>
          </p:cNvSpPr>
          <p:nvPr>
            <p:ph idx="1"/>
          </p:nvPr>
        </p:nvSpPr>
        <p:spPr/>
        <p:txBody>
          <a:bodyPr/>
          <a:lstStyle/>
          <a:p>
            <a:r>
              <a:rPr lang="en-GB" dirty="0"/>
              <a:t>Lab practice: this week’s folder on the course website – the worked example notebook (2 Lecture Demos) and the lab sheet (3 Tutorial)</a:t>
            </a:r>
          </a:p>
        </p:txBody>
      </p:sp>
    </p:spTree>
    <p:extLst>
      <p:ext uri="{BB962C8B-B14F-4D97-AF65-F5344CB8AC3E}">
        <p14:creationId xmlns:p14="http://schemas.microsoft.com/office/powerpoint/2010/main" val="3922428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Online references</a:t>
            </a:r>
          </a:p>
        </p:txBody>
      </p:sp>
      <p:sp>
        <p:nvSpPr>
          <p:cNvPr id="3" name="Content Placeholder 2"/>
          <p:cNvSpPr>
            <a:spLocks noGrp="1"/>
          </p:cNvSpPr>
          <p:nvPr>
            <p:ph idx="1"/>
          </p:nvPr>
        </p:nvSpPr>
        <p:spPr/>
        <p:txBody>
          <a:bodyPr>
            <a:normAutofit fontScale="92500" lnSpcReduction="10000"/>
          </a:bodyPr>
          <a:lstStyle/>
          <a:p>
            <a:r>
              <a:rPr lang="en-GB" dirty="0">
                <a:hlinkClick r:id="rId2"/>
              </a:rPr>
              <a:t>https://www.tutorialspoint.com/data_mining/dm_classification_prediction.htm</a:t>
            </a:r>
            <a:endParaRPr lang="en-GB" dirty="0"/>
          </a:p>
          <a:p>
            <a:r>
              <a:rPr lang="en-GB" dirty="0">
                <a:hlinkClick r:id="rId3"/>
              </a:rPr>
              <a:t>https://machinelearningmastery.com/types-of-classification-in-machine-learning/</a:t>
            </a:r>
            <a:endParaRPr lang="en-GB" dirty="0"/>
          </a:p>
          <a:p>
            <a:r>
              <a:rPr lang="en-GB" dirty="0">
                <a:hlinkClick r:id="rId4"/>
              </a:rPr>
              <a:t>https://www.softwaretestinghelp.com/decision-tree-algorithm-examples-data-mining/</a:t>
            </a:r>
            <a:endParaRPr lang="en-GB" dirty="0"/>
          </a:p>
          <a:p>
            <a:r>
              <a:rPr lang="en-GB" dirty="0">
                <a:hlinkClick r:id="rId5"/>
              </a:rPr>
              <a:t>https://www.aitimejournal.com/@akshay.chavan/a-comprehensive-guide-to-decision-tree-learning</a:t>
            </a:r>
            <a:r>
              <a:rPr lang="en-GB" dirty="0"/>
              <a:t> </a:t>
            </a:r>
          </a:p>
          <a:p>
            <a:r>
              <a:rPr lang="en-GB" dirty="0">
                <a:hlinkClick r:id="rId6"/>
              </a:rPr>
              <a:t>https://www.saedsayad.com/decision_tree_overfitting.htm</a:t>
            </a:r>
            <a:r>
              <a:rPr lang="en-GB" dirty="0"/>
              <a:t> </a:t>
            </a:r>
          </a:p>
          <a:p>
            <a:r>
              <a:rPr lang="en-GB" dirty="0">
                <a:hlinkClick r:id="rId7"/>
              </a:rPr>
              <a:t>https://machinelearningmastery.com/implement-decision-tree-algorithm-scratch-python/</a:t>
            </a:r>
            <a:endParaRPr lang="en-GB" dirty="0"/>
          </a:p>
          <a:p>
            <a:r>
              <a:rPr lang="en-GB" dirty="0">
                <a:hlinkClick r:id="rId8"/>
              </a:rPr>
              <a:t>https://stackabuse.com/decision-trees-in-python-with-scikit-learn/</a:t>
            </a:r>
            <a:r>
              <a:rPr lang="en-GB" dirty="0"/>
              <a:t> </a:t>
            </a:r>
          </a:p>
          <a:p>
            <a:endParaRPr lang="en-GB" dirty="0"/>
          </a:p>
          <a:p>
            <a:endParaRPr lang="en-GB" dirty="0"/>
          </a:p>
        </p:txBody>
      </p:sp>
    </p:spTree>
    <p:extLst>
      <p:ext uri="{BB962C8B-B14F-4D97-AF65-F5344CB8AC3E}">
        <p14:creationId xmlns:p14="http://schemas.microsoft.com/office/powerpoint/2010/main" val="2021313278"/>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3736</TotalTime>
  <Words>2664</Words>
  <Application>Microsoft Office PowerPoint</Application>
  <PresentationFormat>Προβολή στην οθόνη (4:3)</PresentationFormat>
  <Paragraphs>273</Paragraphs>
  <Slides>44</Slides>
  <Notes>4</Notes>
  <HiddenSlides>0</HiddenSlides>
  <MMClips>0</MMClips>
  <ScaleCrop>false</ScaleCrop>
  <HeadingPairs>
    <vt:vector size="6" baseType="variant">
      <vt:variant>
        <vt:lpstr>Γραμματοσειρές που χρησιμοποιούνται</vt:lpstr>
      </vt:variant>
      <vt:variant>
        <vt:i4>3</vt:i4>
      </vt:variant>
      <vt:variant>
        <vt:lpstr>Θέμα</vt:lpstr>
      </vt:variant>
      <vt:variant>
        <vt:i4>1</vt:i4>
      </vt:variant>
      <vt:variant>
        <vt:lpstr>Τίτλοι διαφανειών</vt:lpstr>
      </vt:variant>
      <vt:variant>
        <vt:i4>44</vt:i4>
      </vt:variant>
    </vt:vector>
  </HeadingPairs>
  <TitlesOfParts>
    <vt:vector size="48" baseType="lpstr">
      <vt:lpstr>Arial</vt:lpstr>
      <vt:lpstr>Calibri</vt:lpstr>
      <vt:lpstr>Cambria Math</vt:lpstr>
      <vt:lpstr>2_Office Theme</vt:lpstr>
      <vt:lpstr>Classification Problem and Decision Tree  </vt:lpstr>
      <vt:lpstr>Declaration </vt:lpstr>
      <vt:lpstr>Classification problems in machine learning</vt:lpstr>
      <vt:lpstr>Different types of classification problems</vt:lpstr>
      <vt:lpstr>Binary Classification</vt:lpstr>
      <vt:lpstr>Multi-Class Classification</vt:lpstr>
      <vt:lpstr>Multi-Label Classification</vt:lpstr>
      <vt:lpstr>Imbalanced Classification</vt:lpstr>
      <vt:lpstr>Decision Tree (Induction/Learning)</vt:lpstr>
      <vt:lpstr>Decision Tree Basic Algorithm: construction and output</vt:lpstr>
      <vt:lpstr>Partitioning</vt:lpstr>
      <vt:lpstr>Think (Can you do another DT?) </vt:lpstr>
      <vt:lpstr>Attribute Select Measures</vt:lpstr>
      <vt:lpstr>Well known measuring methods</vt:lpstr>
      <vt:lpstr>Entropy in physics </vt:lpstr>
      <vt:lpstr>Entropy in information theory</vt:lpstr>
      <vt:lpstr>Information Gain Method</vt:lpstr>
      <vt:lpstr>First step: 2-types of entropy computation</vt:lpstr>
      <vt:lpstr>2-types of entropy computation</vt:lpstr>
      <vt:lpstr>Second Step: Information Gain Computation steps:</vt:lpstr>
      <vt:lpstr>Information Gain Steps:</vt:lpstr>
      <vt:lpstr>Information Gain Steps:</vt:lpstr>
      <vt:lpstr>Information Gain Steps:</vt:lpstr>
      <vt:lpstr>Information Gain Steps:</vt:lpstr>
      <vt:lpstr>Information Gain steps:</vt:lpstr>
      <vt:lpstr>ID3</vt:lpstr>
      <vt:lpstr>Issue of information gain</vt:lpstr>
      <vt:lpstr>Gain Ratio</vt:lpstr>
      <vt:lpstr>Gain Ratio (Cont.)</vt:lpstr>
      <vt:lpstr>Gain Ratio results</vt:lpstr>
      <vt:lpstr>Gain Ratio potential issue and C4.5</vt:lpstr>
      <vt:lpstr>Gini Index</vt:lpstr>
      <vt:lpstr>Gini Index example</vt:lpstr>
      <vt:lpstr>Other attribute selection measures </vt:lpstr>
      <vt:lpstr>Avoiding overfitting in decision tree</vt:lpstr>
      <vt:lpstr>Tree Pruning</vt:lpstr>
      <vt:lpstr>Self-study part for your interest</vt:lpstr>
      <vt:lpstr>Post-pruning in detail </vt:lpstr>
      <vt:lpstr>Pruning example</vt:lpstr>
      <vt:lpstr>Time and Space complexity</vt:lpstr>
      <vt:lpstr>Summarisation:  Pros and Cons of the decision tree</vt:lpstr>
      <vt:lpstr>Next Week</vt:lpstr>
      <vt:lpstr>Now let’s do DT using Python </vt:lpstr>
      <vt:lpstr>Online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Decision tree</dc:title>
  <dc:creator>Maxwell Yu</dc:creator>
  <cp:lastModifiedBy>Giannis Tsioulis</cp:lastModifiedBy>
  <cp:revision>76</cp:revision>
  <dcterms:created xsi:type="dcterms:W3CDTF">2006-08-16T00:00:00Z</dcterms:created>
  <dcterms:modified xsi:type="dcterms:W3CDTF">2025-11-04T20:24:06Z</dcterms:modified>
</cp:coreProperties>
</file>