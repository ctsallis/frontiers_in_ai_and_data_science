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5" r:id="rId24"/>
    <p:sldId id="262" r:id="rId8"/>
    <p:sldId id="263" r:id="rId9"/>
    <p:sldId id="265" r:id="rId10"/>
    <p:sldId id="266" r:id="rId11"/>
    <p:sldId id="267" r:id="rId12"/>
    <p:sldId id="268" r:id="rId13"/>
    <p:sldId id="272" r:id="rId14"/>
    <p:sldId id="274" r:id="rId23"/>
    <p:sldId id="269" r:id="rId15"/>
    <p:sldId id="271"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887CD3-672D-4BBE-AA47-6568B386DFAB}" v="27" dt="2024-03-18T15:11:16.2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varScale="1">
        <p:scale>
          <a:sx n="96" d="100"/>
          <a:sy n="96" d="100"/>
        </p:scale>
        <p:origin x="41"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5/10/relationships/revisionInfo" Target="revisionInfo.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89F17-58B5-8B8F-EC17-D5BDDF2806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F7DE150-66A0-7713-0EB7-2DEE1F036E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37A0E50-1ACC-5B95-C147-5B462D54407F}"/>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E1A1104F-FD5E-06D8-9CA1-DA58B73D77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89FBA6-5E62-9FF0-AB25-0D51BC3CB736}"/>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3056003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B8E49-99B8-F340-BC44-B9F0C7DA82E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E88515-FFD3-62EF-ACFE-CCD969ABE3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68B894-9BC3-7BCC-8FC3-C0FB33AFCE70}"/>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4AE33931-A12C-9421-BEF1-64A88B5D19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E56A21-770B-7C10-8D15-49FE2B57FBF8}"/>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106686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A4983-1AA0-A335-DFFF-7DCAF2462C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8210ADB-C348-8720-7E25-F5F63DBF58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738B9C-74E8-D4A3-0B0D-5C48E1CD332B}"/>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CDBDD485-D3D5-DE18-50F4-795947F084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7CD9063-4C49-5301-3BCF-07128E87B21E}"/>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1961757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4D468-5543-6EFF-18AC-4BC9CB401DD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B8088F0-6140-E1B5-192B-153B7C54D9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2E11344-DBB9-ED28-3B43-40BF292BC9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BB88EDC-AD16-F066-18FF-A87D96B8925F}"/>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6" name="Footer Placeholder 5">
            <a:extLst>
              <a:ext uri="{FF2B5EF4-FFF2-40B4-BE49-F238E27FC236}">
                <a16:creationId xmlns:a16="http://schemas.microsoft.com/office/drawing/2014/main" id="{AAA7AEF7-6300-FD5D-0A97-AFC38B469C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4A69900-9FDA-3572-B553-C54C718C2D2D}"/>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2380859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A631-9E25-FE9B-DAFB-8498DE064DF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F3813A1-213F-758B-7F8F-13B0C88EA0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B014B2-0C4B-07C1-348B-4B31B4BD1F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615CEA8-20EF-CD0D-6A11-62B49E9701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F813AB-8998-9FA6-148B-429E8AA793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ED42DEB-CC34-14EE-A7B0-2EFBA6666319}"/>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8" name="Footer Placeholder 7">
            <a:extLst>
              <a:ext uri="{FF2B5EF4-FFF2-40B4-BE49-F238E27FC236}">
                <a16:creationId xmlns:a16="http://schemas.microsoft.com/office/drawing/2014/main" id="{29B56EDF-916D-DD05-6278-B2E072462E9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A01F218-0401-76AC-B871-8D169EC32310}"/>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35202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FEF4F-74D3-04CD-B0FC-96A697ED803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CC005BB-DAD6-AA53-09B3-A786D9558BBE}"/>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4" name="Footer Placeholder 3">
            <a:extLst>
              <a:ext uri="{FF2B5EF4-FFF2-40B4-BE49-F238E27FC236}">
                <a16:creationId xmlns:a16="http://schemas.microsoft.com/office/drawing/2014/main" id="{EC6A39D0-8D1D-8BFB-75A3-82FF883D3DF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C966A75-F1AE-832B-6B36-5766BB9A1E77}"/>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1356785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526612-F91F-ACD2-BA71-BFA8ADBA4EA1}"/>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3" name="Footer Placeholder 2">
            <a:extLst>
              <a:ext uri="{FF2B5EF4-FFF2-40B4-BE49-F238E27FC236}">
                <a16:creationId xmlns:a16="http://schemas.microsoft.com/office/drawing/2014/main" id="{D072B4E2-2B21-FFE9-1B25-507D857CF21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C6F1C6C-29CB-8BD0-85FB-B2DBFE8050AC}"/>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216221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68210-8A08-5D54-B781-E6EAF7ABF6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1D2288C-8268-09A0-546E-FE7D1A9064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B48EDC8-EF9D-71F4-B592-593578F8F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09942D-FAC0-AA50-BAD8-5711DA7CAA74}"/>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6" name="Footer Placeholder 5">
            <a:extLst>
              <a:ext uri="{FF2B5EF4-FFF2-40B4-BE49-F238E27FC236}">
                <a16:creationId xmlns:a16="http://schemas.microsoft.com/office/drawing/2014/main" id="{21704FD3-E4CB-1F68-861B-139F2787A1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1E066A7-E7F9-5E53-68A2-4E188380F863}"/>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1841112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7D04D-7F63-9265-006F-9EE5938C16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CEF6351-6C21-56BD-A053-D7BB16CE8E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2C03FF3-B49B-61EB-5BE7-4B7F8B842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BFA620-266B-7ECD-99EE-4873178C099B}"/>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6" name="Footer Placeholder 5">
            <a:extLst>
              <a:ext uri="{FF2B5EF4-FFF2-40B4-BE49-F238E27FC236}">
                <a16:creationId xmlns:a16="http://schemas.microsoft.com/office/drawing/2014/main" id="{27EE2D29-CEED-5886-D712-3A23088D502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98B5F99-E20D-B7FF-7BC9-6405FF1B78E3}"/>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2076413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6F93C-7745-4EC9-F64C-BE9E283572A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866DF66-8E57-E65D-98B7-415A235C70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7CFB60D-8CBE-1858-B52B-D392EB01FAB1}"/>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1DF0C29D-AE98-AC79-309C-41F1AC60DD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6FE89F4-5C47-F535-7555-6394DB76BEBA}"/>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3341648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55F096-ED20-AFB7-66A0-D59963DF76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8906344-7DFE-6D04-33BF-522E53D575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EFECDF-6F12-F9F3-15AC-E61798ACD689}"/>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E20976FF-06B8-B965-6D1A-32D04C069D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011018B-CBEF-C548-05B2-F706DA121F63}"/>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42704003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7A0DCC-1441-2D07-C8F5-ECADFC63AD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9A2B59-58B4-0587-6CB0-B34A46122B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AF3D14B-BF90-DB71-6042-91C3D4B1C3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C8AE1840-7141-F173-8A59-3B6B5BA9B6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2958D8B-787B-3947-1DC7-0AAA3FDFA3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013885-5630-4941-BF16-6351DE0F3EB6}" type="slidenum">
              <a:rPr lang="en-GB" smtClean="0"/>
              <a:t>‹#›</a:t>
            </a:fld>
            <a:endParaRPr lang="en-GB"/>
          </a:p>
        </p:txBody>
      </p:sp>
    </p:spTree>
    <p:extLst>
      <p:ext uri="{BB962C8B-B14F-4D97-AF65-F5344CB8AC3E}">
        <p14:creationId xmlns:p14="http://schemas.microsoft.com/office/powerpoint/2010/main" val="67636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hyperlink" Target="https://colab.research.google.com/github/tensorflow/tensor2tensor/blob/master/tensor2tensor/notebooks/hello_t2t.ipynb#scrollTo=T7UJzFf6fmh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hyperlink" Target="https://towardsdatascience.com/attention-please-85bd0abac4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eg"/><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02C01-0C33-7A85-477B-3A2145719D48}"/>
              </a:ext>
            </a:extLst>
          </p:cNvPr>
          <p:cNvSpPr>
            <a:spLocks noGrp="1"/>
          </p:cNvSpPr>
          <p:nvPr>
            <p:ph type="ctrTitle"/>
          </p:nvPr>
        </p:nvSpPr>
        <p:spPr/>
        <p:txBody>
          <a:bodyPr/>
          <a:lstStyle/>
          <a:p>
            <a:r>
              <a:rPr lang="en-GB" dirty="0"/>
              <a:t>AI Trends: Generative AI and Prompt Engineering</a:t>
            </a:r>
          </a:p>
        </p:txBody>
      </p:sp>
      <p:sp>
        <p:nvSpPr>
          <p:cNvPr id="3" name="Subtitle 2">
            <a:extLst>
              <a:ext uri="{FF2B5EF4-FFF2-40B4-BE49-F238E27FC236}">
                <a16:creationId xmlns:a16="http://schemas.microsoft.com/office/drawing/2014/main" id="{1611061C-64DE-DDC4-2A09-F029E4B1D3D0}"/>
              </a:ext>
            </a:extLst>
          </p:cNvPr>
          <p:cNvSpPr>
            <a:spLocks noGrp="1"/>
          </p:cNvSpPr>
          <p:nvPr>
            <p:ph type="subTitle" idx="1"/>
          </p:nvPr>
        </p:nvSpPr>
        <p:spPr/>
        <p:txBody>
          <a:bodyPr/>
          <a:lstStyle/>
          <a:p>
            <a:r>
              <a:rPr lang="en-GB" dirty="0"/>
              <a:t>Dr </a:t>
            </a:r>
            <a:r>
              <a:rPr lang="en-GB" dirty="0" err="1"/>
              <a:t>Hongqing</a:t>
            </a:r>
            <a:r>
              <a:rPr lang="en-GB" dirty="0"/>
              <a:t> (Harry) Yu</a:t>
            </a:r>
          </a:p>
        </p:txBody>
      </p:sp>
    </p:spTree>
    <p:extLst>
      <p:ext uri="{BB962C8B-B14F-4D97-AF65-F5344CB8AC3E}">
        <p14:creationId xmlns:p14="http://schemas.microsoft.com/office/powerpoint/2010/main" val="921230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EA50D-7160-4CFA-A48B-A94CDC96EBA0}"/>
              </a:ext>
            </a:extLst>
          </p:cNvPr>
          <p:cNvSpPr>
            <a:spLocks noGrp="1"/>
          </p:cNvSpPr>
          <p:nvPr>
            <p:ph type="title"/>
          </p:nvPr>
        </p:nvSpPr>
        <p:spPr/>
        <p:txBody>
          <a:bodyPr/>
          <a:lstStyle/>
          <a:p>
            <a:r>
              <a:rPr lang="en-GB" b="1" dirty="0"/>
              <a:t>AI Trends</a:t>
            </a:r>
          </a:p>
        </p:txBody>
      </p:sp>
      <p:sp>
        <p:nvSpPr>
          <p:cNvPr id="3" name="Content Placeholder 2">
            <a:extLst>
              <a:ext uri="{FF2B5EF4-FFF2-40B4-BE49-F238E27FC236}">
                <a16:creationId xmlns:a16="http://schemas.microsoft.com/office/drawing/2014/main" id="{7223165F-0C53-4248-6F59-2476873ADB6C}"/>
              </a:ext>
            </a:extLst>
          </p:cNvPr>
          <p:cNvSpPr>
            <a:spLocks noGrp="1"/>
          </p:cNvSpPr>
          <p:nvPr>
            <p:ph idx="1"/>
          </p:nvPr>
        </p:nvSpPr>
        <p:spPr/>
        <p:txBody>
          <a:bodyPr/>
          <a:lstStyle/>
          <a:p>
            <a:r>
              <a:rPr lang="en-GB" dirty="0"/>
              <a:t>More explainable AI (XAI), and more powerful AI chips to support deep learning algorithms</a:t>
            </a:r>
          </a:p>
          <a:p>
            <a:r>
              <a:rPr lang="en-GB" dirty="0"/>
              <a:t>Generative AI (</a:t>
            </a:r>
            <a:r>
              <a:rPr lang="en-GB" dirty="0" err="1"/>
              <a:t>GenAI</a:t>
            </a:r>
            <a:r>
              <a:rPr lang="en-GB" dirty="0"/>
              <a:t>)</a:t>
            </a:r>
          </a:p>
          <a:p>
            <a:r>
              <a:rPr lang="en-GB" dirty="0"/>
              <a:t>Prompt Engineering</a:t>
            </a:r>
          </a:p>
          <a:p>
            <a:endParaRPr lang="en-GB" dirty="0"/>
          </a:p>
        </p:txBody>
      </p:sp>
    </p:spTree>
    <p:extLst>
      <p:ext uri="{BB962C8B-B14F-4D97-AF65-F5344CB8AC3E}">
        <p14:creationId xmlns:p14="http://schemas.microsoft.com/office/powerpoint/2010/main" val="1337104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DC75F-A27A-69DC-0FFC-F23DF571F666}"/>
              </a:ext>
            </a:extLst>
          </p:cNvPr>
          <p:cNvSpPr>
            <a:spLocks noGrp="1"/>
          </p:cNvSpPr>
          <p:nvPr>
            <p:ph type="title"/>
          </p:nvPr>
        </p:nvSpPr>
        <p:spPr/>
        <p:txBody>
          <a:bodyPr/>
          <a:lstStyle/>
          <a:p>
            <a:r>
              <a:rPr lang="en-GB" b="1" dirty="0"/>
              <a:t>What is </a:t>
            </a:r>
            <a:r>
              <a:rPr lang="en-GB" b="1" dirty="0" err="1"/>
              <a:t>GenAI</a:t>
            </a:r>
            <a:r>
              <a:rPr lang="en-GB" b="1" dirty="0"/>
              <a:t> and Its Capabilities</a:t>
            </a:r>
          </a:p>
        </p:txBody>
      </p:sp>
      <p:sp>
        <p:nvSpPr>
          <p:cNvPr id="3" name="Content Placeholder 2">
            <a:extLst>
              <a:ext uri="{FF2B5EF4-FFF2-40B4-BE49-F238E27FC236}">
                <a16:creationId xmlns:a16="http://schemas.microsoft.com/office/drawing/2014/main" id="{99C43F69-E141-C593-ACB2-B07D7BE23522}"/>
              </a:ext>
            </a:extLst>
          </p:cNvPr>
          <p:cNvSpPr>
            <a:spLocks noGrp="1"/>
          </p:cNvSpPr>
          <p:nvPr>
            <p:ph idx="1"/>
          </p:nvPr>
        </p:nvSpPr>
        <p:spPr/>
        <p:txBody>
          <a:bodyPr>
            <a:normAutofit fontScale="40000" lnSpcReduction="20000"/>
          </a:bodyPr>
          <a:lstStyle/>
          <a:p>
            <a:pPr algn="l">
              <a:lnSpc>
                <a:spcPct val="170000"/>
              </a:lnSpc>
              <a:spcBef>
                <a:spcPts val="600"/>
              </a:spcBef>
            </a:pPr>
            <a:r>
              <a:rPr lang="en-GB" sz="3800" b="0" i="0" dirty="0">
                <a:solidFill>
                  <a:srgbClr val="0D0D0D"/>
                </a:solidFill>
                <a:effectLst/>
                <a:latin typeface="Times New Roman" panose="02020603050405020304" pitchFamily="18" charset="0"/>
                <a:cs typeface="Times New Roman" panose="02020603050405020304" pitchFamily="18" charset="0"/>
              </a:rPr>
              <a:t>Generative AI refers to a subset of artificial intelligence technologies and models capable of generating new content that resembles human-created content. Unlike traditional AI, which is designed to recognize patterns, make predictions, or classify data, generative AI goes a step further by producing novel data instances, including text, images, videos, and music. The key feature of generative AI is its ability to understand and replicate the underlying patterns and structures of the input data, allowing it to create outputs that are often indistinguishable from those produced by humans.</a:t>
            </a:r>
          </a:p>
          <a:p>
            <a:pPr algn="l"/>
            <a:r>
              <a:rPr lang="en-GB" sz="3800" b="1" i="0" dirty="0">
                <a:solidFill>
                  <a:srgbClr val="0D0D0D"/>
                </a:solidFill>
                <a:effectLst/>
                <a:latin typeface="Söhne"/>
              </a:rPr>
              <a:t>Capabilities:</a:t>
            </a:r>
          </a:p>
          <a:p>
            <a:pPr marL="0" indent="0" algn="l">
              <a:buNone/>
            </a:pPr>
            <a:endParaRPr lang="en-GB" b="1" i="0" dirty="0">
              <a:solidFill>
                <a:srgbClr val="0D0D0D"/>
              </a:solidFill>
              <a:effectLst/>
              <a:latin typeface="Söhne"/>
            </a:endParaRPr>
          </a:p>
          <a:p>
            <a:pPr marL="457200" lvl="1" indent="0">
              <a:buNone/>
            </a:pPr>
            <a:r>
              <a:rPr lang="en-GB" sz="3300" b="1" i="0" dirty="0">
                <a:solidFill>
                  <a:srgbClr val="0D0D0D"/>
                </a:solidFill>
                <a:effectLst/>
                <a:latin typeface="Söhne"/>
              </a:rPr>
              <a:t>Text Generation</a:t>
            </a:r>
            <a:r>
              <a:rPr lang="en-GB" sz="3300" b="0" i="0" dirty="0">
                <a:solidFill>
                  <a:srgbClr val="0D0D0D"/>
                </a:solidFill>
                <a:effectLst/>
                <a:latin typeface="Söhne"/>
              </a:rPr>
              <a:t>: Produces coherent and contextually relevant text passages, articles, stories, or even code.</a:t>
            </a:r>
          </a:p>
          <a:p>
            <a:pPr marL="457200" lvl="1" indent="0">
              <a:buNone/>
            </a:pPr>
            <a:endParaRPr lang="en-GB" sz="3300" b="0" i="0" dirty="0">
              <a:solidFill>
                <a:srgbClr val="0D0D0D"/>
              </a:solidFill>
              <a:effectLst/>
              <a:latin typeface="Söhne"/>
            </a:endParaRPr>
          </a:p>
          <a:p>
            <a:pPr marL="457200" lvl="1" indent="0">
              <a:buNone/>
            </a:pPr>
            <a:r>
              <a:rPr lang="en-GB" sz="3300" b="1" i="0" dirty="0">
                <a:solidFill>
                  <a:srgbClr val="0D0D0D"/>
                </a:solidFill>
                <a:effectLst/>
                <a:latin typeface="Söhne"/>
              </a:rPr>
              <a:t>Image Creation</a:t>
            </a:r>
            <a:r>
              <a:rPr lang="en-GB" sz="3300" b="0" i="0" dirty="0">
                <a:solidFill>
                  <a:srgbClr val="0D0D0D"/>
                </a:solidFill>
                <a:effectLst/>
                <a:latin typeface="Söhne"/>
              </a:rPr>
              <a:t>: Generates new images based on descriptions, combining elements in novel ways to produce artwork or photorealistic images.</a:t>
            </a:r>
          </a:p>
          <a:p>
            <a:pPr marL="457200" lvl="1" indent="0">
              <a:buNone/>
            </a:pPr>
            <a:endParaRPr lang="en-GB" sz="3300" b="0" i="0" dirty="0">
              <a:solidFill>
                <a:srgbClr val="0D0D0D"/>
              </a:solidFill>
              <a:effectLst/>
              <a:latin typeface="Söhne"/>
            </a:endParaRPr>
          </a:p>
          <a:p>
            <a:pPr marL="457200" lvl="1" indent="0">
              <a:buNone/>
            </a:pPr>
            <a:r>
              <a:rPr lang="en-GB" sz="3300" b="1" i="0" dirty="0">
                <a:solidFill>
                  <a:srgbClr val="0D0D0D"/>
                </a:solidFill>
                <a:effectLst/>
                <a:latin typeface="Söhne"/>
              </a:rPr>
              <a:t>Video Generation</a:t>
            </a:r>
            <a:r>
              <a:rPr lang="en-GB" sz="3300" b="0" i="0" dirty="0">
                <a:solidFill>
                  <a:srgbClr val="0D0D0D"/>
                </a:solidFill>
                <a:effectLst/>
                <a:latin typeface="Söhne"/>
              </a:rPr>
              <a:t>: Creates video clips from textual descriptions, simulating realistic scenarios or animating static images.</a:t>
            </a:r>
          </a:p>
          <a:p>
            <a:pPr marL="457200" lvl="1" indent="0">
              <a:buNone/>
            </a:pPr>
            <a:endParaRPr lang="en-GB" sz="3300" b="0" i="0" dirty="0">
              <a:solidFill>
                <a:srgbClr val="0D0D0D"/>
              </a:solidFill>
              <a:effectLst/>
              <a:latin typeface="Söhne"/>
            </a:endParaRPr>
          </a:p>
          <a:p>
            <a:pPr marL="457200" lvl="1" indent="0">
              <a:buNone/>
            </a:pPr>
            <a:r>
              <a:rPr lang="en-GB" sz="3300" b="1" i="0" dirty="0">
                <a:solidFill>
                  <a:srgbClr val="0D0D0D"/>
                </a:solidFill>
                <a:effectLst/>
                <a:latin typeface="Söhne"/>
              </a:rPr>
              <a:t>Music Composition</a:t>
            </a:r>
            <a:r>
              <a:rPr lang="en-GB" sz="3300" b="0" i="0" dirty="0">
                <a:solidFill>
                  <a:srgbClr val="0D0D0D"/>
                </a:solidFill>
                <a:effectLst/>
                <a:latin typeface="Söhne"/>
              </a:rPr>
              <a:t>: Composes music in various styles, generating melodies, harmonies, and rhythms that sound like they were created by human musicians.</a:t>
            </a:r>
          </a:p>
        </p:txBody>
      </p:sp>
    </p:spTree>
    <p:extLst>
      <p:ext uri="{BB962C8B-B14F-4D97-AF65-F5344CB8AC3E}">
        <p14:creationId xmlns:p14="http://schemas.microsoft.com/office/powerpoint/2010/main" val="314133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95E8-B004-5BD1-0116-1F3586ADE1F0}"/>
              </a:ext>
            </a:extLst>
          </p:cNvPr>
          <p:cNvSpPr>
            <a:spLocks noGrp="1"/>
          </p:cNvSpPr>
          <p:nvPr>
            <p:ph type="title"/>
          </p:nvPr>
        </p:nvSpPr>
        <p:spPr/>
        <p:txBody>
          <a:bodyPr/>
          <a:lstStyle/>
          <a:p>
            <a:r>
              <a:rPr lang="en-GB" b="1" i="0" dirty="0">
                <a:solidFill>
                  <a:srgbClr val="0D0D0D"/>
                </a:solidFill>
                <a:effectLst/>
                <a:latin typeface="Söhne"/>
              </a:rPr>
              <a:t>Technologies Behind </a:t>
            </a:r>
            <a:r>
              <a:rPr lang="en-GB" b="1" i="0" dirty="0" err="1">
                <a:solidFill>
                  <a:srgbClr val="0D0D0D"/>
                </a:solidFill>
                <a:effectLst/>
                <a:latin typeface="Söhne"/>
              </a:rPr>
              <a:t>GenAI</a:t>
            </a:r>
            <a:endParaRPr lang="en-GB" dirty="0"/>
          </a:p>
        </p:txBody>
      </p:sp>
      <p:sp>
        <p:nvSpPr>
          <p:cNvPr id="3" name="Content Placeholder 2">
            <a:extLst>
              <a:ext uri="{FF2B5EF4-FFF2-40B4-BE49-F238E27FC236}">
                <a16:creationId xmlns:a16="http://schemas.microsoft.com/office/drawing/2014/main" id="{99617D52-7EEC-9178-6F94-C699B911AE08}"/>
              </a:ext>
            </a:extLst>
          </p:cNvPr>
          <p:cNvSpPr>
            <a:spLocks noGrp="1"/>
          </p:cNvSpPr>
          <p:nvPr>
            <p:ph idx="1"/>
          </p:nvPr>
        </p:nvSpPr>
        <p:spPr/>
        <p:txBody>
          <a:bodyPr>
            <a:normAutofit fontScale="92500" lnSpcReduction="10000"/>
          </a:bodyPr>
          <a:lstStyle/>
          <a:p>
            <a:pPr algn="l"/>
            <a:r>
              <a:rPr lang="en-GB" b="1" i="0" dirty="0">
                <a:solidFill>
                  <a:srgbClr val="0D0D0D"/>
                </a:solidFill>
                <a:effectLst/>
                <a:latin typeface="Söhne"/>
              </a:rPr>
              <a:t>Neural Networks</a:t>
            </a:r>
          </a:p>
          <a:p>
            <a:pPr marL="0" indent="0" algn="l">
              <a:buNone/>
            </a:pPr>
            <a:r>
              <a:rPr lang="en-GB" b="0" i="0" dirty="0">
                <a:solidFill>
                  <a:srgbClr val="0D0D0D"/>
                </a:solidFill>
                <a:effectLst/>
                <a:latin typeface="Söhne"/>
              </a:rPr>
              <a:t>A neural network is a series of algorithms </a:t>
            </a:r>
            <a:r>
              <a:rPr lang="en-GB" b="0" i="0" dirty="0" err="1">
                <a:solidFill>
                  <a:srgbClr val="0D0D0D"/>
                </a:solidFill>
                <a:effectLst/>
                <a:latin typeface="Söhne"/>
              </a:rPr>
              <a:t>modeled</a:t>
            </a:r>
            <a:r>
              <a:rPr lang="en-GB" b="0" i="0" dirty="0">
                <a:solidFill>
                  <a:srgbClr val="0D0D0D"/>
                </a:solidFill>
                <a:effectLst/>
                <a:latin typeface="Söhne"/>
              </a:rPr>
              <a:t> loosely after the human brain, designed to recognize patterns and interpret data. Neural networks consist of layers of nodes, or "neurons," which process input data and can learn to perform tasks without being explicitly programmed with rules.</a:t>
            </a:r>
          </a:p>
          <a:p>
            <a:pPr algn="l"/>
            <a:r>
              <a:rPr lang="en-GB" b="1" i="0" dirty="0">
                <a:solidFill>
                  <a:srgbClr val="0D0D0D"/>
                </a:solidFill>
                <a:effectLst/>
                <a:latin typeface="Söhne"/>
              </a:rPr>
              <a:t>Deep Learning</a:t>
            </a:r>
          </a:p>
          <a:p>
            <a:pPr marL="0" indent="0" algn="l">
              <a:buNone/>
            </a:pPr>
            <a:r>
              <a:rPr lang="en-GB" b="0" i="0" dirty="0">
                <a:solidFill>
                  <a:srgbClr val="0D0D0D"/>
                </a:solidFill>
                <a:effectLst/>
                <a:latin typeface="Söhne"/>
              </a:rPr>
              <a:t>Deep learning is a subset of machine learning involving neural networks with many layers. These deep neural networks can learn from a large amount of data, making them particularly effective for tasks that involve recognizing complex patterns, such as those found in images, sound, and language.</a:t>
            </a:r>
          </a:p>
          <a:p>
            <a:r>
              <a:rPr lang="en-GB" b="1" i="0" dirty="0">
                <a:solidFill>
                  <a:srgbClr val="0D0D0D"/>
                </a:solidFill>
                <a:effectLst/>
                <a:latin typeface="Söhne"/>
              </a:rPr>
              <a:t>Transformer Architecture</a:t>
            </a:r>
          </a:p>
          <a:p>
            <a:endParaRPr lang="en-GB" dirty="0"/>
          </a:p>
        </p:txBody>
      </p:sp>
    </p:spTree>
    <p:extLst>
      <p:ext uri="{BB962C8B-B14F-4D97-AF65-F5344CB8AC3E}">
        <p14:creationId xmlns:p14="http://schemas.microsoft.com/office/powerpoint/2010/main" val="2582688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959D9-4349-9915-63A7-F8329164FAB1}"/>
              </a:ext>
            </a:extLst>
          </p:cNvPr>
          <p:cNvSpPr>
            <a:spLocks noGrp="1"/>
          </p:cNvSpPr>
          <p:nvPr>
            <p:ph type="title"/>
          </p:nvPr>
        </p:nvSpPr>
        <p:spPr/>
        <p:txBody>
          <a:bodyPr/>
          <a:lstStyle/>
          <a:p>
            <a:r>
              <a:rPr lang="en-GB" b="1" dirty="0"/>
              <a:t>Transformer</a:t>
            </a:r>
            <a:r>
              <a:rPr lang="en-GB" dirty="0"/>
              <a:t> </a:t>
            </a:r>
          </a:p>
        </p:txBody>
      </p:sp>
      <p:sp>
        <p:nvSpPr>
          <p:cNvPr id="3" name="Content Placeholder 2">
            <a:extLst>
              <a:ext uri="{FF2B5EF4-FFF2-40B4-BE49-F238E27FC236}">
                <a16:creationId xmlns:a16="http://schemas.microsoft.com/office/drawing/2014/main" id="{804CBE6A-3B1E-C21F-06C0-3B0C7FB7F699}"/>
              </a:ext>
            </a:extLst>
          </p:cNvPr>
          <p:cNvSpPr>
            <a:spLocks noGrp="1"/>
          </p:cNvSpPr>
          <p:nvPr>
            <p:ph idx="1"/>
          </p:nvPr>
        </p:nvSpPr>
        <p:spPr/>
        <p:txBody>
          <a:bodyPr/>
          <a:lstStyle/>
          <a:p>
            <a:r>
              <a:rPr lang="en-GB" b="0" i="0" dirty="0">
                <a:solidFill>
                  <a:srgbClr val="0D0D0D"/>
                </a:solidFill>
                <a:effectLst/>
                <a:latin typeface="Söhne"/>
              </a:rPr>
              <a:t>The transformer architecture, introduced in the paper "Attention Is All You Need" by Vaswani et al. in 2017, has revolutionized the field of natural language processing (NLP) and generative AI. At its core, the transformer model eschews traditional sequential processing methods, such as recurrent neural networks (RNNs), in </a:t>
            </a:r>
            <a:r>
              <a:rPr lang="en-GB" b="0" i="0" dirty="0" err="1">
                <a:solidFill>
                  <a:srgbClr val="0D0D0D"/>
                </a:solidFill>
                <a:effectLst/>
                <a:latin typeface="Söhne"/>
              </a:rPr>
              <a:t>favor</a:t>
            </a:r>
            <a:r>
              <a:rPr lang="en-GB" b="0" i="0" dirty="0">
                <a:solidFill>
                  <a:srgbClr val="0D0D0D"/>
                </a:solidFill>
                <a:effectLst/>
                <a:latin typeface="Söhne"/>
              </a:rPr>
              <a:t> of a mechanism called </a:t>
            </a:r>
            <a:r>
              <a:rPr lang="en-GB" b="1" i="0" dirty="0">
                <a:solidFill>
                  <a:srgbClr val="0D0D0D"/>
                </a:solidFill>
                <a:effectLst/>
                <a:latin typeface="Söhne"/>
              </a:rPr>
              <a:t>self-attention</a:t>
            </a:r>
            <a:r>
              <a:rPr lang="en-GB" b="0" i="0" dirty="0">
                <a:solidFill>
                  <a:srgbClr val="0D0D0D"/>
                </a:solidFill>
                <a:effectLst/>
                <a:latin typeface="Söhne"/>
              </a:rPr>
              <a:t>. This allows the model to weigh the importance of different parts of the input data differently, making it highly efficient at capturing relationships and dependencies within the data, regardless of their distance from each other in the sequence.</a:t>
            </a:r>
            <a:endParaRPr lang="en-GB" dirty="0"/>
          </a:p>
        </p:txBody>
      </p:sp>
    </p:spTree>
    <p:extLst>
      <p:ext uri="{BB962C8B-B14F-4D97-AF65-F5344CB8AC3E}">
        <p14:creationId xmlns:p14="http://schemas.microsoft.com/office/powerpoint/2010/main" val="2307053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64A5E-1F8D-FA5E-7183-BF34296639BE}"/>
              </a:ext>
            </a:extLst>
          </p:cNvPr>
          <p:cNvSpPr>
            <a:spLocks noGrp="1"/>
          </p:cNvSpPr>
          <p:nvPr>
            <p:ph type="title"/>
          </p:nvPr>
        </p:nvSpPr>
        <p:spPr/>
        <p:txBody>
          <a:bodyPr/>
          <a:lstStyle/>
          <a:p>
            <a:r>
              <a:rPr lang="en-GB" dirty="0"/>
              <a:t>Attention Mechanism </a:t>
            </a:r>
          </a:p>
        </p:txBody>
      </p:sp>
      <p:sp>
        <p:nvSpPr>
          <p:cNvPr id="3" name="Content Placeholder 2">
            <a:extLst>
              <a:ext uri="{FF2B5EF4-FFF2-40B4-BE49-F238E27FC236}">
                <a16:creationId xmlns:a16="http://schemas.microsoft.com/office/drawing/2014/main" id="{202173F6-F8D6-F2C3-8F15-8CD753C38734}"/>
              </a:ext>
            </a:extLst>
          </p:cNvPr>
          <p:cNvSpPr>
            <a:spLocks noGrp="1"/>
          </p:cNvSpPr>
          <p:nvPr>
            <p:ph idx="1"/>
          </p:nvPr>
        </p:nvSpPr>
        <p:spPr/>
        <p:txBody>
          <a:bodyPr>
            <a:normAutofit fontScale="55000" lnSpcReduction="20000"/>
          </a:bodyPr>
          <a:lstStyle/>
          <a:p>
            <a:pPr marL="0" indent="0" algn="l">
              <a:buNone/>
            </a:pPr>
            <a:r>
              <a:rPr lang="en-GB" sz="2900" b="1" i="0" dirty="0">
                <a:solidFill>
                  <a:srgbClr val="29261B"/>
                </a:solidFill>
                <a:effectLst/>
                <a:latin typeface="__tiempos_b6f14e"/>
              </a:rPr>
              <a:t>Here's a step-by-step explanation of how the attention mechanism works:</a:t>
            </a:r>
          </a:p>
          <a:p>
            <a:pPr marL="0" indent="0" algn="l">
              <a:buNone/>
            </a:pPr>
            <a:endParaRPr lang="en-GB" sz="2900" b="1" i="0" dirty="0">
              <a:solidFill>
                <a:srgbClr val="29261B"/>
              </a:solidFill>
              <a:effectLst/>
              <a:latin typeface="__tiempos_b6f14e"/>
            </a:endParaRPr>
          </a:p>
          <a:p>
            <a:pPr marL="971550" lvl="1" indent="-514350">
              <a:lnSpc>
                <a:spcPct val="120000"/>
              </a:lnSpc>
              <a:buFont typeface="+mj-lt"/>
              <a:buAutoNum type="arabicPeriod"/>
            </a:pPr>
            <a:r>
              <a:rPr lang="en-GB" sz="2900" b="1" i="0" dirty="0">
                <a:solidFill>
                  <a:srgbClr val="29261B"/>
                </a:solidFill>
                <a:effectLst/>
                <a:latin typeface="Times New Roman" panose="02020603050405020304" pitchFamily="18" charset="0"/>
                <a:cs typeface="Times New Roman" panose="02020603050405020304" pitchFamily="18" charset="0"/>
              </a:rPr>
              <a:t>Input Representation</a:t>
            </a:r>
            <a:r>
              <a:rPr lang="en-GB" sz="2900" b="0" i="0" dirty="0">
                <a:solidFill>
                  <a:srgbClr val="29261B"/>
                </a:solidFill>
                <a:effectLst/>
                <a:latin typeface="Times New Roman" panose="02020603050405020304" pitchFamily="18" charset="0"/>
                <a:cs typeface="Times New Roman" panose="02020603050405020304" pitchFamily="18" charset="0"/>
              </a:rPr>
              <a:t>: The input sequence (e.g., a sentence) is transformed into a series of vectors, where each vector represents a word or token in the sequence.</a:t>
            </a:r>
          </a:p>
          <a:p>
            <a:pPr marL="971550" lvl="1" indent="-514350">
              <a:lnSpc>
                <a:spcPct val="120000"/>
              </a:lnSpc>
              <a:buFont typeface="+mj-lt"/>
              <a:buAutoNum type="arabicPeriod"/>
            </a:pPr>
            <a:r>
              <a:rPr lang="en-GB" sz="2900" b="1" i="0" dirty="0">
                <a:solidFill>
                  <a:srgbClr val="29261B"/>
                </a:solidFill>
                <a:effectLst/>
                <a:latin typeface="Times New Roman" panose="02020603050405020304" pitchFamily="18" charset="0"/>
                <a:cs typeface="Times New Roman" panose="02020603050405020304" pitchFamily="18" charset="0"/>
              </a:rPr>
              <a:t>Query, Key, and Value</a:t>
            </a:r>
            <a:r>
              <a:rPr lang="en-GB" sz="2900" b="0" i="0" dirty="0">
                <a:solidFill>
                  <a:srgbClr val="29261B"/>
                </a:solidFill>
                <a:effectLst/>
                <a:latin typeface="Times New Roman" panose="02020603050405020304" pitchFamily="18" charset="0"/>
                <a:cs typeface="Times New Roman" panose="02020603050405020304" pitchFamily="18" charset="0"/>
              </a:rPr>
              <a:t>: For each word in the input sequence, the attention mechanism generates three vectors: the query (Q), the key (K), and the value (V). The query represents the current word, the key represents the words that the current word should attend to, and the value represents the information associated with those words.</a:t>
            </a:r>
          </a:p>
          <a:p>
            <a:pPr marL="971550" lvl="1" indent="-514350">
              <a:lnSpc>
                <a:spcPct val="120000"/>
              </a:lnSpc>
              <a:buFont typeface="+mj-lt"/>
              <a:buAutoNum type="arabicPeriod"/>
            </a:pPr>
            <a:r>
              <a:rPr lang="en-GB" sz="2900" b="1" i="0" dirty="0">
                <a:solidFill>
                  <a:srgbClr val="29261B"/>
                </a:solidFill>
                <a:effectLst/>
                <a:latin typeface="Times New Roman" panose="02020603050405020304" pitchFamily="18" charset="0"/>
                <a:cs typeface="Times New Roman" panose="02020603050405020304" pitchFamily="18" charset="0"/>
              </a:rPr>
              <a:t>Attention Scores</a:t>
            </a:r>
            <a:r>
              <a:rPr lang="en-GB" sz="2900" b="0" i="0" dirty="0">
                <a:solidFill>
                  <a:srgbClr val="29261B"/>
                </a:solidFill>
                <a:effectLst/>
                <a:latin typeface="Times New Roman" panose="02020603050405020304" pitchFamily="18" charset="0"/>
                <a:cs typeface="Times New Roman" panose="02020603050405020304" pitchFamily="18" charset="0"/>
              </a:rPr>
              <a:t>: The attention mechanism calculates the similarity (or relevance) between the query vector and each key vector in the sequence. This is typically done by taking the dot product of the query vector and each key vector, dividing by √dₖ (the square root of the key length), and then applying a </a:t>
            </a:r>
            <a:r>
              <a:rPr lang="en-GB" sz="2900" b="0" i="0" dirty="0" err="1">
                <a:solidFill>
                  <a:srgbClr val="29261B"/>
                </a:solidFill>
                <a:effectLst/>
                <a:latin typeface="Times New Roman" panose="02020603050405020304" pitchFamily="18" charset="0"/>
                <a:cs typeface="Times New Roman" panose="02020603050405020304" pitchFamily="18" charset="0"/>
              </a:rPr>
              <a:t>softmax</a:t>
            </a:r>
            <a:r>
              <a:rPr lang="en-GB" sz="2900" b="0" i="0" dirty="0">
                <a:solidFill>
                  <a:srgbClr val="29261B"/>
                </a:solidFill>
                <a:effectLst/>
                <a:latin typeface="Times New Roman" panose="02020603050405020304" pitchFamily="18" charset="0"/>
                <a:cs typeface="Times New Roman" panose="02020603050405020304" pitchFamily="18" charset="0"/>
              </a:rPr>
              <a:t> function to obtain attention scores (or weights) for each word in the sequence.</a:t>
            </a:r>
          </a:p>
          <a:p>
            <a:pPr marL="971550" lvl="1" indent="-514350">
              <a:lnSpc>
                <a:spcPct val="120000"/>
              </a:lnSpc>
              <a:buFont typeface="+mj-lt"/>
              <a:buAutoNum type="arabicPeriod"/>
            </a:pPr>
            <a:r>
              <a:rPr lang="en-GB" sz="2900" b="1" i="0" dirty="0">
                <a:solidFill>
                  <a:srgbClr val="29261B"/>
                </a:solidFill>
                <a:effectLst/>
                <a:latin typeface="Times New Roman" panose="02020603050405020304" pitchFamily="18" charset="0"/>
                <a:cs typeface="Times New Roman" panose="02020603050405020304" pitchFamily="18" charset="0"/>
              </a:rPr>
              <a:t>Weighted Sum</a:t>
            </a:r>
            <a:r>
              <a:rPr lang="en-GB" sz="2900" b="0" i="0" dirty="0">
                <a:solidFill>
                  <a:srgbClr val="29261B"/>
                </a:solidFill>
                <a:effectLst/>
                <a:latin typeface="Times New Roman" panose="02020603050405020304" pitchFamily="18" charset="0"/>
                <a:cs typeface="Times New Roman" panose="02020603050405020304" pitchFamily="18" charset="0"/>
              </a:rPr>
              <a:t>: The attention mechanism then takes a weighted sum of the value vectors, using the attention scores as weights. This weighted sum represents the attended information that is most relevant to the current word.</a:t>
            </a:r>
          </a:p>
          <a:p>
            <a:pPr marL="971550" lvl="1" indent="-514350">
              <a:lnSpc>
                <a:spcPct val="120000"/>
              </a:lnSpc>
              <a:buFont typeface="+mj-lt"/>
              <a:buAutoNum type="arabicPeriod"/>
            </a:pPr>
            <a:r>
              <a:rPr lang="en-GB" sz="2900" b="1" i="0" dirty="0">
                <a:solidFill>
                  <a:srgbClr val="29261B"/>
                </a:solidFill>
                <a:effectLst/>
                <a:latin typeface="Times New Roman" panose="02020603050405020304" pitchFamily="18" charset="0"/>
                <a:cs typeface="Times New Roman" panose="02020603050405020304" pitchFamily="18" charset="0"/>
              </a:rPr>
              <a:t>Output Representation</a:t>
            </a:r>
            <a:r>
              <a:rPr lang="en-GB" sz="2900" b="0" i="0" dirty="0">
                <a:solidFill>
                  <a:srgbClr val="29261B"/>
                </a:solidFill>
                <a:effectLst/>
                <a:latin typeface="Times New Roman" panose="02020603050405020304" pitchFamily="18" charset="0"/>
                <a:cs typeface="Times New Roman" panose="02020603050405020304" pitchFamily="18" charset="0"/>
              </a:rPr>
              <a:t>: The attended information is combined with the original word representation (e.g., through concatenation or addition) to produce the final output representation for that word.</a:t>
            </a:r>
          </a:p>
          <a:p>
            <a:endParaRPr lang="en-GB" dirty="0"/>
          </a:p>
        </p:txBody>
      </p:sp>
    </p:spTree>
    <p:extLst>
      <p:ext uri="{BB962C8B-B14F-4D97-AF65-F5344CB8AC3E}">
        <p14:creationId xmlns:p14="http://schemas.microsoft.com/office/powerpoint/2010/main" val="866588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DBD317-2429-B817-99AE-3C76723BF7DB}"/>
              </a:ext>
            </a:extLst>
          </p:cNvPr>
          <p:cNvPicPr>
            <a:picLocks noChangeAspect="1"/>
          </p:cNvPicPr>
          <p:nvPr/>
        </p:nvPicPr>
        <p:blipFill>
          <a:blip r:embed="rId2"/>
          <a:stretch>
            <a:fillRect/>
          </a:stretch>
        </p:blipFill>
        <p:spPr>
          <a:xfrm>
            <a:off x="222636" y="104999"/>
            <a:ext cx="8563555" cy="4364651"/>
          </a:xfrm>
          <a:prstGeom prst="rect">
            <a:avLst/>
          </a:prstGeom>
        </p:spPr>
      </p:pic>
      <p:sp>
        <p:nvSpPr>
          <p:cNvPr id="7" name="TextBox 6">
            <a:extLst>
              <a:ext uri="{FF2B5EF4-FFF2-40B4-BE49-F238E27FC236}">
                <a16:creationId xmlns:a16="http://schemas.microsoft.com/office/drawing/2014/main" id="{3000F95C-3E5C-C711-933F-51EB9AC81EA3}"/>
              </a:ext>
            </a:extLst>
          </p:cNvPr>
          <p:cNvSpPr txBox="1"/>
          <p:nvPr/>
        </p:nvSpPr>
        <p:spPr>
          <a:xfrm>
            <a:off x="1025719" y="4863721"/>
            <a:ext cx="10551380" cy="646331"/>
          </a:xfrm>
          <a:prstGeom prst="rect">
            <a:avLst/>
          </a:prstGeom>
          <a:noFill/>
        </p:spPr>
        <p:txBody>
          <a:bodyPr wrap="square">
            <a:spAutoFit/>
          </a:bodyPr>
          <a:lstStyle/>
          <a:p>
            <a:r>
              <a:rPr lang="en-GB" dirty="0">
                <a:hlinkClick r:id="rId3"/>
              </a:rPr>
              <a:t>https://colab.research.google.com/github/tensorflow/tensor2tensor/blob/master/tensor2tensor/notebooks/hello_t2t.ipynb#scrollTo=T7UJzFf6fmhp</a:t>
            </a:r>
            <a:r>
              <a:rPr lang="en-GB" dirty="0"/>
              <a:t> </a:t>
            </a:r>
          </a:p>
          <a:p>
            <a:r>
              <a:rPr sz="1400" i="1"/>
              <a:t>Extra resource: archived TensorFlow 1 example; it may no longer run.</a:t>
            </a:r>
          </a:p>
        </p:txBody>
      </p:sp>
    </p:spTree>
    <p:extLst>
      <p:ext uri="{BB962C8B-B14F-4D97-AF65-F5344CB8AC3E}">
        <p14:creationId xmlns:p14="http://schemas.microsoft.com/office/powerpoint/2010/main" val="2292267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A4BD7-7831-DC8B-A8A9-F9ECDD8B1016}"/>
              </a:ext>
            </a:extLst>
          </p:cNvPr>
          <p:cNvSpPr>
            <a:spLocks noGrp="1"/>
          </p:cNvSpPr>
          <p:nvPr>
            <p:ph type="title"/>
          </p:nvPr>
        </p:nvSpPr>
        <p:spPr/>
        <p:txBody>
          <a:bodyPr/>
          <a:lstStyle/>
          <a:p>
            <a:r>
              <a:rPr lang="en-GB" dirty="0"/>
              <a:t>Implementation Example</a:t>
            </a:r>
          </a:p>
        </p:txBody>
      </p:sp>
      <p:pic>
        <p:nvPicPr>
          <p:cNvPr id="11" name="Picture 10">
            <a:extLst>
              <a:ext uri="{FF2B5EF4-FFF2-40B4-BE49-F238E27FC236}">
                <a16:creationId xmlns:a16="http://schemas.microsoft.com/office/drawing/2014/main" id="{7D768EBF-693E-D3C5-E229-9409A80C91B1}"/>
              </a:ext>
            </a:extLst>
          </p:cNvPr>
          <p:cNvPicPr>
            <a:picLocks noChangeAspect="1"/>
          </p:cNvPicPr>
          <p:nvPr/>
        </p:nvPicPr>
        <p:blipFill>
          <a:blip r:embed="rId2"/>
          <a:stretch>
            <a:fillRect/>
          </a:stretch>
        </p:blipFill>
        <p:spPr>
          <a:xfrm>
            <a:off x="223677" y="1591468"/>
            <a:ext cx="4500806" cy="4463915"/>
          </a:xfrm>
          <a:prstGeom prst="rect">
            <a:avLst/>
          </a:prstGeom>
        </p:spPr>
      </p:pic>
      <p:pic>
        <p:nvPicPr>
          <p:cNvPr id="13" name="Picture 12">
            <a:extLst>
              <a:ext uri="{FF2B5EF4-FFF2-40B4-BE49-F238E27FC236}">
                <a16:creationId xmlns:a16="http://schemas.microsoft.com/office/drawing/2014/main" id="{687425E6-13D3-68EE-945B-9F7FBA9F1087}"/>
              </a:ext>
            </a:extLst>
          </p:cNvPr>
          <p:cNvPicPr>
            <a:picLocks noChangeAspect="1"/>
          </p:cNvPicPr>
          <p:nvPr/>
        </p:nvPicPr>
        <p:blipFill>
          <a:blip r:embed="rId3"/>
          <a:stretch>
            <a:fillRect/>
          </a:stretch>
        </p:blipFill>
        <p:spPr>
          <a:xfrm>
            <a:off x="5151663" y="1690688"/>
            <a:ext cx="6063399" cy="1990967"/>
          </a:xfrm>
          <a:prstGeom prst="rect">
            <a:avLst/>
          </a:prstGeom>
        </p:spPr>
      </p:pic>
      <p:pic>
        <p:nvPicPr>
          <p:cNvPr id="15" name="Picture 14">
            <a:extLst>
              <a:ext uri="{FF2B5EF4-FFF2-40B4-BE49-F238E27FC236}">
                <a16:creationId xmlns:a16="http://schemas.microsoft.com/office/drawing/2014/main" id="{3D7B1E79-CA2B-5BFC-C874-6C8C0078A15E}"/>
              </a:ext>
            </a:extLst>
          </p:cNvPr>
          <p:cNvPicPr>
            <a:picLocks noChangeAspect="1"/>
          </p:cNvPicPr>
          <p:nvPr/>
        </p:nvPicPr>
        <p:blipFill>
          <a:blip r:embed="rId4"/>
          <a:stretch>
            <a:fillRect/>
          </a:stretch>
        </p:blipFill>
        <p:spPr>
          <a:xfrm>
            <a:off x="5574371" y="4122117"/>
            <a:ext cx="4852224" cy="1371653"/>
          </a:xfrm>
          <a:prstGeom prst="rect">
            <a:avLst/>
          </a:prstGeom>
        </p:spPr>
      </p:pic>
      <p:sp>
        <p:nvSpPr>
          <p:cNvPr id="19" name="TextBox 18"/>
          <p:cNvSpPr txBox="1"/>
          <p:nvPr/>
        </p:nvSpPr>
        <p:spPr>
          <a:xfrm>
            <a:off x="5151663" y="5600000"/>
            <a:ext cx="6500000" cy="700000"/>
          </a:xfrm>
          <a:prstGeom prst="rect">
            <a:avLst/>
          </a:prstGeom>
          <a:noFill/>
        </p:spPr>
        <p:txBody>
          <a:bodyPr wrap="square">
            <a:spAutoFit/>
          </a:bodyPr>
          <a:lstStyle/>
          <a:p>
            <a:r>
              <a:rPr sz="1400"/>
              <a:t>Run this code on the course website: Lectures → Semester 1 → Week 9 → 2 Lecture Demos → Self-Attention from Scratch.ipynb (it runs in your browser).</a:t>
            </a:r>
          </a:p>
        </p:txBody>
      </p:sp>
    </p:spTree>
    <p:extLst>
      <p:ext uri="{BB962C8B-B14F-4D97-AF65-F5344CB8AC3E}">
        <p14:creationId xmlns:p14="http://schemas.microsoft.com/office/powerpoint/2010/main" val="3826712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99F1-E03F-8D00-9116-C7B868154ABB}"/>
              </a:ext>
            </a:extLst>
          </p:cNvPr>
          <p:cNvSpPr>
            <a:spLocks noGrp="1"/>
          </p:cNvSpPr>
          <p:nvPr>
            <p:ph type="title"/>
          </p:nvPr>
        </p:nvSpPr>
        <p:spPr>
          <a:xfrm>
            <a:off x="146221" y="397275"/>
            <a:ext cx="2628785" cy="3761257"/>
          </a:xfrm>
        </p:spPr>
        <p:txBody>
          <a:bodyPr vert="horz" lIns="91440" tIns="45720" rIns="91440" bIns="45720" rtlCol="0" anchor="ctr">
            <a:normAutofit/>
          </a:bodyPr>
          <a:lstStyle/>
          <a:p>
            <a:r>
              <a:rPr lang="en-US" sz="3200" b="1" dirty="0">
                <a:effectLst/>
              </a:rPr>
              <a:t>Transformer Attention</a:t>
            </a:r>
            <a:endParaRPr lang="en-US" sz="3200" dirty="0"/>
          </a:p>
        </p:txBody>
      </p:sp>
      <p:pic>
        <p:nvPicPr>
          <p:cNvPr id="4" name="Content Placeholder 3">
            <a:extLst>
              <a:ext uri="{FF2B5EF4-FFF2-40B4-BE49-F238E27FC236}">
                <a16:creationId xmlns:a16="http://schemas.microsoft.com/office/drawing/2014/main" id="{71801723-5C51-B070-7D8E-D9DE61073B0B}"/>
              </a:ext>
            </a:extLst>
          </p:cNvPr>
          <p:cNvPicPr>
            <a:picLocks noGrp="1" noChangeAspect="1"/>
          </p:cNvPicPr>
          <p:nvPr>
            <p:ph idx="1"/>
          </p:nvPr>
        </p:nvPicPr>
        <p:blipFill>
          <a:blip r:embed="rId2"/>
          <a:stretch>
            <a:fillRect/>
          </a:stretch>
        </p:blipFill>
        <p:spPr>
          <a:xfrm>
            <a:off x="2325416" y="397275"/>
            <a:ext cx="6246090" cy="6136782"/>
          </a:xfrm>
          <a:prstGeom prst="rect">
            <a:avLst/>
          </a:prstGeom>
        </p:spPr>
      </p:pic>
      <p:sp>
        <p:nvSpPr>
          <p:cNvPr id="6" name="TextBox 5">
            <a:extLst>
              <a:ext uri="{FF2B5EF4-FFF2-40B4-BE49-F238E27FC236}">
                <a16:creationId xmlns:a16="http://schemas.microsoft.com/office/drawing/2014/main" id="{AC61A880-B1A3-DB17-ABC4-9E66CD100DFD}"/>
              </a:ext>
            </a:extLst>
          </p:cNvPr>
          <p:cNvSpPr txBox="1"/>
          <p:nvPr/>
        </p:nvSpPr>
        <p:spPr>
          <a:xfrm>
            <a:off x="8026743" y="2277903"/>
            <a:ext cx="4019036" cy="3046988"/>
          </a:xfrm>
          <a:prstGeom prst="rect">
            <a:avLst/>
          </a:prstGeom>
          <a:noFill/>
        </p:spPr>
        <p:txBody>
          <a:bodyPr wrap="square">
            <a:spAutoFit/>
          </a:bodyPr>
          <a:lstStyle/>
          <a:p>
            <a:r>
              <a:rPr lang="en-GB" sz="1600" b="0" i="0" dirty="0">
                <a:solidFill>
                  <a:srgbClr val="292929"/>
                </a:solidFill>
                <a:effectLst/>
                <a:latin typeface="source-serif-pro"/>
              </a:rPr>
              <a:t>Transformer architecture removes recurrence and replaces it with an attention mechanism, which uses queries to select the information (values) it needs, based on how well each query matches the keys; the queries, keys and values are produced by weight matrices learnt during training. If keys, values and queries are generated from the same sequence, it is called self-attention. In cross attention, the queries are generated by a different sequence than the key-value pairs. Multi-head attention helps the transformer to attend to multiple things at the same time.</a:t>
            </a:r>
            <a:endParaRPr lang="en-GB" sz="1600" dirty="0"/>
          </a:p>
        </p:txBody>
      </p:sp>
      <p:sp>
        <p:nvSpPr>
          <p:cNvPr id="8" name="TextBox 7">
            <a:extLst>
              <a:ext uri="{FF2B5EF4-FFF2-40B4-BE49-F238E27FC236}">
                <a16:creationId xmlns:a16="http://schemas.microsoft.com/office/drawing/2014/main" id="{3BDFBBA1-FCC1-AEF7-7E4E-CDCFC6AA93B0}"/>
              </a:ext>
            </a:extLst>
          </p:cNvPr>
          <p:cNvSpPr txBox="1"/>
          <p:nvPr/>
        </p:nvSpPr>
        <p:spPr>
          <a:xfrm>
            <a:off x="8168296" y="1283436"/>
            <a:ext cx="3485337" cy="646331"/>
          </a:xfrm>
          <a:prstGeom prst="rect">
            <a:avLst/>
          </a:prstGeom>
          <a:noFill/>
        </p:spPr>
        <p:txBody>
          <a:bodyPr wrap="square">
            <a:spAutoFit/>
          </a:bodyPr>
          <a:lstStyle/>
          <a:p>
            <a:r>
              <a:rPr lang="en-GB" dirty="0">
                <a:hlinkClick r:id="rId3"/>
              </a:rPr>
              <a:t>Attention in Transformer | Towards Data Science</a:t>
            </a:r>
            <a:endParaRPr lang="en-GB" dirty="0"/>
          </a:p>
        </p:txBody>
      </p:sp>
    </p:spTree>
    <p:extLst>
      <p:ext uri="{BB962C8B-B14F-4D97-AF65-F5344CB8AC3E}">
        <p14:creationId xmlns:p14="http://schemas.microsoft.com/office/powerpoint/2010/main" val="553392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19F7C-9A95-5DFA-6D12-1930B2497BBE}"/>
              </a:ext>
            </a:extLst>
          </p:cNvPr>
          <p:cNvSpPr>
            <a:spLocks noGrp="1"/>
          </p:cNvSpPr>
          <p:nvPr>
            <p:ph type="title"/>
          </p:nvPr>
        </p:nvSpPr>
        <p:spPr>
          <a:xfrm>
            <a:off x="0" y="120000"/>
            <a:ext cx="0" cy="900000"/>
          </a:xfrm>
        </p:spPr>
        <p:txBody>
          <a:bodyPr/>
          <a:lstStyle/>
          <a:p>
            <a:r>
              <a:rPr sz="3200"/>
              <a:t>How ChatGPT-style models are trained (RLHF)</a:t>
            </a:r>
          </a:p>
        </p:txBody>
      </p:sp>
      <p:pic>
        <p:nvPicPr>
          <p:cNvPr id="2050" name="Picture 2">
            <a:extLst>
              <a:ext uri="{FF2B5EF4-FFF2-40B4-BE49-F238E27FC236}">
                <a16:creationId xmlns:a16="http://schemas.microsoft.com/office/drawing/2014/main" id="{74525D24-818E-84C1-E3AE-B4C62B983E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8841" y="1050000"/>
            <a:ext cx="9034317" cy="5350000"/>
          </a:xfrm>
          <a:prstGeom prst="rect">
            <a:avLst/>
          </a:prstGeom>
          <a:noFill/>
          <a:extLst>
            <a:ext uri="{909E8E84-426E-40DD-AFC4-6F175D3DCCD1}">
              <a14:hiddenFill xmlns:a14="http://schemas.microsoft.com/office/drawing/2010/main">
                <a:solidFill>
                  <a:srgbClr val="FFFFFF"/>
                </a:solidFill>
              </a14:hiddenFill>
            </a:ext>
          </a:extLst>
        </p:spPr>
      </p:pic>
      <p:sp>
        <p:nvSpPr>
          <p:cNvPr id="2051" name="TextBox 2050"/>
          <p:cNvSpPr txBox="1"/>
          <p:nvPr/>
        </p:nvSpPr>
        <p:spPr>
          <a:xfrm>
            <a:off x="1578841" y="6420000"/>
            <a:ext cx="9034317" cy="380000"/>
          </a:xfrm>
          <a:prstGeom prst="rect">
            <a:avLst/>
          </a:prstGeom>
          <a:noFill/>
        </p:spPr>
        <p:txBody>
          <a:bodyPr wrap="square">
            <a:spAutoFit/>
          </a:bodyPr>
          <a:lstStyle/>
          <a:p>
            <a:r>
              <a:rPr sz="1200" i="1"/>
              <a:t>Source: Ouyang et al. (2022), Training language models to follow instructions with human feedback (InstructGPT), Figure 2.</a:t>
            </a:r>
          </a:p>
        </p:txBody>
      </p:sp>
    </p:spTree>
    <p:extLst>
      <p:ext uri="{BB962C8B-B14F-4D97-AF65-F5344CB8AC3E}">
        <p14:creationId xmlns:p14="http://schemas.microsoft.com/office/powerpoint/2010/main" val="3686942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A9CBD-7E93-0E12-E2C2-31DBB054A194}"/>
              </a:ext>
            </a:extLst>
          </p:cNvPr>
          <p:cNvSpPr>
            <a:spLocks noGrp="1"/>
          </p:cNvSpPr>
          <p:nvPr>
            <p:ph type="title"/>
          </p:nvPr>
        </p:nvSpPr>
        <p:spPr/>
        <p:txBody>
          <a:bodyPr/>
          <a:lstStyle/>
          <a:p>
            <a:r>
              <a:rPr lang="en-GB" dirty="0"/>
              <a:t>Prompt Engineering</a:t>
            </a:r>
          </a:p>
        </p:txBody>
      </p:sp>
      <p:sp>
        <p:nvSpPr>
          <p:cNvPr id="3" name="Content Placeholder 2">
            <a:extLst>
              <a:ext uri="{FF2B5EF4-FFF2-40B4-BE49-F238E27FC236}">
                <a16:creationId xmlns:a16="http://schemas.microsoft.com/office/drawing/2014/main" id="{8E262AA9-9A13-4D69-655D-D6692890EE43}"/>
              </a:ext>
            </a:extLst>
          </p:cNvPr>
          <p:cNvSpPr>
            <a:spLocks noGrp="1"/>
          </p:cNvSpPr>
          <p:nvPr>
            <p:ph idx="1"/>
          </p:nvPr>
        </p:nvSpPr>
        <p:spPr/>
        <p:txBody>
          <a:bodyPr/>
          <a:lstStyle/>
          <a:p>
            <a:r>
              <a:rPr lang="en-GB" b="1" i="0" dirty="0">
                <a:solidFill>
                  <a:srgbClr val="0D0D0D"/>
                </a:solidFill>
                <a:effectLst/>
                <a:latin typeface="Söhne"/>
              </a:rPr>
              <a:t>What is Prompt Engineering?</a:t>
            </a:r>
          </a:p>
          <a:p>
            <a:pPr marL="0" indent="0">
              <a:buNone/>
            </a:pPr>
            <a:r>
              <a:rPr lang="en-GB" b="0" i="0" dirty="0">
                <a:solidFill>
                  <a:srgbClr val="0D0D0D"/>
                </a:solidFill>
                <a:effectLst/>
                <a:latin typeface="Söhne"/>
              </a:rPr>
              <a:t>Prompt engineering is the process of designing and refining the input prompts given to AI models to elicit specific responses or outputs. This process is crucial for leveraging the full potential of generative AI, as the quality and specificity of a prompt can significantly influence the model's output. Effective prompt engineering can lead to more accurate, relevant, and creative results, whether the task involves generating text, images, code, or any other form of content.</a:t>
            </a:r>
            <a:endParaRPr lang="en-GB" dirty="0"/>
          </a:p>
        </p:txBody>
      </p:sp>
    </p:spTree>
    <p:extLst>
      <p:ext uri="{BB962C8B-B14F-4D97-AF65-F5344CB8AC3E}">
        <p14:creationId xmlns:p14="http://schemas.microsoft.com/office/powerpoint/2010/main" val="3837844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1EE54-ED22-98E5-C4BD-E9618AF74238}"/>
              </a:ext>
            </a:extLst>
          </p:cNvPr>
          <p:cNvSpPr>
            <a:spLocks noGrp="1"/>
          </p:cNvSpPr>
          <p:nvPr>
            <p:ph type="title"/>
          </p:nvPr>
        </p:nvSpPr>
        <p:spPr/>
        <p:txBody>
          <a:bodyPr/>
          <a:lstStyle/>
          <a:p>
            <a:r>
              <a:rPr lang="en-GB" b="1" i="0" dirty="0">
                <a:solidFill>
                  <a:srgbClr val="0D0D0D"/>
                </a:solidFill>
                <a:effectLst/>
                <a:latin typeface="Söhne"/>
              </a:rPr>
              <a:t>Strategies and Techniques</a:t>
            </a:r>
            <a:endParaRPr lang="en-GB" dirty="0"/>
          </a:p>
        </p:txBody>
      </p:sp>
      <p:sp>
        <p:nvSpPr>
          <p:cNvPr id="3" name="Content Placeholder 2">
            <a:extLst>
              <a:ext uri="{FF2B5EF4-FFF2-40B4-BE49-F238E27FC236}">
                <a16:creationId xmlns:a16="http://schemas.microsoft.com/office/drawing/2014/main" id="{9CBC9DDE-CA3A-7124-003E-4DA683365545}"/>
              </a:ext>
            </a:extLst>
          </p:cNvPr>
          <p:cNvSpPr>
            <a:spLocks noGrp="1"/>
          </p:cNvSpPr>
          <p:nvPr>
            <p:ph idx="1"/>
          </p:nvPr>
        </p:nvSpPr>
        <p:spPr>
          <a:xfrm>
            <a:off x="838200" y="1825625"/>
            <a:ext cx="10515600" cy="4901178"/>
          </a:xfrm>
        </p:spPr>
        <p:txBody>
          <a:bodyPr>
            <a:normAutofit fontScale="55000" lnSpcReduction="20000"/>
          </a:bodyPr>
          <a:lstStyle/>
          <a:p>
            <a:pPr marL="0" indent="0" algn="l">
              <a:buNone/>
            </a:pPr>
            <a:r>
              <a:rPr lang="en-GB" sz="3400" b="1" i="0" dirty="0">
                <a:solidFill>
                  <a:srgbClr val="0D0D0D"/>
                </a:solidFill>
                <a:effectLst/>
                <a:latin typeface="Söhne"/>
              </a:rPr>
              <a:t>1. Specificity and Clarity</a:t>
            </a:r>
          </a:p>
          <a:p>
            <a:pPr marL="0" indent="0" algn="l">
              <a:buNone/>
            </a:pPr>
            <a:r>
              <a:rPr lang="en-GB" sz="3400" b="1" i="0" dirty="0">
                <a:solidFill>
                  <a:srgbClr val="0D0D0D"/>
                </a:solidFill>
                <a:effectLst/>
                <a:latin typeface="Söhne"/>
              </a:rPr>
              <a:t>Description</a:t>
            </a:r>
            <a:r>
              <a:rPr lang="en-GB" sz="3400" b="0" i="0" dirty="0">
                <a:solidFill>
                  <a:srgbClr val="0D0D0D"/>
                </a:solidFill>
                <a:effectLst/>
                <a:latin typeface="Söhne"/>
              </a:rPr>
              <a:t>: Being specific and clear in the prompt helps narrow down the AI's focus, leading to more accurate and relevant outputs.</a:t>
            </a:r>
          </a:p>
          <a:p>
            <a:pPr marL="0" indent="0" algn="l">
              <a:buNone/>
            </a:pPr>
            <a:r>
              <a:rPr lang="en-GB" b="1" i="0" dirty="0">
                <a:solidFill>
                  <a:srgbClr val="0D0D0D"/>
                </a:solidFill>
                <a:effectLst/>
                <a:latin typeface="Söhne"/>
              </a:rPr>
              <a:t>Example Product Descriptions:</a:t>
            </a:r>
          </a:p>
          <a:p>
            <a:pPr marL="0" indent="0" algn="l">
              <a:buNone/>
            </a:pPr>
            <a:endParaRPr lang="en-GB" b="1" i="0" dirty="0">
              <a:solidFill>
                <a:srgbClr val="0D0D0D"/>
              </a:solidFill>
              <a:effectLst/>
              <a:latin typeface="Söhne"/>
            </a:endParaRPr>
          </a:p>
          <a:p>
            <a:pPr algn="l">
              <a:lnSpc>
                <a:spcPct val="120000"/>
              </a:lnSpc>
              <a:buFont typeface="Arial" panose="020B0604020202020204" pitchFamily="34" charset="0"/>
              <a:buChar char="•"/>
            </a:pPr>
            <a:r>
              <a:rPr lang="en-GB" b="1" i="0" dirty="0">
                <a:solidFill>
                  <a:srgbClr val="0D0D0D"/>
                </a:solidFill>
                <a:effectLst/>
                <a:latin typeface="Söhne"/>
              </a:rPr>
              <a:t>Prompt</a:t>
            </a:r>
            <a:r>
              <a:rPr lang="en-GB" b="0" i="0" dirty="0">
                <a:solidFill>
                  <a:srgbClr val="0D0D0D"/>
                </a:solidFill>
                <a:effectLst/>
                <a:latin typeface="Söhne"/>
              </a:rPr>
              <a:t>: "Write a product description for a waterproof watch."</a:t>
            </a:r>
          </a:p>
          <a:p>
            <a:pPr algn="l">
              <a:lnSpc>
                <a:spcPct val="120000"/>
              </a:lnSpc>
              <a:buFont typeface="Arial" panose="020B0604020202020204" pitchFamily="34" charset="0"/>
              <a:buChar char="•"/>
            </a:pPr>
            <a:r>
              <a:rPr lang="en-GB" b="1" dirty="0">
                <a:solidFill>
                  <a:srgbClr val="0D0D0D"/>
                </a:solidFill>
                <a:latin typeface="Söhne"/>
              </a:rPr>
              <a:t>GPT</a:t>
            </a:r>
            <a:r>
              <a:rPr lang="en-GB" b="1" i="0" dirty="0">
                <a:solidFill>
                  <a:srgbClr val="0D0D0D"/>
                </a:solidFill>
                <a:effectLst/>
                <a:latin typeface="Söhne"/>
              </a:rPr>
              <a:t> Output</a:t>
            </a:r>
            <a:r>
              <a:rPr lang="en-GB" b="0" i="0" dirty="0">
                <a:solidFill>
                  <a:srgbClr val="0D0D0D"/>
                </a:solidFill>
                <a:effectLst/>
                <a:latin typeface="Söhne"/>
              </a:rPr>
              <a:t>: "Introducing our latest innovation: a watch that keeps up with your adventurous lifestyle. This waterproof watch is designed to withstand depths of up to 50 meters, ensuring that whether you're swimming, diving, or caught in a downpour, your watch remains functional and stylish. With its sleek design and durable build, it's the perfect companion for all your escapades."</a:t>
            </a:r>
          </a:p>
          <a:p>
            <a:pPr algn="l">
              <a:lnSpc>
                <a:spcPct val="120000"/>
              </a:lnSpc>
              <a:buFont typeface="Arial" panose="020B0604020202020204" pitchFamily="34" charset="0"/>
              <a:buChar char="•"/>
            </a:pPr>
            <a:r>
              <a:rPr lang="en-GB" b="1" i="0" dirty="0">
                <a:solidFill>
                  <a:srgbClr val="0D0D0D"/>
                </a:solidFill>
                <a:effectLst/>
                <a:latin typeface="Söhne"/>
              </a:rPr>
              <a:t>Refined Prompt</a:t>
            </a:r>
            <a:r>
              <a:rPr lang="en-GB" b="0" i="0" dirty="0">
                <a:solidFill>
                  <a:srgbClr val="0D0D0D"/>
                </a:solidFill>
                <a:effectLst/>
                <a:latin typeface="Söhne"/>
              </a:rPr>
              <a:t>: "Write a short product description for a children's waterproof watch, highlighting its durability and fun design."</a:t>
            </a:r>
          </a:p>
          <a:p>
            <a:pPr algn="l">
              <a:lnSpc>
                <a:spcPct val="120000"/>
              </a:lnSpc>
              <a:buFont typeface="Arial" panose="020B0604020202020204" pitchFamily="34" charset="0"/>
              <a:buChar char="•"/>
            </a:pPr>
            <a:r>
              <a:rPr lang="en-GB" b="1" dirty="0">
                <a:solidFill>
                  <a:srgbClr val="0D0D0D"/>
                </a:solidFill>
                <a:latin typeface="Söhne"/>
              </a:rPr>
              <a:t>GPT</a:t>
            </a:r>
            <a:r>
              <a:rPr lang="en-GB" b="1" i="0" dirty="0">
                <a:solidFill>
                  <a:srgbClr val="0D0D0D"/>
                </a:solidFill>
                <a:effectLst/>
                <a:latin typeface="Söhne"/>
              </a:rPr>
              <a:t> Output</a:t>
            </a:r>
            <a:r>
              <a:rPr lang="en-GB" b="0" i="0" dirty="0">
                <a:solidFill>
                  <a:srgbClr val="0D0D0D"/>
                </a:solidFill>
                <a:effectLst/>
                <a:latin typeface="Söhne"/>
              </a:rPr>
              <a:t>: "Meet the ultimate accessory for your little explorer: our Kid's Waterproof Watch! Designed with fun in mind, it features a vibrant, playful design that kids love, and parents appreciate its unmatched durability. Waterproof and tough, it can handle anything from puddle jumping to swimming lessons, making it the perfect timepiece for every adventure."</a:t>
            </a:r>
          </a:p>
          <a:p>
            <a:pPr marL="0" indent="0">
              <a:buNone/>
            </a:pPr>
            <a:endParaRPr lang="en-GB" dirty="0"/>
          </a:p>
        </p:txBody>
      </p:sp>
    </p:spTree>
    <p:extLst>
      <p:ext uri="{BB962C8B-B14F-4D97-AF65-F5344CB8AC3E}">
        <p14:creationId xmlns:p14="http://schemas.microsoft.com/office/powerpoint/2010/main" val="37071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53B3-8944-6435-3B76-12DA79BD044C}"/>
              </a:ext>
            </a:extLst>
          </p:cNvPr>
          <p:cNvSpPr>
            <a:spLocks noGrp="1"/>
          </p:cNvSpPr>
          <p:nvPr>
            <p:ph type="title"/>
          </p:nvPr>
        </p:nvSpPr>
        <p:spPr>
          <a:xfrm>
            <a:off x="198120" y="345247"/>
            <a:ext cx="3650000" cy="1325563"/>
          </a:xfrm>
        </p:spPr>
        <p:txBody>
          <a:bodyPr/>
          <a:lstStyle/>
          <a:p>
            <a:r>
              <a:rPr lang="en-GB" b="1" i="0" dirty="0" sz="3200">
                <a:solidFill>
                  <a:srgbClr val="0D0D0D"/>
                </a:solidFill>
                <a:effectLst/>
                <a:latin typeface="Söhne"/>
              </a:rPr>
              <a:t>Strategies and Techniques</a:t>
            </a:r>
            <a:endParaRPr lang="en-GB" dirty="0"/>
          </a:p>
        </p:txBody>
      </p:sp>
      <p:sp>
        <p:nvSpPr>
          <p:cNvPr id="3" name="Content Placeholder 2">
            <a:extLst>
              <a:ext uri="{FF2B5EF4-FFF2-40B4-BE49-F238E27FC236}">
                <a16:creationId xmlns:a16="http://schemas.microsoft.com/office/drawing/2014/main" id="{30C6EB37-9E8B-9239-4121-A36B536C9B95}"/>
              </a:ext>
            </a:extLst>
          </p:cNvPr>
          <p:cNvSpPr>
            <a:spLocks noGrp="1"/>
          </p:cNvSpPr>
          <p:nvPr>
            <p:ph idx="1"/>
          </p:nvPr>
        </p:nvSpPr>
        <p:spPr>
          <a:xfrm>
            <a:off x="198120" y="1837552"/>
            <a:ext cx="3650000" cy="1500000"/>
          </a:xfrm>
        </p:spPr>
        <p:txBody>
          <a:bodyPr/>
          <a:lstStyle/>
          <a:p>
            <a:pPr marL="0" indent="0">
              <a:buNone/>
            </a:pPr>
            <a:r>
              <a:rPr lang="en-GB" b="1" i="0" dirty="0" sz="2400">
                <a:effectLst/>
                <a:latin typeface="-apple-system"/>
              </a:rPr>
              <a:t>2. Role-Task-Format</a:t>
            </a:r>
          </a:p>
          <a:p>
            <a:endParaRPr lang="en-GB" dirty="0"/>
          </a:p>
        </p:txBody>
      </p:sp>
      <p:pic>
        <p:nvPicPr>
          <p:cNvPr id="3074" name="Picture 2" descr="No alt text provided for this image">
            <a:extLst>
              <a:ext uri="{FF2B5EF4-FFF2-40B4-BE49-F238E27FC236}">
                <a16:creationId xmlns:a16="http://schemas.microsoft.com/office/drawing/2014/main" id="{B2AACFA9-BD94-DC8A-FAF9-AB6240DDE6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6860" y="0"/>
            <a:ext cx="74406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4248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6"/>
                                        </p:tgtEl>
                                        <p:attrNameLst>
                                          <p:attrName>style.visibility</p:attrName>
                                        </p:attrNameLst>
                                      </p:cBhvr>
                                      <p:to>
                                        <p:strVal val="visible"/>
                                      </p:to>
                                    </p:set>
                                    <p:anim calcmode="lin" valueType="num">
                                      <p:cBhvr additive="base">
                                        <p:cTn id="13" dur="500" fill="hold"/>
                                        <p:tgtEl>
                                          <p:spTgt spid="3076"/>
                                        </p:tgtEl>
                                        <p:attrNameLst>
                                          <p:attrName>ppt_x</p:attrName>
                                        </p:attrNameLst>
                                      </p:cBhvr>
                                      <p:tavLst>
                                        <p:tav tm="0">
                                          <p:val>
                                            <p:strVal val="#ppt_x"/>
                                          </p:val>
                                        </p:tav>
                                        <p:tav tm="100000">
                                          <p:val>
                                            <p:strVal val="#ppt_x"/>
                                          </p:val>
                                        </p:tav>
                                      </p:tavLst>
                                    </p:anim>
                                    <p:anim calcmode="lin" valueType="num">
                                      <p:cBhvr additive="base">
                                        <p:cTn id="14"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1E7F5-4B33-CBC7-564A-6BACA9DDAE9E}"/>
              </a:ext>
            </a:extLst>
          </p:cNvPr>
          <p:cNvSpPr>
            <a:spLocks noGrp="1"/>
          </p:cNvSpPr>
          <p:nvPr>
            <p:ph type="title"/>
          </p:nvPr>
        </p:nvSpPr>
        <p:spPr/>
        <p:txBody>
          <a:bodyPr/>
          <a:lstStyle/>
          <a:p>
            <a:r>
              <a:rPr lang="en-GB" b="1" i="0" dirty="0">
                <a:solidFill>
                  <a:srgbClr val="0D0D0D"/>
                </a:solidFill>
                <a:effectLst/>
                <a:latin typeface="Söhne"/>
              </a:rPr>
              <a:t>Strategies and Techniques</a:t>
            </a:r>
            <a:endParaRPr lang="en-GB" dirty="0"/>
          </a:p>
        </p:txBody>
      </p:sp>
      <p:sp>
        <p:nvSpPr>
          <p:cNvPr id="3" name="Content Placeholder 2">
            <a:extLst>
              <a:ext uri="{FF2B5EF4-FFF2-40B4-BE49-F238E27FC236}">
                <a16:creationId xmlns:a16="http://schemas.microsoft.com/office/drawing/2014/main" id="{D659D572-5B3F-051F-DFBF-7DD3DC99585F}"/>
              </a:ext>
            </a:extLst>
          </p:cNvPr>
          <p:cNvSpPr>
            <a:spLocks noGrp="1"/>
          </p:cNvSpPr>
          <p:nvPr>
            <p:ph idx="1"/>
          </p:nvPr>
        </p:nvSpPr>
        <p:spPr/>
        <p:txBody>
          <a:bodyPr>
            <a:normAutofit/>
          </a:bodyPr>
          <a:lstStyle/>
          <a:p>
            <a:pPr marL="0" indent="0" algn="l">
              <a:buNone/>
            </a:pPr>
            <a:r>
              <a:rPr lang="en-GB" b="1" dirty="0">
                <a:solidFill>
                  <a:srgbClr val="0D0D0D"/>
                </a:solidFill>
                <a:latin typeface="Söhne"/>
              </a:rPr>
              <a:t>3</a:t>
            </a:r>
            <a:r>
              <a:rPr lang="en-GB" sz="2800" b="1" i="0" dirty="0">
                <a:solidFill>
                  <a:srgbClr val="0D0D0D"/>
                </a:solidFill>
                <a:effectLst/>
                <a:latin typeface="Söhne"/>
              </a:rPr>
              <a:t>. Incorporating Context</a:t>
            </a:r>
          </a:p>
          <a:p>
            <a:pPr marL="0" indent="0" algn="l">
              <a:buNone/>
            </a:pPr>
            <a:r>
              <a:rPr lang="en-GB" sz="2800" b="1" i="0" dirty="0">
                <a:solidFill>
                  <a:srgbClr val="0D0D0D"/>
                </a:solidFill>
                <a:effectLst/>
                <a:latin typeface="Söhne"/>
              </a:rPr>
              <a:t>Description</a:t>
            </a:r>
            <a:r>
              <a:rPr lang="en-GB" sz="2800" b="0" i="0" dirty="0">
                <a:solidFill>
                  <a:srgbClr val="0D0D0D"/>
                </a:solidFill>
                <a:effectLst/>
                <a:latin typeface="Söhne"/>
              </a:rPr>
              <a:t>: Providing context within the prompt can guide the AI to understand the desired tone, style, or background information.</a:t>
            </a:r>
          </a:p>
          <a:p>
            <a:pPr marL="0" indent="0" algn="l">
              <a:buNone/>
            </a:pPr>
            <a:r>
              <a:rPr lang="en-GB" sz="2800" b="1" i="0" dirty="0">
                <a:solidFill>
                  <a:srgbClr val="0D0D0D"/>
                </a:solidFill>
                <a:effectLst/>
                <a:latin typeface="Söhne"/>
              </a:rPr>
              <a:t>Example</a:t>
            </a:r>
            <a:r>
              <a:rPr lang="en-GB" sz="2800" b="0" i="0" dirty="0">
                <a:solidFill>
                  <a:srgbClr val="0D0D0D"/>
                </a:solidFill>
                <a:effectLst/>
                <a:latin typeface="Söhne"/>
              </a:rPr>
              <a:t>: "Draft an email to a client apologizing for a delayed shipment, ensuring to express empathy and offer a discount for future orders."</a:t>
            </a:r>
          </a:p>
          <a:p>
            <a:endParaRPr lang="en-GB" dirty="0"/>
          </a:p>
        </p:txBody>
      </p:sp>
    </p:spTree>
    <p:extLst>
      <p:ext uri="{BB962C8B-B14F-4D97-AF65-F5344CB8AC3E}">
        <p14:creationId xmlns:p14="http://schemas.microsoft.com/office/powerpoint/2010/main" val="2144113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A7A35-585F-25E4-AC79-50378B88A9E1}"/>
              </a:ext>
            </a:extLst>
          </p:cNvPr>
          <p:cNvSpPr>
            <a:spLocks noGrp="1"/>
          </p:cNvSpPr>
          <p:nvPr>
            <p:ph type="title"/>
          </p:nvPr>
        </p:nvSpPr>
        <p:spPr/>
        <p:txBody>
          <a:bodyPr/>
          <a:lstStyle/>
          <a:p>
            <a:r>
              <a:rPr lang="en-GB" b="1" i="0" dirty="0">
                <a:solidFill>
                  <a:srgbClr val="0D0D0D"/>
                </a:solidFill>
                <a:effectLst/>
                <a:latin typeface="Söhne"/>
              </a:rPr>
              <a:t>Strategies and Techniques</a:t>
            </a:r>
            <a:endParaRPr lang="en-GB" dirty="0"/>
          </a:p>
        </p:txBody>
      </p:sp>
      <p:sp>
        <p:nvSpPr>
          <p:cNvPr id="3" name="Content Placeholder 2">
            <a:extLst>
              <a:ext uri="{FF2B5EF4-FFF2-40B4-BE49-F238E27FC236}">
                <a16:creationId xmlns:a16="http://schemas.microsoft.com/office/drawing/2014/main" id="{D5C216EF-0905-EEE9-BEA6-CCA690127FC8}"/>
              </a:ext>
            </a:extLst>
          </p:cNvPr>
          <p:cNvSpPr>
            <a:spLocks noGrp="1"/>
          </p:cNvSpPr>
          <p:nvPr>
            <p:ph idx="1"/>
          </p:nvPr>
        </p:nvSpPr>
        <p:spPr>
          <a:xfrm>
            <a:off x="838200" y="1825625"/>
            <a:ext cx="4330360" cy="4351338"/>
          </a:xfrm>
        </p:spPr>
        <p:txBody>
          <a:bodyPr/>
          <a:lstStyle/>
          <a:p>
            <a:pPr marL="0" indent="0" algn="l">
              <a:buNone/>
            </a:pPr>
            <a:r>
              <a:rPr lang="en-GB" sz="2000" b="1" i="0" dirty="0">
                <a:solidFill>
                  <a:srgbClr val="0D0D0D"/>
                </a:solidFill>
                <a:effectLst/>
                <a:latin typeface="Söhne"/>
              </a:rPr>
              <a:t>4. Zero-shot, Few-shot and Chain-of-thought Prompting</a:t>
            </a:r>
          </a:p>
          <a:p>
            <a:pPr marL="0" indent="0" algn="l">
              <a:buNone/>
            </a:pPr>
            <a:r>
              <a:rPr lang="en-GB" sz="2000" b="1" i="0" dirty="0">
                <a:solidFill>
                  <a:srgbClr val="0D0D0D"/>
                </a:solidFill>
                <a:effectLst/>
                <a:latin typeface="Söhne"/>
              </a:rPr>
              <a:t>Description</a:t>
            </a:r>
            <a:r>
              <a:rPr lang="en-GB" sz="2000" b="0" i="0" dirty="0">
                <a:solidFill>
                  <a:srgbClr val="0D0D0D"/>
                </a:solidFill>
                <a:effectLst/>
                <a:latin typeface="Söhne"/>
              </a:rPr>
              <a:t>: These techniques involve crafting prompts that either provide no examples (zero-shot), a few examples (few-shot), or a logical reasoning path (chain-of-thought) to help the model understand and generate the desired output.</a:t>
            </a:r>
          </a:p>
          <a:p>
            <a:pPr marL="0" indent="0">
              <a:buNone/>
            </a:pPr>
            <a:endParaRPr lang="en-GB" dirty="0"/>
          </a:p>
        </p:txBody>
      </p:sp>
      <p:pic>
        <p:nvPicPr>
          <p:cNvPr id="5" name="Picture 4">
            <a:extLst>
              <a:ext uri="{FF2B5EF4-FFF2-40B4-BE49-F238E27FC236}">
                <a16:creationId xmlns:a16="http://schemas.microsoft.com/office/drawing/2014/main" id="{40B3CCA7-0522-B75A-3819-5DA13A793D51}"/>
              </a:ext>
            </a:extLst>
          </p:cNvPr>
          <p:cNvPicPr>
            <a:picLocks noChangeAspect="1"/>
          </p:cNvPicPr>
          <p:nvPr/>
        </p:nvPicPr>
        <p:blipFill>
          <a:blip r:embed="rId2"/>
          <a:stretch>
            <a:fillRect/>
          </a:stretch>
        </p:blipFill>
        <p:spPr>
          <a:xfrm>
            <a:off x="5035635" y="1656458"/>
            <a:ext cx="7103271" cy="2964439"/>
          </a:xfrm>
          <a:prstGeom prst="rect">
            <a:avLst/>
          </a:prstGeom>
        </p:spPr>
      </p:pic>
      <p:pic>
        <p:nvPicPr>
          <p:cNvPr id="7" name="Picture 6">
            <a:extLst>
              <a:ext uri="{FF2B5EF4-FFF2-40B4-BE49-F238E27FC236}">
                <a16:creationId xmlns:a16="http://schemas.microsoft.com/office/drawing/2014/main" id="{367AD589-888F-5AAF-9965-E5ACC77745ED}"/>
              </a:ext>
            </a:extLst>
          </p:cNvPr>
          <p:cNvPicPr>
            <a:picLocks noChangeAspect="1"/>
          </p:cNvPicPr>
          <p:nvPr/>
        </p:nvPicPr>
        <p:blipFill>
          <a:blip r:embed="rId3"/>
          <a:stretch>
            <a:fillRect/>
          </a:stretch>
        </p:blipFill>
        <p:spPr>
          <a:xfrm>
            <a:off x="5035635" y="3820139"/>
            <a:ext cx="7014285" cy="2593474"/>
          </a:xfrm>
          <a:prstGeom prst="rect">
            <a:avLst/>
          </a:prstGeom>
        </p:spPr>
      </p:pic>
    </p:spTree>
    <p:extLst>
      <p:ext uri="{BB962C8B-B14F-4D97-AF65-F5344CB8AC3E}">
        <p14:creationId xmlns:p14="http://schemas.microsoft.com/office/powerpoint/2010/main" val="2263792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6B388-D9AD-2AD6-CEE2-1050D2094D23}"/>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B555456E-F98C-2ADC-3B1E-244513C745CA}"/>
              </a:ext>
            </a:extLst>
          </p:cNvPr>
          <p:cNvSpPr>
            <a:spLocks noGrp="1"/>
          </p:cNvSpPr>
          <p:nvPr>
            <p:ph idx="1"/>
          </p:nvPr>
        </p:nvSpPr>
        <p:spPr/>
        <p:txBody>
          <a:bodyPr/>
          <a:lstStyle/>
          <a:p>
            <a:r>
              <a:rPr lang="en-GB" dirty="0"/>
              <a:t>We will see and use lots of </a:t>
            </a:r>
            <a:r>
              <a:rPr lang="en-GB" dirty="0" err="1"/>
              <a:t>GenAI</a:t>
            </a:r>
            <a:r>
              <a:rPr lang="en-GB" dirty="0"/>
              <a:t> applications in the very near future in our daily life</a:t>
            </a:r>
          </a:p>
          <a:p>
            <a:endParaRPr lang="en-GB" dirty="0"/>
          </a:p>
          <a:p>
            <a:r>
              <a:rPr lang="en-GB" dirty="0"/>
              <a:t>Prompt engineering is becoming crucial to help us do our jobs more efficiently, e.g. programming, writing slides and searching for knowledge.</a:t>
            </a:r>
          </a:p>
          <a:p>
            <a:endParaRPr lang="en-GB" dirty="0"/>
          </a:p>
          <a:p>
            <a:r>
              <a:rPr lang="en-GB" dirty="0" err="1"/>
              <a:t>GenAI</a:t>
            </a:r>
            <a:r>
              <a:rPr lang="en-GB" dirty="0"/>
              <a:t> will become the future system engine to drive the system’s functionalities and GUIs to communicate with </a:t>
            </a:r>
            <a:r>
              <a:rPr lang="en-GB"/>
              <a:t>the users.   </a:t>
            </a:r>
            <a:endParaRPr lang="en-GB" dirty="0"/>
          </a:p>
        </p:txBody>
      </p:sp>
    </p:spTree>
    <p:extLst>
      <p:ext uri="{BB962C8B-B14F-4D97-AF65-F5344CB8AC3E}">
        <p14:creationId xmlns:p14="http://schemas.microsoft.com/office/powerpoint/2010/main" val="461686168"/>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431C53B3-8944-6435-3B76-12DA79BD044C}"/>
              </a:ext>
            </a:extLst>
          </p:cNvPr>
          <p:cNvSpPr>
            <a:spLocks noGrp="1"/>
          </p:cNvSpPr>
          <p:nvPr>
            <p:ph type="title"/>
          </p:nvPr>
        </p:nvSpPr>
        <p:spPr>
          <a:xfrm>
            <a:off x="198120" y="345247"/>
            <a:ext cx="5000980" cy="1325563"/>
          </a:xfrm>
        </p:spPr>
        <p:txBody>
          <a:bodyPr/>
          <a:lstStyle/>
          <a:p>
            <a:r>
              <a:rPr lang="en-GB" b="1" i="0" dirty="0" sz="3200">
                <a:solidFill>
                  <a:srgbClr val="0D0D0D"/>
                </a:solidFill>
                <a:effectLst/>
                <a:latin typeface="Söhne"/>
              </a:rPr>
              <a:t>Strategies and Techniques</a:t>
            </a:r>
            <a:endParaRPr lang="en-GB" dirty="0"/>
          </a:p>
        </p:txBody>
      </p:sp>
      <p:sp>
        <p:nvSpPr>
          <p:cNvPr id="3" name="Content Placeholder 2">
            <a:extLst>
              <a:ext uri="{FF2B5EF4-FFF2-40B4-BE49-F238E27FC236}">
                <a16:creationId xmlns:a16="http://schemas.microsoft.com/office/drawing/2014/main" id="{30C6EB37-9E8B-9239-4121-A36B536C9B95}"/>
              </a:ext>
            </a:extLst>
          </p:cNvPr>
          <p:cNvSpPr>
            <a:spLocks noGrp="1"/>
          </p:cNvSpPr>
          <p:nvPr>
            <p:ph idx="1"/>
          </p:nvPr>
        </p:nvSpPr>
        <p:spPr>
          <a:xfrm>
            <a:off x="198120" y="1837552"/>
            <a:ext cx="5000980" cy="1300000"/>
          </a:xfrm>
        </p:spPr>
        <p:txBody>
          <a:bodyPr/>
          <a:lstStyle/>
          <a:p>
            <a:pPr marL="0" indent="0">
              <a:buNone/>
            </a:pPr>
            <a:r>
              <a:rPr lang="en-GB" b="1" i="0" dirty="0" sz="2400">
                <a:effectLst/>
                <a:latin typeface="-apple-system"/>
              </a:rPr>
              <a:t>2. Role-Task-Format (continued)</a:t>
            </a:r>
          </a:p>
          <a:p>
            <a:endParaRPr lang="en-GB" dirty="0"/>
          </a:p>
        </p:txBody>
      </p:sp>
      <p:sp>
        <p:nvSpPr>
          <p:cNvPr id="5" name="TextBox 4">
            <a:extLst>
              <a:ext uri="{FF2B5EF4-FFF2-40B4-BE49-F238E27FC236}">
                <a16:creationId xmlns:a16="http://schemas.microsoft.com/office/drawing/2014/main" id="{522F3718-DE46-5F46-CDAA-86ABD16A7D38}"/>
              </a:ext>
            </a:extLst>
          </p:cNvPr>
          <p:cNvSpPr txBox="1"/>
          <p:nvPr/>
        </p:nvSpPr>
        <p:spPr>
          <a:xfrm>
            <a:off x="198120" y="3429000"/>
            <a:ext cx="5000980" cy="646331"/>
          </a:xfrm>
          <a:prstGeom prst="rect">
            <a:avLst/>
          </a:prstGeom>
          <a:noFill/>
        </p:spPr>
        <p:txBody>
          <a:bodyPr wrap="square">
            <a:spAutoFit/>
          </a:bodyPr>
          <a:lstStyle/>
          <a:p>
            <a:r>
              <a:rPr lang="en-GB" b="1" dirty="0"/>
              <a:t>Context data, examples, tone, emotion and entropy</a:t>
            </a:r>
          </a:p>
        </p:txBody>
      </p:sp>
      <p:pic>
        <p:nvPicPr>
          <p:cNvPr id="3076" name="Picture 4" descr="Image">
            <a:extLst>
              <a:ext uri="{FF2B5EF4-FFF2-40B4-BE49-F238E27FC236}">
                <a16:creationId xmlns:a16="http://schemas.microsoft.com/office/drawing/2014/main" id="{1D45AF5D-520C-DDAB-E9E3-D3F05C31A8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9100" y="0"/>
            <a:ext cx="66929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077" name="TextBox 3076"/>
          <p:cNvSpPr txBox="1"/>
          <p:nvPr/>
        </p:nvSpPr>
        <p:spPr>
          <a:xfrm>
            <a:off x="198120" y="5700000"/>
            <a:ext cx="5000980" cy="800000"/>
          </a:xfrm>
          <a:prstGeom prst="rect">
            <a:avLst/>
          </a:prstGeom>
          <a:noFill/>
        </p:spPr>
        <p:txBody>
          <a:bodyPr wrap="square">
            <a:spAutoFit/>
          </a:bodyPr>
          <a:lstStyle/>
          <a:p>
            <a:r>
              <a:rPr sz="1200" i="1"/>
              <a:t>Source: Yang et al. (2023), Large Language Models as Optimizers, Table 4: the wording of the instruction changes the accuracy on GSM8K maths problems.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a:extLst>
              <a:ext uri="{FF2B5EF4-FFF2-40B4-BE49-F238E27FC236}">
                <a16:creationId xmlns:a16="http://schemas.microsoft.com/office/drawing/2014/main" id="{9CB3568F-E379-5FF0-D1B5-9526F482C7AE}"/>
              </a:ext>
            </a:extLst>
          </p:cNvPr>
          <p:cNvPicPr>
            <a:picLocks noChangeAspect="1"/>
          </p:cNvPicPr>
          <p:nvPr/>
        </p:nvPicPr>
        <p:blipFill>
          <a:blip r:embed="rId2"/>
          <a:stretch>
            <a:fillRect/>
          </a:stretch>
        </p:blipFill>
        <p:spPr>
          <a:xfrm>
            <a:off x="539919" y="253316"/>
            <a:ext cx="11185916" cy="635136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TotalTime>
  <Words>1316</Words>
  <Application>Microsoft Office PowerPoint</Application>
  <PresentationFormat>Widescreen</PresentationFormat>
  <Paragraphs>66</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__tiempos_b6f14e</vt:lpstr>
      <vt:lpstr>-apple-system</vt:lpstr>
      <vt:lpstr>Söhne</vt:lpstr>
      <vt:lpstr>source-serif-pro</vt:lpstr>
      <vt:lpstr>Arial</vt:lpstr>
      <vt:lpstr>Calibri</vt:lpstr>
      <vt:lpstr>Calibri Light</vt:lpstr>
      <vt:lpstr>Times New Roman</vt:lpstr>
      <vt:lpstr>Office Theme</vt:lpstr>
      <vt:lpstr>AI trend-Generative AI and Prompts Engineering</vt:lpstr>
      <vt:lpstr>AI trend </vt:lpstr>
      <vt:lpstr>What is GenAI and Its Capabilities</vt:lpstr>
      <vt:lpstr>Technologies Behind GenAI</vt:lpstr>
      <vt:lpstr>Transformer </vt:lpstr>
      <vt:lpstr>Attention Mechanism </vt:lpstr>
      <vt:lpstr>PowerPoint Presentation</vt:lpstr>
      <vt:lpstr>Implementation Example</vt:lpstr>
      <vt:lpstr>Transformer Attention</vt:lpstr>
      <vt:lpstr>PowerPoint Presentation</vt:lpstr>
      <vt:lpstr>Prompts Engineering</vt:lpstr>
      <vt:lpstr>Strategies and Techniques</vt:lpstr>
      <vt:lpstr>Strategies and Techniques</vt:lpstr>
      <vt:lpstr>Strategies and Techniques</vt:lpstr>
      <vt:lpstr>Strategies and Techniques</vt:lpstr>
      <vt:lpstr>Summarisation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trend-Generative AI and Prompts Engineering</dc:title>
  <dc:creator>Harry Yu</dc:creator>
  <cp:lastModifiedBy>Harry Yu</cp:lastModifiedBy>
  <cp:revision>2</cp:revision>
  <dcterms:created xsi:type="dcterms:W3CDTF">2024-03-18T09:45:06Z</dcterms:created>
  <dcterms:modified xsi:type="dcterms:W3CDTF">2024-03-19T12:26:56Z</dcterms:modified>
</cp:coreProperties>
</file>