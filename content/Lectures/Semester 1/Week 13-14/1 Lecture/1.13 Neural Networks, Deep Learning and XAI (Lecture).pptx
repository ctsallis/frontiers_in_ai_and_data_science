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96" r:id="rId2"/>
    <p:sldId id="305" r:id="rId3"/>
    <p:sldId id="306" r:id="rId4"/>
    <p:sldId id="307" r:id="rId5"/>
    <p:sldId id="308" r:id="rId6"/>
    <p:sldId id="311" r:id="rId7"/>
    <p:sldId id="309" r:id="rId8"/>
    <p:sldId id="310" r:id="rId9"/>
    <p:sldId id="312" r:id="rId10"/>
    <p:sldId id="313" r:id="rId11"/>
    <p:sldId id="258" r:id="rId12"/>
    <p:sldId id="259" r:id="rId13"/>
    <p:sldId id="299" r:id="rId14"/>
    <p:sldId id="265" r:id="rId15"/>
    <p:sldId id="266" r:id="rId16"/>
    <p:sldId id="267" r:id="rId17"/>
    <p:sldId id="268" r:id="rId18"/>
    <p:sldId id="269" r:id="rId19"/>
    <p:sldId id="270" r:id="rId20"/>
    <p:sldId id="300" r:id="rId21"/>
    <p:sldId id="273" r:id="rId22"/>
    <p:sldId id="274" r:id="rId23"/>
    <p:sldId id="276" r:id="rId24"/>
    <p:sldId id="272"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301" r:id="rId39"/>
    <p:sldId id="302" r:id="rId40"/>
    <p:sldId id="303" r:id="rId41"/>
    <p:sldId id="304" r:id="rId42"/>
    <p:sldId id="291" r:id="rId43"/>
    <p:sldId id="290" r:id="rId44"/>
    <p:sldId id="292" r:id="rId45"/>
    <p:sldId id="293" r:id="rId46"/>
    <p:sldId id="294" r:id="rId47"/>
    <p:sldId id="295" r:id="rId48"/>
    <p:sldId id="297" r:id="rId49"/>
    <p:sldId id="298" r:id="rId50"/>
    <p:sldId id="314" r:id="rId51"/>
    <p:sldId id="316" r:id="rId52"/>
    <p:sldId id="315" r:id="rId53"/>
    <p:sldId id="317" r:id="rId54"/>
    <p:sldId id="318" r:id="rId55"/>
    <p:sldId id="319" r:id="rId56"/>
    <p:sldId id="27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28"/>
      </p:cViewPr>
      <p:guideLst>
        <p:guide orient="horz" pos="2160"/>
        <p:guide pos="2880"/>
      </p:guideLst>
    </p:cSldViewPr>
  </p:slideViewPr>
  <p:notesTextViewPr>
    <p:cViewPr>
      <p:scale>
        <a:sx n="100" d="100"/>
        <a:sy n="100" d="100"/>
      </p:scale>
      <p:origin x="0" y="0"/>
    </p:cViewPr>
  </p:notesTextViewPr>
  <p:notesViewPr>
    <p:cSldViewPr>
      <p:cViewPr varScale="1">
        <p:scale>
          <a:sx n="68" d="100"/>
          <a:sy n="68" d="100"/>
        </p:scale>
        <p:origin x="2808" y="84"/>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 Id="rId6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Tsioulis" userId="d59c48a07cb29050" providerId="LiveId" clId="{D1FB67B2-2F40-423F-AEB1-7CE013CAD466}"/>
    <pc:docChg chg="modSld">
      <pc:chgData name="Giannis Tsioulis" userId="d59c48a07cb29050" providerId="LiveId" clId="{D1FB67B2-2F40-423F-AEB1-7CE013CAD466}" dt="2026-02-03T20:01:48.894" v="27" actId="20577"/>
      <pc:docMkLst>
        <pc:docMk/>
      </pc:docMkLst>
      <pc:sldChg chg="addSp modSp mod">
        <pc:chgData name="Giannis Tsioulis" userId="d59c48a07cb29050" providerId="LiveId" clId="{D1FB67B2-2F40-423F-AEB1-7CE013CAD466}" dt="2026-02-03T20:01:48.894" v="27" actId="20577"/>
        <pc:sldMkLst>
          <pc:docMk/>
          <pc:sldMk cId="589119342" sldId="296"/>
        </pc:sldMkLst>
        <pc:spChg chg="add mod">
          <ac:chgData name="Giannis Tsioulis" userId="d59c48a07cb29050" providerId="LiveId" clId="{D1FB67B2-2F40-423F-AEB1-7CE013CAD466}" dt="2026-02-03T20:01:35.758" v="24" actId="1076"/>
          <ac:spMkLst>
            <pc:docMk/>
            <pc:sldMk cId="589119342" sldId="296"/>
            <ac:spMk id="2" creationId="{03143BB8-C7F4-DC4B-9501-D49558D28069}"/>
          </ac:spMkLst>
        </pc:spChg>
        <pc:spChg chg="mod">
          <ac:chgData name="Giannis Tsioulis" userId="d59c48a07cb29050" providerId="LiveId" clId="{D1FB67B2-2F40-423F-AEB1-7CE013CAD466}" dt="2026-02-03T20:01:48.894" v="27" actId="20577"/>
          <ac:spMkLst>
            <pc:docMk/>
            <pc:sldMk cId="589119342" sldId="296"/>
            <ac:spMk id="4" creationId="{00000000-0000-0000-0000-000000000000}"/>
          </ac:spMkLst>
        </pc:spChg>
        <pc:spChg chg="mod">
          <ac:chgData name="Giannis Tsioulis" userId="d59c48a07cb29050" providerId="LiveId" clId="{D1FB67B2-2F40-423F-AEB1-7CE013CAD466}" dt="2026-02-03T19:59:40.444" v="1" actId="207"/>
          <ac:spMkLst>
            <pc:docMk/>
            <pc:sldMk cId="589119342" sldId="29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EB53CE-A3AA-40B4-BE64-5106907498D5}" type="datetimeFigureOut">
              <a:rPr lang="en-GB" smtClean="0"/>
              <a:t>03/02/2026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3B8673-A02A-4258-88EB-D45321E88CBE}" type="slidenum">
              <a:rPr lang="en-GB" smtClean="0"/>
              <a:t>‹#›</a:t>
            </a:fld>
            <a:endParaRPr lang="en-GB"/>
          </a:p>
        </p:txBody>
      </p:sp>
    </p:spTree>
    <p:extLst>
      <p:ext uri="{BB962C8B-B14F-4D97-AF65-F5344CB8AC3E}">
        <p14:creationId xmlns:p14="http://schemas.microsoft.com/office/powerpoint/2010/main" val="3131876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98FAD6-2204-9B42-B925-864C8B248329}" type="slidenum">
              <a:rPr lang="en-GB"/>
              <a:pPr/>
              <a:t>14</a:t>
            </a:fld>
            <a:endParaRPr lang="en-GB"/>
          </a:p>
        </p:txBody>
      </p:sp>
      <p:sp>
        <p:nvSpPr>
          <p:cNvPr id="154626" name="Rectangle 2"/>
          <p:cNvSpPr>
            <a:spLocks noGrp="1" noRot="1" noChangeAspect="1" noChangeArrowheads="1" noTextEdit="1"/>
          </p:cNvSpPr>
          <p:nvPr>
            <p:ph type="sldImg"/>
          </p:nvPr>
        </p:nvSpPr>
        <p:spPr>
          <a:xfrm>
            <a:off x="1143000" y="685800"/>
            <a:ext cx="4572000" cy="3429000"/>
          </a:xfrm>
          <a:ln/>
          <a:extLst>
            <a:ext uri="{FAA26D3D-D897-4be2-8F04-BA451C77F1D7}">
              <ma14:placeholderFlag xmlns="" xmlns:ma14="http://schemas.microsoft.com/office/mac/drawingml/2011/main" val="1"/>
            </a:ext>
          </a:extLst>
        </p:spPr>
      </p:sp>
      <p:sp>
        <p:nvSpPr>
          <p:cNvPr id="154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type="sldNum" sz="quarter" idx="5"/>
          </p:nvPr>
        </p:nvSpPr>
        <p:spPr>
          <a:ln/>
        </p:spPr>
        <p:txBody>
          <a:bodyPr/>
          <a:lstStyle/>
          <a:p>
            <a:fld id="{1CE5390A-A505-441E-820A-6BE87318B822}" type="slidenum">
              <a:rPr lang="en-US" altLang="ko-KR"/>
              <a:pPr/>
              <a:t>23</a:t>
            </a:fld>
            <a:endParaRPr lang="en-US" altLang="ko-KR"/>
          </a:p>
        </p:txBody>
      </p:sp>
      <p:sp>
        <p:nvSpPr>
          <p:cNvPr id="3212290" name="Rectangle 2"/>
          <p:cNvSpPr>
            <a:spLocks noGrp="1" noRot="1" noChangeAspect="1" noChangeArrowheads="1" noTextEdit="1"/>
          </p:cNvSpPr>
          <p:nvPr>
            <p:ph type="sldImg"/>
          </p:nvPr>
        </p:nvSpPr>
        <p:spPr>
          <a:ln/>
        </p:spPr>
      </p:sp>
      <p:sp>
        <p:nvSpPr>
          <p:cNvPr id="3212291" name="Rectangle 3"/>
          <p:cNvSpPr>
            <a:spLocks noGrp="1" noChangeArrowheads="1"/>
          </p:cNvSpPr>
          <p:nvPr>
            <p:ph type="body" idx="1"/>
          </p:nvPr>
        </p:nvSpPr>
        <p:spPr/>
        <p:txBody>
          <a:bodyPr/>
          <a:lstStyle/>
          <a:p>
            <a:endParaRPr lang="en-GB" alt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34</a:t>
            </a:fld>
            <a:endParaRPr lang="en-GB"/>
          </a:p>
        </p:txBody>
      </p:sp>
    </p:spTree>
    <p:extLst>
      <p:ext uri="{BB962C8B-B14F-4D97-AF65-F5344CB8AC3E}">
        <p14:creationId xmlns:p14="http://schemas.microsoft.com/office/powerpoint/2010/main" val="3405494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Consider a language model trying to predict the next word based on the previous ones. If we are trying to predict the last word in “the clouds are in the </a:t>
            </a:r>
            <a:r>
              <a:rPr lang="en-GB" i="1" dirty="0"/>
              <a:t>sky</a:t>
            </a:r>
            <a:r>
              <a:rPr lang="en-GB" dirty="0"/>
              <a:t>,” we don’t need any further context – it’s pretty obvious the next word is going to be sky. In such cases, where the gap between the relevant information and the place that it’s needed is small, RNNs can learn to use the past information.</a:t>
            </a:r>
            <a:endParaRPr lang="en-GB" b="1" dirty="0"/>
          </a:p>
          <a:p>
            <a:endParaRPr lang="en-GB" dirty="0"/>
          </a:p>
          <a:p>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43</a:t>
            </a:fld>
            <a:endParaRPr lang="en-GB"/>
          </a:p>
        </p:txBody>
      </p:sp>
    </p:spTree>
    <p:extLst>
      <p:ext uri="{BB962C8B-B14F-4D97-AF65-F5344CB8AC3E}">
        <p14:creationId xmlns:p14="http://schemas.microsoft.com/office/powerpoint/2010/main" val="1978267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Forget Gate</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Some information from the previous cell state is not needed for the present unit in an LSTM. A forget gate is responsible for removing this information from the cell state.</a:t>
            </a:r>
          </a:p>
          <a:p>
            <a:pPr marL="0" marR="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Input Gate</a:t>
            </a:r>
          </a:p>
          <a:p>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process of adding new information takes place in the input gate. Here a combination of x t and h t-1 is passed through a sigmoid and a </a:t>
            </a:r>
            <a:r>
              <a:rPr lang="en-GB" sz="1200" b="0" i="0" kern="1200" dirty="0" err="1">
                <a:solidFill>
                  <a:schemeClr val="tx1"/>
                </a:solidFill>
                <a:effectLst/>
                <a:latin typeface="+mn-lt"/>
                <a:ea typeface="+mn-ea"/>
                <a:cs typeface="+mn-cs"/>
              </a:rPr>
              <a:t>tanh</a:t>
            </a:r>
            <a:r>
              <a:rPr lang="en-GB" sz="1200" b="0" i="0" kern="1200" dirty="0">
                <a:solidFill>
                  <a:schemeClr val="tx1"/>
                </a:solidFill>
                <a:effectLst/>
                <a:latin typeface="+mn-lt"/>
                <a:ea typeface="+mn-ea"/>
                <a:cs typeface="+mn-cs"/>
              </a:rPr>
              <a:t> function (activation functions), and their product is added to the cell state. The vector containing all the possible values that can be added (as perceived from h t-1 and x t) to the cell state is created using the </a:t>
            </a:r>
            <a:r>
              <a:rPr lang="en-GB" sz="1200" b="0" i="0" kern="1200" dirty="0" err="1">
                <a:solidFill>
                  <a:schemeClr val="tx1"/>
                </a:solidFill>
                <a:effectLst/>
                <a:latin typeface="+mn-lt"/>
                <a:ea typeface="+mn-ea"/>
                <a:cs typeface="+mn-cs"/>
              </a:rPr>
              <a:t>tanh</a:t>
            </a:r>
            <a:r>
              <a:rPr lang="en-GB" sz="1200" b="0" i="0" kern="1200" dirty="0">
                <a:solidFill>
                  <a:schemeClr val="tx1"/>
                </a:solidFill>
                <a:effectLst/>
                <a:latin typeface="+mn-lt"/>
                <a:ea typeface="+mn-ea"/>
                <a:cs typeface="+mn-cs"/>
              </a:rPr>
              <a:t> function, and the sigmoid works as a filter on it. By this step we ensure that only information that is important and not redundant is added to the cell state.</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sz="1200" b="1" i="0" kern="1200" dirty="0">
                <a:solidFill>
                  <a:schemeClr val="tx1"/>
                </a:solidFill>
                <a:effectLst/>
                <a:latin typeface="+mn-lt"/>
                <a:ea typeface="+mn-ea"/>
                <a:cs typeface="+mn-cs"/>
              </a:rPr>
              <a:t>Output Gate</a:t>
            </a:r>
            <a:endParaRPr lang="en-GB" sz="1200" b="0" i="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A vector is created after applying the </a:t>
            </a:r>
            <a:r>
              <a:rPr lang="en-GB" sz="1200" b="0" i="0" kern="1200" dirty="0" err="1">
                <a:solidFill>
                  <a:schemeClr val="tx1"/>
                </a:solidFill>
                <a:effectLst/>
                <a:latin typeface="+mn-lt"/>
                <a:ea typeface="+mn-ea"/>
                <a:cs typeface="+mn-cs"/>
              </a:rPr>
              <a:t>tanh</a:t>
            </a:r>
            <a:r>
              <a:rPr lang="en-GB" sz="1200" b="0" i="0" kern="1200" dirty="0">
                <a:solidFill>
                  <a:schemeClr val="tx1"/>
                </a:solidFill>
                <a:effectLst/>
                <a:latin typeface="+mn-lt"/>
                <a:ea typeface="+mn-ea"/>
                <a:cs typeface="+mn-cs"/>
              </a:rPr>
              <a:t> function to the cell </a:t>
            </a:r>
            <a:r>
              <a:rPr lang="en-GB" sz="1200" b="0" i="0" kern="1200" dirty="0" err="1">
                <a:solidFill>
                  <a:schemeClr val="tx1"/>
                </a:solidFill>
                <a:effectLst/>
                <a:latin typeface="+mn-lt"/>
                <a:ea typeface="+mn-ea"/>
                <a:cs typeface="+mn-cs"/>
              </a:rPr>
              <a:t>state. Then</a:t>
            </a:r>
            <a:r>
              <a:rPr lang="en-GB" sz="1200" b="0" i="0" kern="1200" dirty="0">
                <a:solidFill>
                  <a:schemeClr val="tx1"/>
                </a:solidFill>
                <a:effectLst/>
                <a:latin typeface="+mn-lt"/>
                <a:ea typeface="+mn-ea"/>
                <a:cs typeface="+mn-cs"/>
              </a:rPr>
              <a:t> making a filter using the values of h t-1 and x t, such that it can regulate the values that need to be output from the vector created above. This filter again employs a sigmoid </a:t>
            </a:r>
            <a:r>
              <a:rPr lang="en-GB" sz="1200" b="0" i="0" kern="1200" dirty="0" err="1">
                <a:solidFill>
                  <a:schemeClr val="tx1"/>
                </a:solidFill>
                <a:effectLst/>
                <a:latin typeface="+mn-lt"/>
                <a:ea typeface="+mn-ea"/>
                <a:cs typeface="+mn-cs"/>
              </a:rPr>
              <a:t>function. Then</a:t>
            </a:r>
            <a:r>
              <a:rPr lang="en-GB" sz="1200" b="0" i="0" kern="1200" dirty="0">
                <a:solidFill>
                  <a:schemeClr val="tx1"/>
                </a:solidFill>
                <a:effectLst/>
                <a:latin typeface="+mn-lt"/>
                <a:ea typeface="+mn-ea"/>
                <a:cs typeface="+mn-cs"/>
              </a:rPr>
              <a:t> both of them are multiplied to form the output of the cell.</a:t>
            </a:r>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45</a:t>
            </a:fld>
            <a:endParaRPr lang="en-GB"/>
          </a:p>
        </p:txBody>
      </p:sp>
    </p:spTree>
    <p:extLst>
      <p:ext uri="{BB962C8B-B14F-4D97-AF65-F5344CB8AC3E}">
        <p14:creationId xmlns:p14="http://schemas.microsoft.com/office/powerpoint/2010/main" val="29445506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B3B8673-A02A-4258-88EB-D45321E88CBE}" type="slidenum">
              <a:rPr lang="en-GB" smtClean="0"/>
              <a:t>47</a:t>
            </a:fld>
            <a:endParaRPr lang="en-GB"/>
          </a:p>
        </p:txBody>
      </p:sp>
    </p:spTree>
    <p:extLst>
      <p:ext uri="{BB962C8B-B14F-4D97-AF65-F5344CB8AC3E}">
        <p14:creationId xmlns:p14="http://schemas.microsoft.com/office/powerpoint/2010/main" val="3690410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08D7-2280-7445-9E56-56259A07FC8A}"/>
              </a:ext>
            </a:extLst>
          </p:cNvPr>
          <p:cNvSpPr>
            <a:spLocks noGrp="1"/>
          </p:cNvSpPr>
          <p:nvPr>
            <p:ph type="ctrTitle" hasCustomPrompt="1"/>
          </p:nvPr>
        </p:nvSpPr>
        <p:spPr>
          <a:xfrm>
            <a:off x="1794424" y="373770"/>
            <a:ext cx="6206576" cy="540631"/>
          </a:xfrm>
          <a:prstGeom prst="rect">
            <a:avLst/>
          </a:prstGeom>
        </p:spPr>
        <p:txBody>
          <a:bodyPr anchor="t"/>
          <a:lstStyle>
            <a:lvl1pPr algn="l">
              <a:lnSpc>
                <a:spcPct val="100000"/>
              </a:lnSpc>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Subtitle 2">
            <a:extLst>
              <a:ext uri="{FF2B5EF4-FFF2-40B4-BE49-F238E27FC236}">
                <a16:creationId xmlns:a16="http://schemas.microsoft.com/office/drawing/2014/main" id="{C1FF6D12-0445-E148-BB09-E64C08B1BA55}"/>
              </a:ext>
            </a:extLst>
          </p:cNvPr>
          <p:cNvSpPr>
            <a:spLocks noGrp="1"/>
          </p:cNvSpPr>
          <p:nvPr>
            <p:ph type="subTitle" idx="1" hasCustomPrompt="1"/>
          </p:nvPr>
        </p:nvSpPr>
        <p:spPr>
          <a:xfrm>
            <a:off x="1794423" y="1435007"/>
            <a:ext cx="6206577" cy="5039212"/>
          </a:xfrm>
          <a:prstGeom prst="rect">
            <a:avLst/>
          </a:prstGeom>
        </p:spPr>
        <p:txBody>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Body Copy  ARIAL 16pt</a:t>
            </a:r>
          </a:p>
        </p:txBody>
      </p:sp>
      <p:pic>
        <p:nvPicPr>
          <p:cNvPr id="7" name="Picture 6">
            <a:extLst>
              <a:ext uri="{FF2B5EF4-FFF2-40B4-BE49-F238E27FC236}">
                <a16:creationId xmlns:a16="http://schemas.microsoft.com/office/drawing/2014/main" id="{5276B2E5-FD2E-2F48-B255-21F97B6C0E40}"/>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347972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8135D-D60C-5E43-A2E0-33CB99A83166}"/>
              </a:ext>
            </a:extLst>
          </p:cNvPr>
          <p:cNvSpPr>
            <a:spLocks noGrp="1"/>
          </p:cNvSpPr>
          <p:nvPr>
            <p:ph type="title" hasCustomPrompt="1"/>
          </p:nvPr>
        </p:nvSpPr>
        <p:spPr>
          <a:xfrm>
            <a:off x="1809893" y="365126"/>
            <a:ext cx="6705457" cy="59599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C9E60C7-65E9-2D4E-8F6F-2124696CD5C9}"/>
              </a:ext>
            </a:extLst>
          </p:cNvPr>
          <p:cNvSpPr>
            <a:spLocks noGrp="1"/>
          </p:cNvSpPr>
          <p:nvPr>
            <p:ph idx="1" hasCustomPrompt="1"/>
          </p:nvPr>
        </p:nvSpPr>
        <p:spPr>
          <a:xfrm>
            <a:off x="1809892" y="1414985"/>
            <a:ext cx="6705458" cy="4761979"/>
          </a:xfrm>
          <a:prstGeom prst="rect">
            <a:avLst/>
          </a:prstGeom>
        </p:spPr>
        <p:txBody>
          <a:bodyPr/>
          <a:lstStyle>
            <a:lvl1pPr marL="0" indent="0">
              <a:buNone/>
              <a:defRPr sz="2400" b="0" i="0">
                <a:latin typeface="Arial" panose="020B0604020202020204" pitchFamily="34" charset="0"/>
                <a:cs typeface="Arial" panose="020B0604020202020204" pitchFamily="34" charset="0"/>
              </a:defRPr>
            </a:lvl1pPr>
            <a:lvl2pPr>
              <a:defRPr sz="1600" b="0" i="0">
                <a:latin typeface="Arial" panose="020B0604020202020204" pitchFamily="34" charset="0"/>
                <a:cs typeface="Arial" panose="020B0604020202020204" pitchFamily="34" charset="0"/>
              </a:defRPr>
            </a:lvl2pPr>
            <a:lvl3pPr>
              <a:defRPr sz="1600" b="0" i="0">
                <a:latin typeface="Arial" panose="020B0604020202020204" pitchFamily="34" charset="0"/>
                <a:cs typeface="Arial" panose="020B0604020202020204" pitchFamily="34" charset="0"/>
              </a:defRPr>
            </a:lvl3pPr>
            <a:lvl4pPr>
              <a:defRPr sz="1600" b="0" i="0">
                <a:latin typeface="Arial" panose="020B0604020202020204" pitchFamily="34" charset="0"/>
                <a:cs typeface="Arial" panose="020B0604020202020204" pitchFamily="34" charset="0"/>
              </a:defRPr>
            </a:lvl4pPr>
            <a:lvl5pPr>
              <a:defRPr sz="1600" b="0" i="0">
                <a:latin typeface="Arial" panose="020B0604020202020204" pitchFamily="34" charset="0"/>
                <a:cs typeface="Arial" panose="020B0604020202020204" pitchFamily="34" charset="0"/>
              </a:defRPr>
            </a:lvl5pPr>
          </a:lstStyle>
          <a:p>
            <a:pPr lvl="0"/>
            <a:r>
              <a:rPr lang="en-US" dirty="0"/>
              <a:t>Body Copy Arial 16pt</a:t>
            </a:r>
          </a:p>
        </p:txBody>
      </p:sp>
      <p:pic>
        <p:nvPicPr>
          <p:cNvPr id="7" name="Picture 6">
            <a:extLst>
              <a:ext uri="{FF2B5EF4-FFF2-40B4-BE49-F238E27FC236}">
                <a16:creationId xmlns:a16="http://schemas.microsoft.com/office/drawing/2014/main" id="{1B90AFCE-B625-D845-858E-A0692B422D71}"/>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2192715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1BC6-EBE9-7C40-8DF3-ADD0BBB8D7AF}"/>
              </a:ext>
            </a:extLst>
          </p:cNvPr>
          <p:cNvSpPr>
            <a:spLocks noGrp="1"/>
          </p:cNvSpPr>
          <p:nvPr>
            <p:ph type="title" hasCustomPrompt="1"/>
          </p:nvPr>
        </p:nvSpPr>
        <p:spPr>
          <a:xfrm>
            <a:off x="1701986" y="373771"/>
            <a:ext cx="6808602" cy="493909"/>
          </a:xfrm>
          <a:prstGeom prst="rect">
            <a:avLst/>
          </a:prstGeom>
        </p:spPr>
        <p:txBody>
          <a:bodyPr anchor="t"/>
          <a:lstStyle>
            <a:lvl1pPr algn="l">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Text Placeholder 2">
            <a:extLst>
              <a:ext uri="{FF2B5EF4-FFF2-40B4-BE49-F238E27FC236}">
                <a16:creationId xmlns:a16="http://schemas.microsoft.com/office/drawing/2014/main" id="{A31ED869-0B77-A24D-B0EF-98935AA253BC}"/>
              </a:ext>
            </a:extLst>
          </p:cNvPr>
          <p:cNvSpPr>
            <a:spLocks noGrp="1"/>
          </p:cNvSpPr>
          <p:nvPr>
            <p:ph type="body" idx="1" hasCustomPrompt="1"/>
          </p:nvPr>
        </p:nvSpPr>
        <p:spPr>
          <a:xfrm>
            <a:off x="1701986" y="1428334"/>
            <a:ext cx="6808602" cy="466131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Body Copy Arial 16pt</a:t>
            </a:r>
          </a:p>
        </p:txBody>
      </p:sp>
      <p:pic>
        <p:nvPicPr>
          <p:cNvPr id="7" name="Picture 6">
            <a:extLst>
              <a:ext uri="{FF2B5EF4-FFF2-40B4-BE49-F238E27FC236}">
                <a16:creationId xmlns:a16="http://schemas.microsoft.com/office/drawing/2014/main" id="{45A86DEB-DB85-A34A-BADA-0D640BBCD362}"/>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89899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E027B-BEB9-F140-97F9-C790358BCFB2}"/>
              </a:ext>
            </a:extLst>
          </p:cNvPr>
          <p:cNvSpPr>
            <a:spLocks noGrp="1"/>
          </p:cNvSpPr>
          <p:nvPr>
            <p:ph type="title" hasCustomPrompt="1"/>
          </p:nvPr>
        </p:nvSpPr>
        <p:spPr>
          <a:xfrm>
            <a:off x="1701152" y="365126"/>
            <a:ext cx="7089102" cy="605836"/>
          </a:xfrm>
          <a:prstGeom prst="rect">
            <a:avLst/>
          </a:prstGeom>
        </p:spPr>
        <p:txBody>
          <a:bodyPr/>
          <a:lstStyle>
            <a:lvl1pPr>
              <a:defRPr sz="3200" b="1" i="0">
                <a:latin typeface="Arial" panose="020B0604020202020204" pitchFamily="34" charset="0"/>
                <a:cs typeface="Arial" panose="020B0604020202020204" pitchFamily="34" charset="0"/>
              </a:defRPr>
            </a:lvl1pPr>
          </a:lstStyle>
          <a:p>
            <a:r>
              <a:rPr lang="en-US" dirty="0"/>
              <a:t>Title Arial 32pt</a:t>
            </a:r>
          </a:p>
        </p:txBody>
      </p:sp>
      <p:sp>
        <p:nvSpPr>
          <p:cNvPr id="3" name="Content Placeholder 2">
            <a:extLst>
              <a:ext uri="{FF2B5EF4-FFF2-40B4-BE49-F238E27FC236}">
                <a16:creationId xmlns:a16="http://schemas.microsoft.com/office/drawing/2014/main" id="{EF93DD45-69DA-CE42-8028-948E1F6A678F}"/>
              </a:ext>
            </a:extLst>
          </p:cNvPr>
          <p:cNvSpPr>
            <a:spLocks noGrp="1"/>
          </p:cNvSpPr>
          <p:nvPr>
            <p:ph sz="half" idx="1" hasCustomPrompt="1"/>
          </p:nvPr>
        </p:nvSpPr>
        <p:spPr>
          <a:xfrm>
            <a:off x="1701152" y="1159497"/>
            <a:ext cx="3329718" cy="5017466"/>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Tx/>
              <a:buNone/>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a:p>
            <a:pPr lvl="0"/>
            <a:endParaRPr lang="en-US" dirty="0"/>
          </a:p>
        </p:txBody>
      </p:sp>
      <p:sp>
        <p:nvSpPr>
          <p:cNvPr id="4" name="Content Placeholder 3">
            <a:extLst>
              <a:ext uri="{FF2B5EF4-FFF2-40B4-BE49-F238E27FC236}">
                <a16:creationId xmlns:a16="http://schemas.microsoft.com/office/drawing/2014/main" id="{5BBBB932-9B4D-8B43-9456-CBAA647F0883}"/>
              </a:ext>
            </a:extLst>
          </p:cNvPr>
          <p:cNvSpPr>
            <a:spLocks noGrp="1"/>
          </p:cNvSpPr>
          <p:nvPr>
            <p:ph sz="half" idx="2" hasCustomPrompt="1"/>
          </p:nvPr>
        </p:nvSpPr>
        <p:spPr>
          <a:xfrm>
            <a:off x="5226097" y="1159497"/>
            <a:ext cx="3564158" cy="5017466"/>
          </a:xfrm>
          <a:prstGeom prst="rect">
            <a:avLst/>
          </a:prstGeo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40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Body Copy Arial 16pt</a:t>
            </a:r>
          </a:p>
        </p:txBody>
      </p:sp>
      <p:pic>
        <p:nvPicPr>
          <p:cNvPr id="8" name="Picture 7">
            <a:extLst>
              <a:ext uri="{FF2B5EF4-FFF2-40B4-BE49-F238E27FC236}">
                <a16:creationId xmlns:a16="http://schemas.microsoft.com/office/drawing/2014/main" id="{EE1306C6-F56C-F74F-AD6E-673B032DAFEE}"/>
              </a:ext>
            </a:extLst>
          </p:cNvPr>
          <p:cNvPicPr>
            <a:picLocks noChangeAspect="1"/>
          </p:cNvPicPr>
          <p:nvPr/>
        </p:nvPicPr>
        <p:blipFill>
          <a:blip r:embed="rId3"/>
          <a:stretch>
            <a:fillRect/>
          </a:stretch>
        </p:blipFill>
        <p:spPr>
          <a:xfrm>
            <a:off x="461745" y="4925113"/>
            <a:ext cx="748535" cy="619477"/>
          </a:xfrm>
          <a:prstGeom prst="rect">
            <a:avLst/>
          </a:prstGeom>
        </p:spPr>
      </p:pic>
    </p:spTree>
    <p:extLst>
      <p:ext uri="{BB962C8B-B14F-4D97-AF65-F5344CB8AC3E}">
        <p14:creationId xmlns:p14="http://schemas.microsoft.com/office/powerpoint/2010/main" val="3977692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1"/>
            <a:ext cx="2133600" cy="365125"/>
          </a:xfrm>
          <a:prstGeom prst="rect">
            <a:avLst/>
          </a:prstGeom>
        </p:spPr>
        <p:txBody>
          <a:bodyPr/>
          <a:lstStyle/>
          <a:p>
            <a:fld id="{924E5AC0-210F-1545-B8FE-641B31A52297}" type="datetime1">
              <a:rPr lang="en-US" smtClean="0">
                <a:solidFill>
                  <a:prstClr val="black">
                    <a:tint val="75000"/>
                  </a:prstClr>
                </a:solidFill>
              </a:rPr>
              <a:t>2/3/2026</a:t>
            </a:fld>
            <a:endParaRPr lang="en-US">
              <a:solidFill>
                <a:prstClr val="black">
                  <a:tint val="75000"/>
                </a:prstClr>
              </a:solidFill>
            </a:endParaRPr>
          </a:p>
        </p:txBody>
      </p:sp>
      <p:sp>
        <p:nvSpPr>
          <p:cNvPr id="3" name="Footer Placeholder 2"/>
          <p:cNvSpPr>
            <a:spLocks noGrp="1"/>
          </p:cNvSpPr>
          <p:nvPr>
            <p:ph type="ftr" sz="quarter" idx="11"/>
          </p:nvPr>
        </p:nvSpPr>
        <p:spPr>
          <a:xfrm>
            <a:off x="3124200" y="6356351"/>
            <a:ext cx="2895600" cy="365125"/>
          </a:xfrm>
          <a:prstGeom prst="rect">
            <a:avLst/>
          </a:prstGeom>
        </p:spPr>
        <p:txBody>
          <a:bodyPr/>
          <a:lstStyle/>
          <a:p>
            <a:r>
              <a:rPr lang="en-GB"/>
              <a:t>Dr Xia Zhao @ DMU, Leicester</a:t>
            </a:r>
          </a:p>
        </p:txBody>
      </p:sp>
      <p:sp>
        <p:nvSpPr>
          <p:cNvPr id="4" name="Slide Number Placeholder 3"/>
          <p:cNvSpPr>
            <a:spLocks noGrp="1"/>
          </p:cNvSpPr>
          <p:nvPr>
            <p:ph type="sldNum" sz="quarter" idx="12"/>
          </p:nvPr>
        </p:nvSpPr>
        <p:spPr>
          <a:xfrm>
            <a:off x="6553200" y="6356351"/>
            <a:ext cx="2133600" cy="365125"/>
          </a:xfrm>
          <a:prstGeom prst="rect">
            <a:avLst/>
          </a:prstGeom>
        </p:spPr>
        <p:txBody>
          <a:bodyPr/>
          <a:lstStyle/>
          <a:p>
            <a:fld id="{01A4DADF-4E98-4267-8542-C7A1E69FA664}" type="slidenum">
              <a:rPr lang="en-GB" smtClean="0"/>
              <a:t>‹#›</a:t>
            </a:fld>
            <a:endParaRPr lang="en-GB"/>
          </a:p>
        </p:txBody>
      </p:sp>
    </p:spTree>
    <p:extLst>
      <p:ext uri="{BB962C8B-B14F-4D97-AF65-F5344CB8AC3E}">
        <p14:creationId xmlns:p14="http://schemas.microsoft.com/office/powerpoint/2010/main" val="5629024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emf"/><Relationship Id="rId8" Type="http://schemas.openxmlformats.org/officeDocument/2006/relationships/image" Target="../media/image2.png"/><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3C81EAB-9B18-3048-B3A6-B3FFDF441029}"/>
              </a:ext>
            </a:extLst>
          </p:cNvPr>
          <p:cNvPicPr>
            <a:picLocks noChangeAspect="1"/>
          </p:cNvPicPr>
          <p:nvPr/>
        </p:nvPicPr>
        <p:blipFill>
          <a:blip r:embed="rId8"/>
          <a:stretch>
            <a:fillRect/>
          </a:stretch>
        </p:blipFill>
        <p:spPr>
          <a:xfrm>
            <a:off x="461745" y="4925113"/>
            <a:ext cx="748535" cy="619477"/>
          </a:xfrm>
          <a:prstGeom prst="rect">
            <a:avLst/>
          </a:prstGeom>
        </p:spPr>
      </p:pic>
      <p:sp>
        <p:nvSpPr>
          <p:cNvPr id="2" name="MSIPCMContentMarking" descr="{&quot;HashCode&quot;:269818377,&quot;Placement&quot;:&quot;Footer&quot;}"/>
          <p:cNvSpPr txBox="1"/>
          <p:nvPr/>
        </p:nvSpPr>
        <p:spPr>
          <a:xfrm>
            <a:off x="0" y="6525073"/>
            <a:ext cx="1141854" cy="369332"/>
          </a:xfrm>
          <a:prstGeom prst="rect">
            <a:avLst/>
          </a:prstGeom>
          <a:noFill/>
        </p:spPr>
        <p:txBody>
          <a:bodyPr vert="horz" wrap="square" lIns="0" tIns="0" rIns="0" bIns="0" rtlCol="0" anchor="ctr" anchorCtr="1">
            <a:spAutoFit/>
          </a:bodyPr>
          <a:lstStyle/>
          <a:p>
            <a:pPr algn="l">
              <a:spcBef>
                <a:spcPts val="0"/>
              </a:spcBef>
              <a:spcAft>
                <a:spcPts val="0"/>
              </a:spcAft>
            </a:pPr>
            <a:r>
              <a:rPr lang="en-GB" sz="1200">
                <a:solidFill>
                  <a:srgbClr val="000000"/>
                </a:solidFill>
                <a:latin typeface="Calibri" panose="020F0502020204030204" pitchFamily="34" charset="0"/>
              </a:rPr>
              <a:t>Sensitivity: Internal</a:t>
            </a:r>
          </a:p>
        </p:txBody>
      </p:sp>
      <p:pic>
        <p:nvPicPr>
          <p:cNvPr id="4" name="Picture 3">
            <a:extLst>
              <a:ext uri="{FF2B5EF4-FFF2-40B4-BE49-F238E27FC236}">
                <a16:creationId xmlns:a16="http://schemas.microsoft.com/office/drawing/2014/main" id="{252D43A7-56AE-4D22-8726-3E332A7E1024}"/>
              </a:ext>
            </a:extLst>
          </p:cNvPr>
          <p:cNvPicPr>
            <a:picLocks noChangeAspect="1"/>
          </p:cNvPicPr>
          <p:nvPr userDrawn="1"/>
        </p:nvPicPr>
        <p:blipFill>
          <a:blip r:embed="rId9"/>
          <a:stretch>
            <a:fillRect/>
          </a:stretch>
        </p:blipFill>
        <p:spPr>
          <a:xfrm>
            <a:off x="216360" y="5615026"/>
            <a:ext cx="1157145" cy="474385"/>
          </a:xfrm>
          <a:prstGeom prst="rect">
            <a:avLst/>
          </a:prstGeom>
        </p:spPr>
      </p:pic>
    </p:spTree>
    <p:extLst>
      <p:ext uri="{BB962C8B-B14F-4D97-AF65-F5344CB8AC3E}">
        <p14:creationId xmlns:p14="http://schemas.microsoft.com/office/powerpoint/2010/main" val="27407050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cse.chalmers.se/~coquand/AUTOMATA/mcp.pdf"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youtube.com/watch?v=_K0h7oEe8BQ&amp;list=PLZXqDfYHTYo4U_Q-LVK72xzRe2JhlwOzI&amp;index=19" TargetMode="Externa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eg"/><Relationship Id="rId3" Type="http://schemas.openxmlformats.org/officeDocument/2006/relationships/image" Target="../media/image18.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jpeg"/><Relationship Id="rId3" Type="http://schemas.openxmlformats.org/officeDocument/2006/relationships/image" Target="../media/image17.jpeg"/><Relationship Id="rId4" Type="http://schemas.openxmlformats.org/officeDocument/2006/relationships/image" Target="../media/image19.png"/><Relationship Id="rId5"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oleObject" Target="../embeddings/oleObject1.bin"/><Relationship Id="rId4" Type="http://schemas.openxmlformats.org/officeDocument/2006/relationships/image" Target="../media/image25.wmf"/><Relationship Id="rId5" Type="http://schemas.openxmlformats.org/officeDocument/2006/relationships/oleObject" Target="../embeddings/oleObject2.bin"/><Relationship Id="rId6" Type="http://schemas.openxmlformats.org/officeDocument/2006/relationships/image" Target="../media/image26.wmf"/><Relationship Id="rId7" Type="http://schemas.openxmlformats.org/officeDocument/2006/relationships/oleObject" Target="../embeddings/oleObject3.bin"/><Relationship Id="rId8" Type="http://schemas.openxmlformats.org/officeDocument/2006/relationships/image" Target="../media/image27.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hyperlink" Target="https://www.kaggle.com/code/harryyu/cluster-siamese-model-on-face-recognition-1-data"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eg"/><Relationship Id="rId3" Type="http://schemas.openxmlformats.org/officeDocument/2006/relationships/image" Target="../media/image37.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0.jpeg"/><Relationship Id="rId4" Type="http://schemas.openxmlformats.org/officeDocument/2006/relationships/image" Target="../media/image39.png"/><Relationship Id="rId5" Type="http://schemas.openxmlformats.org/officeDocument/2006/relationships/image" Target="../media/image41.jpeg"/><Relationship Id="rId6" Type="http://schemas.openxmlformats.org/officeDocument/2006/relationships/image" Target="../media/image42.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hap.readthedocs.io/en/latest/index.html" TargetMode="External"/><Relationship Id="rId3" Type="http://schemas.openxmlformats.org/officeDocument/2006/relationships/hyperlink" Target="https://github.com/marcotcr/lime" TargetMode="External"/><Relationship Id="rId4" Type="http://schemas.openxmlformats.org/officeDocument/2006/relationships/hyperlink" Target="https://shapash.readthedocs.io/en/latest/" TargetMode="External"/><Relationship Id="rId5" Type="http://schemas.openxmlformats.org/officeDocument/2006/relationships/hyperlink" Target="https://eli5.readthedocs.io/en/latest/overview.html" TargetMode="External"/><Relationship Id="rId6" Type="http://schemas.openxmlformats.org/officeDocument/2006/relationships/hyperlink" Target="https://interpret.ml/" TargetMode="External"/><Relationship Id="rId7" Type="http://schemas.openxmlformats.org/officeDocument/2006/relationships/hyperlink" Target="https://github.com/salesforce/OmniXAI"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 Id="rId3"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38299" y="3535064"/>
            <a:ext cx="7315200" cy="540631"/>
          </a:xfrm>
        </p:spPr>
        <p:txBody>
          <a:bodyPr/>
          <a:lstStyle/>
          <a:p>
            <a:r>
              <a:rPr lang="en-GB" dirty="0">
                <a:solidFill>
                  <a:srgbClr val="FF0000"/>
                </a:solidFill>
              </a:rPr>
              <a:t>AI Current Development, </a:t>
            </a:r>
            <a:br>
              <a:rPr lang="en-GB" dirty="0">
                <a:solidFill>
                  <a:srgbClr val="FF0000"/>
                </a:solidFill>
              </a:rPr>
            </a:br>
            <a:r>
              <a:rPr lang="en-GB" dirty="0">
                <a:solidFill>
                  <a:srgbClr val="FF0000"/>
                </a:solidFill>
              </a:rPr>
              <a:t>Neural Networks and Deep Learning</a:t>
            </a:r>
            <a:br>
              <a:rPr lang="en-GB" dirty="0"/>
            </a:br>
            <a:br>
              <a:rPr lang="en-GB" dirty="0"/>
            </a:br>
            <a:r>
              <a:rPr lang="en-GB" dirty="0"/>
              <a:t>                </a:t>
            </a:r>
            <a:r>
              <a:rPr lang="en-US" sz="2400">
                <a:solidFill>
                  <a:schemeClr val="accent5">
                    <a:lumMod val="50000"/>
                  </a:schemeClr>
                </a:solidFill>
              </a:rPr>
              <a:t>Ioannis </a:t>
            </a:r>
            <a:r>
              <a:rPr lang="en-US" sz="2400" dirty="0">
                <a:solidFill>
                  <a:schemeClr val="accent5">
                    <a:lumMod val="50000"/>
                  </a:schemeClr>
                </a:solidFill>
              </a:rPr>
              <a:t>Tsioulis (MC)</a:t>
            </a:r>
            <a:endParaRPr lang="en-GB" sz="2400" dirty="0">
              <a:solidFill>
                <a:schemeClr val="accent5">
                  <a:lumMod val="50000"/>
                </a:schemeClr>
              </a:solidFill>
            </a:endParaRPr>
          </a:p>
        </p:txBody>
      </p:sp>
      <p:sp>
        <p:nvSpPr>
          <p:cNvPr id="5" name="Rectangle 4"/>
          <p:cNvSpPr/>
          <p:nvPr/>
        </p:nvSpPr>
        <p:spPr>
          <a:xfrm>
            <a:off x="1524000" y="228600"/>
            <a:ext cx="7467600" cy="461665"/>
          </a:xfrm>
          <a:prstGeom prst="rect">
            <a:avLst/>
          </a:prstGeom>
        </p:spPr>
        <p:txBody>
          <a:bodyPr wrap="square">
            <a:spAutoFit/>
          </a:bodyPr>
          <a:lstStyle/>
          <a:p>
            <a:r>
              <a:rPr lang="en-US" sz="2400" dirty="0">
                <a:solidFill>
                  <a:schemeClr val="accent5">
                    <a:lumMod val="50000"/>
                  </a:schemeClr>
                </a:solidFill>
              </a:rPr>
              <a:t>Module 6CM521: Frontiers in AI and Data Science</a:t>
            </a:r>
            <a:endParaRPr lang="en-GB" sz="2400" dirty="0">
              <a:solidFill>
                <a:schemeClr val="accent5">
                  <a:lumMod val="50000"/>
                </a:schemeClr>
              </a:solidFill>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873500" y="702966"/>
            <a:ext cx="2844799" cy="2819397"/>
          </a:xfrm>
          <a:prstGeom prst="rect">
            <a:avLst/>
          </a:prstGeom>
          <a:noFill/>
          <a:ln>
            <a:noFill/>
          </a:ln>
          <a:effectLst>
            <a:outerShdw blurRad="127000" dist="76199" dir="2700000" algn="ctr" rotWithShape="0">
              <a:schemeClr val="bg2">
                <a:alpha val="75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 name="TextBox 1">
            <a:extLst>
              <a:ext uri="{FF2B5EF4-FFF2-40B4-BE49-F238E27FC236}">
                <a16:creationId xmlns:a16="http://schemas.microsoft.com/office/drawing/2014/main" id="{03143BB8-C7F4-DC4B-9501-D49558D28069}"/>
              </a:ext>
            </a:extLst>
          </p:cNvPr>
          <p:cNvSpPr txBox="1"/>
          <p:nvPr/>
        </p:nvSpPr>
        <p:spPr>
          <a:xfrm>
            <a:off x="7086600" y="5943600"/>
            <a:ext cx="2247901" cy="830997"/>
          </a:xfrm>
          <a:prstGeom prst="rect">
            <a:avLst/>
          </a:prstGeom>
          <a:noFill/>
        </p:spPr>
        <p:txBody>
          <a:bodyPr wrap="square" rtlCol="0">
            <a:spAutoFit/>
          </a:bodyPr>
          <a:lstStyle/>
          <a:p>
            <a:r>
              <a:rPr lang="en-US" sz="1600" dirty="0"/>
              <a:t>Slides acknowledgements: Dr Hong Qing Yu </a:t>
            </a:r>
            <a:endParaRPr lang="el-GR" sz="1600" dirty="0"/>
          </a:p>
        </p:txBody>
      </p:sp>
    </p:spTree>
    <p:extLst>
      <p:ext uri="{BB962C8B-B14F-4D97-AF65-F5344CB8AC3E}">
        <p14:creationId xmlns:p14="http://schemas.microsoft.com/office/powerpoint/2010/main" val="589119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95020-B578-A1EC-51FA-71A998D15A73}"/>
              </a:ext>
            </a:extLst>
          </p:cNvPr>
          <p:cNvSpPr>
            <a:spLocks noGrp="1"/>
          </p:cNvSpPr>
          <p:nvPr>
            <p:ph type="title"/>
          </p:nvPr>
        </p:nvSpPr>
        <p:spPr/>
        <p:txBody>
          <a:bodyPr/>
          <a:lstStyle/>
          <a:p>
            <a:r>
              <a:rPr lang="en-GB" dirty="0"/>
              <a:t>Outline</a:t>
            </a:r>
          </a:p>
        </p:txBody>
      </p:sp>
      <p:sp>
        <p:nvSpPr>
          <p:cNvPr id="3" name="Content Placeholder 2">
            <a:extLst>
              <a:ext uri="{FF2B5EF4-FFF2-40B4-BE49-F238E27FC236}">
                <a16:creationId xmlns:a16="http://schemas.microsoft.com/office/drawing/2014/main" id="{15C8E94E-4627-9BBB-46E1-34240C2BE8AE}"/>
              </a:ext>
            </a:extLst>
          </p:cNvPr>
          <p:cNvSpPr>
            <a:spLocks noGrp="1"/>
          </p:cNvSpPr>
          <p:nvPr>
            <p:ph idx="1"/>
          </p:nvPr>
        </p:nvSpPr>
        <p:spPr/>
        <p:txBody>
          <a:bodyPr/>
          <a:lstStyle/>
          <a:p>
            <a:pPr marL="457200" indent="-457200">
              <a:buAutoNum type="arabicPeriod"/>
            </a:pPr>
            <a:r>
              <a:rPr lang="en-GB" dirty="0"/>
              <a:t>AI recent development</a:t>
            </a:r>
          </a:p>
          <a:p>
            <a:pPr marL="457200" indent="-457200">
              <a:buAutoNum type="arabicPeriod"/>
            </a:pPr>
            <a:endParaRPr lang="en-GB" dirty="0"/>
          </a:p>
          <a:p>
            <a:pPr marL="457200" indent="-457200">
              <a:buAutoNum type="arabicPeriod"/>
            </a:pPr>
            <a:r>
              <a:rPr lang="en-GB" dirty="0"/>
              <a:t>ANN</a:t>
            </a:r>
          </a:p>
          <a:p>
            <a:pPr marL="457200" indent="-457200">
              <a:buAutoNum type="arabicPeriod"/>
            </a:pPr>
            <a:endParaRPr lang="en-GB" dirty="0"/>
          </a:p>
          <a:p>
            <a:pPr marL="457200" indent="-457200">
              <a:buAutoNum type="arabicPeriod"/>
            </a:pPr>
            <a:r>
              <a:rPr lang="en-GB" dirty="0"/>
              <a:t>Deep Learning</a:t>
            </a:r>
          </a:p>
          <a:p>
            <a:pPr marL="457200" indent="-457200">
              <a:buAutoNum type="arabicPeriod"/>
            </a:pPr>
            <a:endParaRPr lang="en-GB" dirty="0"/>
          </a:p>
          <a:p>
            <a:pPr marL="457200" indent="-457200">
              <a:buAutoNum type="arabicPeriod"/>
            </a:pPr>
            <a:r>
              <a:rPr lang="en-GB" dirty="0"/>
              <a:t>Explainable AI (XAI)</a:t>
            </a:r>
          </a:p>
        </p:txBody>
      </p:sp>
    </p:spTree>
    <p:extLst>
      <p:ext uri="{BB962C8B-B14F-4D97-AF65-F5344CB8AC3E}">
        <p14:creationId xmlns:p14="http://schemas.microsoft.com/office/powerpoint/2010/main" val="3129650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D7E17-0B8E-F195-2BA7-F1A940AA6948}"/>
              </a:ext>
            </a:extLst>
          </p:cNvPr>
          <p:cNvSpPr>
            <a:spLocks noGrp="1"/>
          </p:cNvSpPr>
          <p:nvPr>
            <p:ph type="title"/>
          </p:nvPr>
        </p:nvSpPr>
        <p:spPr/>
        <p:txBody>
          <a:bodyPr/>
          <a:lstStyle/>
          <a:p>
            <a:r>
              <a:rPr lang="en-GB" dirty="0"/>
              <a:t>AI Recent Development (1)</a:t>
            </a:r>
          </a:p>
        </p:txBody>
      </p:sp>
      <p:sp>
        <p:nvSpPr>
          <p:cNvPr id="3" name="Content Placeholder 2">
            <a:extLst>
              <a:ext uri="{FF2B5EF4-FFF2-40B4-BE49-F238E27FC236}">
                <a16:creationId xmlns:a16="http://schemas.microsoft.com/office/drawing/2014/main" id="{0E857941-B34A-FB74-CD3D-E72D347024F0}"/>
              </a:ext>
            </a:extLst>
          </p:cNvPr>
          <p:cNvSpPr>
            <a:spLocks noGrp="1"/>
          </p:cNvSpPr>
          <p:nvPr>
            <p:ph idx="1"/>
          </p:nvPr>
        </p:nvSpPr>
        <p:spPr/>
        <p:txBody>
          <a:bodyPr/>
          <a:lstStyle/>
          <a:p>
            <a:pPr algn="l"/>
            <a:r>
              <a:rPr lang="en-GB" b="0" i="0" dirty="0" sz="2000">
                <a:solidFill>
                  <a:srgbClr val="374151"/>
                </a:solidFill>
                <a:effectLst/>
                <a:latin typeface="Söhne"/>
              </a:rPr>
              <a:t>Deep Learning:</a:t>
            </a:r>
          </a:p>
          <a:p>
            <a:pPr marL="342900" indent="-342900" algn="l">
              <a:buFont typeface="Arial" panose="020B0604020202020204" pitchFamily="34" charset="0"/>
              <a:buChar char="•"/>
            </a:pPr>
            <a:r>
              <a:rPr lang="en-GB" b="0" i="0" dirty="0" sz="2000">
                <a:solidFill>
                  <a:srgbClr val="374151"/>
                </a:solidFill>
                <a:effectLst/>
                <a:latin typeface="Söhne"/>
              </a:rPr>
              <a:t>Deep learning is a subset of AI that uses artificial neural networks to simulate the learning process of the human brain.</a:t>
            </a:r>
          </a:p>
          <a:p>
            <a:pPr marL="342900" indent="-342900" algn="l">
              <a:buFont typeface="Arial" panose="020B0604020202020204" pitchFamily="34" charset="0"/>
              <a:buChar char="•"/>
            </a:pPr>
            <a:r>
              <a:rPr lang="en-GB" b="0" i="0" dirty="0" sz="2000">
                <a:solidFill>
                  <a:srgbClr val="374151"/>
                </a:solidFill>
                <a:effectLst/>
                <a:latin typeface="Söhne"/>
              </a:rPr>
              <a:t>Deep learning has been used to develop models for image and speech recognition, natural language processing, and other applications.</a:t>
            </a:r>
          </a:p>
          <a:p>
            <a:pPr marL="342900" indent="-342900" algn="l">
              <a:buFont typeface="Arial" panose="020B0604020202020204" pitchFamily="34" charset="0"/>
              <a:buChar char="•"/>
            </a:pPr>
            <a:r>
              <a:rPr lang="en-GB" b="0" i="0" dirty="0" sz="2000">
                <a:solidFill>
                  <a:srgbClr val="374151"/>
                </a:solidFill>
                <a:effectLst/>
                <a:latin typeface="Söhne"/>
              </a:rPr>
              <a:t>Some of the most significant developments in deep learning include convolutional neural networks (CNNs) for image recognition, recurrent neural networks (RNNs) for sequences and, more recently, transformers for natural language processing.</a:t>
            </a:r>
          </a:p>
          <a:p>
            <a:endParaRPr lang="en-GB" dirty="0" sz="2000"/>
          </a:p>
        </p:txBody>
      </p:sp>
    </p:spTree>
    <p:extLst>
      <p:ext uri="{BB962C8B-B14F-4D97-AF65-F5344CB8AC3E}">
        <p14:creationId xmlns:p14="http://schemas.microsoft.com/office/powerpoint/2010/main" val="51826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(2)</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sz="2000">
                <a:solidFill>
                  <a:srgbClr val="374151"/>
                </a:solidFill>
                <a:effectLst/>
                <a:latin typeface="Söhne"/>
              </a:rPr>
              <a:t>Combining with Reinforcement Learning:</a:t>
            </a:r>
          </a:p>
          <a:p>
            <a:pPr marL="342900" indent="-342900" algn="l">
              <a:buFont typeface="Arial" panose="020B0604020202020204" pitchFamily="34" charset="0"/>
              <a:buChar char="•"/>
            </a:pPr>
            <a:r>
              <a:rPr lang="en-GB" b="0" i="0" dirty="0" sz="2000">
                <a:solidFill>
                  <a:srgbClr val="374151"/>
                </a:solidFill>
                <a:effectLst/>
                <a:latin typeface="Söhne"/>
              </a:rPr>
              <a:t>Reinforcement learning is a type of AI that focuses on training agents to make decisions in an environment in order to maximize a reward signal.</a:t>
            </a:r>
          </a:p>
          <a:p>
            <a:pPr marL="342900" indent="-342900" algn="l">
              <a:buFont typeface="Arial" panose="020B0604020202020204" pitchFamily="34" charset="0"/>
              <a:buChar char="•"/>
            </a:pPr>
            <a:r>
              <a:rPr lang="en-GB" b="0" i="0" dirty="0" sz="2000">
                <a:solidFill>
                  <a:srgbClr val="374151"/>
                </a:solidFill>
                <a:effectLst/>
                <a:latin typeface="Söhne"/>
              </a:rPr>
              <a:t>Reinforcement learning has been used to develop models for game playing, robotics, and other applications where agents need to make decisions in complex environments.</a:t>
            </a:r>
          </a:p>
          <a:p>
            <a:pPr marL="342900" indent="-342900" algn="l">
              <a:buFont typeface="Arial" panose="020B0604020202020204" pitchFamily="34" charset="0"/>
              <a:buChar char="•"/>
            </a:pPr>
            <a:r>
              <a:rPr lang="en-GB" b="0" i="0" dirty="0" sz="2000">
                <a:solidFill>
                  <a:srgbClr val="374151"/>
                </a:solidFill>
                <a:effectLst/>
                <a:latin typeface="Söhne"/>
              </a:rPr>
              <a:t>Some of the most significant recent developments in reinforcement learning include the development of deep reinforcement learning algorithms, such as the Deep Q-Network (DQN), which uses deep neural networks to estimate Q-values for state-action pairs.</a:t>
            </a:r>
          </a:p>
          <a:p>
            <a:endParaRPr lang="en-GB" dirty="0" sz="2000"/>
          </a:p>
        </p:txBody>
      </p:sp>
    </p:spTree>
    <p:extLst>
      <p:ext uri="{BB962C8B-B14F-4D97-AF65-F5344CB8AC3E}">
        <p14:creationId xmlns:p14="http://schemas.microsoft.com/office/powerpoint/2010/main" val="35185376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(3)</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sz="2000">
                <a:solidFill>
                  <a:srgbClr val="374151"/>
                </a:solidFill>
                <a:effectLst/>
                <a:latin typeface="Söhne"/>
              </a:rPr>
              <a:t>Generative Language Models:</a:t>
            </a:r>
          </a:p>
          <a:p>
            <a:pPr marL="342900" indent="-342900" algn="l">
              <a:buFont typeface="Arial" panose="020B0604020202020204" pitchFamily="34" charset="0"/>
              <a:buChar char="•"/>
            </a:pPr>
            <a:r>
              <a:rPr lang="en-GB" b="0" i="0" dirty="0" sz="2000">
                <a:solidFill>
                  <a:srgbClr val="374151"/>
                </a:solidFill>
                <a:effectLst/>
                <a:latin typeface="Söhne"/>
              </a:rPr>
              <a:t>Generative language models are a type of AI model that can generate human-like responses to natural language prompts.</a:t>
            </a:r>
          </a:p>
          <a:p>
            <a:pPr marL="342900" indent="-342900" algn="l">
              <a:buFont typeface="Arial" panose="020B0604020202020204" pitchFamily="34" charset="0"/>
              <a:buChar char="•"/>
            </a:pPr>
            <a:r>
              <a:rPr lang="en-GB" b="0" i="0" dirty="0" sz="2000">
                <a:solidFill>
                  <a:srgbClr val="374151"/>
                </a:solidFill>
                <a:effectLst/>
                <a:latin typeface="Söhne"/>
              </a:rPr>
              <a:t>The first generative language models were based on statistical methods, but they were limited in their ability to produce coherent and meaningful responses.</a:t>
            </a:r>
          </a:p>
          <a:p>
            <a:pPr marL="342900" indent="-342900" algn="l">
              <a:buFont typeface="Arial" panose="020B0604020202020204" pitchFamily="34" charset="0"/>
              <a:buChar char="•"/>
            </a:pPr>
            <a:r>
              <a:rPr lang="en-GB" b="0" i="0" dirty="0" sz="2000">
                <a:solidFill>
                  <a:srgbClr val="374151"/>
                </a:solidFill>
                <a:effectLst/>
                <a:latin typeface="Söhne"/>
              </a:rPr>
              <a:t>In recent years, deep learning has been used to develop more advanced generative language models, such as </a:t>
            </a:r>
            <a:r>
              <a:rPr lang="en-GB" b="0" i="0" dirty="0" err="1" sz="2000">
                <a:solidFill>
                  <a:srgbClr val="374151"/>
                </a:solidFill>
                <a:effectLst/>
                <a:latin typeface="Söhne"/>
              </a:rPr>
              <a:t>OpenAI's</a:t>
            </a:r>
            <a:r>
              <a:rPr lang="en-GB" b="0" i="0" dirty="0" sz="2000">
                <a:solidFill>
                  <a:srgbClr val="374151"/>
                </a:solidFill>
                <a:effectLst/>
                <a:latin typeface="Söhne"/>
              </a:rPr>
              <a:t> GPT (Generative Pre-trained Transformer) series.</a:t>
            </a:r>
          </a:p>
          <a:p>
            <a:endParaRPr lang="en-GB" dirty="0" sz="2000"/>
          </a:p>
        </p:txBody>
      </p:sp>
    </p:spTree>
    <p:extLst>
      <p:ext uri="{BB962C8B-B14F-4D97-AF65-F5344CB8AC3E}">
        <p14:creationId xmlns:p14="http://schemas.microsoft.com/office/powerpoint/2010/main" val="3230377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(4)</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sz="2000">
                <a:solidFill>
                  <a:srgbClr val="374151"/>
                </a:solidFill>
                <a:effectLst/>
                <a:latin typeface="Söhne"/>
              </a:rPr>
              <a:t>The Transformer:</a:t>
            </a:r>
          </a:p>
          <a:p>
            <a:pPr algn="l">
              <a:buFont typeface="Arial" panose="020B0604020202020204" pitchFamily="34" charset="0"/>
              <a:buChar char="•"/>
            </a:pPr>
            <a:r>
              <a:rPr lang="en-GB" b="0" i="0" dirty="0" sz="2000">
                <a:solidFill>
                  <a:srgbClr val="374151"/>
                </a:solidFill>
                <a:effectLst/>
                <a:latin typeface="Söhne"/>
              </a:rPr>
              <a:t> A type of neural network architecture that can be used for a variety of machine learning applications, including natural language processing (NLP), computer vision, and speech recognition</a:t>
            </a:r>
          </a:p>
          <a:p>
            <a:pPr algn="l">
              <a:buFont typeface="Arial" panose="020B0604020202020204" pitchFamily="34" charset="0"/>
              <a:buChar char="•"/>
            </a:pPr>
            <a:r>
              <a:rPr lang="en-GB" b="0" i="0" dirty="0" sz="2000">
                <a:solidFill>
                  <a:srgbClr val="374151"/>
                </a:solidFill>
                <a:effectLst/>
                <a:latin typeface="Söhne"/>
              </a:rPr>
              <a:t> Processes entire sequences of data in parallel, making it more computationally efficient than traditional sequential models</a:t>
            </a:r>
          </a:p>
          <a:p>
            <a:pPr algn="l">
              <a:buFont typeface="Arial" panose="020B0604020202020204" pitchFamily="34" charset="0"/>
              <a:buChar char="•"/>
            </a:pPr>
            <a:r>
              <a:rPr lang="en-GB" b="0" i="0" dirty="0" sz="2000">
                <a:solidFill>
                  <a:srgbClr val="374151"/>
                </a:solidFill>
                <a:effectLst/>
                <a:latin typeface="Söhne"/>
              </a:rPr>
              <a:t> Uses self-attention mechanisms to focus on different parts of the input sequence depending on the context, improving performance on a variety of tasks</a:t>
            </a:r>
          </a:p>
          <a:p>
            <a:pPr algn="l"/>
            <a:endParaRPr lang="en-GB" b="0" i="0" dirty="0" sz="2000">
              <a:solidFill>
                <a:srgbClr val="374151"/>
              </a:solidFill>
              <a:effectLst/>
              <a:latin typeface="Söhne"/>
            </a:endParaRPr>
          </a:p>
        </p:txBody>
      </p:sp>
    </p:spTree>
    <p:extLst>
      <p:ext uri="{BB962C8B-B14F-4D97-AF65-F5344CB8AC3E}">
        <p14:creationId xmlns:p14="http://schemas.microsoft.com/office/powerpoint/2010/main" val="2996513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(5)</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p:txBody>
          <a:bodyPr/>
          <a:lstStyle/>
          <a:p>
            <a:pPr algn="l"/>
            <a:r>
              <a:rPr lang="en-GB" b="0" i="0" dirty="0" sz="2000">
                <a:solidFill>
                  <a:srgbClr val="374151"/>
                </a:solidFill>
                <a:effectLst/>
                <a:latin typeface="Söhne"/>
              </a:rPr>
              <a:t>GPT-4:</a:t>
            </a:r>
          </a:p>
          <a:p>
            <a:pPr marL="342900" indent="-342900" algn="l">
              <a:buFont typeface="Arial" panose="020B0604020202020204" pitchFamily="34" charset="0"/>
              <a:buChar char="•"/>
            </a:pPr>
            <a:r>
              <a:rPr lang="en-GB" b="0" i="0" dirty="0" sz="2000">
                <a:solidFill>
                  <a:srgbClr val="374151"/>
                </a:solidFill>
                <a:effectLst/>
                <a:latin typeface="Söhne"/>
              </a:rPr>
              <a:t>GPT-4 (2023) is </a:t>
            </a:r>
            <a:r>
              <a:rPr lang="en-GB" b="0" i="0" dirty="0" err="1" sz="2000">
                <a:solidFill>
                  <a:srgbClr val="374151"/>
                </a:solidFill>
                <a:effectLst/>
                <a:latin typeface="Söhne"/>
              </a:rPr>
              <a:t>OpenAI's</a:t>
            </a:r>
            <a:r>
              <a:rPr lang="en-GB" b="0" i="0" dirty="0" sz="2000">
                <a:solidFill>
                  <a:srgbClr val="374151"/>
                </a:solidFill>
                <a:effectLst/>
                <a:latin typeface="Söhne"/>
              </a:rPr>
              <a:t> generative language model behind ChatGPT; it uses deep learning to generate human-like responses to natural language prompts.</a:t>
            </a:r>
          </a:p>
          <a:p>
            <a:pPr marL="342900" indent="-342900" algn="l">
              <a:buFont typeface="Arial" panose="020B0604020202020204" pitchFamily="34" charset="0"/>
              <a:buChar char="•"/>
            </a:pPr>
            <a:r>
              <a:rPr lang="en-GB" b="0" i="0" dirty="0" sz="2000">
                <a:solidFill>
                  <a:srgbClr val="374151"/>
                </a:solidFill>
                <a:effectLst/>
                <a:latin typeface="Söhne"/>
              </a:rPr>
              <a:t>GPT-4 is based on the transformer architecture, which allows it to process large amounts of text and generate responses that are both coherent and contextually appropriate.</a:t>
            </a:r>
          </a:p>
          <a:p>
            <a:pPr marL="342900" indent="-342900" algn="l">
              <a:buFont typeface="Arial" panose="020B0604020202020204" pitchFamily="34" charset="0"/>
              <a:buChar char="•"/>
            </a:pPr>
            <a:r>
              <a:rPr lang="en-GB" b="0" i="0" dirty="0" sz="2000">
                <a:solidFill>
                  <a:srgbClr val="374151"/>
                </a:solidFill>
                <a:effectLst/>
                <a:latin typeface="Söhne"/>
              </a:rPr>
              <a:t>OpenAI has not published GPT-4’s size; unofficial estimates are about 1.8 trillion parameters, which would make it one of the largest language models.</a:t>
            </a:r>
          </a:p>
          <a:p>
            <a:pPr marL="342900" indent="-342900" algn="l">
              <a:buFont typeface="Arial" panose="020B0604020202020204" pitchFamily="34" charset="0"/>
              <a:buChar char="•"/>
            </a:pPr>
            <a:r>
              <a:rPr lang="en-GB" b="0" i="0" dirty="0" sz="2000">
                <a:solidFill>
                  <a:srgbClr val="374151"/>
                </a:solidFill>
                <a:effectLst/>
                <a:latin typeface="Söhne"/>
              </a:rPr>
              <a:t>Newer models have followed (GPT-4o in 2024, GPT-5 in 2025).</a:t>
            </a:r>
          </a:p>
          <a:p>
            <a:pPr algn="l"/>
            <a:endParaRPr lang="en-GB" b="0" i="0" dirty="0" sz="2000">
              <a:solidFill>
                <a:srgbClr val="374151"/>
              </a:solidFill>
              <a:effectLst/>
              <a:latin typeface="Söhne"/>
            </a:endParaRPr>
          </a:p>
        </p:txBody>
      </p:sp>
    </p:spTree>
    <p:extLst>
      <p:ext uri="{BB962C8B-B14F-4D97-AF65-F5344CB8AC3E}">
        <p14:creationId xmlns:p14="http://schemas.microsoft.com/office/powerpoint/2010/main" val="3369524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18582-00E6-CA27-B3D2-B67D2953E948}"/>
              </a:ext>
            </a:extLst>
          </p:cNvPr>
          <p:cNvSpPr>
            <a:spLocks noGrp="1"/>
          </p:cNvSpPr>
          <p:nvPr>
            <p:ph type="title"/>
          </p:nvPr>
        </p:nvSpPr>
        <p:spPr/>
        <p:txBody>
          <a:bodyPr/>
          <a:lstStyle/>
          <a:p>
            <a:r>
              <a:rPr lang="en-GB" dirty="0"/>
              <a:t>AI Recent Development (6)</a:t>
            </a:r>
          </a:p>
        </p:txBody>
      </p:sp>
      <p:sp>
        <p:nvSpPr>
          <p:cNvPr id="3" name="Content Placeholder 2">
            <a:extLst>
              <a:ext uri="{FF2B5EF4-FFF2-40B4-BE49-F238E27FC236}">
                <a16:creationId xmlns:a16="http://schemas.microsoft.com/office/drawing/2014/main" id="{597435B3-2DA1-68C8-AE0A-C5F8158D8600}"/>
              </a:ext>
            </a:extLst>
          </p:cNvPr>
          <p:cNvSpPr>
            <a:spLocks noGrp="1"/>
          </p:cNvSpPr>
          <p:nvPr>
            <p:ph idx="1"/>
          </p:nvPr>
        </p:nvSpPr>
        <p:spPr>
          <a:xfrm>
            <a:off x="1809892" y="1414985"/>
            <a:ext cx="7029308" cy="4761979"/>
          </a:xfrm>
        </p:spPr>
        <p:txBody>
          <a:bodyPr/>
          <a:lstStyle/>
          <a:p>
            <a:pPr algn="l"/>
            <a:r>
              <a:rPr lang="en-GB" b="0" i="0" dirty="0" sz="2000">
                <a:solidFill>
                  <a:srgbClr val="374151"/>
                </a:solidFill>
                <a:effectLst/>
                <a:latin typeface="Söhne"/>
              </a:rPr>
              <a:t>Multi-modality Models:</a:t>
            </a:r>
          </a:p>
          <a:p>
            <a:pPr marL="342900" indent="-342900" algn="l">
              <a:buFont typeface="Arial" panose="020B0604020202020204" pitchFamily="34" charset="0"/>
              <a:buChar char="•"/>
            </a:pPr>
            <a:r>
              <a:rPr lang="en-GB" b="0" i="0" dirty="0" sz="2000">
                <a:solidFill>
                  <a:srgbClr val="374151"/>
                </a:solidFill>
                <a:effectLst/>
                <a:latin typeface="Söhne"/>
              </a:rPr>
              <a:t>A type of AI model that can process and integrate information from multiple sources, such as text, images, and audio</a:t>
            </a:r>
          </a:p>
          <a:p>
            <a:pPr marL="342900" indent="-342900" algn="l">
              <a:buFont typeface="Arial" panose="020B0604020202020204" pitchFamily="34" charset="0"/>
              <a:buChar char="•"/>
            </a:pPr>
            <a:r>
              <a:rPr lang="en-GB" b="0" i="0" dirty="0" sz="2000">
                <a:solidFill>
                  <a:srgbClr val="374151"/>
                </a:solidFill>
                <a:effectLst/>
                <a:latin typeface="Söhne"/>
              </a:rPr>
              <a:t>Designed to handle complex data that is represented in multiple modalities</a:t>
            </a:r>
          </a:p>
          <a:p>
            <a:pPr marL="342900" indent="-342900" algn="l">
              <a:buFont typeface="Arial" panose="020B0604020202020204" pitchFamily="34" charset="0"/>
              <a:buChar char="•"/>
            </a:pPr>
            <a:r>
              <a:rPr lang="en-GB" b="0" i="0" dirty="0" sz="2000">
                <a:solidFill>
                  <a:srgbClr val="374151"/>
                </a:solidFill>
                <a:effectLst/>
                <a:latin typeface="Söhne"/>
              </a:rPr>
              <a:t>Use deep learning techniques such as CNNs, RNNs and transformers to extract features from each modality, which are then combined and processed by the model</a:t>
            </a:r>
          </a:p>
          <a:p>
            <a:pPr marL="342900" indent="-342900" algn="l">
              <a:buFont typeface="Arial" panose="020B0604020202020204" pitchFamily="34" charset="0"/>
              <a:buChar char="•"/>
            </a:pPr>
            <a:r>
              <a:rPr lang="en-GB" b="0" i="0" dirty="0" sz="2000">
                <a:solidFill>
                  <a:srgbClr val="374151"/>
                </a:solidFill>
                <a:effectLst/>
                <a:latin typeface="Söhne"/>
              </a:rPr>
              <a:t>Driven by the increasing availability of data that includes multiple modalities and the need for AI systems to process complex real-world scenarios</a:t>
            </a:r>
          </a:p>
          <a:p>
            <a:pPr marL="342900" indent="-342900" algn="l">
              <a:buFont typeface="Arial" panose="020B0604020202020204" pitchFamily="34" charset="0"/>
              <a:buChar char="•"/>
            </a:pPr>
            <a:r>
              <a:rPr lang="en-GB" b="0" i="0" dirty="0" sz="2000">
                <a:solidFill>
                  <a:srgbClr val="374151"/>
                </a:solidFill>
                <a:effectLst/>
                <a:latin typeface="Söhne"/>
              </a:rPr>
              <a:t>Applications include speech recognition, image captioning, and natural language processing</a:t>
            </a:r>
          </a:p>
          <a:p>
            <a:pPr algn="l"/>
            <a:endParaRPr lang="en-GB" b="0" i="0" dirty="0" sz="2000">
              <a:solidFill>
                <a:srgbClr val="374151"/>
              </a:solidFill>
              <a:effectLst/>
              <a:latin typeface="Söhne"/>
            </a:endParaRPr>
          </a:p>
        </p:txBody>
      </p:sp>
    </p:spTree>
    <p:extLst>
      <p:ext uri="{BB962C8B-B14F-4D97-AF65-F5344CB8AC3E}">
        <p14:creationId xmlns:p14="http://schemas.microsoft.com/office/powerpoint/2010/main" val="320308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CC425-5B70-B348-8367-3CA37011AC0C}"/>
              </a:ext>
            </a:extLst>
          </p:cNvPr>
          <p:cNvSpPr>
            <a:spLocks noGrp="1"/>
          </p:cNvSpPr>
          <p:nvPr>
            <p:ph type="title"/>
          </p:nvPr>
        </p:nvSpPr>
        <p:spPr/>
        <p:txBody>
          <a:bodyPr/>
          <a:lstStyle/>
          <a:p>
            <a:r>
              <a:rPr lang="en-GB" dirty="0" err="1"/>
              <a:t>ChatGPT</a:t>
            </a:r>
            <a:r>
              <a:rPr lang="en-GB" dirty="0"/>
              <a:t> development framework</a:t>
            </a:r>
          </a:p>
        </p:txBody>
      </p:sp>
      <p:sp>
        <p:nvSpPr>
          <p:cNvPr id="3" name="Content Placeholder 2">
            <a:extLst>
              <a:ext uri="{FF2B5EF4-FFF2-40B4-BE49-F238E27FC236}">
                <a16:creationId xmlns:a16="http://schemas.microsoft.com/office/drawing/2014/main" id="{CE31BECB-0196-1EE4-8521-DEAF681FEA85}"/>
              </a:ext>
            </a:extLst>
          </p:cNvPr>
          <p:cNvSpPr>
            <a:spLocks noGrp="1"/>
          </p:cNvSpPr>
          <p:nvPr>
            <p:ph idx="1"/>
          </p:nvPr>
        </p:nvSpPr>
        <p:spPr/>
        <p:txBody>
          <a:bodyPr/>
          <a:lstStyle/>
          <a:p>
            <a:endParaRPr lang="en-GB" dirty="0"/>
          </a:p>
        </p:txBody>
      </p:sp>
      <p:pic>
        <p:nvPicPr>
          <p:cNvPr id="4" name="Picture 3">
            <a:extLst>
              <a:ext uri="{FF2B5EF4-FFF2-40B4-BE49-F238E27FC236}">
                <a16:creationId xmlns:a16="http://schemas.microsoft.com/office/drawing/2014/main" id="{1ED2AED3-F75C-6261-A17F-8148AE0FCD13}"/>
              </a:ext>
            </a:extLst>
          </p:cNvPr>
          <p:cNvPicPr>
            <a:picLocks noChangeAspect="1"/>
          </p:cNvPicPr>
          <p:nvPr/>
        </p:nvPicPr>
        <p:blipFill>
          <a:blip r:embed="rId2"/>
          <a:stretch>
            <a:fillRect/>
          </a:stretch>
        </p:blipFill>
        <p:spPr>
          <a:xfrm>
            <a:off x="1600200" y="1219200"/>
            <a:ext cx="7488945" cy="4890885"/>
          </a:xfrm>
          <a:prstGeom prst="rect">
            <a:avLst/>
          </a:prstGeom>
        </p:spPr>
      </p:pic>
    </p:spTree>
    <p:extLst>
      <p:ext uri="{BB962C8B-B14F-4D97-AF65-F5344CB8AC3E}">
        <p14:creationId xmlns:p14="http://schemas.microsoft.com/office/powerpoint/2010/main" val="3417905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EDF6C-9892-CEE2-5791-330F891AC4FB}"/>
              </a:ext>
            </a:extLst>
          </p:cNvPr>
          <p:cNvSpPr>
            <a:spLocks noGrp="1"/>
          </p:cNvSpPr>
          <p:nvPr>
            <p:ph type="title"/>
          </p:nvPr>
        </p:nvSpPr>
        <p:spPr/>
        <p:txBody>
          <a:bodyPr/>
          <a:lstStyle/>
          <a:p>
            <a:r>
              <a:rPr lang="en-GB" dirty="0"/>
              <a:t>Trend</a:t>
            </a:r>
          </a:p>
        </p:txBody>
      </p:sp>
      <p:sp>
        <p:nvSpPr>
          <p:cNvPr id="4" name="Rectangle: Rounded Corners 3">
            <a:extLst>
              <a:ext uri="{FF2B5EF4-FFF2-40B4-BE49-F238E27FC236}">
                <a16:creationId xmlns:a16="http://schemas.microsoft.com/office/drawing/2014/main" id="{433BC967-69B0-559B-96B0-73B5C1DB1156}"/>
              </a:ext>
            </a:extLst>
          </p:cNvPr>
          <p:cNvSpPr/>
          <p:nvPr/>
        </p:nvSpPr>
        <p:spPr>
          <a:xfrm>
            <a:off x="1943529" y="2590800"/>
            <a:ext cx="1619107" cy="1129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Design and implement Algorithm</a:t>
            </a:r>
          </a:p>
        </p:txBody>
      </p:sp>
      <p:sp>
        <p:nvSpPr>
          <p:cNvPr id="5" name="Rectangle: Rounded Corners 4">
            <a:extLst>
              <a:ext uri="{FF2B5EF4-FFF2-40B4-BE49-F238E27FC236}">
                <a16:creationId xmlns:a16="http://schemas.microsoft.com/office/drawing/2014/main" id="{2E2E6DE6-7C84-22D5-153B-6A322C413CDE}"/>
              </a:ext>
            </a:extLst>
          </p:cNvPr>
          <p:cNvSpPr/>
          <p:nvPr/>
        </p:nvSpPr>
        <p:spPr>
          <a:xfrm>
            <a:off x="4400836" y="2590800"/>
            <a:ext cx="1619107" cy="1129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Select and Fine-Tuning models</a:t>
            </a:r>
          </a:p>
        </p:txBody>
      </p:sp>
      <p:sp>
        <p:nvSpPr>
          <p:cNvPr id="6" name="Rectangle: Rounded Corners 5">
            <a:extLst>
              <a:ext uri="{FF2B5EF4-FFF2-40B4-BE49-F238E27FC236}">
                <a16:creationId xmlns:a16="http://schemas.microsoft.com/office/drawing/2014/main" id="{3F012989-3715-930B-C494-6FA74A073AE2}"/>
              </a:ext>
            </a:extLst>
          </p:cNvPr>
          <p:cNvSpPr/>
          <p:nvPr/>
        </p:nvSpPr>
        <p:spPr>
          <a:xfrm>
            <a:off x="6858143" y="2590800"/>
            <a:ext cx="1619107" cy="112939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Prompt Engineering </a:t>
            </a:r>
          </a:p>
        </p:txBody>
      </p:sp>
      <p:sp>
        <p:nvSpPr>
          <p:cNvPr id="7" name="Arrow: Right 6">
            <a:extLst>
              <a:ext uri="{FF2B5EF4-FFF2-40B4-BE49-F238E27FC236}">
                <a16:creationId xmlns:a16="http://schemas.microsoft.com/office/drawing/2014/main" id="{26B7D9B3-4922-25D7-11F6-3A1135D10C28}"/>
              </a:ext>
            </a:extLst>
          </p:cNvPr>
          <p:cNvSpPr/>
          <p:nvPr/>
        </p:nvSpPr>
        <p:spPr>
          <a:xfrm>
            <a:off x="3657600" y="30480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id="{FB1BA38D-ED71-7AAA-C63D-BABB546364EF}"/>
              </a:ext>
            </a:extLst>
          </p:cNvPr>
          <p:cNvSpPr/>
          <p:nvPr/>
        </p:nvSpPr>
        <p:spPr>
          <a:xfrm>
            <a:off x="6096143" y="30480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28552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ANN History</a:t>
            </a:r>
          </a:p>
        </p:txBody>
      </p:sp>
      <p:sp>
        <p:nvSpPr>
          <p:cNvPr id="3" name="Content Placeholder 2"/>
          <p:cNvSpPr>
            <a:spLocks noGrp="1"/>
          </p:cNvSpPr>
          <p:nvPr>
            <p:ph idx="1"/>
          </p:nvPr>
        </p:nvSpPr>
        <p:spPr/>
        <p:txBody>
          <a:bodyPr/>
          <a:lstStyle/>
          <a:p>
            <a:r>
              <a:rPr lang="en-GB" dirty="0"/>
              <a:t>ANN isn’t a new idea: it was introduced as far back as 1943 by Warren McCulloch and Walter Pitts’ research paper </a:t>
            </a:r>
            <a:r>
              <a:rPr lang="en-GB" u="sng" dirty="0">
                <a:hlinkClick r:id="rId2"/>
              </a:rPr>
              <a:t>“A Logical Calculus of the Ideas Immanent in Nervous Activity”</a:t>
            </a:r>
            <a:r>
              <a:rPr lang="en-GB" dirty="0"/>
              <a:t>. The paper describes a model of networks of artificial neurons that can solve some logic problems.</a:t>
            </a:r>
          </a:p>
          <a:p>
            <a:r>
              <a:rPr lang="en-GB" dirty="0"/>
              <a:t>In 1986, when Rumelhart, Hinton and Williams popularised the backpropagation algorithm for training them, ANNs became widely known and used.</a:t>
            </a:r>
          </a:p>
        </p:txBody>
      </p:sp>
      <p:sp>
        <p:nvSpPr>
          <p:cNvPr id="5" name="Slide Number Placeholder 4"/>
          <p:cNvSpPr>
            <a:spLocks noGrp="1"/>
          </p:cNvSpPr>
          <p:nvPr>
            <p:ph type="sldNum" sz="quarter" idx="4294967295"/>
          </p:nvPr>
        </p:nvSpPr>
        <p:spPr>
          <a:xfrm>
            <a:off x="7620000" y="18288"/>
            <a:ext cx="1066800" cy="329184"/>
          </a:xfrm>
          <a:prstGeom prst="rect">
            <a:avLst/>
          </a:prstGeom>
        </p:spPr>
        <p:txBody>
          <a:bodyPr/>
          <a:lstStyle/>
          <a:p>
            <a:fld id="{F043A558-56C3-499B-89A2-59E5853E6BB4}" type="slidenum">
              <a:rPr lang="en-US" smtClean="0">
                <a:solidFill>
                  <a:prstClr val="black">
                    <a:tint val="75000"/>
                  </a:prstClr>
                </a:solidFill>
              </a:rPr>
              <a:pPr/>
              <a:t>11</a:t>
            </a:fld>
            <a:endParaRPr lang="en-US">
              <a:solidFill>
                <a:prstClr val="black">
                  <a:tint val="75000"/>
                </a:prstClr>
              </a:solidFill>
            </a:endParaRPr>
          </a:p>
        </p:txBody>
      </p:sp>
    </p:spTree>
    <p:extLst>
      <p:ext uri="{BB962C8B-B14F-4D97-AF65-F5344CB8AC3E}">
        <p14:creationId xmlns:p14="http://schemas.microsoft.com/office/powerpoint/2010/main" val="4026368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Motivations of ANN</a:t>
            </a:r>
          </a:p>
        </p:txBody>
      </p:sp>
      <p:sp>
        <p:nvSpPr>
          <p:cNvPr id="3" name="Content Placeholder 2"/>
          <p:cNvSpPr>
            <a:spLocks noGrp="1"/>
          </p:cNvSpPr>
          <p:nvPr>
            <p:ph idx="1"/>
          </p:nvPr>
        </p:nvSpPr>
        <p:spPr/>
        <p:txBody>
          <a:bodyPr/>
          <a:lstStyle/>
          <a:p>
            <a:r>
              <a:rPr lang="en-US" dirty="0"/>
              <a:t>Take inspiration from the human brain</a:t>
            </a:r>
          </a:p>
          <a:p>
            <a:endParaRPr lang="en-GB" dirty="0"/>
          </a:p>
        </p:txBody>
      </p:sp>
      <p:sp>
        <p:nvSpPr>
          <p:cNvPr id="5" name="Slide Number Placeholder 4"/>
          <p:cNvSpPr>
            <a:spLocks noGrp="1"/>
          </p:cNvSpPr>
          <p:nvPr>
            <p:ph type="sldNum" sz="quarter" idx="4294967295"/>
          </p:nvPr>
        </p:nvSpPr>
        <p:spPr>
          <a:xfrm>
            <a:off x="7620000" y="18288"/>
            <a:ext cx="1066800" cy="329184"/>
          </a:xfrm>
          <a:prstGeom prst="rect">
            <a:avLst/>
          </a:prstGeom>
        </p:spPr>
        <p:txBody>
          <a:bodyPr/>
          <a:lstStyle/>
          <a:p>
            <a:fld id="{F043A558-56C3-499B-89A2-59E5853E6BB4}" type="slidenum">
              <a:rPr lang="en-US" smtClean="0">
                <a:solidFill>
                  <a:prstClr val="black">
                    <a:tint val="75000"/>
                  </a:prstClr>
                </a:solidFill>
              </a:rPr>
              <a:pPr/>
              <a:t>12</a:t>
            </a:fld>
            <a:endParaRPr lang="en-US">
              <a:solidFill>
                <a:prstClr val="black">
                  <a:tint val="75000"/>
                </a:prstClr>
              </a:solidFill>
            </a:endParaRPr>
          </a:p>
        </p:txBody>
      </p:sp>
      <p:pic>
        <p:nvPicPr>
          <p:cNvPr id="3074" name="Picture 2" descr="Image for po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473625"/>
            <a:ext cx="2505525" cy="33407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rtificial Neural Network and it's contribution to Machine Learning — A  beginner's hand-book | by Ronik Basak | Good Audienc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6388" y="2572952"/>
            <a:ext cx="3600787" cy="314204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019800" y="5550501"/>
            <a:ext cx="2116285" cy="369332"/>
          </a:xfrm>
          <a:prstGeom prst="rect">
            <a:avLst/>
          </a:prstGeom>
        </p:spPr>
        <p:txBody>
          <a:bodyPr wrap="none">
            <a:spAutoFit/>
          </a:bodyPr>
          <a:lstStyle/>
          <a:p>
            <a:r>
              <a:rPr lang="en-GB" dirty="0">
                <a:sym typeface="Wingdings" panose="05000000000000000000" pitchFamily="2" charset="2"/>
              </a:rPr>
              <a:t></a:t>
            </a:r>
            <a:r>
              <a:rPr lang="en-GB" dirty="0"/>
              <a:t>backpropagation</a:t>
            </a:r>
          </a:p>
        </p:txBody>
      </p:sp>
    </p:spTree>
    <p:extLst>
      <p:ext uri="{BB962C8B-B14F-4D97-AF65-F5344CB8AC3E}">
        <p14:creationId xmlns:p14="http://schemas.microsoft.com/office/powerpoint/2010/main" val="607889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601A5-1845-470C-A07A-5A8F6AA1EC37}"/>
              </a:ext>
            </a:extLst>
          </p:cNvPr>
          <p:cNvSpPr>
            <a:spLocks noGrp="1"/>
          </p:cNvSpPr>
          <p:nvPr>
            <p:ph type="title"/>
          </p:nvPr>
        </p:nvSpPr>
        <p:spPr/>
        <p:txBody>
          <a:bodyPr/>
          <a:lstStyle/>
          <a:p>
            <a:r>
              <a:rPr lang="en-GB" dirty="0"/>
              <a:t>Image to vector</a:t>
            </a:r>
          </a:p>
        </p:txBody>
      </p:sp>
      <p:sp>
        <p:nvSpPr>
          <p:cNvPr id="3" name="Content Placeholder 2">
            <a:extLst>
              <a:ext uri="{FF2B5EF4-FFF2-40B4-BE49-F238E27FC236}">
                <a16:creationId xmlns:a16="http://schemas.microsoft.com/office/drawing/2014/main" id="{489ADC6E-6239-430F-AA45-A22DB8182339}"/>
              </a:ext>
            </a:extLst>
          </p:cNvPr>
          <p:cNvSpPr>
            <a:spLocks noGrp="1"/>
          </p:cNvSpPr>
          <p:nvPr>
            <p:ph idx="1"/>
          </p:nvPr>
        </p:nvSpPr>
        <p:spPr/>
        <p:txBody>
          <a:bodyPr/>
          <a:lstStyle/>
          <a:p>
            <a:endParaRPr lang="en-GB"/>
          </a:p>
        </p:txBody>
      </p:sp>
      <p:pic>
        <p:nvPicPr>
          <p:cNvPr id="2050" name="Picture 2">
            <a:extLst>
              <a:ext uri="{FF2B5EF4-FFF2-40B4-BE49-F238E27FC236}">
                <a16:creationId xmlns:a16="http://schemas.microsoft.com/office/drawing/2014/main" id="{8A5709C4-654A-42DF-BE28-A23FF13E6D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1414985"/>
            <a:ext cx="8763000" cy="4812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873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6" name="Picture 128" descr="How does Gradient Descent and Backpropagation work together? - Data Science  Stack Exchan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762000"/>
            <a:ext cx="7391400" cy="48768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8E69D0D-DD92-4A17-8DCF-E0A069C718F7}"/>
              </a:ext>
            </a:extLst>
          </p:cNvPr>
          <p:cNvPicPr>
            <a:picLocks noChangeAspect="1"/>
          </p:cNvPicPr>
          <p:nvPr/>
        </p:nvPicPr>
        <p:blipFill>
          <a:blip r:embed="rId4"/>
          <a:stretch>
            <a:fillRect/>
          </a:stretch>
        </p:blipFill>
        <p:spPr>
          <a:xfrm>
            <a:off x="228600" y="1562100"/>
            <a:ext cx="1319962" cy="4076700"/>
          </a:xfrm>
          <a:prstGeom prst="rect">
            <a:avLst/>
          </a:prstGeom>
        </p:spPr>
      </p:pic>
    </p:spTree>
    <p:extLst>
      <p:ext uri="{BB962C8B-B14F-4D97-AF65-F5344CB8AC3E}">
        <p14:creationId xmlns:p14="http://schemas.microsoft.com/office/powerpoint/2010/main" val="1643726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1524000" y="60296"/>
            <a:ext cx="6248400" cy="1143000"/>
          </a:xfrm>
          <a:ln/>
        </p:spPr>
        <p:txBody>
          <a:bodyPr/>
          <a:lstStyle/>
          <a:p>
            <a:r>
              <a:rPr lang="en-US" dirty="0"/>
              <a:t>Activation Functions</a:t>
            </a:r>
          </a:p>
        </p:txBody>
      </p:sp>
      <p:sp>
        <p:nvSpPr>
          <p:cNvPr id="2" name="AutoShape 2" descr="What is the role of the activation function in a neural network? How does  this function in a human neural network system? - Quora"/>
          <p:cNvSpPr>
            <a:spLocks noChangeAspect="1" noChangeArrowheads="1"/>
          </p:cNvSpPr>
          <p:nvPr/>
        </p:nvSpPr>
        <p:spPr bwMode="auto">
          <a:xfrm>
            <a:off x="155575" y="-182033"/>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What is the role of the activation function in a neural network? How does  this function in a human neural network system? - Quora"/>
          <p:cNvSpPr>
            <a:spLocks noChangeAspect="1" noChangeArrowheads="1"/>
          </p:cNvSpPr>
          <p:nvPr/>
        </p:nvSpPr>
        <p:spPr bwMode="auto">
          <a:xfrm>
            <a:off x="307975" y="21167"/>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609600"/>
            <a:ext cx="3962400" cy="61561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9626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1"/>
          <p:cNvSpPr>
            <a:spLocks noGrp="1" noChangeArrowheads="1"/>
          </p:cNvSpPr>
          <p:nvPr>
            <p:ph type="title"/>
          </p:nvPr>
        </p:nvSpPr>
        <p:spPr>
          <a:xfrm>
            <a:off x="1524000" y="60296"/>
            <a:ext cx="6248400" cy="1143000"/>
          </a:xfrm>
          <a:ln/>
        </p:spPr>
        <p:txBody>
          <a:bodyPr/>
          <a:lstStyle/>
          <a:p>
            <a:r>
              <a:rPr lang="en-US" dirty="0"/>
              <a:t>Activation Functions</a:t>
            </a:r>
          </a:p>
        </p:txBody>
      </p:sp>
      <p:sp>
        <p:nvSpPr>
          <p:cNvPr id="2" name="AutoShape 2" descr="What is the role of the activation function in a neural network? How does  this function in a human neural network system? - Quora"/>
          <p:cNvSpPr>
            <a:spLocks noChangeAspect="1" noChangeArrowheads="1"/>
          </p:cNvSpPr>
          <p:nvPr/>
        </p:nvSpPr>
        <p:spPr bwMode="auto">
          <a:xfrm>
            <a:off x="155575" y="-182033"/>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AutoShape 4" descr="What is the role of the activation function in a neural network? How does  this function in a human neural network system? - Quora"/>
          <p:cNvSpPr>
            <a:spLocks noChangeAspect="1" noChangeArrowheads="1"/>
          </p:cNvSpPr>
          <p:nvPr/>
        </p:nvSpPr>
        <p:spPr bwMode="auto">
          <a:xfrm>
            <a:off x="307975" y="21167"/>
            <a:ext cx="298450" cy="397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011" y="990600"/>
            <a:ext cx="3561282" cy="5532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0" y="1618735"/>
            <a:ext cx="4762500" cy="3581400"/>
          </a:xfrm>
          <a:prstGeom prst="rect">
            <a:avLst/>
          </a:prstGeom>
        </p:spPr>
      </p:pic>
    </p:spTree>
    <p:extLst>
      <p:ext uri="{BB962C8B-B14F-4D97-AF65-F5344CB8AC3E}">
        <p14:creationId xmlns:p14="http://schemas.microsoft.com/office/powerpoint/2010/main" val="20850833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 what is Deep Learning?</a:t>
            </a:r>
          </a:p>
        </p:txBody>
      </p:sp>
      <p:sp>
        <p:nvSpPr>
          <p:cNvPr id="5" name="Content Placeholder 4"/>
          <p:cNvSpPr>
            <a:spLocks noGrp="1"/>
          </p:cNvSpPr>
          <p:nvPr>
            <p:ph idx="1"/>
          </p:nvPr>
        </p:nvSpPr>
        <p:spPr/>
        <p:txBody>
          <a:bodyPr>
            <a:normAutofit/>
          </a:bodyPr>
          <a:lstStyle/>
          <a:p>
            <a:pPr marL="0" indent="0">
              <a:buFontTx/>
              <a:buNone/>
            </a:pPr>
            <a:r>
              <a:rPr lang="en-GB" altLang="en-US" sz="3200" b="1" dirty="0">
                <a:solidFill>
                  <a:srgbClr val="FF0000"/>
                </a:solidFill>
              </a:rPr>
              <a:t>The short answers</a:t>
            </a:r>
          </a:p>
          <a:p>
            <a:r>
              <a:rPr lang="en-GB" altLang="en-US" dirty="0"/>
              <a:t>‘Deep Learning’ means using a neural network with many layers of nodes (there is no exact number) between input and output</a:t>
            </a:r>
          </a:p>
          <a:p>
            <a:pPr marL="0" indent="0">
              <a:buNone/>
            </a:pPr>
            <a:endParaRPr lang="en-GB" altLang="en-US" dirty="0"/>
          </a:p>
          <a:p>
            <a:r>
              <a:rPr lang="en-GB" altLang="en-US" dirty="0"/>
              <a:t>The series of layers between input &amp; output do feature identification and processing in a series of stages</a:t>
            </a:r>
            <a:endParaRPr lang="en-GB" dirty="0"/>
          </a:p>
        </p:txBody>
      </p:sp>
    </p:spTree>
    <p:extLst>
      <p:ext uri="{BB962C8B-B14F-4D97-AF65-F5344CB8AC3E}">
        <p14:creationId xmlns:p14="http://schemas.microsoft.com/office/powerpoint/2010/main" val="2704075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vs Deep</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418653"/>
            <a:ext cx="1951404" cy="166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2418653"/>
            <a:ext cx="4102038" cy="15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1905000" y="4249057"/>
            <a:ext cx="1646605" cy="369332"/>
          </a:xfrm>
          <a:prstGeom prst="rect">
            <a:avLst/>
          </a:prstGeom>
          <a:noFill/>
        </p:spPr>
        <p:txBody>
          <a:bodyPr wrap="none" rtlCol="0">
            <a:spAutoFit/>
          </a:bodyPr>
          <a:lstStyle/>
          <a:p>
            <a:r>
              <a:rPr lang="en-GB" dirty="0"/>
              <a:t>1-hidden layer</a:t>
            </a:r>
          </a:p>
        </p:txBody>
      </p:sp>
      <p:sp>
        <p:nvSpPr>
          <p:cNvPr id="9" name="TextBox 8"/>
          <p:cNvSpPr txBox="1"/>
          <p:nvPr/>
        </p:nvSpPr>
        <p:spPr>
          <a:xfrm>
            <a:off x="5334000" y="4398547"/>
            <a:ext cx="2185214" cy="369332"/>
          </a:xfrm>
          <a:prstGeom prst="rect">
            <a:avLst/>
          </a:prstGeom>
          <a:noFill/>
        </p:spPr>
        <p:txBody>
          <a:bodyPr wrap="none" rtlCol="0">
            <a:spAutoFit/>
          </a:bodyPr>
          <a:lstStyle/>
          <a:p>
            <a:r>
              <a:rPr lang="en-GB" dirty="0"/>
              <a:t>Deep-hidden layers</a:t>
            </a:r>
          </a:p>
        </p:txBody>
      </p:sp>
      <p:sp>
        <p:nvSpPr>
          <p:cNvPr id="10" name="TextBox 9"/>
          <p:cNvSpPr txBox="1"/>
          <p:nvPr/>
        </p:nvSpPr>
        <p:spPr>
          <a:xfrm>
            <a:off x="1600200" y="5235298"/>
            <a:ext cx="7357520" cy="646331"/>
          </a:xfrm>
          <a:prstGeom prst="rect">
            <a:avLst/>
          </a:prstGeom>
          <a:noFill/>
        </p:spPr>
        <p:txBody>
          <a:bodyPr wrap="square" rtlCol="0">
            <a:spAutoFit/>
          </a:bodyPr>
          <a:lstStyle/>
          <a:p>
            <a:r>
              <a:rPr lang="en-GB" b="1" dirty="0">
                <a:solidFill>
                  <a:srgbClr val="FF0000"/>
                </a:solidFill>
              </a:rPr>
              <a:t>Again, we need to balance computational complexity against performance</a:t>
            </a:r>
          </a:p>
        </p:txBody>
      </p:sp>
    </p:spTree>
    <p:extLst>
      <p:ext uri="{BB962C8B-B14F-4D97-AF65-F5344CB8AC3E}">
        <p14:creationId xmlns:p14="http://schemas.microsoft.com/office/powerpoint/2010/main" val="428707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Deep learning algorithms</a:t>
            </a:r>
          </a:p>
        </p:txBody>
      </p:sp>
      <p:sp>
        <p:nvSpPr>
          <p:cNvPr id="5" name="Content Placeholder 4"/>
          <p:cNvSpPr>
            <a:spLocks noGrp="1"/>
          </p:cNvSpPr>
          <p:nvPr>
            <p:ph idx="1"/>
          </p:nvPr>
        </p:nvSpPr>
        <p:spPr/>
        <p:txBody>
          <a:bodyPr/>
          <a:lstStyle/>
          <a:p>
            <a:r>
              <a:rPr lang="en-GB" dirty="0"/>
              <a:t>There are many different deep learning algorithms designed for dealing with different problems. Some examples are:</a:t>
            </a:r>
          </a:p>
          <a:p>
            <a:endParaRPr lang="en-GB" dirty="0"/>
          </a:p>
          <a:p>
            <a:pPr marL="342900" indent="-342900" fontAlgn="base">
              <a:buFont typeface="Arial" panose="020B0604020202020204" pitchFamily="34" charset="0"/>
              <a:buChar char="•"/>
            </a:pPr>
            <a:r>
              <a:rPr lang="en-GB" dirty="0"/>
              <a:t>Convolutional Neural Network (CNN)</a:t>
            </a:r>
          </a:p>
          <a:p>
            <a:pPr marL="342900" indent="-342900" fontAlgn="base">
              <a:buFont typeface="Arial" panose="020B0604020202020204" pitchFamily="34" charset="0"/>
              <a:buChar char="•"/>
            </a:pPr>
            <a:r>
              <a:rPr lang="en-GB" dirty="0"/>
              <a:t>Recurrent Neural Networks (RNNs)</a:t>
            </a:r>
          </a:p>
          <a:p>
            <a:pPr marL="342900" indent="-342900" fontAlgn="base">
              <a:buFont typeface="Arial" panose="020B0604020202020204" pitchFamily="34" charset="0"/>
              <a:buChar char="•"/>
            </a:pPr>
            <a:r>
              <a:rPr lang="en-GB" dirty="0"/>
              <a:t>Long Short-Term Memory Networks (LSTMs)</a:t>
            </a:r>
          </a:p>
          <a:p>
            <a:pPr marL="342900" indent="-342900" fontAlgn="base">
              <a:buFont typeface="Arial" panose="020B0604020202020204" pitchFamily="34" charset="0"/>
              <a:buChar char="•"/>
            </a:pPr>
            <a:r>
              <a:rPr lang="en-GB" dirty="0"/>
              <a:t>Stacked Auto-Encoders</a:t>
            </a:r>
          </a:p>
          <a:p>
            <a:pPr marL="342900" indent="-342900" fontAlgn="base">
              <a:buFont typeface="Arial" panose="020B0604020202020204" pitchFamily="34" charset="0"/>
              <a:buChar char="•"/>
            </a:pPr>
            <a:r>
              <a:rPr lang="en-GB" dirty="0"/>
              <a:t>Deep Boltzmann Machine (DBM)</a:t>
            </a:r>
          </a:p>
          <a:p>
            <a:pPr marL="342900" indent="-342900" fontAlgn="base">
              <a:buFont typeface="Arial" panose="020B0604020202020204" pitchFamily="34" charset="0"/>
              <a:buChar char="•"/>
            </a:pPr>
            <a:r>
              <a:rPr lang="en-GB" dirty="0"/>
              <a:t>Deep Belief Networks (DBN)</a:t>
            </a:r>
          </a:p>
          <a:p>
            <a:r>
              <a:rPr lang="en-GB" dirty="0"/>
              <a:t> </a:t>
            </a:r>
          </a:p>
        </p:txBody>
      </p:sp>
    </p:spTree>
    <p:extLst>
      <p:ext uri="{BB962C8B-B14F-4D97-AF65-F5344CB8AC3E}">
        <p14:creationId xmlns:p14="http://schemas.microsoft.com/office/powerpoint/2010/main" val="3769205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61F1-157B-4D85-81F7-249EEB8B0074}"/>
              </a:ext>
            </a:extLst>
          </p:cNvPr>
          <p:cNvSpPr>
            <a:spLocks noGrp="1"/>
          </p:cNvSpPr>
          <p:nvPr>
            <p:ph type="title"/>
          </p:nvPr>
        </p:nvSpPr>
        <p:spPr>
          <a:xfrm>
            <a:off x="1682044" y="2821715"/>
            <a:ext cx="7467600" cy="595996"/>
          </a:xfrm>
        </p:spPr>
        <p:txBody>
          <a:bodyPr/>
          <a:lstStyle/>
          <a:p>
            <a:r>
              <a:rPr lang="en-GB" dirty="0"/>
              <a:t>Computer Vision and Deep Learning</a:t>
            </a:r>
          </a:p>
        </p:txBody>
      </p:sp>
    </p:spTree>
    <p:extLst>
      <p:ext uri="{BB962C8B-B14F-4D97-AF65-F5344CB8AC3E}">
        <p14:creationId xmlns:p14="http://schemas.microsoft.com/office/powerpoint/2010/main" val="3293575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0242" name="Rectangle 2"/>
          <p:cNvSpPr>
            <a:spLocks noGrp="1" noChangeArrowheads="1"/>
          </p:cNvSpPr>
          <p:nvPr>
            <p:ph type="body" idx="1"/>
          </p:nvPr>
        </p:nvSpPr>
        <p:spPr>
          <a:xfrm>
            <a:off x="1809892" y="1414985"/>
            <a:ext cx="4895708" cy="4761979"/>
          </a:xfrm>
        </p:spPr>
        <p:txBody>
          <a:bodyPr/>
          <a:lstStyle/>
          <a:p>
            <a:pPr>
              <a:buFont typeface="Wingdings" pitchFamily="2" charset="2"/>
              <a:buChar char="["/>
            </a:pPr>
            <a:endParaRPr lang="en-GB" altLang="ko-KR" b="0" dirty="0"/>
          </a:p>
          <a:p>
            <a:pPr>
              <a:buFont typeface="Wingdings" pitchFamily="2" charset="2"/>
              <a:buChar char="["/>
            </a:pPr>
            <a:endParaRPr lang="en-GB" altLang="ko-KR" b="0" dirty="0"/>
          </a:p>
          <a:p>
            <a:r>
              <a:rPr lang="en-GB" altLang="ko-KR" b="0" dirty="0"/>
              <a:t>In 1989, </a:t>
            </a:r>
            <a:r>
              <a:rPr lang="en-GB" altLang="ko-KR" b="0" dirty="0">
                <a:solidFill>
                  <a:srgbClr val="CC0000"/>
                </a:solidFill>
              </a:rPr>
              <a:t>Yann </a:t>
            </a:r>
            <a:r>
              <a:rPr lang="en-GB" altLang="ko-KR" b="0" dirty="0" err="1">
                <a:solidFill>
                  <a:srgbClr val="CC0000"/>
                </a:solidFill>
              </a:rPr>
              <a:t>LeCun</a:t>
            </a:r>
            <a:r>
              <a:rPr lang="en-GB" altLang="ko-KR" b="0" dirty="0"/>
              <a:t> introduced convolutional neural networks trained with backpropagation; in 1995 he and </a:t>
            </a:r>
            <a:r>
              <a:rPr lang="en-GB" altLang="ko-KR" b="0" dirty="0" err="1">
                <a:solidFill>
                  <a:srgbClr val="CC0000"/>
                </a:solidFill>
              </a:rPr>
              <a:t>Yoshua</a:t>
            </a:r>
            <a:r>
              <a:rPr lang="en-GB" altLang="ko-KR" b="0" dirty="0">
                <a:solidFill>
                  <a:srgbClr val="CC0000"/>
                </a:solidFill>
              </a:rPr>
              <a:t> </a:t>
            </a:r>
            <a:r>
              <a:rPr lang="en-GB" altLang="ko-KR" b="0" dirty="0" err="1">
                <a:solidFill>
                  <a:srgbClr val="CC0000"/>
                </a:solidFill>
              </a:rPr>
              <a:t>Bengio</a:t>
            </a:r>
            <a:r>
              <a:rPr lang="en-GB" altLang="ko-KR" b="0" dirty="0"/>
              <a:t> published an influential overview of them.</a:t>
            </a:r>
          </a:p>
          <a:p>
            <a:endParaRPr lang="en-GB" altLang="ko-KR" dirty="0"/>
          </a:p>
          <a:p>
            <a:r>
              <a:rPr lang="en-GB" altLang="ko-KR" dirty="0">
                <a:solidFill>
                  <a:schemeClr val="accent1">
                    <a:lumMod val="75000"/>
                  </a:schemeClr>
                </a:solidFill>
              </a:rPr>
              <a:t>A path towards human-level intelligence</a:t>
            </a:r>
          </a:p>
          <a:p>
            <a:r>
              <a:rPr lang="en-GB" altLang="ko-KR" dirty="0">
                <a:solidFill>
                  <a:schemeClr val="accent1">
                    <a:lumMod val="75000"/>
                  </a:schemeClr>
                </a:solidFill>
              </a:rPr>
              <a:t>(01/04/2022)</a:t>
            </a:r>
          </a:p>
          <a:p>
            <a:r>
              <a:rPr lang="en-GB" altLang="ko-KR" sz="1600" b="0" dirty="0">
                <a:hlinkClick r:id="rId2"/>
              </a:rPr>
              <a:t>https://www.youtube.com/watch?v=_K0h7oEe8BQ&amp;list=PLZXqDfYHTYo4U_Q-LVK72xzRe2JhlwOzI&amp;index=19</a:t>
            </a:r>
            <a:r>
              <a:rPr lang="en-GB" altLang="ko-KR" sz="1600" b="0" dirty="0"/>
              <a:t> </a:t>
            </a:r>
          </a:p>
        </p:txBody>
      </p:sp>
      <p:sp>
        <p:nvSpPr>
          <p:cNvPr id="3210243" name="Rectangle 3"/>
          <p:cNvSpPr>
            <a:spLocks noGrp="1" noChangeArrowheads="1"/>
          </p:cNvSpPr>
          <p:nvPr>
            <p:ph type="title"/>
          </p:nvPr>
        </p:nvSpPr>
        <p:spPr>
          <a:xfrm>
            <a:off x="1752600" y="381000"/>
            <a:ext cx="7162800" cy="609600"/>
          </a:xfrm>
          <a:noFill/>
          <a:ln/>
        </p:spPr>
        <p:txBody>
          <a:bodyPr/>
          <a:lstStyle/>
          <a:p>
            <a:r>
              <a:rPr lang="en-GB" dirty="0"/>
              <a:t>CNN: Convolutional Neural Network</a:t>
            </a:r>
            <a:endParaRPr lang="en-GB" altLang="ko-KR" dirty="0"/>
          </a:p>
        </p:txBody>
      </p:sp>
      <p:pic>
        <p:nvPicPr>
          <p:cNvPr id="3210244" name="Picture 4" descr="untit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514600"/>
            <a:ext cx="1558925" cy="2057400"/>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
        <p:nvSpPr>
          <p:cNvPr id="3210245" name="Text Box 5"/>
          <p:cNvSpPr txBox="1">
            <a:spLocks noChangeArrowheads="1"/>
          </p:cNvSpPr>
          <p:nvPr/>
        </p:nvSpPr>
        <p:spPr bwMode="auto">
          <a:xfrm>
            <a:off x="1752601" y="1143000"/>
            <a:ext cx="740228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CC0000"/>
                </a:solidFill>
                <a:latin typeface="Comic Sans MS" pitchFamily="66" charset="0"/>
              </a:rPr>
              <a:t>Yann </a:t>
            </a:r>
            <a:r>
              <a:rPr lang="en-US" altLang="en-US" sz="2000" dirty="0" err="1">
                <a:solidFill>
                  <a:srgbClr val="CC0000"/>
                </a:solidFill>
                <a:latin typeface="Comic Sans MS" pitchFamily="66" charset="0"/>
              </a:rPr>
              <a:t>LeCun</a:t>
            </a:r>
            <a:r>
              <a:rPr lang="en-US" altLang="en-US" sz="2000" dirty="0">
                <a:latin typeface="Comic Sans MS" pitchFamily="66" charset="0"/>
              </a:rPr>
              <a:t>, </a:t>
            </a:r>
            <a:r>
              <a:rPr lang="en-US" altLang="en-US" sz="2000" b="0" dirty="0">
                <a:solidFill>
                  <a:schemeClr val="accent2"/>
                </a:solidFill>
                <a:latin typeface="Comic Sans MS" pitchFamily="66" charset="0"/>
              </a:rPr>
              <a:t>Professor of Computer Science</a:t>
            </a:r>
            <a:br>
              <a:rPr lang="en-US" altLang="en-US" sz="2000" b="0" dirty="0">
                <a:solidFill>
                  <a:schemeClr val="accent2"/>
                </a:solidFill>
                <a:latin typeface="Comic Sans MS" pitchFamily="66" charset="0"/>
              </a:rPr>
            </a:br>
            <a:r>
              <a:rPr lang="en-US" altLang="en-US" sz="2000" b="0" dirty="0">
                <a:solidFill>
                  <a:schemeClr val="accent2"/>
                </a:solidFill>
                <a:latin typeface="Comic Sans MS" pitchFamily="66" charset="0"/>
              </a:rPr>
              <a:t>The Courant Institute of Mathematical Sciences</a:t>
            </a:r>
            <a:br>
              <a:rPr lang="en-US" altLang="en-US" sz="2000" b="0" dirty="0">
                <a:solidFill>
                  <a:schemeClr val="accent2"/>
                </a:solidFill>
                <a:latin typeface="Comic Sans MS" pitchFamily="66" charset="0"/>
              </a:rPr>
            </a:br>
            <a:r>
              <a:rPr lang="en-US" altLang="en-US" sz="2000" b="0" dirty="0">
                <a:solidFill>
                  <a:schemeClr val="accent2"/>
                </a:solidFill>
                <a:latin typeface="Comic Sans MS" pitchFamily="66" charset="0"/>
              </a:rPr>
              <a:t>New York University</a:t>
            </a:r>
            <a:r>
              <a:rPr lang="en-US" altLang="en-US" sz="2000" dirty="0">
                <a:latin typeface="Comic Sans MS" pitchFamily="66" charset="0"/>
              </a:rPr>
              <a:t> </a:t>
            </a:r>
          </a:p>
        </p:txBody>
      </p:sp>
    </p:spTree>
    <p:extLst>
      <p:ext uri="{BB962C8B-B14F-4D97-AF65-F5344CB8AC3E}">
        <p14:creationId xmlns:p14="http://schemas.microsoft.com/office/powerpoint/2010/main" val="937869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7010400" y="6381750"/>
            <a:ext cx="2133600" cy="476250"/>
          </a:xfrm>
          <a:prstGeom prst="rect">
            <a:avLst/>
          </a:prstGeom>
        </p:spPr>
        <p:txBody>
          <a:bodyPr/>
          <a:lstStyle/>
          <a:p>
            <a:fld id="{1CF9C159-85D8-454D-BB3F-220E592EF4C2}" type="slidenum">
              <a:rPr lang="en-US" altLang="en-US"/>
              <a:pPr/>
              <a:t>22</a:t>
            </a:fld>
            <a:endParaRPr lang="en-US" altLang="en-US"/>
          </a:p>
        </p:txBody>
      </p:sp>
      <p:sp>
        <p:nvSpPr>
          <p:cNvPr id="3293186" name="Rectangle 2"/>
          <p:cNvSpPr>
            <a:spLocks noGrp="1" noChangeArrowheads="1"/>
          </p:cNvSpPr>
          <p:nvPr>
            <p:ph type="body" idx="1"/>
          </p:nvPr>
        </p:nvSpPr>
        <p:spPr>
          <a:xfrm>
            <a:off x="1752600" y="1066800"/>
            <a:ext cx="6705458" cy="4761979"/>
          </a:xfrm>
        </p:spPr>
        <p:txBody>
          <a:bodyPr/>
          <a:lstStyle/>
          <a:p>
            <a:pPr marL="342900" indent="-342900">
              <a:buFont typeface="Arial" panose="020B0604020202020204" pitchFamily="34" charset="0"/>
              <a:buChar char="•"/>
            </a:pPr>
            <a:r>
              <a:rPr lang="en-GB" altLang="ko-KR" sz="2000" b="0" dirty="0"/>
              <a:t>CNNs were </a:t>
            </a:r>
            <a:r>
              <a:rPr lang="en-GB" altLang="ko-KR" sz="2000" b="0" dirty="0">
                <a:solidFill>
                  <a:srgbClr val="CC0000"/>
                </a:solidFill>
              </a:rPr>
              <a:t>neurobiologically</a:t>
            </a:r>
            <a:r>
              <a:rPr lang="en-GB" altLang="ko-KR" sz="2000" b="0" dirty="0"/>
              <a:t> motivated by the discovery of locally sensitive neurons in the visual cortex, and they implicitly extract relevant features.</a:t>
            </a:r>
          </a:p>
          <a:p>
            <a:pPr marL="342900" indent="-342900">
              <a:buFont typeface="Arial" panose="020B0604020202020204" pitchFamily="34" charset="0"/>
              <a:buChar char="•"/>
            </a:pPr>
            <a:r>
              <a:rPr lang="en-US" altLang="ko-KR" sz="2000" b="0" dirty="0"/>
              <a:t>Convolutional Neural Networks are a special kind of </a:t>
            </a:r>
            <a:r>
              <a:rPr lang="en-US" altLang="ko-KR" sz="2000" b="0" dirty="0">
                <a:solidFill>
                  <a:srgbClr val="CC0000"/>
                </a:solidFill>
              </a:rPr>
              <a:t>multi-layer</a:t>
            </a:r>
            <a:r>
              <a:rPr lang="en-US" altLang="ko-KR" sz="2000" dirty="0"/>
              <a:t>, </a:t>
            </a:r>
            <a:r>
              <a:rPr lang="en-US" altLang="ko-KR" sz="2000" dirty="0">
                <a:solidFill>
                  <a:srgbClr val="CC0000"/>
                </a:solidFill>
              </a:rPr>
              <a:t>feed-forward</a:t>
            </a:r>
            <a:r>
              <a:rPr lang="en-US" altLang="ko-KR" sz="2000" dirty="0"/>
              <a:t> neural network that can extract topological properties from an image.</a:t>
            </a:r>
          </a:p>
          <a:p>
            <a:pPr marL="342900" indent="-342900">
              <a:buFont typeface="Arial" panose="020B0604020202020204" pitchFamily="34" charset="0"/>
              <a:buChar char="•"/>
            </a:pPr>
            <a:r>
              <a:rPr lang="en-US" altLang="ko-KR" sz="2000" dirty="0"/>
              <a:t>Like almost every other neural network, they </a:t>
            </a:r>
            <a:r>
              <a:rPr lang="en-US" altLang="ko-KR" sz="2000" dirty="0">
                <a:solidFill>
                  <a:srgbClr val="CC0000"/>
                </a:solidFill>
              </a:rPr>
              <a:t>are trained</a:t>
            </a:r>
            <a:r>
              <a:rPr lang="en-US" altLang="ko-KR" sz="2000" dirty="0"/>
              <a:t> with a version of the </a:t>
            </a:r>
            <a:r>
              <a:rPr lang="en-US" altLang="ko-KR" sz="2000" dirty="0">
                <a:solidFill>
                  <a:srgbClr val="CC0000"/>
                </a:solidFill>
              </a:rPr>
              <a:t>back-propagation algorithm</a:t>
            </a:r>
            <a:r>
              <a:rPr lang="en-US" altLang="ko-KR" sz="2000" dirty="0"/>
              <a:t>.</a:t>
            </a:r>
          </a:p>
          <a:p>
            <a:pPr marL="342900" indent="-342900">
              <a:buFont typeface="Arial" panose="020B0604020202020204" pitchFamily="34" charset="0"/>
              <a:buChar char="•"/>
            </a:pPr>
            <a:r>
              <a:rPr lang="en-US" altLang="ko-KR" sz="2000" dirty="0"/>
              <a:t>Convolutional Neural Networks are designed to </a:t>
            </a:r>
            <a:r>
              <a:rPr lang="en-US" altLang="ko-KR" sz="2000" dirty="0">
                <a:solidFill>
                  <a:srgbClr val="CC0000"/>
                </a:solidFill>
              </a:rPr>
              <a:t>recognize</a:t>
            </a:r>
            <a:r>
              <a:rPr lang="en-US" altLang="ko-KR" sz="2000" dirty="0"/>
              <a:t> </a:t>
            </a:r>
            <a:r>
              <a:rPr lang="en-US" altLang="ko-KR" sz="2000" dirty="0">
                <a:solidFill>
                  <a:srgbClr val="CC0000"/>
                </a:solidFill>
              </a:rPr>
              <a:t>visual patterns</a:t>
            </a:r>
            <a:r>
              <a:rPr lang="en-US" altLang="ko-KR" sz="2000" dirty="0"/>
              <a:t> directly from pixel images with minimal preprocessing.</a:t>
            </a:r>
          </a:p>
          <a:p>
            <a:pPr marL="342900" indent="-342900">
              <a:buFont typeface="Arial" panose="020B0604020202020204" pitchFamily="34" charset="0"/>
              <a:buChar char="•"/>
            </a:pPr>
            <a:r>
              <a:rPr lang="en-US" altLang="ko-KR" sz="2000" dirty="0"/>
              <a:t>They can recognize patterns with extreme variability (such as handwritten characters).</a:t>
            </a:r>
            <a:endParaRPr lang="en-US" altLang="ko-KR" sz="2000" b="0" dirty="0"/>
          </a:p>
          <a:p>
            <a:pPr>
              <a:buFont typeface="Wingdings" pitchFamily="2" charset="2"/>
              <a:buChar char="["/>
            </a:pPr>
            <a:endParaRPr lang="en-GB" altLang="ko-KR" b="0" dirty="0"/>
          </a:p>
          <a:p>
            <a:pPr>
              <a:buFont typeface="Wingdings" pitchFamily="2" charset="2"/>
              <a:buChar char="["/>
            </a:pPr>
            <a:endParaRPr lang="en-GB" altLang="ko-KR" b="0" dirty="0"/>
          </a:p>
        </p:txBody>
      </p:sp>
      <p:sp>
        <p:nvSpPr>
          <p:cNvPr id="3293187" name="Rectangle 3"/>
          <p:cNvSpPr>
            <a:spLocks noGrp="1" noChangeArrowheads="1"/>
          </p:cNvSpPr>
          <p:nvPr>
            <p:ph type="title"/>
          </p:nvPr>
        </p:nvSpPr>
        <p:spPr>
          <a:xfrm>
            <a:off x="1752600" y="228600"/>
            <a:ext cx="5638800" cy="609600"/>
          </a:xfrm>
          <a:noFill/>
          <a:ln/>
        </p:spPr>
        <p:txBody>
          <a:bodyPr/>
          <a:lstStyle/>
          <a:p>
            <a:r>
              <a:rPr lang="en-US" altLang="ko-KR" dirty="0"/>
              <a:t>About CNNs</a:t>
            </a:r>
            <a:endParaRPr lang="en-GB" altLang="ko-KR" dirty="0"/>
          </a:p>
        </p:txBody>
      </p:sp>
    </p:spTree>
    <p:extLst>
      <p:ext uri="{BB962C8B-B14F-4D97-AF65-F5344CB8AC3E}">
        <p14:creationId xmlns:p14="http://schemas.microsoft.com/office/powerpoint/2010/main" val="2937973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67"/>
          <p:cNvSpPr>
            <a:spLocks noGrp="1"/>
          </p:cNvSpPr>
          <p:nvPr>
            <p:ph type="sldNum" sz="quarter" idx="4294967295"/>
          </p:nvPr>
        </p:nvSpPr>
        <p:spPr>
          <a:xfrm>
            <a:off x="7010400" y="6381750"/>
            <a:ext cx="2133600" cy="476250"/>
          </a:xfrm>
          <a:prstGeom prst="rect">
            <a:avLst/>
          </a:prstGeom>
        </p:spPr>
        <p:txBody>
          <a:bodyPr/>
          <a:lstStyle/>
          <a:p>
            <a:fld id="{14BEEC31-CBD6-4DA6-A923-601AF4634933}" type="slidenum">
              <a:rPr lang="en-US" altLang="en-US"/>
              <a:pPr/>
              <a:t>23</a:t>
            </a:fld>
            <a:endParaRPr lang="en-US" altLang="en-US"/>
          </a:p>
        </p:txBody>
      </p:sp>
      <p:sp>
        <p:nvSpPr>
          <p:cNvPr id="3211344" name="Rectangle 80"/>
          <p:cNvSpPr>
            <a:spLocks noGrp="1" noChangeArrowheads="1"/>
          </p:cNvSpPr>
          <p:nvPr>
            <p:ph type="body" idx="1"/>
          </p:nvPr>
        </p:nvSpPr>
        <p:spPr>
          <a:xfrm>
            <a:off x="2254392" y="1414985"/>
            <a:ext cx="6705458" cy="4761979"/>
          </a:xfrm>
          <a:noFill/>
          <a:ln/>
        </p:spPr>
        <p:txBody>
          <a:bodyPr/>
          <a:lstStyle/>
          <a:p>
            <a:r>
              <a:rPr lang="en-GB" altLang="ko-KR" b="0" dirty="0"/>
              <a:t>Classification</a:t>
            </a:r>
          </a:p>
          <a:p>
            <a:pPr>
              <a:buFont typeface="Wingdings" pitchFamily="2" charset="2"/>
              <a:buChar char="["/>
            </a:pPr>
            <a:endParaRPr lang="en-GB" altLang="ko-KR" b="0" dirty="0"/>
          </a:p>
          <a:p>
            <a:pPr>
              <a:buFont typeface="Wingdings" pitchFamily="2" charset="2"/>
              <a:buChar char="["/>
            </a:pPr>
            <a:endParaRPr lang="en-GB" altLang="ko-KR" b="0" dirty="0"/>
          </a:p>
          <a:p>
            <a:pPr>
              <a:buFont typeface="Wingdings" pitchFamily="2" charset="2"/>
              <a:buChar char="["/>
            </a:pPr>
            <a:endParaRPr lang="en-GB" altLang="ko-KR" b="0" dirty="0"/>
          </a:p>
          <a:p>
            <a:pPr>
              <a:buFont typeface="Wingdings" pitchFamily="2" charset="2"/>
              <a:buChar char="["/>
            </a:pPr>
            <a:endParaRPr lang="en-GB" altLang="ko-KR" b="0" dirty="0"/>
          </a:p>
          <a:p>
            <a:r>
              <a:rPr lang="en-GB" altLang="ko-KR" b="0" dirty="0"/>
              <a:t>Convolutional neural network</a:t>
            </a:r>
          </a:p>
          <a:p>
            <a:pPr>
              <a:buFont typeface="Wingdings" pitchFamily="2" charset="2"/>
              <a:buChar char="["/>
            </a:pPr>
            <a:endParaRPr lang="en-GB" altLang="ko-KR" b="0" dirty="0"/>
          </a:p>
        </p:txBody>
      </p:sp>
      <p:sp>
        <p:nvSpPr>
          <p:cNvPr id="3211266" name="Rectangle 2"/>
          <p:cNvSpPr>
            <a:spLocks noGrp="1" noChangeArrowheads="1"/>
          </p:cNvSpPr>
          <p:nvPr>
            <p:ph type="title"/>
          </p:nvPr>
        </p:nvSpPr>
        <p:spPr/>
        <p:txBody>
          <a:bodyPr/>
          <a:lstStyle/>
          <a:p>
            <a:r>
              <a:rPr lang="en-US" altLang="ko-KR"/>
              <a:t>Classification</a:t>
            </a:r>
          </a:p>
        </p:txBody>
      </p:sp>
      <p:grpSp>
        <p:nvGrpSpPr>
          <p:cNvPr id="3211325" name="Group 61"/>
          <p:cNvGrpSpPr>
            <a:grpSpLocks/>
          </p:cNvGrpSpPr>
          <p:nvPr/>
        </p:nvGrpSpPr>
        <p:grpSpPr bwMode="auto">
          <a:xfrm>
            <a:off x="1598613" y="2133600"/>
            <a:ext cx="7380288" cy="914400"/>
            <a:chOff x="727" y="1200"/>
            <a:chExt cx="4649" cy="576"/>
          </a:xfrm>
        </p:grpSpPr>
        <p:sp>
          <p:nvSpPr>
            <p:cNvPr id="3211269" name="Line 5"/>
            <p:cNvSpPr>
              <a:spLocks noChangeShapeType="1"/>
            </p:cNvSpPr>
            <p:nvPr/>
          </p:nvSpPr>
          <p:spPr bwMode="auto">
            <a:xfrm>
              <a:off x="912" y="1496"/>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70" name="Rectangle 6"/>
            <p:cNvSpPr>
              <a:spLocks noChangeArrowheads="1"/>
            </p:cNvSpPr>
            <p:nvPr/>
          </p:nvSpPr>
          <p:spPr bwMode="auto">
            <a:xfrm>
              <a:off x="3400" y="1320"/>
              <a:ext cx="1056" cy="336"/>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600"/>
                <a:t>Classification</a:t>
              </a:r>
            </a:p>
          </p:txBody>
        </p:sp>
        <p:sp>
          <p:nvSpPr>
            <p:cNvPr id="3211271" name="Line 7"/>
            <p:cNvSpPr>
              <a:spLocks noChangeShapeType="1"/>
            </p:cNvSpPr>
            <p:nvPr/>
          </p:nvSpPr>
          <p:spPr bwMode="auto">
            <a:xfrm>
              <a:off x="2496" y="1488"/>
              <a:ext cx="912"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73" name="Rectangle 9"/>
            <p:cNvSpPr>
              <a:spLocks noChangeArrowheads="1"/>
            </p:cNvSpPr>
            <p:nvPr/>
          </p:nvSpPr>
          <p:spPr bwMode="auto">
            <a:xfrm>
              <a:off x="1248" y="1200"/>
              <a:ext cx="1248" cy="576"/>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r>
                <a:rPr lang="en-US" altLang="en-US" sz="1600">
                  <a:solidFill>
                    <a:schemeClr val="tx1"/>
                  </a:solidFill>
                </a:rPr>
                <a:t>Pre-processing for feature extraction</a:t>
              </a:r>
              <a:endParaRPr lang="en-US" altLang="ko-KR" sz="1600">
                <a:solidFill>
                  <a:schemeClr val="tx1"/>
                </a:solidFill>
              </a:endParaRPr>
            </a:p>
          </p:txBody>
        </p:sp>
        <p:sp>
          <p:nvSpPr>
            <p:cNvPr id="3211274" name="Text Box 10"/>
            <p:cNvSpPr txBox="1">
              <a:spLocks noChangeArrowheads="1"/>
            </p:cNvSpPr>
            <p:nvPr/>
          </p:nvSpPr>
          <p:spPr bwMode="auto">
            <a:xfrm>
              <a:off x="727" y="1223"/>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Input</a:t>
              </a:r>
            </a:p>
          </p:txBody>
        </p:sp>
        <p:sp>
          <p:nvSpPr>
            <p:cNvPr id="3211275" name="Text Box 11"/>
            <p:cNvSpPr txBox="1">
              <a:spLocks noChangeArrowheads="1"/>
            </p:cNvSpPr>
            <p:nvPr/>
          </p:nvSpPr>
          <p:spPr bwMode="auto">
            <a:xfrm>
              <a:off x="2616" y="1248"/>
              <a:ext cx="6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t>f</a:t>
              </a:r>
              <a:r>
                <a:rPr lang="en-US" altLang="en-US"/>
                <a:t>1 </a:t>
              </a:r>
              <a:r>
                <a:rPr lang="en-US" altLang="en-US">
                  <a:latin typeface="Arial"/>
                </a:rPr>
                <a:t>…</a:t>
              </a:r>
              <a:r>
                <a:rPr lang="en-US" altLang="en-US"/>
                <a:t> </a:t>
              </a:r>
              <a:r>
                <a:rPr lang="en-US" altLang="en-US" sz="2400"/>
                <a:t>f</a:t>
              </a:r>
              <a:r>
                <a:rPr lang="en-US" altLang="en-US"/>
                <a:t>n</a:t>
              </a:r>
            </a:p>
          </p:txBody>
        </p:sp>
        <p:sp>
          <p:nvSpPr>
            <p:cNvPr id="3211276" name="Line 12"/>
            <p:cNvSpPr>
              <a:spLocks noChangeShapeType="1"/>
            </p:cNvSpPr>
            <p:nvPr/>
          </p:nvSpPr>
          <p:spPr bwMode="auto">
            <a:xfrm>
              <a:off x="4464" y="1488"/>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77" name="Text Box 13"/>
            <p:cNvSpPr txBox="1">
              <a:spLocks noChangeArrowheads="1"/>
            </p:cNvSpPr>
            <p:nvPr/>
          </p:nvSpPr>
          <p:spPr bwMode="auto">
            <a:xfrm>
              <a:off x="4760" y="1369"/>
              <a:ext cx="6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output</a:t>
              </a:r>
            </a:p>
          </p:txBody>
        </p:sp>
      </p:grpSp>
      <p:grpSp>
        <p:nvGrpSpPr>
          <p:cNvPr id="3211324" name="Group 60"/>
          <p:cNvGrpSpPr>
            <a:grpSpLocks/>
          </p:cNvGrpSpPr>
          <p:nvPr/>
        </p:nvGrpSpPr>
        <p:grpSpPr bwMode="auto">
          <a:xfrm>
            <a:off x="5854700" y="1219200"/>
            <a:ext cx="1919288" cy="1052513"/>
            <a:chOff x="3408" y="624"/>
            <a:chExt cx="1209" cy="663"/>
          </a:xfrm>
        </p:grpSpPr>
        <p:sp>
          <p:nvSpPr>
            <p:cNvPr id="3211279" name="Freeform 15"/>
            <p:cNvSpPr>
              <a:spLocks/>
            </p:cNvSpPr>
            <p:nvPr/>
          </p:nvSpPr>
          <p:spPr bwMode="auto">
            <a:xfrm>
              <a:off x="3626" y="834"/>
              <a:ext cx="537" cy="357"/>
            </a:xfrm>
            <a:custGeom>
              <a:avLst/>
              <a:gdLst>
                <a:gd name="T0" fmla="*/ 0 w 1489"/>
                <a:gd name="T1" fmla="*/ 0 h 1083"/>
                <a:gd name="T2" fmla="*/ 107 w 1489"/>
                <a:gd name="T3" fmla="*/ 0 h 1083"/>
                <a:gd name="T4" fmla="*/ 769 w 1489"/>
                <a:gd name="T5" fmla="*/ 27 h 1083"/>
                <a:gd name="T6" fmla="*/ 1105 w 1489"/>
                <a:gd name="T7" fmla="*/ 411 h 1083"/>
                <a:gd name="T8" fmla="*/ 1489 w 1489"/>
                <a:gd name="T9" fmla="*/ 363 h 1083"/>
                <a:gd name="T10" fmla="*/ 1057 w 1489"/>
                <a:gd name="T11" fmla="*/ 1083 h 1083"/>
                <a:gd name="T12" fmla="*/ 1 w 1489"/>
                <a:gd name="T13" fmla="*/ 1083 h 1083"/>
                <a:gd name="T14" fmla="*/ 0 w 1489"/>
                <a:gd name="T15" fmla="*/ 0 h 10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9" h="1083">
                  <a:moveTo>
                    <a:pt x="0" y="0"/>
                  </a:moveTo>
                  <a:cubicBezTo>
                    <a:pt x="36" y="0"/>
                    <a:pt x="71" y="0"/>
                    <a:pt x="107" y="0"/>
                  </a:cubicBezTo>
                  <a:lnTo>
                    <a:pt x="769" y="27"/>
                  </a:lnTo>
                  <a:lnTo>
                    <a:pt x="1105" y="411"/>
                  </a:lnTo>
                  <a:lnTo>
                    <a:pt x="1489" y="363"/>
                  </a:lnTo>
                  <a:lnTo>
                    <a:pt x="1057" y="1083"/>
                  </a:lnTo>
                  <a:lnTo>
                    <a:pt x="1" y="1083"/>
                  </a:lnTo>
                  <a:lnTo>
                    <a:pt x="0" y="0"/>
                  </a:lnTo>
                  <a:close/>
                </a:path>
              </a:pathLst>
            </a:custGeom>
            <a:solidFill>
              <a:srgbClr val="00CC66"/>
            </a:solidFill>
            <a:ln w="12700" cap="sq" cmpd="sng">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80" name="Rectangle 16"/>
            <p:cNvSpPr>
              <a:spLocks noChangeArrowheads="1"/>
            </p:cNvSpPr>
            <p:nvPr/>
          </p:nvSpPr>
          <p:spPr bwMode="auto">
            <a:xfrm>
              <a:off x="3688" y="1061"/>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1" name="Rectangle 17"/>
            <p:cNvSpPr>
              <a:spLocks noChangeArrowheads="1"/>
            </p:cNvSpPr>
            <p:nvPr/>
          </p:nvSpPr>
          <p:spPr bwMode="auto">
            <a:xfrm>
              <a:off x="3646" y="1110"/>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2" name="Rectangle 18"/>
            <p:cNvSpPr>
              <a:spLocks noChangeArrowheads="1"/>
            </p:cNvSpPr>
            <p:nvPr/>
          </p:nvSpPr>
          <p:spPr bwMode="auto">
            <a:xfrm>
              <a:off x="3729" y="1110"/>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3" name="Rectangle 19"/>
            <p:cNvSpPr>
              <a:spLocks noChangeArrowheads="1"/>
            </p:cNvSpPr>
            <p:nvPr/>
          </p:nvSpPr>
          <p:spPr bwMode="auto">
            <a:xfrm>
              <a:off x="3771" y="1061"/>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4" name="Oval 20"/>
            <p:cNvSpPr>
              <a:spLocks noChangeArrowheads="1"/>
            </p:cNvSpPr>
            <p:nvPr/>
          </p:nvSpPr>
          <p:spPr bwMode="auto">
            <a:xfrm>
              <a:off x="4100" y="1110"/>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5" name="Oval 21"/>
            <p:cNvSpPr>
              <a:spLocks noChangeArrowheads="1"/>
            </p:cNvSpPr>
            <p:nvPr/>
          </p:nvSpPr>
          <p:spPr bwMode="auto">
            <a:xfrm>
              <a:off x="4142" y="1142"/>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6" name="Oval 22"/>
            <p:cNvSpPr>
              <a:spLocks noChangeArrowheads="1"/>
            </p:cNvSpPr>
            <p:nvPr/>
          </p:nvSpPr>
          <p:spPr bwMode="auto">
            <a:xfrm>
              <a:off x="4121" y="1028"/>
              <a:ext cx="42"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7" name="Oval 23"/>
            <p:cNvSpPr>
              <a:spLocks noChangeArrowheads="1"/>
            </p:cNvSpPr>
            <p:nvPr/>
          </p:nvSpPr>
          <p:spPr bwMode="auto">
            <a:xfrm>
              <a:off x="4265" y="996"/>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8" name="Oval 24"/>
            <p:cNvSpPr>
              <a:spLocks noChangeArrowheads="1"/>
            </p:cNvSpPr>
            <p:nvPr/>
          </p:nvSpPr>
          <p:spPr bwMode="auto">
            <a:xfrm>
              <a:off x="4163" y="980"/>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89" name="Rectangle 25"/>
            <p:cNvSpPr>
              <a:spLocks noChangeArrowheads="1"/>
            </p:cNvSpPr>
            <p:nvPr/>
          </p:nvSpPr>
          <p:spPr bwMode="auto">
            <a:xfrm>
              <a:off x="3832" y="1126"/>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0" name="Rectangle 26"/>
            <p:cNvSpPr>
              <a:spLocks noChangeArrowheads="1"/>
            </p:cNvSpPr>
            <p:nvPr/>
          </p:nvSpPr>
          <p:spPr bwMode="auto">
            <a:xfrm>
              <a:off x="3750" y="1012"/>
              <a:ext cx="41" cy="33"/>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1" name="Oval 27"/>
            <p:cNvSpPr>
              <a:spLocks noChangeArrowheads="1"/>
            </p:cNvSpPr>
            <p:nvPr/>
          </p:nvSpPr>
          <p:spPr bwMode="auto">
            <a:xfrm>
              <a:off x="3997" y="818"/>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2" name="Oval 28"/>
            <p:cNvSpPr>
              <a:spLocks noChangeArrowheads="1"/>
            </p:cNvSpPr>
            <p:nvPr/>
          </p:nvSpPr>
          <p:spPr bwMode="auto">
            <a:xfrm>
              <a:off x="4039" y="850"/>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3" name="Oval 29"/>
            <p:cNvSpPr>
              <a:spLocks noChangeArrowheads="1"/>
            </p:cNvSpPr>
            <p:nvPr/>
          </p:nvSpPr>
          <p:spPr bwMode="auto">
            <a:xfrm>
              <a:off x="4060" y="899"/>
              <a:ext cx="40"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4" name="Oval 30"/>
            <p:cNvSpPr>
              <a:spLocks noChangeArrowheads="1"/>
            </p:cNvSpPr>
            <p:nvPr/>
          </p:nvSpPr>
          <p:spPr bwMode="auto">
            <a:xfrm>
              <a:off x="3977" y="882"/>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5" name="Oval 31"/>
            <p:cNvSpPr>
              <a:spLocks noChangeArrowheads="1"/>
            </p:cNvSpPr>
            <p:nvPr/>
          </p:nvSpPr>
          <p:spPr bwMode="auto">
            <a:xfrm>
              <a:off x="4060" y="1158"/>
              <a:ext cx="40"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6" name="Freeform 32"/>
            <p:cNvSpPr>
              <a:spLocks/>
            </p:cNvSpPr>
            <p:nvPr/>
          </p:nvSpPr>
          <p:spPr bwMode="auto">
            <a:xfrm>
              <a:off x="3523" y="801"/>
              <a:ext cx="866" cy="422"/>
            </a:xfrm>
            <a:custGeom>
              <a:avLst/>
              <a:gdLst>
                <a:gd name="T0" fmla="*/ 0 w 2016"/>
                <a:gd name="T1" fmla="*/ 0 h 1248"/>
                <a:gd name="T2" fmla="*/ 0 w 2016"/>
                <a:gd name="T3" fmla="*/ 1248 h 1248"/>
                <a:gd name="T4" fmla="*/ 2016 w 2016"/>
                <a:gd name="T5" fmla="*/ 1248 h 1248"/>
              </a:gdLst>
              <a:ahLst/>
              <a:cxnLst>
                <a:cxn ang="0">
                  <a:pos x="T0" y="T1"/>
                </a:cxn>
                <a:cxn ang="0">
                  <a:pos x="T2" y="T3"/>
                </a:cxn>
                <a:cxn ang="0">
                  <a:pos x="T4" y="T5"/>
                </a:cxn>
              </a:cxnLst>
              <a:rect l="0" t="0" r="r" b="b"/>
              <a:pathLst>
                <a:path w="2016" h="1248">
                  <a:moveTo>
                    <a:pt x="0" y="0"/>
                  </a:moveTo>
                  <a:lnTo>
                    <a:pt x="0" y="1248"/>
                  </a:lnTo>
                  <a:lnTo>
                    <a:pt x="2016" y="1248"/>
                  </a:lnTo>
                </a:path>
              </a:pathLst>
            </a:custGeom>
            <a:noFill/>
            <a:ln w="38100" cap="sq" cmpd="sng">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297" name="Rectangle 33"/>
            <p:cNvSpPr>
              <a:spLocks noChangeArrowheads="1"/>
            </p:cNvSpPr>
            <p:nvPr/>
          </p:nvSpPr>
          <p:spPr bwMode="auto">
            <a:xfrm>
              <a:off x="3750" y="915"/>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8" name="Rectangle 34"/>
            <p:cNvSpPr>
              <a:spLocks noChangeArrowheads="1"/>
            </p:cNvSpPr>
            <p:nvPr/>
          </p:nvSpPr>
          <p:spPr bwMode="auto">
            <a:xfrm>
              <a:off x="3709" y="964"/>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299" name="Rectangle 35"/>
            <p:cNvSpPr>
              <a:spLocks noChangeArrowheads="1"/>
            </p:cNvSpPr>
            <p:nvPr/>
          </p:nvSpPr>
          <p:spPr bwMode="auto">
            <a:xfrm>
              <a:off x="3791" y="964"/>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0" name="Rectangle 36"/>
            <p:cNvSpPr>
              <a:spLocks noChangeArrowheads="1"/>
            </p:cNvSpPr>
            <p:nvPr/>
          </p:nvSpPr>
          <p:spPr bwMode="auto">
            <a:xfrm>
              <a:off x="3832" y="915"/>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1" name="Rectangle 37"/>
            <p:cNvSpPr>
              <a:spLocks noChangeArrowheads="1"/>
            </p:cNvSpPr>
            <p:nvPr/>
          </p:nvSpPr>
          <p:spPr bwMode="auto">
            <a:xfrm>
              <a:off x="3709" y="850"/>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2" name="Rectangle 38"/>
            <p:cNvSpPr>
              <a:spLocks noChangeArrowheads="1"/>
            </p:cNvSpPr>
            <p:nvPr/>
          </p:nvSpPr>
          <p:spPr bwMode="auto">
            <a:xfrm>
              <a:off x="3812" y="866"/>
              <a:ext cx="41" cy="33"/>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3" name="Rectangle 39"/>
            <p:cNvSpPr>
              <a:spLocks noChangeArrowheads="1"/>
            </p:cNvSpPr>
            <p:nvPr/>
          </p:nvSpPr>
          <p:spPr bwMode="auto">
            <a:xfrm>
              <a:off x="3977" y="1061"/>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4" name="Rectangle 40"/>
            <p:cNvSpPr>
              <a:spLocks noChangeArrowheads="1"/>
            </p:cNvSpPr>
            <p:nvPr/>
          </p:nvSpPr>
          <p:spPr bwMode="auto">
            <a:xfrm>
              <a:off x="3915" y="1110"/>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5" name="Rectangle 41"/>
            <p:cNvSpPr>
              <a:spLocks noChangeArrowheads="1"/>
            </p:cNvSpPr>
            <p:nvPr/>
          </p:nvSpPr>
          <p:spPr bwMode="auto">
            <a:xfrm>
              <a:off x="3895" y="1061"/>
              <a:ext cx="40"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6" name="Rectangle 42"/>
            <p:cNvSpPr>
              <a:spLocks noChangeArrowheads="1"/>
            </p:cNvSpPr>
            <p:nvPr/>
          </p:nvSpPr>
          <p:spPr bwMode="auto">
            <a:xfrm>
              <a:off x="3935" y="1012"/>
              <a:ext cx="42" cy="33"/>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7" name="Rectangle 43"/>
            <p:cNvSpPr>
              <a:spLocks noChangeArrowheads="1"/>
            </p:cNvSpPr>
            <p:nvPr/>
          </p:nvSpPr>
          <p:spPr bwMode="auto">
            <a:xfrm>
              <a:off x="3832" y="1045"/>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8" name="Rectangle 44"/>
            <p:cNvSpPr>
              <a:spLocks noChangeArrowheads="1"/>
            </p:cNvSpPr>
            <p:nvPr/>
          </p:nvSpPr>
          <p:spPr bwMode="auto">
            <a:xfrm>
              <a:off x="3915" y="964"/>
              <a:ext cx="41"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09" name="Oval 45"/>
            <p:cNvSpPr>
              <a:spLocks noChangeArrowheads="1"/>
            </p:cNvSpPr>
            <p:nvPr/>
          </p:nvSpPr>
          <p:spPr bwMode="auto">
            <a:xfrm>
              <a:off x="4142" y="866"/>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0" name="Oval 46"/>
            <p:cNvSpPr>
              <a:spLocks noChangeArrowheads="1"/>
            </p:cNvSpPr>
            <p:nvPr/>
          </p:nvSpPr>
          <p:spPr bwMode="auto">
            <a:xfrm>
              <a:off x="4183" y="899"/>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1" name="Oval 47"/>
            <p:cNvSpPr>
              <a:spLocks noChangeArrowheads="1"/>
            </p:cNvSpPr>
            <p:nvPr/>
          </p:nvSpPr>
          <p:spPr bwMode="auto">
            <a:xfrm>
              <a:off x="4224" y="931"/>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2" name="Oval 48"/>
            <p:cNvSpPr>
              <a:spLocks noChangeArrowheads="1"/>
            </p:cNvSpPr>
            <p:nvPr/>
          </p:nvSpPr>
          <p:spPr bwMode="auto">
            <a:xfrm>
              <a:off x="3935" y="834"/>
              <a:ext cx="42"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3" name="Oval 49"/>
            <p:cNvSpPr>
              <a:spLocks noChangeArrowheads="1"/>
            </p:cNvSpPr>
            <p:nvPr/>
          </p:nvSpPr>
          <p:spPr bwMode="auto">
            <a:xfrm>
              <a:off x="4265" y="882"/>
              <a:ext cx="42"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4" name="Oval 50"/>
            <p:cNvSpPr>
              <a:spLocks noChangeArrowheads="1"/>
            </p:cNvSpPr>
            <p:nvPr/>
          </p:nvSpPr>
          <p:spPr bwMode="auto">
            <a:xfrm>
              <a:off x="4183" y="1028"/>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5" name="Oval 51"/>
            <p:cNvSpPr>
              <a:spLocks noChangeArrowheads="1"/>
            </p:cNvSpPr>
            <p:nvPr/>
          </p:nvSpPr>
          <p:spPr bwMode="auto">
            <a:xfrm>
              <a:off x="4224" y="1061"/>
              <a:ext cx="41" cy="32"/>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6" name="Oval 52"/>
            <p:cNvSpPr>
              <a:spLocks noChangeArrowheads="1"/>
            </p:cNvSpPr>
            <p:nvPr/>
          </p:nvSpPr>
          <p:spPr bwMode="auto">
            <a:xfrm>
              <a:off x="4265" y="1093"/>
              <a:ext cx="42"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7" name="Oval 53"/>
            <p:cNvSpPr>
              <a:spLocks noChangeArrowheads="1"/>
            </p:cNvSpPr>
            <p:nvPr/>
          </p:nvSpPr>
          <p:spPr bwMode="auto">
            <a:xfrm>
              <a:off x="4163" y="1093"/>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8" name="Oval 54"/>
            <p:cNvSpPr>
              <a:spLocks noChangeArrowheads="1"/>
            </p:cNvSpPr>
            <p:nvPr/>
          </p:nvSpPr>
          <p:spPr bwMode="auto">
            <a:xfrm>
              <a:off x="3915" y="785"/>
              <a:ext cx="41" cy="33"/>
            </a:xfrm>
            <a:prstGeom prst="ellipse">
              <a:avLst/>
            </a:prstGeom>
            <a:solidFill>
              <a:srgbClr val="FF0000"/>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19" name="Rectangle 55"/>
            <p:cNvSpPr>
              <a:spLocks noChangeArrowheads="1"/>
            </p:cNvSpPr>
            <p:nvPr/>
          </p:nvSpPr>
          <p:spPr bwMode="auto">
            <a:xfrm>
              <a:off x="4018" y="980"/>
              <a:ext cx="42" cy="32"/>
            </a:xfrm>
            <a:prstGeom prst="rect">
              <a:avLst/>
            </a:prstGeom>
            <a:solidFill>
              <a:srgbClr val="0066CC"/>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3211320" name="Text Box 56"/>
            <p:cNvSpPr txBox="1">
              <a:spLocks noChangeArrowheads="1"/>
            </p:cNvSpPr>
            <p:nvPr/>
          </p:nvSpPr>
          <p:spPr bwMode="auto">
            <a:xfrm>
              <a:off x="3408" y="624"/>
              <a:ext cx="2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r>
                <a:rPr lang="en-US" altLang="en-US" sz="1400"/>
                <a:t>1</a:t>
              </a:r>
            </a:p>
          </p:txBody>
        </p:sp>
        <p:sp>
          <p:nvSpPr>
            <p:cNvPr id="3211321" name="Text Box 57"/>
            <p:cNvSpPr txBox="1">
              <a:spLocks noChangeArrowheads="1"/>
            </p:cNvSpPr>
            <p:nvPr/>
          </p:nvSpPr>
          <p:spPr bwMode="auto">
            <a:xfrm>
              <a:off x="4368" y="1056"/>
              <a:ext cx="24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f</a:t>
              </a:r>
              <a:r>
                <a:rPr lang="en-US" altLang="en-US" sz="1400"/>
                <a:t> 2</a:t>
              </a:r>
            </a:p>
          </p:txBody>
        </p:sp>
      </p:grpSp>
      <p:sp>
        <p:nvSpPr>
          <p:cNvPr id="3211339" name="Text Box 75"/>
          <p:cNvSpPr txBox="1">
            <a:spLocks noChangeArrowheads="1"/>
          </p:cNvSpPr>
          <p:nvPr/>
        </p:nvSpPr>
        <p:spPr bwMode="auto">
          <a:xfrm>
            <a:off x="8394700" y="4738688"/>
            <a:ext cx="977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t>output</a:t>
            </a:r>
          </a:p>
        </p:txBody>
      </p:sp>
      <p:grpSp>
        <p:nvGrpSpPr>
          <p:cNvPr id="3211347" name="Group 83"/>
          <p:cNvGrpSpPr>
            <a:grpSpLocks/>
          </p:cNvGrpSpPr>
          <p:nvPr/>
        </p:nvGrpSpPr>
        <p:grpSpPr bwMode="auto">
          <a:xfrm>
            <a:off x="1484062" y="4375150"/>
            <a:ext cx="6958263" cy="1143000"/>
            <a:chOff x="876" y="2784"/>
            <a:chExt cx="4164" cy="672"/>
          </a:xfrm>
        </p:grpSpPr>
        <p:sp>
          <p:nvSpPr>
            <p:cNvPr id="3211332" name="Line 68"/>
            <p:cNvSpPr>
              <a:spLocks noChangeShapeType="1"/>
            </p:cNvSpPr>
            <p:nvPr/>
          </p:nvSpPr>
          <p:spPr bwMode="auto">
            <a:xfrm>
              <a:off x="912" y="3128"/>
              <a:ext cx="33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333" name="Rectangle 69"/>
            <p:cNvSpPr>
              <a:spLocks noChangeArrowheads="1"/>
            </p:cNvSpPr>
            <p:nvPr/>
          </p:nvSpPr>
          <p:spPr bwMode="auto">
            <a:xfrm>
              <a:off x="1248" y="2784"/>
              <a:ext cx="3504" cy="672"/>
            </a:xfrm>
            <a:prstGeom prst="rect">
              <a:avLst/>
            </a:prstGeom>
            <a:solidFill>
              <a:schemeClr val="accent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1600"/>
            </a:p>
          </p:txBody>
        </p:sp>
        <p:sp>
          <p:nvSpPr>
            <p:cNvPr id="3211334" name="Line 70"/>
            <p:cNvSpPr>
              <a:spLocks noChangeShapeType="1"/>
            </p:cNvSpPr>
            <p:nvPr/>
          </p:nvSpPr>
          <p:spPr bwMode="auto">
            <a:xfrm flipV="1">
              <a:off x="3584" y="3120"/>
              <a:ext cx="9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335" name="Rectangle 71"/>
            <p:cNvSpPr>
              <a:spLocks noChangeArrowheads="1"/>
            </p:cNvSpPr>
            <p:nvPr/>
          </p:nvSpPr>
          <p:spPr bwMode="auto">
            <a:xfrm>
              <a:off x="1328" y="2936"/>
              <a:ext cx="776" cy="384"/>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r>
                <a:rPr lang="en-US" altLang="ko-KR" sz="1600">
                  <a:solidFill>
                    <a:schemeClr val="tx1"/>
                  </a:solidFill>
                </a:rPr>
                <a:t>Feature extraction</a:t>
              </a:r>
            </a:p>
          </p:txBody>
        </p:sp>
        <p:sp>
          <p:nvSpPr>
            <p:cNvPr id="3211336" name="Text Box 72"/>
            <p:cNvSpPr txBox="1">
              <a:spLocks noChangeArrowheads="1"/>
            </p:cNvSpPr>
            <p:nvPr/>
          </p:nvSpPr>
          <p:spPr bwMode="auto">
            <a:xfrm>
              <a:off x="876" y="2905"/>
              <a:ext cx="480"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t>Input</a:t>
              </a:r>
            </a:p>
          </p:txBody>
        </p:sp>
        <p:sp>
          <p:nvSpPr>
            <p:cNvPr id="3211338" name="Line 74"/>
            <p:cNvSpPr>
              <a:spLocks noChangeShapeType="1"/>
            </p:cNvSpPr>
            <p:nvPr/>
          </p:nvSpPr>
          <p:spPr bwMode="auto">
            <a:xfrm>
              <a:off x="4760" y="3120"/>
              <a:ext cx="280"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11340" name="Rectangle 76"/>
            <p:cNvSpPr>
              <a:spLocks noChangeArrowheads="1"/>
            </p:cNvSpPr>
            <p:nvPr/>
          </p:nvSpPr>
          <p:spPr bwMode="auto">
            <a:xfrm>
              <a:off x="2264" y="2936"/>
              <a:ext cx="1296" cy="384"/>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pPr algn="ctr"/>
              <a:r>
                <a:rPr lang="en-US" altLang="ko-KR" sz="1600">
                  <a:solidFill>
                    <a:schemeClr val="tx1"/>
                  </a:solidFill>
                </a:rPr>
                <a:t>Shift and distortion invariance</a:t>
              </a:r>
            </a:p>
          </p:txBody>
        </p:sp>
        <p:sp>
          <p:nvSpPr>
            <p:cNvPr id="3211343" name="Rectangle 79"/>
            <p:cNvSpPr>
              <a:spLocks noChangeArrowheads="1"/>
            </p:cNvSpPr>
            <p:nvPr/>
          </p:nvSpPr>
          <p:spPr bwMode="auto">
            <a:xfrm>
              <a:off x="3696" y="2928"/>
              <a:ext cx="960" cy="384"/>
            </a:xfrm>
            <a:prstGeom prst="rect">
              <a:avLst/>
            </a:prstGeom>
            <a:solidFill>
              <a:srgbClr val="C0C0C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dist">
                <a:defRPr kumimoji="1" sz="2800">
                  <a:solidFill>
                    <a:srgbClr val="CCFF33"/>
                  </a:solidFill>
                  <a:latin typeface="Century Gothic" pitchFamily="34" charset="0"/>
                  <a:ea typeface="굴림" pitchFamily="50" charset="-127"/>
                </a:defRPr>
              </a:lvl1pPr>
              <a:lvl2pPr algn="dist">
                <a:defRPr kumimoji="1" sz="2800">
                  <a:solidFill>
                    <a:srgbClr val="CCFF33"/>
                  </a:solidFill>
                  <a:latin typeface="Century Gothic" pitchFamily="34" charset="0"/>
                  <a:ea typeface="굴림" pitchFamily="50" charset="-127"/>
                </a:defRPr>
              </a:lvl2pPr>
              <a:lvl3pPr algn="dist">
                <a:defRPr kumimoji="1" sz="2800">
                  <a:solidFill>
                    <a:srgbClr val="CCFF33"/>
                  </a:solidFill>
                  <a:latin typeface="Century Gothic" pitchFamily="34" charset="0"/>
                  <a:ea typeface="굴림" pitchFamily="50" charset="-127"/>
                </a:defRPr>
              </a:lvl3pPr>
              <a:lvl4pPr algn="dist">
                <a:defRPr kumimoji="1" sz="2800">
                  <a:solidFill>
                    <a:srgbClr val="CCFF33"/>
                  </a:solidFill>
                  <a:latin typeface="Century Gothic" pitchFamily="34" charset="0"/>
                  <a:ea typeface="굴림" pitchFamily="50" charset="-127"/>
                </a:defRPr>
              </a:lvl4pPr>
              <a:lvl5pPr algn="dist">
                <a:defRPr kumimoji="1" sz="2800">
                  <a:solidFill>
                    <a:srgbClr val="CCFF33"/>
                  </a:solidFill>
                  <a:latin typeface="Century Gothic" pitchFamily="34" charset="0"/>
                  <a:ea typeface="굴림" pitchFamily="50" charset="-127"/>
                </a:defRPr>
              </a:lvl5pPr>
              <a:lvl6pPr marL="457200" algn="dist" fontAlgn="base" latinLnBrk="1">
                <a:spcBef>
                  <a:spcPct val="0"/>
                </a:spcBef>
                <a:spcAft>
                  <a:spcPct val="0"/>
                </a:spcAft>
                <a:defRPr kumimoji="1" sz="2800">
                  <a:solidFill>
                    <a:srgbClr val="CCFF33"/>
                  </a:solidFill>
                  <a:latin typeface="Century Gothic" pitchFamily="34" charset="0"/>
                  <a:ea typeface="굴림" pitchFamily="50" charset="-127"/>
                </a:defRPr>
              </a:lvl6pPr>
              <a:lvl7pPr marL="914400" algn="dist" fontAlgn="base" latinLnBrk="1">
                <a:spcBef>
                  <a:spcPct val="0"/>
                </a:spcBef>
                <a:spcAft>
                  <a:spcPct val="0"/>
                </a:spcAft>
                <a:defRPr kumimoji="1" sz="2800">
                  <a:solidFill>
                    <a:srgbClr val="CCFF33"/>
                  </a:solidFill>
                  <a:latin typeface="Century Gothic" pitchFamily="34" charset="0"/>
                  <a:ea typeface="굴림" pitchFamily="50" charset="-127"/>
                </a:defRPr>
              </a:lvl7pPr>
              <a:lvl8pPr marL="1371600" algn="dist" fontAlgn="base" latinLnBrk="1">
                <a:spcBef>
                  <a:spcPct val="0"/>
                </a:spcBef>
                <a:spcAft>
                  <a:spcPct val="0"/>
                </a:spcAft>
                <a:defRPr kumimoji="1" sz="2800">
                  <a:solidFill>
                    <a:srgbClr val="CCFF33"/>
                  </a:solidFill>
                  <a:latin typeface="Century Gothic" pitchFamily="34" charset="0"/>
                  <a:ea typeface="굴림" pitchFamily="50" charset="-127"/>
                </a:defRPr>
              </a:lvl8pPr>
              <a:lvl9pPr marL="1828800" algn="dist" fontAlgn="base" latinLnBrk="1">
                <a:spcBef>
                  <a:spcPct val="0"/>
                </a:spcBef>
                <a:spcAft>
                  <a:spcPct val="0"/>
                </a:spcAft>
                <a:defRPr kumimoji="1" sz="2800">
                  <a:solidFill>
                    <a:srgbClr val="CCFF33"/>
                  </a:solidFill>
                  <a:latin typeface="Century Gothic" pitchFamily="34" charset="0"/>
                  <a:ea typeface="굴림" pitchFamily="50" charset="-127"/>
                </a:defRPr>
              </a:lvl9pPr>
            </a:lstStyle>
            <a:p>
              <a:r>
                <a:rPr lang="en-US" altLang="ko-KR" sz="1600">
                  <a:solidFill>
                    <a:schemeClr val="tx1"/>
                  </a:solidFill>
                </a:rPr>
                <a:t>classification</a:t>
              </a:r>
            </a:p>
          </p:txBody>
        </p:sp>
        <p:sp>
          <p:nvSpPr>
            <p:cNvPr id="3211346" name="Line 82"/>
            <p:cNvSpPr>
              <a:spLocks noChangeShapeType="1"/>
            </p:cNvSpPr>
            <p:nvPr/>
          </p:nvSpPr>
          <p:spPr bwMode="auto">
            <a:xfrm flipV="1">
              <a:off x="2144" y="3120"/>
              <a:ext cx="96" cy="0"/>
            </a:xfrm>
            <a:prstGeom prst="line">
              <a:avLst/>
            </a:prstGeom>
            <a:noFill/>
            <a:ln w="28575"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Tree>
    <p:extLst>
      <p:ext uri="{BB962C8B-B14F-4D97-AF65-F5344CB8AC3E}">
        <p14:creationId xmlns:p14="http://schemas.microsoft.com/office/powerpoint/2010/main" val="22785096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470804"/>
            <a:ext cx="7486507" cy="595996"/>
          </a:xfrm>
        </p:spPr>
        <p:txBody>
          <a:bodyPr/>
          <a:lstStyle/>
          <a:p>
            <a:r>
              <a:rPr lang="en-GB" dirty="0"/>
              <a:t>CNN by Example</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altLang="zh-TW" dirty="0">
                <a:ea typeface="ＭＳ Ｐゴシック" pitchFamily="34" charset="-128"/>
              </a:rPr>
              <a:t>Some patterns are much smaller than the whole image</a:t>
            </a:r>
            <a:endParaRPr lang="zh-TW" altLang="en-US" dirty="0">
              <a:ea typeface="ＭＳ Ｐゴシック" pitchFamily="34" charset="-128"/>
            </a:endParaRPr>
          </a:p>
          <a:p>
            <a:endParaRPr lang="en-GB" dirty="0"/>
          </a:p>
        </p:txBody>
      </p:sp>
      <p:pic>
        <p:nvPicPr>
          <p:cNvPr id="4" name="Picture 4" descr="https://upload.wikimedia.org/wikipedia/commons/5/5e/Silverbird_in_Murchison_Falls_National_Park,_Ugand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350" y="3511265"/>
            <a:ext cx="248602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圖片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46613" y="3557303"/>
            <a:ext cx="1296987" cy="1139825"/>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6" name="圖片 1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49963" y="3474753"/>
            <a:ext cx="2151062"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圓角矩形圖說文字 42"/>
          <p:cNvSpPr/>
          <p:nvPr/>
        </p:nvSpPr>
        <p:spPr>
          <a:xfrm>
            <a:off x="6724650" y="4686015"/>
            <a:ext cx="2422525" cy="601663"/>
          </a:xfrm>
          <a:prstGeom prst="wedgeRoundRectCallout">
            <a:avLst>
              <a:gd name="adj1" fmla="val -16286"/>
              <a:gd name="adj2" fmla="val -92191"/>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a:t>
            </a:r>
            <a:r>
              <a:rPr lang="en-US" altLang="zh-TW">
                <a:solidFill>
                  <a:srgbClr val="FF0000"/>
                </a:solidFill>
              </a:rPr>
              <a:t>beak</a:t>
            </a:r>
            <a:r>
              <a:rPr lang="en-US" altLang="zh-TW">
                <a:solidFill>
                  <a:srgbClr val="000000"/>
                </a:solidFill>
              </a:rPr>
              <a:t>”</a:t>
            </a:r>
            <a:r>
              <a:rPr lang="zh-TW" altLang="en-US">
                <a:solidFill>
                  <a:srgbClr val="000000"/>
                </a:solidFill>
              </a:rPr>
              <a:t> </a:t>
            </a:r>
            <a:r>
              <a:rPr lang="en-US" altLang="zh-TW">
                <a:solidFill>
                  <a:srgbClr val="000000"/>
                </a:solidFill>
              </a:rPr>
              <a:t>detector</a:t>
            </a:r>
            <a:endParaRPr lang="zh-TW" altLang="en-US">
              <a:solidFill>
                <a:srgbClr val="000000"/>
              </a:solidFill>
            </a:endParaRPr>
          </a:p>
        </p:txBody>
      </p:sp>
      <p:sp>
        <p:nvSpPr>
          <p:cNvPr id="8" name="矩形 43"/>
          <p:cNvSpPr/>
          <p:nvPr/>
        </p:nvSpPr>
        <p:spPr>
          <a:xfrm>
            <a:off x="2025650" y="3557303"/>
            <a:ext cx="406400" cy="3794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cxnSp>
        <p:nvCxnSpPr>
          <p:cNvPr id="9" name="直線單箭頭接點 45"/>
          <p:cNvCxnSpPr>
            <a:stCxn id="8" idx="3"/>
            <a:endCxn id="5" idx="1"/>
          </p:cNvCxnSpPr>
          <p:nvPr/>
        </p:nvCxnSpPr>
        <p:spPr>
          <a:xfrm>
            <a:off x="2432050" y="3746215"/>
            <a:ext cx="2214563" cy="3810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文字方塊 48"/>
          <p:cNvSpPr txBox="1"/>
          <p:nvPr/>
        </p:nvSpPr>
        <p:spPr>
          <a:xfrm>
            <a:off x="1695450" y="2455293"/>
            <a:ext cx="7391400" cy="461665"/>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solidFill>
                  <a:srgbClr val="FF0000"/>
                </a:solidFill>
              </a:rPr>
              <a:t>Can represent a small region with fewer parameters</a:t>
            </a:r>
            <a:endParaRPr lang="zh-TW" altLang="en-US" dirty="0">
              <a:solidFill>
                <a:srgbClr val="FF0000"/>
              </a:solidFill>
            </a:endParaRPr>
          </a:p>
        </p:txBody>
      </p:sp>
    </p:spTree>
    <p:extLst>
      <p:ext uri="{BB962C8B-B14F-4D97-AF65-F5344CB8AC3E}">
        <p14:creationId xmlns:p14="http://schemas.microsoft.com/office/powerpoint/2010/main" val="2140076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all4desktop.com/data_images/original/4244361-bir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7995" y="4476750"/>
            <a:ext cx="2486025" cy="179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標題 1"/>
          <p:cNvSpPr>
            <a:spLocks noGrp="1"/>
          </p:cNvSpPr>
          <p:nvPr>
            <p:ph type="title"/>
          </p:nvPr>
        </p:nvSpPr>
        <p:spPr>
          <a:xfrm>
            <a:off x="1695450" y="365125"/>
            <a:ext cx="7143750" cy="1082675"/>
          </a:xfrm>
        </p:spPr>
        <p:txBody>
          <a:bodyPr/>
          <a:lstStyle/>
          <a:p>
            <a:r>
              <a:rPr lang="en-US" altLang="zh-TW" sz="2800" dirty="0">
                <a:ea typeface="ＭＳ Ｐゴシック" pitchFamily="34" charset="-128"/>
              </a:rPr>
              <a:t>Same pattern appears in different places:</a:t>
            </a:r>
            <a:br>
              <a:rPr lang="en-US" altLang="zh-TW" sz="2800" dirty="0">
                <a:ea typeface="ＭＳ Ｐゴシック" pitchFamily="34" charset="-128"/>
              </a:rPr>
            </a:br>
            <a:r>
              <a:rPr lang="en-US" altLang="zh-TW" sz="2800" dirty="0">
                <a:ea typeface="ＭＳ Ｐゴシック" pitchFamily="34" charset="-128"/>
              </a:rPr>
              <a:t>They can be compressed!</a:t>
            </a:r>
            <a:br>
              <a:rPr lang="en-US" altLang="zh-TW" sz="2800" dirty="0">
                <a:ea typeface="ＭＳ Ｐゴシック" pitchFamily="34" charset="-128"/>
              </a:rPr>
            </a:br>
            <a:br>
              <a:rPr lang="en-US" altLang="zh-TW" sz="2400" dirty="0">
                <a:ea typeface="ＭＳ Ｐゴシック" pitchFamily="34" charset="-128"/>
              </a:rPr>
            </a:br>
            <a:r>
              <a:rPr lang="en-US" altLang="zh-TW" sz="2400" dirty="0">
                <a:solidFill>
                  <a:srgbClr val="FF0000"/>
                </a:solidFill>
                <a:ea typeface="ＭＳ Ｐゴシック" pitchFamily="34" charset="-128"/>
              </a:rPr>
              <a:t>What about training a lot of such “small” detectors and each detector must “move around”.</a:t>
            </a:r>
            <a:endParaRPr lang="zh-TW" altLang="en-US" sz="2400" dirty="0">
              <a:solidFill>
                <a:srgbClr val="FF0000"/>
              </a:solidFill>
              <a:ea typeface="ＭＳ Ｐゴシック" pitchFamily="34" charset="-128"/>
            </a:endParaRPr>
          </a:p>
        </p:txBody>
      </p:sp>
      <p:pic>
        <p:nvPicPr>
          <p:cNvPr id="7" name="Picture 4" descr="https://upload.wikimedia.org/wikipedia/commons/5/5e/Silverbird_in_Murchison_Falls_National_Park,_Ugand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7995" y="2578100"/>
            <a:ext cx="248602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AutoShape 8" descr="data:image/jpeg;base64,/9j/4AAQSkZJRgABAQAAAQABAAD/2wCEAAkGBxASEhAQDxIQDxAPDxAPEA8VFQ8QEBAQFRUWFhUVFRUYHSggGBomGxUVIjEhJSkrLi4uGB8zODMtNygtLisBCgoKDg0OFxAQGCseHx0tLS0tLSstLS0tKy0tLS0tLS0tLS0tLS0tLS0tLS0tKystLS0tKy0rLSstKystLTctLf/AABEIALUBFgMBIgACEQEDEQH/xAAbAAACAwEBAQAAAAAAAAAAAAADBAECBQAGB//EAEAQAAIBAgMFBQQHBgUFAAAAAAECAAMRBBIhBTFBUWETInGRoQYyQoEjUnKxwdHwQ2KSouHxFDNTgrIVY4PC0v/EABoBAAMBAQEBAAAAAAAAAAAAAAECAwAEBQb/xAAiEQEBAAICAgMBAQEBAAAAAAAAAQIRAxIhMQQTQVEykSL/2gAMAwEAAhEDEQA/APmaw1JIBDHsMsejBqNKaOHpwNJJoYZZy8iuMO4anNGisVoCPURFxPozSWMLAJO7Zb5bi/LjL4gYvBu8gtBO8tC2KO8ETId5TNE5KMi0uBKCXUThzp5F1EKolFEOiyWzSLoJe0lVkkR5R0GZWEInBY/bwCBLgSVWEVYlraQJxvCBZxWJR0FOAMKEk5ZPTaAIMi0PllSs0jaCMqSYS0qRKSFsVF4QEyqiXMa4lVJlCTLmDMX69sqXtIlGkyn1M+OUWmphZj0TNXCtPSrmjWoxjDYune2YA7rHT74pQaWr4EN3l38RznPlJ+qzevD0OHYHdqPkY7RqDmPC4nikpsh0zIfEiN0sZUHvBag5OAfVbH1gnH/KP2a/Hsw0yts4E1LMu8cJm0NpgcKtPorioh/21BcfxTQo7XQ7y1+qEH+VmjXGj3lmnYTEVVUX79tGUnvDwMINpITa5U8jOp42je4ZPmch/mtBY3CK/ep2PG28fIr+cMysJuz0OWl1Mx6LZTlZjTPPePnYflHalR0sW0W1+0GtMjqN4+6LlbVMco0FhkERw+IBOU6HhxB8DNBBOLO2Xytjq+l1EOglaaw6LJbNpKiSRLgTrRpR0FaSBL5ZIWHsGkAQiiQBCKJuzacBJtLBZYLFtbSgWTlhQknJAwGSVZIzkkMkLEykGyxtkgmWUxpLAgJxhCsG8culTBMJcmUJlcShkSZJMiWgPidLfNPDNM1DG6DS9c8bCVcoBtm562tGKe0bfAD/ALv6RPDtf5zRwuAznQMOtjaRuv2KefwVdpKfepsR9pT96Sy18Md9KqDzDpbyKytTZrLxUeLUk/5MJeng13tVpL4XqH+S49ZpIG6l3oG2TOv2ireoEgpS4uQOQCmV7Onf3gBzyg39ZDNRH+o/8KiEqxpUeFZh/wCNvwlP8JSJB7RW5HJVv5lZRaqa5aRPixY/dGaDMfdpovXvHz1M2zaR2VM91nqN4io5+WcETZw+zaYCk06h0uCFCgj95GI81iefj2jZh8NNcx9J6OjWFWmtr5lH7S2cnoFInPyWz0fFirh8Kaopmi6927HvIR1Ug6esJUwWJWplw1ZHUjSlWBRvlUF1OnQT0+GoJVTKbKw0KmwJ8dxlF2CxuvaZl4ad5eitykpNz3/0/bV8MLCbUYP2OIpPRqBc17ZqZHMMLi360m0h/vwgMR7Lgm7VSMt7G/e16xGlh61Mt2L9ooa5R1K3HGxvv8JLLHV8LY5y+2yJMyqO2aege9Ing26/Rv7R9KwOoII5ggjzEXRtwacYlW2hTU5bhm+qCLjx5SlQVKg17o35b28zxjTC3yXLkkEq7URSQAzW323D5yn/AFflTPn/AEiTYcDh/eHojdaNOO30S8mjI2q/+kD8zfwhKO3af7RWp9dHX01labDc9j5CXrYOnVGWwJPEb431WTyE5Gph6yOLoytbfbh4jhD5J4xsHVoH6LeCLam9uOXkf1aeh2Ftpa/cfu1bXGlg4HLr+vCPi/5qvme2lknZIfLOKwbak2pwTU46ywbLCWkmWLVBHqoidURpSUq5g2aXqCBYS2GRKhnnSjTp0TIHxlWh6LRVTD0zOhBs4WtoADlI4jS/zjOZuJY+JJmXg7k2HX0m1gcQiENdmO6wsoPS5/KTptRCL09Ix2VrZgRxAOlx0vCNth9yhKfEWAdv4nv6WizVHZszFmY7yblvOEBwo6feZYhBwLeOUD8funU0Nrnhv3WHiToJU10BsL1DyW4X5sRc/IDxi+xWGY6KoHIWLt4gG/nYCWKqD32LN9TV28gbDzMopd+4Ot6aaAdXP4m5kjIg1K1Nd+oog8h8VQ+kFMew9Y27tkS/vaeRPu36AExnDOKbdpTyhhqzsC7ep7vpMyriMuVqpYXAyUhYVXHgNKa+vjCUy7mzBbjXsxcU6Xj9ZvXwks/R49Ls3a9EjK4AJNy92TOemUi4+U2BWY/5YOUm1yco+U8lgCiVNbs1gSxF7fgPCezNE5AzEiwvYbyOg4SOPvQ5M1sMcxz3AvfRmt5XjFTFpYWFgLAAC5t1PKZWLxzFgFp5ad7Fibm/hxjCgkZVAGbQk8BKWePBJfJ/FbPSuo3hj7qgk2HM33TzGJ9matOrl7mIRsoICsQjb9W09DaelwJKgqCQl7Fvib8pqUnAUWI/dGhyg6X8Y+E/sC15nC4N0HuooU6ZVUMovuJA70NXYqN+Zt5PcBQdTNPGkLc5SfDfPPY1iQXBIN7rdrH9dDaQ+dy3i4//AD+r/E45yZ+RWqtuYWPoRBGsQRfW+7rM/EjEMFIZcm9rjvKb7gb2sfCcXIKhtGAt03+E8vj+ZyYY63LXrZfBwzy3PDQbF6kPcX4X8pn7R2viaVGuuEY9oyXpsBd1IILWuORbWEqYog3JzHdc6AeUDUrAFWuG48j1tx87SePyeTtLT34fHqwp7K7Q2jiXc11cUAoymoDmDCwIDEXbidd01cbmp5aiWVk7y8rg3t+ucDi/aW+WnTVmfLqti5sONl38OEBX2h3clZSpbQF1emrH6t7fq48I9nLny/Zjj13+I6w48Omd3H03CVu0RKgFs6K9uVwDCMJgexu2Eq0qdFl7GsqmyE5g4G8q19SBvXh4T0bLO242Xy4Ny+i7QTRhhBMIAK1FitVI84i1URoWzZCokXqCO1BFqglMaW4lWEiWedKdw0+JrCpBKIZZ3uc1QaxBGhHGP0qx0vYzNQw9N4tGPQbPo0z36xy0weHvueSj8ZWri1B+iWy7rtZmPXpEcPiiBlIDLyO8eB4R2v2aqjLmJZQzWtZWPw3tv+USGsDdzpnY9F3t8hwhlpW989kD+zXWs46/V+dvnF6VRhcgBL/HqWt4n8LS6WXvOTTU7231W+yOHjDaEhvMW+iRQBvNIHugc6r8fDSLVccFbLQtVrHu9ra6p0pL+MXas9X6KipSmfgB1bq54wq00pDfcNpnX363NafJP3+NzbqoiYekbswYs97VcQe8c/1KZPvNzbcLac4+tXIFRAM7aheCg/Ex4mJ1q/ZqpYLnYWo0R7qLzI5f8obAIQGqVCWOhcnUkncnz+6Jf6aNvAgKV4/EWO/q56ncBPR4TEZmyqCwHvNqflrPL4N7KznViw05udw8AJv7MxBQBBvY2zDefrGQvs/4Yx2HBOa1td3FQeNuG6UpkKDf4fXoJoYEqb5gCxYHnbl6Sa2HVn4AL3j0/V5THJPKM3H4ao4SkmjN3nO7KvEX4TVwgJa40SmMq9SNCzcz/WXygjMD7wuOekZpUlRLNbXUjn+ry3aRPW2fiK2YkaHpoQB1nlvafDOoJpLlUDUkqoLE2v8Aoaz2NLKb6anXlaZm3sF2iE086VdStRWZSoAte/K14vLjOXHSnFyXjz7R5KntBsvZhDxu27NbiOko1fTvMb7vAePOZ+z2FIlDVFUj3quoJJBNiTfXfxO68HXqOSrC4GoANyTcmeDn8frncdafScfNMsJk0cTiLZQoz3sO7e5J0A03nkBNnZPsXWqkPi3NFD+yXKaxH7zahNOAufAxn2F2MBfE1Vu+YrRDAXQDRn+0bkdALDfPcUxL8fFMZ4cHP8rLK6hfZOyaGHXLh6SUgRqQO832m3sfGPlAd4vfgdRIWEEq5LXmsf7HUGbtMMzYOqCD3NaRI1F6R0BB1BXLN1Q2Vc9i2UZiNAWtrbpeMGCeHtbPJPQLCBaGaBqTbGAPFqkYqGLOYdm2WqxSpHKkUqibs2yzTpYiTN2B8SWEWUEuBPX24Vw0IjQWWWAmbZynUmlszFBKiFiMmde0uARkvroZiq0YpvEsNK3Nt1HV2y0hTVrMthmBBFwVJ0sb3uJlLSdu9UNl+s17Hw5nwj+F2zWVRTvnRRZVPAcADy6GBxFUnvK3ZMSFBVe+xPDMST5Wgg2r4qsKQ7NVysR31axY8u0HDonzPKQh7P6at36j600O9uTHkohMRhKWGtdu2rMocJayqza3fXX8YlQoPUbMdebH7v6TWRjezqL1HNVznY8Tz4DoI+9f6uqobL/3Kp+Lw5dBB1jkHYpq7Czn6qnh4kS+FsDmI7lAWUfXrHd5Sdu/J41qC2KoNezAv1qt+V5sbOGZnb4aaimp6k2vMTBtkphj7zEkdWPH5C81cGpVLDfqfSw++JINrTwdfL3zrd2CjcBbQTRxTkJWy27tJSb7t1yJkpT7tFeQv5maOKzJSqnUZ3RR4TWSNPIWCxLM4DkZVAAsLWsNfKbGHp5zmYEgbh0Eztk4Mgi/xC5Y7vAevmZ6/D4bKFFgeJ6Rddsg3qMhMCT3msO96covidlByQXKrZsyg2D6HeOImrj6tgQFJ1Nh+MSxBcIGIu1i1tyj7XpOrGaiNr5ft7ZrJXNO1kZ6YFNNS2bMzMzG5LHLv6CGxOA7JlqH3adNbAa97MBbzM6u5q11yghVObPmzEsW1/IDheejXB53ZKlrGqlkHBKf0oHmFnP8ngxzly/Y6OH5GXH4/G7syjkponEKL/a3t6kzRpmKIYwhnB6mlN7MKYS8ArS4aLthCYJjOLwbtNsLVXMA5lnaBdodjKHUMWqGEqtFajQbbalRorUMK7QLQbDak6TadMO3xREjC04SnSjdLDz17k5piUFOWFGaVPCRmngon2H6MdaBhqeHM2UwMMmC6Qfa3RlU8PGUobuhuOh5zTp4SFGFk8uQehVdlduKlTKpcEF2zZGYG+vK+g4ScUiUAq0AzlhpVbcpO/d8QmlhlZDdTYkWOgII5EGM0nQG7Uhe4uUOS/ipBB8oZzTWsmuFnp5RARcLvOrVD8PMkxjA0u0ZadO5QGy34k+8xnqtpez1OrYq7FTYgJlVNdxy2tDbM9nzRz5QTemAjmxNzv8ACPvfoGQE7SqqKO4ndX8TPQJhtw36+gjOydjdnZnFySRoL2mrQwYIDDQ8jvHyjaDaMDs+5ubALaJ+0dUFlpJYga+LGN7SxJVgifVAPjzmFUftKtIAE/TAE8NOXPjJcuWsT4Ty9mtBFCLe5UWJ6zYo7hvmHgWu2ZvdAAA3kma9OuCdBa0Tiy/WzkVq0gAWPHcOUyNrZihU7zvHC022qC9zY3HpMHaWMGZ2uLIDr13D5D8J3Y3w5rPPh5KlshqVVayEWVbZSD3SbXIA375nv7U0qNSoX75Z2AYsq8r6W/dEb9pdt5mSjRBvUfs14XY8+mhmd7V7OwlClQdkWpVTEU6uYm7sqnM91O9dLW3C4kM85b197dEw1N32c2D7f0qzslZDQuyLSIu+YscutupGo01PKe3Rp8V2ht7BYis3YYd8O9UG57mUuobs2UJ7jEsb776dZ9M9icfUr4Sk9Zg9VcyMwILHKSFLjgxAHjv4zm5+LrO0mhwy34ejDS2aDE4zkUWLQbNOMG0JKh2i9R5dzF6hmDYbtF6hl3aLu0Jbkq7Sl5VjK3m0HcSdKZp03UO75pQoR+hh5fD0Zp4ehOvLJWQCjho7Swsao0I5ToSW9mZ64WEXDdJpLQhFoTeQZy4eEGHmiKEsKM2mjN7CVNCahoyppRbDxnohG4kR2njagAF7kaZunWW7GXWjFxyynqt1gmHx9QfVN9+/X1hDj3ZiMpFrEHXK3hY+kqlGM06UtjyZFuEJsahJFjc6Zza3yF4RKIphSN6bj1IIv6x9KUtVwuYW5zW3IJ4P4NhbMeAjL1tLj+klNmoEUM1rC7HS9/znn8VjiGqgupSlkuQCcrEnf/J8zOnHDrIlb2p3ae1sik336LzJ/ITHpUquIF/8ulwudT16wOKrq5NWopCJYJTIAZrDS/JRqeevjNOgjuoU91TZmO4m+uUfr7obl/fEGax9e3ka+ysS+KDYILSSkjU/8XVAcBm3mim5mA0udNTA7Z9j++v07VahWpWq16+o7KmFOUKvMkHw08foa0gAANANAJl+0WENVEoglO3qdg9Ue9TpOjZ7dSAFHVhOf7bcv4eTw8n7E+zeFxWzqRq0lDvUrVFqrdaiNmsMrAg2FhodNIH2YYYLHtQqswNS9Gr7opZswahUUAe6ynXk1+G73ewdkJhaFPDU2ZlpAgM1sxuSTe2nGE2lsqlWsaihyivkB3BmFr3GvD1MW8m7d+ZWk8HQJxEijTIVVJLFVUFjvYgWJljOfR6EYNoVoJ5tJUBzFajRmpFKgmkTtLVGi7tDVYsxj44oZcmkEyJ0mU6JfYi86WtOm6h3eXw1KalClF8Kk0qCTWvUFo0o7SpStFI5TSCCEtKEFOHCSwSM2gBTndnGckgpNWLFJHZxkpK5YlOCKcutOFCwirFZRacOiSUWHRY0BCJCqssqwgWPAeX27UxNNAytpYDjZG/tpMfB1XWkWAzOShK6d4u4BBv9seV57naeDNWjVpje6EL9revqBPE7NqXYBu6GBQ8bWuPusYe97S2tMZqvV4DDKyrmUB1AzLvCsfeHmDH8kV2dUu7D64Z+ujW/9ppZY/L/AKT4/QGScad9CLjkdRD5ZOWS0oBklskLknZIOrBZZUiHyyjCDTFmEC4jLiBcQaTyKVBFaojlSKVRDpHIjVizRqqIuwlccXHyB2kiSBJyyvVJBnSSJMPVmPhRNSgkzsKJrYcTmr2TdJY3TWBoiOUxMZwWWCy4EsBDGDIkWhisqRNRgJWVKwxEqREsFRRCKJAEuogFdRDoINIdBGBZRCqshFhlEYEAT57tWn2OKqr8Jqll6BgCB6gT6OFnjPbvB3dWHx07qeGekbt/I38sNm40aOxWLVg3D/DW8DmH6+U37TzfsS+dWbiqKpHizf8Az909RaNnd1PGaUtOtL5ZNopg7TrQmWdlmYMiDdYwVg2WBijiAcRtxF3EBKTqCKVBHqgi1RYYjmz6qxdljtURVhLYuTOBhJJWWEmWkR0HaRCETptAxcJNfDiZGEmvhhOJ7TQoxymIrREbQQCIJYSAJaYXSpEtOh2ylpUiXMrBaMRaWAnAS6iKK6RimIFBDoI0CipDLBJCrGgCCY3tXh81DOBdsPUWsBzUd1x/AzH5TZEh1BBU6hgVI5g6Qg8X7JOKWI7Me5Wptl5Z13jyW/8Auntp87w9Xsaovf6CuGU8Sl+zqj5Xp+c+hq17Eagi4PMHjNQ/U2kyLzrwbZM6dOm2LiJRhCXg2magOIvUEZeK1DBSUs4itWNPFKsMSyKVYrUjVWKvK4ubkUEsJUS4EvEHESZxnQgxMJNfDzp04HsNGjG0kzoDCCTJnQiidOnTArInTooxYCXWTOgERYVZ06NAoqwizp0YFwZM6dMzx3tvhQmWquhctmHM91b/ADDC/wBkT0Hs7XL4aix35beRInTofwK0hOkzoGdJkTpmWg3kzoWpZ4vUnToCUtUitWROhieRSpFqk6dLYObkUEus6dLxzrGdOnTFf//Z"/>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endParaRPr lang="zh-TW" altLang="en-US" sz="1800"/>
          </a:p>
        </p:txBody>
      </p:sp>
      <p:pic>
        <p:nvPicPr>
          <p:cNvPr id="9" name="圖片 8"/>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35332" y="2868613"/>
            <a:ext cx="2151063"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雲朵形圖說文字 9"/>
          <p:cNvSpPr/>
          <p:nvPr/>
        </p:nvSpPr>
        <p:spPr>
          <a:xfrm>
            <a:off x="5764070" y="2425700"/>
            <a:ext cx="3303587" cy="952500"/>
          </a:xfrm>
          <a:prstGeom prst="cloudCallout">
            <a:avLst>
              <a:gd name="adj1" fmla="val -48303"/>
              <a:gd name="adj2" fmla="val 5589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“upper-left beak”</a:t>
            </a:r>
            <a:r>
              <a:rPr lang="zh-TW" altLang="en-US"/>
              <a:t> </a:t>
            </a:r>
            <a:r>
              <a:rPr lang="en-US" altLang="zh-TW"/>
              <a:t>detector</a:t>
            </a:r>
            <a:endParaRPr lang="zh-TW" altLang="en-US"/>
          </a:p>
        </p:txBody>
      </p:sp>
      <p:sp>
        <p:nvSpPr>
          <p:cNvPr id="11" name="矩形 11"/>
          <p:cNvSpPr/>
          <p:nvPr/>
        </p:nvSpPr>
        <p:spPr>
          <a:xfrm>
            <a:off x="1977882" y="2628900"/>
            <a:ext cx="406400" cy="3794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2" name="矩形 12"/>
          <p:cNvSpPr/>
          <p:nvPr/>
        </p:nvSpPr>
        <p:spPr>
          <a:xfrm>
            <a:off x="2492232" y="4994275"/>
            <a:ext cx="406400" cy="3794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pic>
        <p:nvPicPr>
          <p:cNvPr id="13" name="圖片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362307" y="4652963"/>
            <a:ext cx="2295525" cy="159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雲朵形圖說文字 30"/>
          <p:cNvSpPr/>
          <p:nvPr/>
        </p:nvSpPr>
        <p:spPr>
          <a:xfrm>
            <a:off x="5764138" y="5513706"/>
            <a:ext cx="3303662" cy="951706"/>
          </a:xfrm>
          <a:prstGeom prst="cloudCallout">
            <a:avLst>
              <a:gd name="adj1" fmla="val -40531"/>
              <a:gd name="adj2" fmla="val -60650"/>
            </a:avLst>
          </a:prstGeom>
        </p:spPr>
        <p:style>
          <a:lnRef idx="0">
            <a:schemeClr val="accent2"/>
          </a:lnRef>
          <a:fillRef idx="3">
            <a:schemeClr val="accent2"/>
          </a:fillRef>
          <a:effectRef idx="3">
            <a:schemeClr val="accent2"/>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“middle beak”</a:t>
            </a:r>
            <a:r>
              <a:rPr lang="zh-TW" altLang="en-US">
                <a:solidFill>
                  <a:srgbClr val="000000"/>
                </a:solidFill>
              </a:rPr>
              <a:t> </a:t>
            </a:r>
            <a:r>
              <a:rPr lang="en-US" altLang="zh-TW">
                <a:solidFill>
                  <a:srgbClr val="000000"/>
                </a:solidFill>
              </a:rPr>
              <a:t>detector</a:t>
            </a:r>
            <a:endParaRPr lang="zh-TW" altLang="en-US">
              <a:solidFill>
                <a:srgbClr val="000000"/>
              </a:solidFill>
            </a:endParaRPr>
          </a:p>
        </p:txBody>
      </p:sp>
      <p:sp>
        <p:nvSpPr>
          <p:cNvPr id="15" name="矩形 5"/>
          <p:cNvSpPr>
            <a:spLocks noChangeArrowheads="1"/>
          </p:cNvSpPr>
          <p:nvPr/>
        </p:nvSpPr>
        <p:spPr bwMode="auto">
          <a:xfrm>
            <a:off x="5337032" y="4038600"/>
            <a:ext cx="3657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They can be compressed</a:t>
            </a:r>
          </a:p>
          <a:p>
            <a:pPr eaLnBrk="1" hangingPunct="1"/>
            <a:r>
              <a:rPr lang="en-US" altLang="zh-TW"/>
              <a:t> to the same parameters.</a:t>
            </a:r>
            <a:endParaRPr lang="zh-TW" altLang="en-US"/>
          </a:p>
        </p:txBody>
      </p:sp>
      <p:cxnSp>
        <p:nvCxnSpPr>
          <p:cNvPr id="17" name="直線單箭頭接點 7"/>
          <p:cNvCxnSpPr/>
          <p:nvPr/>
        </p:nvCxnSpPr>
        <p:spPr>
          <a:xfrm>
            <a:off x="5133832" y="3768725"/>
            <a:ext cx="0" cy="1339850"/>
          </a:xfrm>
          <a:prstGeom prst="straightConnector1">
            <a:avLst/>
          </a:prstGeom>
          <a:ln w="76200">
            <a:solidFill>
              <a:srgbClr val="FF000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991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altLang="en-US">
                <a:ea typeface="ＭＳ Ｐゴシック" pitchFamily="34" charset="-128"/>
              </a:rPr>
              <a:t>A convolutional layer</a:t>
            </a:r>
          </a:p>
        </p:txBody>
      </p:sp>
      <p:pic>
        <p:nvPicPr>
          <p:cNvPr id="17410"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33750" y="2971800"/>
            <a:ext cx="384810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4"/>
          <p:cNvSpPr txBox="1">
            <a:spLocks noChangeArrowheads="1"/>
          </p:cNvSpPr>
          <p:nvPr/>
        </p:nvSpPr>
        <p:spPr bwMode="auto">
          <a:xfrm>
            <a:off x="4953000" y="5649912"/>
            <a:ext cx="838200" cy="3698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A filter</a:t>
            </a:r>
          </a:p>
        </p:txBody>
      </p:sp>
      <p:sp>
        <p:nvSpPr>
          <p:cNvPr id="17412" name="TextBox 5"/>
          <p:cNvSpPr txBox="1">
            <a:spLocks noChangeArrowheads="1"/>
          </p:cNvSpPr>
          <p:nvPr/>
        </p:nvSpPr>
        <p:spPr bwMode="auto">
          <a:xfrm>
            <a:off x="1676400" y="1447800"/>
            <a:ext cx="711041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2000" dirty="0"/>
              <a:t>A CNN is a neural network with some convolutional layers </a:t>
            </a:r>
          </a:p>
          <a:p>
            <a:pPr eaLnBrk="1" hangingPunct="1"/>
            <a:r>
              <a:rPr lang="en-US" altLang="en-US" sz="2000" dirty="0"/>
              <a:t>(and some other layers).  A convolutional layer has a number </a:t>
            </a:r>
          </a:p>
          <a:p>
            <a:pPr eaLnBrk="1" hangingPunct="1"/>
            <a:r>
              <a:rPr lang="en-US" altLang="en-US" sz="2000" dirty="0"/>
              <a:t>of filters that perform the convolution operation. </a:t>
            </a:r>
          </a:p>
        </p:txBody>
      </p:sp>
      <p:sp>
        <p:nvSpPr>
          <p:cNvPr id="17413" name="TextBox 6"/>
          <p:cNvSpPr txBox="1">
            <a:spLocks noChangeArrowheads="1"/>
          </p:cNvSpPr>
          <p:nvPr/>
        </p:nvSpPr>
        <p:spPr bwMode="auto">
          <a:xfrm>
            <a:off x="4397829" y="3440112"/>
            <a:ext cx="1609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dirty="0"/>
              <a:t>Beak detector</a:t>
            </a:r>
          </a:p>
        </p:txBody>
      </p:sp>
      <p:cxnSp>
        <p:nvCxnSpPr>
          <p:cNvPr id="9" name="Straight Arrow Connector 8"/>
          <p:cNvCxnSpPr>
            <a:cxnSpLocks noChangeShapeType="1"/>
          </p:cNvCxnSpPr>
          <p:nvPr/>
        </p:nvCxnSpPr>
        <p:spPr bwMode="auto">
          <a:xfrm>
            <a:off x="5202691" y="3810000"/>
            <a:ext cx="0" cy="304800"/>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636771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標題 1"/>
          <p:cNvSpPr>
            <a:spLocks noGrp="1"/>
          </p:cNvSpPr>
          <p:nvPr>
            <p:ph type="title"/>
          </p:nvPr>
        </p:nvSpPr>
        <p:spPr>
          <a:xfrm>
            <a:off x="1676400" y="365125"/>
            <a:ext cx="6838950"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1043063706"/>
              </p:ext>
            </p:extLst>
          </p:nvPr>
        </p:nvGraphicFramePr>
        <p:xfrm>
          <a:off x="1698625"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文字方塊 4"/>
          <p:cNvSpPr txBox="1">
            <a:spLocks noChangeArrowheads="1"/>
          </p:cNvSpPr>
          <p:nvPr/>
        </p:nvSpPr>
        <p:spPr bwMode="auto">
          <a:xfrm>
            <a:off x="1962150"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nvGraphicFramePr>
        <p:xfrm>
          <a:off x="5259388" y="2068513"/>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8" name="文字方塊 6"/>
          <p:cNvSpPr txBox="1">
            <a:spLocks noChangeArrowheads="1"/>
          </p:cNvSpPr>
          <p:nvPr/>
        </p:nvSpPr>
        <p:spPr bwMode="auto">
          <a:xfrm>
            <a:off x="6791325" y="2420938"/>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graphicFrame>
        <p:nvGraphicFramePr>
          <p:cNvPr id="9" name="表格 7"/>
          <p:cNvGraphicFramePr>
            <a:graphicFrameLocks noGrp="1"/>
          </p:cNvGraphicFramePr>
          <p:nvPr/>
        </p:nvGraphicFramePr>
        <p:xfrm>
          <a:off x="5259388" y="3694113"/>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10" name="文字方塊 8"/>
          <p:cNvSpPr txBox="1">
            <a:spLocks noChangeArrowheads="1"/>
          </p:cNvSpPr>
          <p:nvPr/>
        </p:nvSpPr>
        <p:spPr bwMode="auto">
          <a:xfrm>
            <a:off x="6791325" y="40322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2</a:t>
            </a:r>
            <a:endParaRPr lang="zh-TW" altLang="en-US"/>
          </a:p>
        </p:txBody>
      </p:sp>
      <p:sp>
        <p:nvSpPr>
          <p:cNvPr id="11" name="文字方塊 9"/>
          <p:cNvSpPr txBox="1">
            <a:spLocks noChangeArrowheads="1"/>
          </p:cNvSpPr>
          <p:nvPr/>
        </p:nvSpPr>
        <p:spPr bwMode="auto">
          <a:xfrm rot="5400000">
            <a:off x="5830094" y="5234782"/>
            <a:ext cx="7080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b="1"/>
              <a:t>……</a:t>
            </a:r>
            <a:endParaRPr lang="zh-TW" altLang="en-US" sz="2800" b="1"/>
          </a:p>
        </p:txBody>
      </p:sp>
      <p:sp>
        <p:nvSpPr>
          <p:cNvPr id="12" name="文字方塊 10"/>
          <p:cNvSpPr txBox="1">
            <a:spLocks noChangeArrowheads="1"/>
          </p:cNvSpPr>
          <p:nvPr/>
        </p:nvSpPr>
        <p:spPr bwMode="auto">
          <a:xfrm>
            <a:off x="5029200" y="1004888"/>
            <a:ext cx="39624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b="1">
                <a:solidFill>
                  <a:srgbClr val="FF0000"/>
                </a:solidFill>
              </a:rPr>
              <a:t>These are the network parameters to be learned.</a:t>
            </a:r>
            <a:endParaRPr lang="zh-TW" altLang="en-US" b="1">
              <a:solidFill>
                <a:srgbClr val="FF0000"/>
              </a:solidFill>
            </a:endParaRPr>
          </a:p>
        </p:txBody>
      </p:sp>
      <p:sp>
        <p:nvSpPr>
          <p:cNvPr id="15" name="文字方塊 12"/>
          <p:cNvSpPr txBox="1">
            <a:spLocks noChangeArrowheads="1"/>
          </p:cNvSpPr>
          <p:nvPr/>
        </p:nvSpPr>
        <p:spPr bwMode="auto">
          <a:xfrm>
            <a:off x="5213350" y="5849938"/>
            <a:ext cx="3556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Each filter detects a small pattern (3 x 3). </a:t>
            </a:r>
            <a:endParaRPr lang="zh-TW" altLang="en-US"/>
          </a:p>
        </p:txBody>
      </p:sp>
    </p:spTree>
    <p:extLst>
      <p:ext uri="{BB962C8B-B14F-4D97-AF65-F5344CB8AC3E}">
        <p14:creationId xmlns:p14="http://schemas.microsoft.com/office/powerpoint/2010/main" val="5256680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P spid="12" grpId="0"/>
      <p:bldP spid="1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標題 1"/>
          <p:cNvSpPr>
            <a:spLocks noGrp="1"/>
          </p:cNvSpPr>
          <p:nvPr>
            <p:ph type="title"/>
          </p:nvPr>
        </p:nvSpPr>
        <p:spPr>
          <a:xfrm>
            <a:off x="1636712" y="365125"/>
            <a:ext cx="6878637"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2968731372"/>
              </p:ext>
            </p:extLst>
          </p:nvPr>
        </p:nvGraphicFramePr>
        <p:xfrm>
          <a:off x="1636713"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9509" name="文字方塊 4"/>
          <p:cNvSpPr txBox="1">
            <a:spLocks noChangeArrowheads="1"/>
          </p:cNvSpPr>
          <p:nvPr/>
        </p:nvSpPr>
        <p:spPr bwMode="auto">
          <a:xfrm>
            <a:off x="1900238"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nvGraphicFramePr>
        <p:xfrm>
          <a:off x="5564188" y="47783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19528" name="文字方塊 6"/>
          <p:cNvSpPr txBox="1">
            <a:spLocks noChangeArrowheads="1"/>
          </p:cNvSpPr>
          <p:nvPr/>
        </p:nvSpPr>
        <p:spPr bwMode="auto">
          <a:xfrm>
            <a:off x="7186613" y="9334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9" name="矩形 2"/>
          <p:cNvSpPr/>
          <p:nvPr/>
        </p:nvSpPr>
        <p:spPr>
          <a:xfrm>
            <a:off x="1636713"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0" name="橢圓 11"/>
          <p:cNvSpPr>
            <a:spLocks noChangeArrowheads="1"/>
          </p:cNvSpPr>
          <p:nvPr/>
        </p:nvSpPr>
        <p:spPr bwMode="auto">
          <a:xfrm>
            <a:off x="5373688"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1" name="橢圓 12"/>
          <p:cNvSpPr>
            <a:spLocks noChangeArrowheads="1"/>
          </p:cNvSpPr>
          <p:nvPr/>
        </p:nvSpPr>
        <p:spPr bwMode="auto">
          <a:xfrm>
            <a:off x="6215063"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2" name="矩形 27"/>
          <p:cNvSpPr/>
          <p:nvPr/>
        </p:nvSpPr>
        <p:spPr>
          <a:xfrm>
            <a:off x="2135188" y="2398713"/>
            <a:ext cx="1417637"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3" name="矩形 33"/>
          <p:cNvSpPr>
            <a:spLocks noChangeArrowheads="1"/>
          </p:cNvSpPr>
          <p:nvPr/>
        </p:nvSpPr>
        <p:spPr bwMode="auto">
          <a:xfrm>
            <a:off x="1817688" y="1731963"/>
            <a:ext cx="1208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s</a:t>
            </a:r>
            <a:r>
              <a:rPr lang="zh-TW" altLang="en-US"/>
              <a:t>tride</a:t>
            </a:r>
            <a:r>
              <a:rPr lang="en-US" altLang="zh-TW"/>
              <a:t>=1</a:t>
            </a:r>
            <a:endParaRPr lang="zh-TW" altLang="en-US"/>
          </a:p>
        </p:txBody>
      </p:sp>
      <p:cxnSp>
        <p:nvCxnSpPr>
          <p:cNvPr id="15" name="Straight Arrow Connector 14"/>
          <p:cNvCxnSpPr>
            <a:cxnSpLocks noChangeShapeType="1"/>
          </p:cNvCxnSpPr>
          <p:nvPr/>
        </p:nvCxnSpPr>
        <p:spPr bwMode="auto">
          <a:xfrm>
            <a:off x="4613275" y="3124200"/>
            <a:ext cx="685800" cy="0"/>
          </a:xfrm>
          <a:prstGeom prst="straightConnector1">
            <a:avLst/>
          </a:prstGeom>
          <a:noFill/>
          <a:ln w="25400">
            <a:solidFill>
              <a:srgbClr val="FF0000"/>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4537075" y="2438400"/>
            <a:ext cx="9540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en-US" sz="1800"/>
              <a:t>Dot </a:t>
            </a:r>
          </a:p>
          <a:p>
            <a:pPr eaLnBrk="1" hangingPunct="1"/>
            <a:r>
              <a:rPr lang="en-US" altLang="en-US" sz="1800"/>
              <a:t>product</a:t>
            </a:r>
          </a:p>
        </p:txBody>
      </p:sp>
    </p:spTree>
    <p:extLst>
      <p:ext uri="{BB962C8B-B14F-4D97-AF65-F5344CB8AC3E}">
        <p14:creationId xmlns:p14="http://schemas.microsoft.com/office/powerpoint/2010/main" val="11284329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1" grpId="0" animBg="1"/>
      <p:bldP spid="12" grpId="0" animBg="1"/>
      <p:bldP spid="13"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標題 1"/>
          <p:cNvSpPr>
            <a:spLocks noGrp="1"/>
          </p:cNvSpPr>
          <p:nvPr>
            <p:ph type="title"/>
          </p:nvPr>
        </p:nvSpPr>
        <p:spPr>
          <a:xfrm>
            <a:off x="1560512" y="365125"/>
            <a:ext cx="6954837"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992937709"/>
              </p:ext>
            </p:extLst>
          </p:nvPr>
        </p:nvGraphicFramePr>
        <p:xfrm>
          <a:off x="1560513"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0533" name="文字方塊 4"/>
          <p:cNvSpPr txBox="1">
            <a:spLocks noChangeArrowheads="1"/>
          </p:cNvSpPr>
          <p:nvPr/>
        </p:nvSpPr>
        <p:spPr bwMode="auto">
          <a:xfrm>
            <a:off x="1824038"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nvGraphicFramePr>
        <p:xfrm>
          <a:off x="5564188" y="47783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20552" name="文字方塊 6"/>
          <p:cNvSpPr txBox="1">
            <a:spLocks noChangeArrowheads="1"/>
          </p:cNvSpPr>
          <p:nvPr/>
        </p:nvSpPr>
        <p:spPr bwMode="auto">
          <a:xfrm>
            <a:off x="7186613" y="9334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9" name="矩形 2"/>
          <p:cNvSpPr/>
          <p:nvPr/>
        </p:nvSpPr>
        <p:spPr>
          <a:xfrm>
            <a:off x="1560513"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0" name="橢圓 11"/>
          <p:cNvSpPr>
            <a:spLocks noChangeArrowheads="1"/>
          </p:cNvSpPr>
          <p:nvPr/>
        </p:nvSpPr>
        <p:spPr bwMode="auto">
          <a:xfrm>
            <a:off x="5297488"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1" name="橢圓 12"/>
          <p:cNvSpPr>
            <a:spLocks noChangeArrowheads="1"/>
          </p:cNvSpPr>
          <p:nvPr/>
        </p:nvSpPr>
        <p:spPr bwMode="auto">
          <a:xfrm>
            <a:off x="6138863"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2" name="矩形 27"/>
          <p:cNvSpPr/>
          <p:nvPr/>
        </p:nvSpPr>
        <p:spPr>
          <a:xfrm>
            <a:off x="2538413"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0557" name="矩形 33"/>
          <p:cNvSpPr>
            <a:spLocks noChangeArrowheads="1"/>
          </p:cNvSpPr>
          <p:nvPr/>
        </p:nvSpPr>
        <p:spPr bwMode="auto">
          <a:xfrm>
            <a:off x="1741488" y="1731963"/>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If s</a:t>
            </a:r>
            <a:r>
              <a:rPr lang="zh-TW" altLang="en-US"/>
              <a:t>tride</a:t>
            </a:r>
            <a:r>
              <a:rPr lang="en-US" altLang="zh-TW"/>
              <a:t>=2</a:t>
            </a:r>
            <a:endParaRPr lang="zh-TW" altLang="en-US"/>
          </a:p>
        </p:txBody>
      </p:sp>
    </p:spTree>
    <p:extLst>
      <p:ext uri="{BB962C8B-B14F-4D97-AF65-F5344CB8AC3E}">
        <p14:creationId xmlns:p14="http://schemas.microsoft.com/office/powerpoint/2010/main" val="3839806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1" grpId="0" animBg="1"/>
      <p:bldP spid="1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標題 1"/>
          <p:cNvSpPr>
            <a:spLocks noGrp="1"/>
          </p:cNvSpPr>
          <p:nvPr>
            <p:ph type="title"/>
          </p:nvPr>
        </p:nvSpPr>
        <p:spPr>
          <a:xfrm>
            <a:off x="1683544" y="365125"/>
            <a:ext cx="6831806"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3219620274"/>
              </p:ext>
            </p:extLst>
          </p:nvPr>
        </p:nvGraphicFramePr>
        <p:xfrm>
          <a:off x="1571625"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dirty="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dirty="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1557" name="文字方塊 4"/>
          <p:cNvSpPr txBox="1">
            <a:spLocks noChangeArrowheads="1"/>
          </p:cNvSpPr>
          <p:nvPr/>
        </p:nvSpPr>
        <p:spPr bwMode="auto">
          <a:xfrm>
            <a:off x="1835150"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7" name="表格 5"/>
          <p:cNvGraphicFramePr>
            <a:graphicFrameLocks noGrp="1"/>
          </p:cNvGraphicFramePr>
          <p:nvPr>
            <p:extLst>
              <p:ext uri="{D42A27DB-BD31-4B8C-83A1-F6EECF244321}">
                <p14:modId xmlns:p14="http://schemas.microsoft.com/office/powerpoint/2010/main" val="3997027049"/>
              </p:ext>
            </p:extLst>
          </p:nvPr>
        </p:nvGraphicFramePr>
        <p:xfrm>
          <a:off x="6149975" y="47783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21576" name="文字方塊 6"/>
          <p:cNvSpPr txBox="1">
            <a:spLocks noChangeArrowheads="1"/>
          </p:cNvSpPr>
          <p:nvPr/>
        </p:nvSpPr>
        <p:spPr bwMode="auto">
          <a:xfrm>
            <a:off x="7772400" y="933450"/>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9" name="矩形 2"/>
          <p:cNvSpPr/>
          <p:nvPr/>
        </p:nvSpPr>
        <p:spPr>
          <a:xfrm>
            <a:off x="1571625" y="239871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0" name="橢圓 11"/>
          <p:cNvSpPr>
            <a:spLocks noChangeArrowheads="1"/>
          </p:cNvSpPr>
          <p:nvPr/>
        </p:nvSpPr>
        <p:spPr bwMode="auto">
          <a:xfrm>
            <a:off x="5308600"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1" name="橢圓 12"/>
          <p:cNvSpPr>
            <a:spLocks noChangeArrowheads="1"/>
          </p:cNvSpPr>
          <p:nvPr/>
        </p:nvSpPr>
        <p:spPr bwMode="auto">
          <a:xfrm>
            <a:off x="6149975"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2" name="橢圓 13"/>
          <p:cNvSpPr>
            <a:spLocks noChangeArrowheads="1"/>
          </p:cNvSpPr>
          <p:nvPr/>
        </p:nvSpPr>
        <p:spPr bwMode="auto">
          <a:xfrm>
            <a:off x="6991350"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3" name="橢圓 14"/>
          <p:cNvSpPr>
            <a:spLocks noChangeArrowheads="1"/>
          </p:cNvSpPr>
          <p:nvPr/>
        </p:nvSpPr>
        <p:spPr bwMode="auto">
          <a:xfrm>
            <a:off x="7832725"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4" name="橢圓 15"/>
          <p:cNvSpPr>
            <a:spLocks noChangeArrowheads="1"/>
          </p:cNvSpPr>
          <p:nvPr/>
        </p:nvSpPr>
        <p:spPr bwMode="auto">
          <a:xfrm>
            <a:off x="5308600"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5" name="橢圓 16"/>
          <p:cNvSpPr>
            <a:spLocks noChangeArrowheads="1"/>
          </p:cNvSpPr>
          <p:nvPr/>
        </p:nvSpPr>
        <p:spPr bwMode="auto">
          <a:xfrm>
            <a:off x="6149975"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6" name="橢圓 17"/>
          <p:cNvSpPr>
            <a:spLocks noChangeArrowheads="1"/>
          </p:cNvSpPr>
          <p:nvPr/>
        </p:nvSpPr>
        <p:spPr bwMode="auto">
          <a:xfrm>
            <a:off x="6991350"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17" name="橢圓 18"/>
          <p:cNvSpPr>
            <a:spLocks noChangeArrowheads="1"/>
          </p:cNvSpPr>
          <p:nvPr/>
        </p:nvSpPr>
        <p:spPr bwMode="auto">
          <a:xfrm>
            <a:off x="7832725"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8" name="橢圓 19"/>
          <p:cNvSpPr>
            <a:spLocks noChangeArrowheads="1"/>
          </p:cNvSpPr>
          <p:nvPr/>
        </p:nvSpPr>
        <p:spPr bwMode="auto">
          <a:xfrm>
            <a:off x="5308600"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9" name="橢圓 20"/>
          <p:cNvSpPr>
            <a:spLocks noChangeArrowheads="1"/>
          </p:cNvSpPr>
          <p:nvPr/>
        </p:nvSpPr>
        <p:spPr bwMode="auto">
          <a:xfrm>
            <a:off x="6149975"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20" name="橢圓 21"/>
          <p:cNvSpPr>
            <a:spLocks noChangeArrowheads="1"/>
          </p:cNvSpPr>
          <p:nvPr/>
        </p:nvSpPr>
        <p:spPr bwMode="auto">
          <a:xfrm>
            <a:off x="6991350"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21" name="橢圓 22"/>
          <p:cNvSpPr>
            <a:spLocks noChangeArrowheads="1"/>
          </p:cNvSpPr>
          <p:nvPr/>
        </p:nvSpPr>
        <p:spPr bwMode="auto">
          <a:xfrm>
            <a:off x="7832725"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22" name="橢圓 23"/>
          <p:cNvSpPr>
            <a:spLocks noChangeArrowheads="1"/>
          </p:cNvSpPr>
          <p:nvPr/>
        </p:nvSpPr>
        <p:spPr bwMode="auto">
          <a:xfrm>
            <a:off x="5318125" y="5259388"/>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23" name="橢圓 24"/>
          <p:cNvSpPr>
            <a:spLocks noChangeArrowheads="1"/>
          </p:cNvSpPr>
          <p:nvPr/>
        </p:nvSpPr>
        <p:spPr bwMode="auto">
          <a:xfrm>
            <a:off x="6149975" y="52466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4" name="橢圓 25"/>
          <p:cNvSpPr>
            <a:spLocks noChangeArrowheads="1"/>
          </p:cNvSpPr>
          <p:nvPr/>
        </p:nvSpPr>
        <p:spPr bwMode="auto">
          <a:xfrm>
            <a:off x="6991350"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5" name="橢圓 26"/>
          <p:cNvSpPr>
            <a:spLocks noChangeArrowheads="1"/>
          </p:cNvSpPr>
          <p:nvPr/>
        </p:nvSpPr>
        <p:spPr bwMode="auto">
          <a:xfrm>
            <a:off x="7832725"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26" name="矩形 27"/>
          <p:cNvSpPr/>
          <p:nvPr/>
        </p:nvSpPr>
        <p:spPr>
          <a:xfrm>
            <a:off x="2070100" y="2398713"/>
            <a:ext cx="1417637"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7" name="矩形 28"/>
          <p:cNvSpPr/>
          <p:nvPr/>
        </p:nvSpPr>
        <p:spPr>
          <a:xfrm>
            <a:off x="2516187" y="2401888"/>
            <a:ext cx="1417638"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8" name="矩形 29"/>
          <p:cNvSpPr/>
          <p:nvPr/>
        </p:nvSpPr>
        <p:spPr>
          <a:xfrm>
            <a:off x="3019425" y="2405063"/>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9" name="矩形 30"/>
          <p:cNvSpPr/>
          <p:nvPr/>
        </p:nvSpPr>
        <p:spPr>
          <a:xfrm>
            <a:off x="1571625" y="2809875"/>
            <a:ext cx="1416050" cy="13827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1598" name="矩形 33"/>
          <p:cNvSpPr>
            <a:spLocks noChangeArrowheads="1"/>
          </p:cNvSpPr>
          <p:nvPr/>
        </p:nvSpPr>
        <p:spPr bwMode="auto">
          <a:xfrm>
            <a:off x="1752600" y="1731963"/>
            <a:ext cx="1208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s</a:t>
            </a:r>
            <a:r>
              <a:rPr lang="zh-TW" altLang="en-US"/>
              <a:t>tride</a:t>
            </a:r>
            <a:r>
              <a:rPr lang="en-US" altLang="zh-TW"/>
              <a:t>=1</a:t>
            </a:r>
            <a:endParaRPr lang="zh-TW" altLang="en-US"/>
          </a:p>
        </p:txBody>
      </p:sp>
      <p:sp>
        <p:nvSpPr>
          <p:cNvPr id="31" name="矩形 31"/>
          <p:cNvSpPr/>
          <p:nvPr/>
        </p:nvSpPr>
        <p:spPr>
          <a:xfrm>
            <a:off x="3019425" y="3767138"/>
            <a:ext cx="1416050"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2" name="矩形 7"/>
          <p:cNvSpPr/>
          <p:nvPr/>
        </p:nvSpPr>
        <p:spPr>
          <a:xfrm>
            <a:off x="6149975" y="477838"/>
            <a:ext cx="523875" cy="455612"/>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3" name="矩形 35"/>
          <p:cNvSpPr/>
          <p:nvPr/>
        </p:nvSpPr>
        <p:spPr>
          <a:xfrm>
            <a:off x="6705600" y="936625"/>
            <a:ext cx="525462" cy="455613"/>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4" name="矩形 36"/>
          <p:cNvSpPr/>
          <p:nvPr/>
        </p:nvSpPr>
        <p:spPr>
          <a:xfrm>
            <a:off x="7231062" y="1404938"/>
            <a:ext cx="523875" cy="455612"/>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cxnSp>
        <p:nvCxnSpPr>
          <p:cNvPr id="35" name="直線接點 9"/>
          <p:cNvCxnSpPr/>
          <p:nvPr/>
        </p:nvCxnSpPr>
        <p:spPr>
          <a:xfrm>
            <a:off x="6149975" y="477838"/>
            <a:ext cx="1604962" cy="1382712"/>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sp>
        <p:nvSpPr>
          <p:cNvPr id="36" name="矩形 37"/>
          <p:cNvSpPr/>
          <p:nvPr/>
        </p:nvSpPr>
        <p:spPr>
          <a:xfrm>
            <a:off x="5299075" y="2786063"/>
            <a:ext cx="728662" cy="708025"/>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7" name="矩形 38"/>
          <p:cNvSpPr/>
          <p:nvPr/>
        </p:nvSpPr>
        <p:spPr>
          <a:xfrm>
            <a:off x="5318125" y="5262563"/>
            <a:ext cx="728662" cy="708025"/>
          </a:xfrm>
          <a:prstGeom prst="rect">
            <a:avLst/>
          </a:prstGeom>
          <a:noFill/>
          <a:ln w="762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cxnSp>
        <p:nvCxnSpPr>
          <p:cNvPr id="39" name="直線接點 40"/>
          <p:cNvCxnSpPr/>
          <p:nvPr/>
        </p:nvCxnSpPr>
        <p:spPr>
          <a:xfrm>
            <a:off x="1514475" y="2425700"/>
            <a:ext cx="1606550" cy="1382713"/>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0" name="直線接點 41"/>
          <p:cNvCxnSpPr/>
          <p:nvPr/>
        </p:nvCxnSpPr>
        <p:spPr>
          <a:xfrm>
            <a:off x="1466850" y="3760788"/>
            <a:ext cx="1604962" cy="1382712"/>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72245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9"/>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xit" presetSubtype="0" fill="hold" grpId="1" nodeType="withEffect">
                                  <p:stCondLst>
                                    <p:cond delay="0"/>
                                  </p:stCondLst>
                                  <p:childTnLst>
                                    <p:set>
                                      <p:cBhvr>
                                        <p:cTn id="26" dur="1" fill="hold">
                                          <p:stCondLst>
                                            <p:cond delay="0"/>
                                          </p:stCondLst>
                                        </p:cTn>
                                        <p:tgtEl>
                                          <p:spTgt spid="26"/>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27"/>
                                        </p:tgtEl>
                                        <p:attrNameLst>
                                          <p:attrName>style.visibility</p:attrName>
                                        </p:attrNameLst>
                                      </p:cBhvr>
                                      <p:to>
                                        <p:strVal val="hidden"/>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28"/>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29"/>
                                        </p:tgtEl>
                                        <p:attrNameLst>
                                          <p:attrName>style.visibility</p:attrName>
                                        </p:attrNameLst>
                                      </p:cBhvr>
                                      <p:to>
                                        <p:strVal val="hidden"/>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childTnLst>
                          </p:cTn>
                        </p:par>
                        <p:par>
                          <p:cTn id="91" fill="hold" nodeType="afterGroup">
                            <p:stCondLst>
                              <p:cond delay="0"/>
                            </p:stCondLst>
                            <p:childTnLst>
                              <p:par>
                                <p:cTn id="92" presetID="1" presetClass="exit" presetSubtype="0" fill="hold" grpId="1" nodeType="afterEffect">
                                  <p:stCondLst>
                                    <p:cond delay="0"/>
                                  </p:stCondLst>
                                  <p:childTnLst>
                                    <p:set>
                                      <p:cBhvr>
                                        <p:cTn id="93" dur="1" fill="hold">
                                          <p:stCondLst>
                                            <p:cond delay="0"/>
                                          </p:stCondLst>
                                        </p:cTn>
                                        <p:tgtEl>
                                          <p:spTgt spid="31"/>
                                        </p:tgtEl>
                                        <p:attrNameLst>
                                          <p:attrName>style.visibility</p:attrName>
                                        </p:attrNameLst>
                                      </p:cBhvr>
                                      <p:to>
                                        <p:strVal val="hidden"/>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0"/>
                                          </p:stCondLst>
                                        </p:cTn>
                                        <p:tgtEl>
                                          <p:spTgt spid="35"/>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presetSubtype="0" fill="hold" nodeType="clickEffect">
                                  <p:stCondLst>
                                    <p:cond delay="0"/>
                                  </p:stCondLst>
                                  <p:childTnLst>
                                    <p:set>
                                      <p:cBhvr>
                                        <p:cTn id="101" dur="1" fill="hold">
                                          <p:stCondLst>
                                            <p:cond delay="0"/>
                                          </p:stCondLst>
                                        </p:cTn>
                                        <p:tgtEl>
                                          <p:spTgt spid="39"/>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0"/>
                                          </p:stCondLst>
                                        </p:cTn>
                                        <p:tgtEl>
                                          <p:spTgt spid="40"/>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36"/>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6" grpId="1" animBg="1"/>
      <p:bldP spid="27" grpId="0" animBg="1"/>
      <p:bldP spid="27" grpId="1" animBg="1"/>
      <p:bldP spid="28" grpId="0" animBg="1"/>
      <p:bldP spid="28" grpId="1" animBg="1"/>
      <p:bldP spid="29" grpId="0" animBg="1"/>
      <p:bldP spid="29" grpId="1" animBg="1"/>
      <p:bldP spid="31" grpId="0" animBg="1"/>
      <p:bldP spid="31" grpId="1" animBg="1"/>
      <p:bldP spid="32" grpId="0" animBg="1"/>
      <p:bldP spid="33" grpId="0" animBg="1"/>
      <p:bldP spid="34" grpId="0" animBg="1"/>
      <p:bldP spid="36" grpId="0" animBg="1"/>
      <p:bldP spid="3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標題 1"/>
          <p:cNvSpPr>
            <a:spLocks noGrp="1"/>
          </p:cNvSpPr>
          <p:nvPr>
            <p:ph type="title"/>
          </p:nvPr>
        </p:nvSpPr>
        <p:spPr>
          <a:xfrm>
            <a:off x="1693862" y="365125"/>
            <a:ext cx="6821487" cy="1325563"/>
          </a:xfrm>
        </p:spPr>
        <p:txBody>
          <a:bodyPr/>
          <a:lstStyle/>
          <a:p>
            <a:r>
              <a:rPr lang="en-US" altLang="zh-TW" dirty="0">
                <a:ea typeface="ＭＳ Ｐゴシック" pitchFamily="34" charset="-128"/>
              </a:rPr>
              <a:t>Convolution</a:t>
            </a:r>
            <a:endParaRPr lang="zh-TW" altLang="en-US" dirty="0">
              <a:ea typeface="ＭＳ Ｐゴシック" pitchFamily="34" charset="-128"/>
            </a:endParaRPr>
          </a:p>
        </p:txBody>
      </p:sp>
      <p:graphicFrame>
        <p:nvGraphicFramePr>
          <p:cNvPr id="5" name="內容版面配置區 3"/>
          <p:cNvGraphicFramePr>
            <a:graphicFrameLocks noGrp="1"/>
          </p:cNvGraphicFramePr>
          <p:nvPr>
            <p:ph idx="1"/>
            <p:extLst>
              <p:ext uri="{D42A27DB-BD31-4B8C-83A1-F6EECF244321}">
                <p14:modId xmlns:p14="http://schemas.microsoft.com/office/powerpoint/2010/main" val="1706260116"/>
              </p:ext>
            </p:extLst>
          </p:nvPr>
        </p:nvGraphicFramePr>
        <p:xfrm>
          <a:off x="1595438" y="2398713"/>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2581" name="文字方塊 4"/>
          <p:cNvSpPr txBox="1">
            <a:spLocks noChangeArrowheads="1"/>
          </p:cNvSpPr>
          <p:nvPr/>
        </p:nvSpPr>
        <p:spPr bwMode="auto">
          <a:xfrm>
            <a:off x="1858963" y="5389563"/>
            <a:ext cx="23463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sp>
        <p:nvSpPr>
          <p:cNvPr id="7" name="橢圓 11"/>
          <p:cNvSpPr>
            <a:spLocks noChangeArrowheads="1"/>
          </p:cNvSpPr>
          <p:nvPr/>
        </p:nvSpPr>
        <p:spPr bwMode="auto">
          <a:xfrm>
            <a:off x="5332413"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8" name="橢圓 12"/>
          <p:cNvSpPr>
            <a:spLocks noChangeArrowheads="1"/>
          </p:cNvSpPr>
          <p:nvPr/>
        </p:nvSpPr>
        <p:spPr bwMode="auto">
          <a:xfrm>
            <a:off x="6173788" y="27876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9" name="橢圓 13"/>
          <p:cNvSpPr>
            <a:spLocks noChangeArrowheads="1"/>
          </p:cNvSpPr>
          <p:nvPr/>
        </p:nvSpPr>
        <p:spPr bwMode="auto">
          <a:xfrm>
            <a:off x="7015163"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0" name="橢圓 14"/>
          <p:cNvSpPr>
            <a:spLocks noChangeArrowheads="1"/>
          </p:cNvSpPr>
          <p:nvPr/>
        </p:nvSpPr>
        <p:spPr bwMode="auto">
          <a:xfrm>
            <a:off x="7856538" y="27876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1" name="橢圓 15"/>
          <p:cNvSpPr>
            <a:spLocks noChangeArrowheads="1"/>
          </p:cNvSpPr>
          <p:nvPr/>
        </p:nvSpPr>
        <p:spPr bwMode="auto">
          <a:xfrm>
            <a:off x="5332413"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2" name="橢圓 16"/>
          <p:cNvSpPr>
            <a:spLocks noChangeArrowheads="1"/>
          </p:cNvSpPr>
          <p:nvPr/>
        </p:nvSpPr>
        <p:spPr bwMode="auto">
          <a:xfrm>
            <a:off x="6173788" y="3587750"/>
            <a:ext cx="719137"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3" name="橢圓 17"/>
          <p:cNvSpPr>
            <a:spLocks noChangeArrowheads="1"/>
          </p:cNvSpPr>
          <p:nvPr/>
        </p:nvSpPr>
        <p:spPr bwMode="auto">
          <a:xfrm>
            <a:off x="7015163"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14" name="橢圓 18"/>
          <p:cNvSpPr>
            <a:spLocks noChangeArrowheads="1"/>
          </p:cNvSpPr>
          <p:nvPr/>
        </p:nvSpPr>
        <p:spPr bwMode="auto">
          <a:xfrm>
            <a:off x="7856538" y="3587750"/>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5" name="橢圓 19"/>
          <p:cNvSpPr>
            <a:spLocks noChangeArrowheads="1"/>
          </p:cNvSpPr>
          <p:nvPr/>
        </p:nvSpPr>
        <p:spPr bwMode="auto">
          <a:xfrm>
            <a:off x="5332413"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6" name="橢圓 20"/>
          <p:cNvSpPr>
            <a:spLocks noChangeArrowheads="1"/>
          </p:cNvSpPr>
          <p:nvPr/>
        </p:nvSpPr>
        <p:spPr bwMode="auto">
          <a:xfrm>
            <a:off x="6173788" y="44465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17" name="橢圓 21"/>
          <p:cNvSpPr>
            <a:spLocks noChangeArrowheads="1"/>
          </p:cNvSpPr>
          <p:nvPr/>
        </p:nvSpPr>
        <p:spPr bwMode="auto">
          <a:xfrm>
            <a:off x="7015163"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18" name="橢圓 22"/>
          <p:cNvSpPr>
            <a:spLocks noChangeArrowheads="1"/>
          </p:cNvSpPr>
          <p:nvPr/>
        </p:nvSpPr>
        <p:spPr bwMode="auto">
          <a:xfrm>
            <a:off x="7856538" y="44465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19" name="橢圓 23"/>
          <p:cNvSpPr>
            <a:spLocks noChangeArrowheads="1"/>
          </p:cNvSpPr>
          <p:nvPr/>
        </p:nvSpPr>
        <p:spPr bwMode="auto">
          <a:xfrm>
            <a:off x="5332413" y="52466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20" name="橢圓 24"/>
          <p:cNvSpPr>
            <a:spLocks noChangeArrowheads="1"/>
          </p:cNvSpPr>
          <p:nvPr/>
        </p:nvSpPr>
        <p:spPr bwMode="auto">
          <a:xfrm>
            <a:off x="6173788" y="5246688"/>
            <a:ext cx="719137"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1" name="橢圓 25"/>
          <p:cNvSpPr>
            <a:spLocks noChangeArrowheads="1"/>
          </p:cNvSpPr>
          <p:nvPr/>
        </p:nvSpPr>
        <p:spPr bwMode="auto">
          <a:xfrm>
            <a:off x="7015163"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22" name="橢圓 26"/>
          <p:cNvSpPr>
            <a:spLocks noChangeArrowheads="1"/>
          </p:cNvSpPr>
          <p:nvPr/>
        </p:nvSpPr>
        <p:spPr bwMode="auto">
          <a:xfrm>
            <a:off x="7856538" y="5246688"/>
            <a:ext cx="720725" cy="719137"/>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graphicFrame>
        <p:nvGraphicFramePr>
          <p:cNvPr id="23" name="表格 34"/>
          <p:cNvGraphicFramePr>
            <a:graphicFrameLocks noGrp="1"/>
          </p:cNvGraphicFramePr>
          <p:nvPr/>
        </p:nvGraphicFramePr>
        <p:xfrm>
          <a:off x="5686425" y="365125"/>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22616" name="文字方塊 35"/>
          <p:cNvSpPr txBox="1">
            <a:spLocks noChangeArrowheads="1"/>
          </p:cNvSpPr>
          <p:nvPr/>
        </p:nvSpPr>
        <p:spPr bwMode="auto">
          <a:xfrm>
            <a:off x="7308850" y="820738"/>
            <a:ext cx="1447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0000"/>
                </a:solidFill>
              </a:rPr>
              <a:t>Filter 2</a:t>
            </a:r>
            <a:endParaRPr lang="zh-TW" altLang="en-US">
              <a:solidFill>
                <a:srgbClr val="FF0000"/>
              </a:solidFill>
            </a:endParaRPr>
          </a:p>
        </p:txBody>
      </p:sp>
      <p:sp>
        <p:nvSpPr>
          <p:cNvPr id="25" name="矩形 36"/>
          <p:cNvSpPr/>
          <p:nvPr/>
        </p:nvSpPr>
        <p:spPr>
          <a:xfrm>
            <a:off x="1595438" y="2398713"/>
            <a:ext cx="1416050"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6" name="矩形 37"/>
          <p:cNvSpPr/>
          <p:nvPr/>
        </p:nvSpPr>
        <p:spPr>
          <a:xfrm>
            <a:off x="2098675" y="2398713"/>
            <a:ext cx="1417638"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7" name="矩形 38"/>
          <p:cNvSpPr/>
          <p:nvPr/>
        </p:nvSpPr>
        <p:spPr>
          <a:xfrm>
            <a:off x="2540000" y="2400300"/>
            <a:ext cx="1417638" cy="1382713"/>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8" name="矩形 39"/>
          <p:cNvSpPr/>
          <p:nvPr/>
        </p:nvSpPr>
        <p:spPr>
          <a:xfrm>
            <a:off x="3016250" y="2398713"/>
            <a:ext cx="1417638"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9" name="矩形 40"/>
          <p:cNvSpPr/>
          <p:nvPr/>
        </p:nvSpPr>
        <p:spPr>
          <a:xfrm>
            <a:off x="1595438" y="2809875"/>
            <a:ext cx="1416050" cy="1382713"/>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0" name="橢圓 41"/>
          <p:cNvSpPr>
            <a:spLocks noChangeArrowheads="1"/>
          </p:cNvSpPr>
          <p:nvPr/>
        </p:nvSpPr>
        <p:spPr bwMode="auto">
          <a:xfrm>
            <a:off x="5514975" y="29956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1" name="橢圓 42"/>
          <p:cNvSpPr>
            <a:spLocks noChangeArrowheads="1"/>
          </p:cNvSpPr>
          <p:nvPr/>
        </p:nvSpPr>
        <p:spPr bwMode="auto">
          <a:xfrm>
            <a:off x="6356350" y="29956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2" name="橢圓 43"/>
          <p:cNvSpPr>
            <a:spLocks noChangeArrowheads="1"/>
          </p:cNvSpPr>
          <p:nvPr/>
        </p:nvSpPr>
        <p:spPr bwMode="auto">
          <a:xfrm>
            <a:off x="7199313" y="2995613"/>
            <a:ext cx="719137"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3" name="橢圓 44"/>
          <p:cNvSpPr>
            <a:spLocks noChangeArrowheads="1"/>
          </p:cNvSpPr>
          <p:nvPr/>
        </p:nvSpPr>
        <p:spPr bwMode="auto">
          <a:xfrm>
            <a:off x="8040688" y="29956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4" name="橢圓 45"/>
          <p:cNvSpPr>
            <a:spLocks noChangeArrowheads="1"/>
          </p:cNvSpPr>
          <p:nvPr/>
        </p:nvSpPr>
        <p:spPr bwMode="auto">
          <a:xfrm>
            <a:off x="5514975" y="37957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5" name="橢圓 46"/>
          <p:cNvSpPr>
            <a:spLocks noChangeArrowheads="1"/>
          </p:cNvSpPr>
          <p:nvPr/>
        </p:nvSpPr>
        <p:spPr bwMode="auto">
          <a:xfrm>
            <a:off x="6356350" y="37957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6" name="橢圓 47"/>
          <p:cNvSpPr>
            <a:spLocks noChangeArrowheads="1"/>
          </p:cNvSpPr>
          <p:nvPr/>
        </p:nvSpPr>
        <p:spPr bwMode="auto">
          <a:xfrm>
            <a:off x="7199313" y="3795713"/>
            <a:ext cx="719137"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37" name="橢圓 48"/>
          <p:cNvSpPr>
            <a:spLocks noChangeArrowheads="1"/>
          </p:cNvSpPr>
          <p:nvPr/>
        </p:nvSpPr>
        <p:spPr bwMode="auto">
          <a:xfrm>
            <a:off x="8040688" y="3795713"/>
            <a:ext cx="720725" cy="72072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8" name="橢圓 49"/>
          <p:cNvSpPr>
            <a:spLocks noChangeArrowheads="1"/>
          </p:cNvSpPr>
          <p:nvPr/>
        </p:nvSpPr>
        <p:spPr bwMode="auto">
          <a:xfrm>
            <a:off x="5514975" y="46545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39" name="橢圓 50"/>
          <p:cNvSpPr>
            <a:spLocks noChangeArrowheads="1"/>
          </p:cNvSpPr>
          <p:nvPr/>
        </p:nvSpPr>
        <p:spPr bwMode="auto">
          <a:xfrm>
            <a:off x="6356350" y="46545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0" name="橢圓 51"/>
          <p:cNvSpPr>
            <a:spLocks noChangeArrowheads="1"/>
          </p:cNvSpPr>
          <p:nvPr/>
        </p:nvSpPr>
        <p:spPr bwMode="auto">
          <a:xfrm>
            <a:off x="7199313" y="4654550"/>
            <a:ext cx="719137"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-2</a:t>
            </a:r>
            <a:endParaRPr lang="zh-TW" altLang="en-US">
              <a:solidFill>
                <a:srgbClr val="000000"/>
              </a:solidFill>
            </a:endParaRPr>
          </a:p>
        </p:txBody>
      </p:sp>
      <p:sp>
        <p:nvSpPr>
          <p:cNvPr id="41" name="橢圓 52"/>
          <p:cNvSpPr>
            <a:spLocks noChangeArrowheads="1"/>
          </p:cNvSpPr>
          <p:nvPr/>
        </p:nvSpPr>
        <p:spPr bwMode="auto">
          <a:xfrm>
            <a:off x="8040688" y="46545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2" name="橢圓 53"/>
          <p:cNvSpPr>
            <a:spLocks noChangeArrowheads="1"/>
          </p:cNvSpPr>
          <p:nvPr/>
        </p:nvSpPr>
        <p:spPr bwMode="auto">
          <a:xfrm>
            <a:off x="5514975" y="54546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3" name="橢圓 54"/>
          <p:cNvSpPr>
            <a:spLocks noChangeArrowheads="1"/>
          </p:cNvSpPr>
          <p:nvPr/>
        </p:nvSpPr>
        <p:spPr bwMode="auto">
          <a:xfrm>
            <a:off x="6356350" y="54546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0</a:t>
            </a:r>
            <a:endParaRPr lang="zh-TW" altLang="en-US">
              <a:solidFill>
                <a:srgbClr val="000000"/>
              </a:solidFill>
            </a:endParaRPr>
          </a:p>
        </p:txBody>
      </p:sp>
      <p:sp>
        <p:nvSpPr>
          <p:cNvPr id="44" name="橢圓 55"/>
          <p:cNvSpPr>
            <a:spLocks noChangeArrowheads="1"/>
          </p:cNvSpPr>
          <p:nvPr/>
        </p:nvSpPr>
        <p:spPr bwMode="auto">
          <a:xfrm>
            <a:off x="7199313" y="5454650"/>
            <a:ext cx="719137"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-4</a:t>
            </a:r>
            <a:endParaRPr lang="zh-TW" altLang="en-US">
              <a:solidFill>
                <a:srgbClr val="000000"/>
              </a:solidFill>
            </a:endParaRPr>
          </a:p>
        </p:txBody>
      </p:sp>
      <p:sp>
        <p:nvSpPr>
          <p:cNvPr id="45" name="橢圓 56"/>
          <p:cNvSpPr>
            <a:spLocks noChangeArrowheads="1"/>
          </p:cNvSpPr>
          <p:nvPr/>
        </p:nvSpPr>
        <p:spPr bwMode="auto">
          <a:xfrm>
            <a:off x="8040688" y="5454650"/>
            <a:ext cx="720725" cy="71913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46" name="文字方塊 2"/>
          <p:cNvSpPr txBox="1">
            <a:spLocks noChangeArrowheads="1"/>
          </p:cNvSpPr>
          <p:nvPr/>
        </p:nvSpPr>
        <p:spPr bwMode="auto">
          <a:xfrm>
            <a:off x="5029200" y="20574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a:solidFill>
                  <a:srgbClr val="0000FF"/>
                </a:solidFill>
              </a:rPr>
              <a:t>Repeat this for each filter</a:t>
            </a:r>
            <a:endParaRPr lang="zh-TW" altLang="en-US" sz="2800">
              <a:solidFill>
                <a:srgbClr val="0000FF"/>
              </a:solidFill>
            </a:endParaRPr>
          </a:p>
        </p:txBody>
      </p:sp>
      <p:sp>
        <p:nvSpPr>
          <p:cNvPr id="47" name="矩形 57"/>
          <p:cNvSpPr/>
          <p:nvPr/>
        </p:nvSpPr>
        <p:spPr>
          <a:xfrm>
            <a:off x="3025775" y="3783013"/>
            <a:ext cx="1416050" cy="1382712"/>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2640" name="矩形 58"/>
          <p:cNvSpPr>
            <a:spLocks noChangeArrowheads="1"/>
          </p:cNvSpPr>
          <p:nvPr/>
        </p:nvSpPr>
        <p:spPr bwMode="auto">
          <a:xfrm>
            <a:off x="1776413" y="1731963"/>
            <a:ext cx="12080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s</a:t>
            </a:r>
            <a:r>
              <a:rPr lang="zh-TW" altLang="en-US"/>
              <a:t>tride</a:t>
            </a:r>
            <a:r>
              <a:rPr lang="en-US" altLang="zh-TW"/>
              <a:t>=1</a:t>
            </a:r>
            <a:endParaRPr lang="zh-TW" altLang="en-US"/>
          </a:p>
        </p:txBody>
      </p:sp>
      <p:sp>
        <p:nvSpPr>
          <p:cNvPr id="49" name="文字方塊 59"/>
          <p:cNvSpPr txBox="1">
            <a:spLocks noChangeArrowheads="1"/>
          </p:cNvSpPr>
          <p:nvPr/>
        </p:nvSpPr>
        <p:spPr bwMode="auto">
          <a:xfrm>
            <a:off x="5562600" y="6172200"/>
            <a:ext cx="36576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000">
                <a:solidFill>
                  <a:srgbClr val="FF0000"/>
                </a:solidFill>
              </a:rPr>
              <a:t>Two 4 x 4 images</a:t>
            </a:r>
          </a:p>
          <a:p>
            <a:pPr algn="ctr" eaLnBrk="1" hangingPunct="1"/>
            <a:r>
              <a:rPr lang="en-US" altLang="zh-TW" sz="2000">
                <a:solidFill>
                  <a:srgbClr val="FF0000"/>
                </a:solidFill>
              </a:rPr>
              <a:t>Forming 2 x 4 x 4 matrix</a:t>
            </a:r>
            <a:endParaRPr lang="zh-TW" altLang="en-US" sz="2000">
              <a:solidFill>
                <a:srgbClr val="FF0000"/>
              </a:solidFill>
            </a:endParaRPr>
          </a:p>
        </p:txBody>
      </p:sp>
      <p:sp>
        <p:nvSpPr>
          <p:cNvPr id="50" name="矩形 5"/>
          <p:cNvSpPr/>
          <p:nvPr/>
        </p:nvSpPr>
        <p:spPr>
          <a:xfrm>
            <a:off x="5943600" y="4038600"/>
            <a:ext cx="2320925" cy="97313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a:solidFill>
                  <a:srgbClr val="000000"/>
                </a:solidFill>
              </a:rPr>
              <a:t>Feature</a:t>
            </a:r>
          </a:p>
          <a:p>
            <a:pPr algn="ctr" eaLnBrk="1" hangingPunct="1"/>
            <a:r>
              <a:rPr lang="en-US" altLang="zh-TW" sz="2800">
                <a:solidFill>
                  <a:srgbClr val="000000"/>
                </a:solidFill>
              </a:rPr>
              <a:t>Map</a:t>
            </a:r>
            <a:endParaRPr lang="zh-TW" altLang="en-US" sz="2800">
              <a:solidFill>
                <a:srgbClr val="000000"/>
              </a:solidFill>
            </a:endParaRPr>
          </a:p>
        </p:txBody>
      </p:sp>
    </p:spTree>
    <p:extLst>
      <p:ext uri="{BB962C8B-B14F-4D97-AF65-F5344CB8AC3E}">
        <p14:creationId xmlns:p14="http://schemas.microsoft.com/office/powerpoint/2010/main" val="407300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25"/>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xit" presetSubtype="0" fill="hold" grpId="1" nodeType="withEffect">
                                  <p:stCondLst>
                                    <p:cond delay="0"/>
                                  </p:stCondLst>
                                  <p:childTnLst>
                                    <p:set>
                                      <p:cBhvr>
                                        <p:cTn id="30" dur="1" fill="hold">
                                          <p:stCondLst>
                                            <p:cond delay="0"/>
                                          </p:stCondLst>
                                        </p:cTn>
                                        <p:tgtEl>
                                          <p:spTgt spid="26"/>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27"/>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28"/>
                                        </p:tgtEl>
                                        <p:attrNameLst>
                                          <p:attrName>style.visibility</p:attrName>
                                        </p:attrNameLst>
                                      </p:cBhvr>
                                      <p:to>
                                        <p:strVal val="hidden"/>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xit" presetSubtype="0" fill="hold" grpId="1" nodeType="withEffect">
                                  <p:stCondLst>
                                    <p:cond delay="0"/>
                                  </p:stCondLst>
                                  <p:childTnLst>
                                    <p:set>
                                      <p:cBhvr>
                                        <p:cTn id="78" dur="1" fill="hold">
                                          <p:stCondLst>
                                            <p:cond delay="0"/>
                                          </p:stCondLst>
                                        </p:cTn>
                                        <p:tgtEl>
                                          <p:spTgt spid="29"/>
                                        </p:tgtEl>
                                        <p:attrNameLst>
                                          <p:attrName>style.visibility</p:attrName>
                                        </p:attrNameLst>
                                      </p:cBhvr>
                                      <p:to>
                                        <p:strVal val="hidden"/>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5"/>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0"/>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6" grpId="0" animBg="1"/>
      <p:bldP spid="26" grpId="1" animBg="1"/>
      <p:bldP spid="27" grpId="0" animBg="1"/>
      <p:bldP spid="27" grpId="1" animBg="1"/>
      <p:bldP spid="28" grpId="0" animBg="1"/>
      <p:bldP spid="28" grpId="1" animBg="1"/>
      <p:bldP spid="29" grpId="0" animBg="1"/>
      <p:bldP spid="29" grpId="1"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p:bldP spid="47" grpId="0" animBg="1"/>
      <p:bldP spid="49" grpId="0"/>
      <p:bldP spid="5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標題 1"/>
          <p:cNvSpPr>
            <a:spLocks noGrp="1"/>
          </p:cNvSpPr>
          <p:nvPr>
            <p:ph type="title"/>
          </p:nvPr>
        </p:nvSpPr>
        <p:spPr>
          <a:xfrm>
            <a:off x="1676400" y="365125"/>
            <a:ext cx="6838950" cy="1325563"/>
          </a:xfrm>
        </p:spPr>
        <p:txBody>
          <a:bodyPr/>
          <a:lstStyle/>
          <a:p>
            <a:r>
              <a:rPr lang="en-US" altLang="zh-TW" dirty="0">
                <a:ea typeface="ＭＳ Ｐゴシック" pitchFamily="34" charset="-128"/>
              </a:rPr>
              <a:t>Color image: RGB 3 channels</a:t>
            </a:r>
            <a:endParaRPr lang="zh-TW" altLang="en-US" dirty="0">
              <a:ea typeface="ＭＳ Ｐゴシック" pitchFamily="34" charset="-128"/>
            </a:endParaRPr>
          </a:p>
        </p:txBody>
      </p:sp>
      <p:graphicFrame>
        <p:nvGraphicFramePr>
          <p:cNvPr id="6" name="內容版面配置區 3"/>
          <p:cNvGraphicFramePr>
            <a:graphicFrameLocks noGrp="1"/>
          </p:cNvGraphicFramePr>
          <p:nvPr/>
        </p:nvGraphicFramePr>
        <p:xfrm>
          <a:off x="4954588" y="3441700"/>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7">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8">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40798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7" name="內容版面配置區 3"/>
          <p:cNvGraphicFramePr>
            <a:graphicFrameLocks noGrp="1"/>
          </p:cNvGraphicFramePr>
          <p:nvPr/>
        </p:nvGraphicFramePr>
        <p:xfrm>
          <a:off x="5118100" y="3648075"/>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7">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8" name="內容版面配置區 3"/>
          <p:cNvGraphicFramePr>
            <a:graphicFrameLocks noGrp="1"/>
          </p:cNvGraphicFramePr>
          <p:nvPr/>
        </p:nvGraphicFramePr>
        <p:xfrm>
          <a:off x="5324475" y="3849688"/>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449262">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9" name="表格 8"/>
          <p:cNvGraphicFramePr>
            <a:graphicFrameLocks noGrp="1"/>
          </p:cNvGraphicFramePr>
          <p:nvPr/>
        </p:nvGraphicFramePr>
        <p:xfrm>
          <a:off x="2967038" y="161448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10" name="文字方塊 9"/>
          <p:cNvSpPr txBox="1">
            <a:spLocks noChangeArrowheads="1"/>
          </p:cNvSpPr>
          <p:nvPr/>
        </p:nvSpPr>
        <p:spPr bwMode="auto">
          <a:xfrm>
            <a:off x="4676775" y="2341563"/>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graphicFrame>
        <p:nvGraphicFramePr>
          <p:cNvPr id="11" name="表格 10"/>
          <p:cNvGraphicFramePr>
            <a:graphicFrameLocks noGrp="1"/>
          </p:cNvGraphicFramePr>
          <p:nvPr/>
        </p:nvGraphicFramePr>
        <p:xfrm>
          <a:off x="5972175" y="1573213"/>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12" name="文字方塊 11"/>
          <p:cNvSpPr txBox="1">
            <a:spLocks noChangeArrowheads="1"/>
          </p:cNvSpPr>
          <p:nvPr/>
        </p:nvSpPr>
        <p:spPr bwMode="auto">
          <a:xfrm>
            <a:off x="7680325" y="2301875"/>
            <a:ext cx="14493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2</a:t>
            </a:r>
            <a:endParaRPr lang="zh-TW" altLang="en-US"/>
          </a:p>
        </p:txBody>
      </p:sp>
      <p:graphicFrame>
        <p:nvGraphicFramePr>
          <p:cNvPr id="13" name="表格 12"/>
          <p:cNvGraphicFramePr>
            <a:graphicFrameLocks noGrp="1"/>
          </p:cNvGraphicFramePr>
          <p:nvPr/>
        </p:nvGraphicFramePr>
        <p:xfrm>
          <a:off x="3119438" y="1766888"/>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graphicFrame>
        <p:nvGraphicFramePr>
          <p:cNvPr id="14" name="表格 13"/>
          <p:cNvGraphicFramePr>
            <a:graphicFrameLocks noGrp="1"/>
          </p:cNvGraphicFramePr>
          <p:nvPr/>
        </p:nvGraphicFramePr>
        <p:xfrm>
          <a:off x="3271838" y="1882775"/>
          <a:ext cx="1622425" cy="1371600"/>
        </p:xfrm>
        <a:graphic>
          <a:graphicData uri="http://schemas.openxmlformats.org/drawingml/2006/table">
            <a:tbl>
              <a:tblPr/>
              <a:tblGrid>
                <a:gridCol w="541337">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8">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graphicFrame>
        <p:nvGraphicFramePr>
          <p:cNvPr id="15" name="表格 14"/>
          <p:cNvGraphicFramePr>
            <a:graphicFrameLocks noGrp="1"/>
          </p:cNvGraphicFramePr>
          <p:nvPr/>
        </p:nvGraphicFramePr>
        <p:xfrm>
          <a:off x="6124575" y="170815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graphicFrame>
        <p:nvGraphicFramePr>
          <p:cNvPr id="16" name="表格 15"/>
          <p:cNvGraphicFramePr>
            <a:graphicFrameLocks noGrp="1"/>
          </p:cNvGraphicFramePr>
          <p:nvPr/>
        </p:nvGraphicFramePr>
        <p:xfrm>
          <a:off x="6276975" y="186055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sp>
        <p:nvSpPr>
          <p:cNvPr id="17" name="向右箭號 4"/>
          <p:cNvSpPr/>
          <p:nvPr/>
        </p:nvSpPr>
        <p:spPr>
          <a:xfrm>
            <a:off x="4295775" y="4379913"/>
            <a:ext cx="508000" cy="8683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grpSp>
        <p:nvGrpSpPr>
          <p:cNvPr id="18" name="群組 17"/>
          <p:cNvGrpSpPr>
            <a:grpSpLocks/>
          </p:cNvGrpSpPr>
          <p:nvPr/>
        </p:nvGrpSpPr>
        <p:grpSpPr bwMode="auto">
          <a:xfrm>
            <a:off x="1524000" y="3200400"/>
            <a:ext cx="2757488" cy="3265487"/>
            <a:chOff x="353684" y="3059766"/>
            <a:chExt cx="3927508" cy="3629534"/>
          </a:xfrm>
        </p:grpSpPr>
        <p:pic>
          <p:nvPicPr>
            <p:cNvPr id="23819" name="圖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4122" y="3442427"/>
              <a:ext cx="3907070" cy="3246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20" name="文字方塊 16"/>
            <p:cNvSpPr txBox="1">
              <a:spLocks noChangeArrowheads="1"/>
            </p:cNvSpPr>
            <p:nvPr/>
          </p:nvSpPr>
          <p:spPr bwMode="auto">
            <a:xfrm>
              <a:off x="353684" y="3059766"/>
              <a:ext cx="2821836" cy="513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t>Color image</a:t>
              </a:r>
              <a:endParaRPr lang="zh-TW" altLang="en-US" dirty="0"/>
            </a:p>
          </p:txBody>
        </p:sp>
      </p:grpSp>
    </p:spTree>
    <p:extLst>
      <p:ext uri="{BB962C8B-B14F-4D97-AF65-F5344CB8AC3E}">
        <p14:creationId xmlns:p14="http://schemas.microsoft.com/office/powerpoint/2010/main" val="15029966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extLst>
              <p:ext uri="{D42A27DB-BD31-4B8C-83A1-F6EECF244321}">
                <p14:modId xmlns:p14="http://schemas.microsoft.com/office/powerpoint/2010/main" val="1201348761"/>
              </p:ext>
            </p:extLst>
          </p:nvPr>
        </p:nvGraphicFramePr>
        <p:xfrm>
          <a:off x="1700212" y="1289050"/>
          <a:ext cx="1804988" cy="1724028"/>
        </p:xfrm>
        <a:graphic>
          <a:graphicData uri="http://schemas.openxmlformats.org/drawingml/2006/table">
            <a:tbl>
              <a:tblPr/>
              <a:tblGrid>
                <a:gridCol w="300038">
                  <a:extLst>
                    <a:ext uri="{9D8B030D-6E8A-4147-A177-3AD203B41FA5}">
                      <a16:colId xmlns:a16="http://schemas.microsoft.com/office/drawing/2014/main" val="20000"/>
                    </a:ext>
                  </a:extLst>
                </a:gridCol>
                <a:gridCol w="301625">
                  <a:extLst>
                    <a:ext uri="{9D8B030D-6E8A-4147-A177-3AD203B41FA5}">
                      <a16:colId xmlns:a16="http://schemas.microsoft.com/office/drawing/2014/main" val="20001"/>
                    </a:ext>
                  </a:extLst>
                </a:gridCol>
                <a:gridCol w="300037">
                  <a:extLst>
                    <a:ext uri="{9D8B030D-6E8A-4147-A177-3AD203B41FA5}">
                      <a16:colId xmlns:a16="http://schemas.microsoft.com/office/drawing/2014/main" val="20002"/>
                    </a:ext>
                  </a:extLst>
                </a:gridCol>
                <a:gridCol w="301625">
                  <a:extLst>
                    <a:ext uri="{9D8B030D-6E8A-4147-A177-3AD203B41FA5}">
                      <a16:colId xmlns:a16="http://schemas.microsoft.com/office/drawing/2014/main" val="20003"/>
                    </a:ext>
                  </a:extLst>
                </a:gridCol>
                <a:gridCol w="300038">
                  <a:extLst>
                    <a:ext uri="{9D8B030D-6E8A-4147-A177-3AD203B41FA5}">
                      <a16:colId xmlns:a16="http://schemas.microsoft.com/office/drawing/2014/main" val="20004"/>
                    </a:ext>
                  </a:extLst>
                </a:gridCol>
                <a:gridCol w="301625">
                  <a:extLst>
                    <a:ext uri="{9D8B030D-6E8A-4147-A177-3AD203B41FA5}">
                      <a16:colId xmlns:a16="http://schemas.microsoft.com/office/drawing/2014/main" val="20005"/>
                    </a:ext>
                  </a:extLst>
                </a:gridCol>
              </a:tblGrid>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34" marB="28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628" name="文字方塊 4"/>
          <p:cNvSpPr txBox="1">
            <a:spLocks noChangeArrowheads="1"/>
          </p:cNvSpPr>
          <p:nvPr/>
        </p:nvSpPr>
        <p:spPr bwMode="auto">
          <a:xfrm>
            <a:off x="1979612" y="3013075"/>
            <a:ext cx="1246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image</a:t>
            </a:r>
            <a:endParaRPr lang="zh-TW" altLang="en-US"/>
          </a:p>
        </p:txBody>
      </p:sp>
      <p:pic>
        <p:nvPicPr>
          <p:cNvPr id="24629" name="圖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981700" y="1312863"/>
            <a:ext cx="1916112"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向右箭號 62"/>
          <p:cNvSpPr/>
          <p:nvPr/>
        </p:nvSpPr>
        <p:spPr>
          <a:xfrm>
            <a:off x="3922712" y="2151063"/>
            <a:ext cx="1881188" cy="666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4631" name="文字方塊 7"/>
          <p:cNvSpPr txBox="1">
            <a:spLocks noChangeArrowheads="1"/>
          </p:cNvSpPr>
          <p:nvPr/>
        </p:nvSpPr>
        <p:spPr bwMode="auto">
          <a:xfrm>
            <a:off x="3906837" y="2743200"/>
            <a:ext cx="20050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convolution</a:t>
            </a:r>
            <a:endParaRPr lang="zh-TW" altLang="en-US"/>
          </a:p>
        </p:txBody>
      </p:sp>
      <p:graphicFrame>
        <p:nvGraphicFramePr>
          <p:cNvPr id="9" name="表格 8"/>
          <p:cNvGraphicFramePr>
            <a:graphicFrameLocks noGrp="1"/>
          </p:cNvGraphicFramePr>
          <p:nvPr>
            <p:extLst>
              <p:ext uri="{D42A27DB-BD31-4B8C-83A1-F6EECF244321}">
                <p14:modId xmlns:p14="http://schemas.microsoft.com/office/powerpoint/2010/main" val="4047809650"/>
              </p:ext>
            </p:extLst>
          </p:nvPr>
        </p:nvGraphicFramePr>
        <p:xfrm>
          <a:off x="4835525" y="1268413"/>
          <a:ext cx="963612" cy="814389"/>
        </p:xfrm>
        <a:graphic>
          <a:graphicData uri="http://schemas.openxmlformats.org/drawingml/2006/table">
            <a:tbl>
              <a:tblPr/>
              <a:tblGrid>
                <a:gridCol w="320675">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320675">
                  <a:extLst>
                    <a:ext uri="{9D8B030D-6E8A-4147-A177-3AD203B41FA5}">
                      <a16:colId xmlns:a16="http://schemas.microsoft.com/office/drawing/2014/main" val="20002"/>
                    </a:ext>
                  </a:extLst>
                </a:gridCol>
              </a:tblGrid>
              <a:tr h="271463">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0"/>
                  </a:ext>
                </a:extLst>
              </a:tr>
              <a:tr h="271463">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1"/>
                  </a:ext>
                </a:extLst>
              </a:tr>
              <a:tr h="271463">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4319" marR="54319" marT="27146" marB="2714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9F9FF"/>
                    </a:solidFill>
                  </a:tcPr>
                </a:tc>
                <a:extLst>
                  <a:ext uri="{0D108BD9-81ED-4DB2-BD59-A6C34878D82A}">
                    <a16:rowId xmlns:a16="http://schemas.microsoft.com/office/drawing/2014/main" val="10002"/>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2923857778"/>
              </p:ext>
            </p:extLst>
          </p:nvPr>
        </p:nvGraphicFramePr>
        <p:xfrm>
          <a:off x="3752850" y="1273175"/>
          <a:ext cx="947737" cy="800286"/>
        </p:xfrm>
        <a:graphic>
          <a:graphicData uri="http://schemas.openxmlformats.org/drawingml/2006/table">
            <a:tbl>
              <a:tblPr/>
              <a:tblGrid>
                <a:gridCol w="315912">
                  <a:extLst>
                    <a:ext uri="{9D8B030D-6E8A-4147-A177-3AD203B41FA5}">
                      <a16:colId xmlns:a16="http://schemas.microsoft.com/office/drawing/2014/main" val="20000"/>
                    </a:ext>
                  </a:extLst>
                </a:gridCol>
                <a:gridCol w="315913">
                  <a:extLst>
                    <a:ext uri="{9D8B030D-6E8A-4147-A177-3AD203B41FA5}">
                      <a16:colId xmlns:a16="http://schemas.microsoft.com/office/drawing/2014/main" val="20001"/>
                    </a:ext>
                  </a:extLst>
                </a:gridCol>
                <a:gridCol w="315912">
                  <a:extLst>
                    <a:ext uri="{9D8B030D-6E8A-4147-A177-3AD203B41FA5}">
                      <a16:colId xmlns:a16="http://schemas.microsoft.com/office/drawing/2014/main" val="20002"/>
                    </a:ext>
                  </a:extLst>
                </a:gridCol>
              </a:tblGrid>
              <a:tr h="266700">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266700">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266700">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1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3424" marR="53424" marT="26701" marB="26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11" name="矩形 11"/>
          <p:cNvSpPr/>
          <p:nvPr/>
        </p:nvSpPr>
        <p:spPr>
          <a:xfrm>
            <a:off x="1574800" y="1046163"/>
            <a:ext cx="6654800" cy="26035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12" name="矩形 39"/>
          <p:cNvSpPr>
            <a:spLocks noChangeArrowheads="1"/>
          </p:cNvSpPr>
          <p:nvPr/>
        </p:nvSpPr>
        <p:spPr bwMode="auto">
          <a:xfrm>
            <a:off x="5272088" y="3898900"/>
            <a:ext cx="498475" cy="2624138"/>
          </a:xfrm>
          <a:prstGeom prst="rect">
            <a:avLst/>
          </a:prstGeom>
          <a:solidFill>
            <a:srgbClr val="D9D9D9"/>
          </a:solidFill>
          <a:ln>
            <a:noFill/>
          </a:ln>
          <a:effectLst>
            <a:outerShdw blurRad="40000" dist="20000" dir="5400000" rotWithShape="0">
              <a:srgbClr val="808080">
                <a:alpha val="37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3" name="矩形 40"/>
          <p:cNvSpPr>
            <a:spLocks noChangeArrowheads="1"/>
          </p:cNvSpPr>
          <p:nvPr/>
        </p:nvSpPr>
        <p:spPr bwMode="auto">
          <a:xfrm>
            <a:off x="5340350" y="4616450"/>
            <a:ext cx="342900" cy="3429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4" name="矩形 41"/>
          <p:cNvSpPr>
            <a:spLocks noChangeArrowheads="1"/>
          </p:cNvSpPr>
          <p:nvPr/>
        </p:nvSpPr>
        <p:spPr bwMode="auto">
          <a:xfrm>
            <a:off x="5346700" y="4044950"/>
            <a:ext cx="342900" cy="3429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graphicFrame>
        <p:nvGraphicFramePr>
          <p:cNvPr id="24672" name="Object 12"/>
          <p:cNvGraphicFramePr>
            <a:graphicFrameLocks noChangeAspect="1"/>
          </p:cNvGraphicFramePr>
          <p:nvPr/>
        </p:nvGraphicFramePr>
        <p:xfrm>
          <a:off x="5359400" y="3949700"/>
          <a:ext cx="325438" cy="461963"/>
        </p:xfrm>
        <a:graphic>
          <a:graphicData uri="http://schemas.openxmlformats.org/presentationml/2006/ole">
            <mc:AlternateContent xmlns:mc="http://schemas.openxmlformats.org/markup-compatibility/2006">
              <mc:Choice xmlns:v="urn:schemas-microsoft-com:vml" Requires="v">
                <p:oleObj name="方程式" r:id="rId3" imgW="3505200" imgH="4978400" progId="Equation.3">
                  <p:embed/>
                </p:oleObj>
              </mc:Choice>
              <mc:Fallback>
                <p:oleObj name="方程式" r:id="rId3" imgW="3505200" imgH="4978400" progId="Equation.3">
                  <p:embed/>
                  <p:pic>
                    <p:nvPicPr>
                      <p:cNvPr id="24672"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9400" y="3949700"/>
                        <a:ext cx="325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673" name="Object 12"/>
          <p:cNvGraphicFramePr>
            <a:graphicFrameLocks noChangeAspect="1"/>
          </p:cNvGraphicFramePr>
          <p:nvPr/>
        </p:nvGraphicFramePr>
        <p:xfrm>
          <a:off x="5364163" y="4533900"/>
          <a:ext cx="352425" cy="461963"/>
        </p:xfrm>
        <a:graphic>
          <a:graphicData uri="http://schemas.openxmlformats.org/presentationml/2006/ole">
            <mc:AlternateContent xmlns:mc="http://schemas.openxmlformats.org/markup-compatibility/2006">
              <mc:Choice xmlns:v="urn:schemas-microsoft-com:vml" Requires="v">
                <p:oleObj name="方程式" r:id="rId5" imgW="3797300" imgH="4978400" progId="Equation.3">
                  <p:embed/>
                </p:oleObj>
              </mc:Choice>
              <mc:Fallback>
                <p:oleObj name="方程式" r:id="rId5" imgW="3797300" imgH="4978400" progId="Equation.3">
                  <p:embed/>
                  <p:pic>
                    <p:nvPicPr>
                      <p:cNvPr id="24673"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4533900"/>
                        <a:ext cx="352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矩形 44"/>
          <p:cNvSpPr>
            <a:spLocks noChangeArrowheads="1"/>
          </p:cNvSpPr>
          <p:nvPr/>
        </p:nvSpPr>
        <p:spPr bwMode="auto">
          <a:xfrm>
            <a:off x="6826250" y="3870325"/>
            <a:ext cx="746125" cy="2676525"/>
          </a:xfrm>
          <a:prstGeom prst="rect">
            <a:avLst/>
          </a:prstGeom>
          <a:solidFill>
            <a:srgbClr val="D9D9D9"/>
          </a:solidFill>
          <a:ln>
            <a:noFill/>
          </a:ln>
          <a:effectLst>
            <a:outerShdw blurRad="40000" dist="20000" dir="5400000" rotWithShape="0">
              <a:srgbClr val="808080">
                <a:alpha val="37999"/>
              </a:srgbClr>
            </a:outerShdw>
          </a:effectLst>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8" name="橢圓 45"/>
          <p:cNvSpPr>
            <a:spLocks noChangeArrowheads="1"/>
          </p:cNvSpPr>
          <p:nvPr/>
        </p:nvSpPr>
        <p:spPr bwMode="auto">
          <a:xfrm>
            <a:off x="6934200" y="3886200"/>
            <a:ext cx="574675" cy="57467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19" name="橢圓 46"/>
          <p:cNvSpPr>
            <a:spLocks noChangeArrowheads="1"/>
          </p:cNvSpPr>
          <p:nvPr/>
        </p:nvSpPr>
        <p:spPr bwMode="auto">
          <a:xfrm>
            <a:off x="6926263" y="4660900"/>
            <a:ext cx="573087" cy="573088"/>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20" name="橢圓 47"/>
          <p:cNvSpPr>
            <a:spLocks noChangeArrowheads="1"/>
          </p:cNvSpPr>
          <p:nvPr/>
        </p:nvSpPr>
        <p:spPr bwMode="auto">
          <a:xfrm>
            <a:off x="6913563" y="5888038"/>
            <a:ext cx="574675" cy="574675"/>
          </a:xfrm>
          <a:prstGeom prst="ellipse">
            <a:avLst/>
          </a:prstGeom>
          <a:gradFill rotWithShape="1">
            <a:gsLst>
              <a:gs pos="0">
                <a:srgbClr val="F0F0FF"/>
              </a:gs>
              <a:gs pos="64999">
                <a:srgbClr val="DDDDFF"/>
              </a:gs>
              <a:gs pos="100000">
                <a:srgbClr val="D0D0FF"/>
              </a:gs>
            </a:gsLst>
            <a:lin ang="5400000" scaled="1"/>
          </a:gradFill>
          <a:ln w="9525">
            <a:solidFill>
              <a:srgbClr val="C6C6FB"/>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sp>
        <p:nvSpPr>
          <p:cNvPr id="24678" name="文字方塊 48"/>
          <p:cNvSpPr txBox="1">
            <a:spLocks noChangeArrowheads="1"/>
          </p:cNvSpPr>
          <p:nvPr/>
        </p:nvSpPr>
        <p:spPr bwMode="auto">
          <a:xfrm rot="5400000">
            <a:off x="6911976" y="5310187"/>
            <a:ext cx="768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a:t>……</a:t>
            </a:r>
            <a:endParaRPr lang="zh-TW" altLang="en-US" sz="2800"/>
          </a:p>
        </p:txBody>
      </p:sp>
      <p:sp>
        <p:nvSpPr>
          <p:cNvPr id="22" name="矩形 49"/>
          <p:cNvSpPr>
            <a:spLocks noChangeArrowheads="1"/>
          </p:cNvSpPr>
          <p:nvPr/>
        </p:nvSpPr>
        <p:spPr bwMode="auto">
          <a:xfrm>
            <a:off x="5349875" y="6013450"/>
            <a:ext cx="342900" cy="342900"/>
          </a:xfrm>
          <a:prstGeom prst="rect">
            <a:avLst/>
          </a:prstGeom>
          <a:gradFill rotWithShape="1">
            <a:gsLst>
              <a:gs pos="0">
                <a:srgbClr val="EDEDED"/>
              </a:gs>
              <a:gs pos="64999">
                <a:srgbClr val="D0D0D0"/>
              </a:gs>
              <a:gs pos="100000">
                <a:srgbClr val="BCBCBC"/>
              </a:gs>
            </a:gsLst>
            <a:lin ang="5400000" scaled="1"/>
          </a:gradFill>
          <a:ln w="9525">
            <a:solidFill>
              <a:srgbClr val="000000"/>
            </a:solidFill>
            <a:miter lim="800000"/>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000000"/>
              </a:solidFill>
            </a:endParaRPr>
          </a:p>
        </p:txBody>
      </p:sp>
      <p:graphicFrame>
        <p:nvGraphicFramePr>
          <p:cNvPr id="24680" name="Object 12"/>
          <p:cNvGraphicFramePr>
            <a:graphicFrameLocks noChangeAspect="1"/>
          </p:cNvGraphicFramePr>
          <p:nvPr/>
        </p:nvGraphicFramePr>
        <p:xfrm>
          <a:off x="5319713" y="5918200"/>
          <a:ext cx="461962" cy="488950"/>
        </p:xfrm>
        <a:graphic>
          <a:graphicData uri="http://schemas.openxmlformats.org/presentationml/2006/ole">
            <mc:AlternateContent xmlns:mc="http://schemas.openxmlformats.org/markup-compatibility/2006">
              <mc:Choice xmlns:v="urn:schemas-microsoft-com:vml" Requires="v">
                <p:oleObj name="方程式" r:id="rId7" imgW="4978400" imgH="5270500" progId="Equation.3">
                  <p:embed/>
                </p:oleObj>
              </mc:Choice>
              <mc:Fallback>
                <p:oleObj name="方程式" r:id="rId7" imgW="4978400" imgH="5270500" progId="Equation.3">
                  <p:embed/>
                  <p:pic>
                    <p:nvPicPr>
                      <p:cNvPr id="2468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9713" y="5918200"/>
                        <a:ext cx="4619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681" name="文字方塊 51"/>
          <p:cNvSpPr txBox="1">
            <a:spLocks noChangeArrowheads="1"/>
          </p:cNvSpPr>
          <p:nvPr/>
        </p:nvSpPr>
        <p:spPr bwMode="auto">
          <a:xfrm rot="5400000">
            <a:off x="5241132" y="5260181"/>
            <a:ext cx="7683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a:t>……</a:t>
            </a:r>
            <a:endParaRPr lang="zh-TW" altLang="en-US" sz="2800"/>
          </a:p>
        </p:txBody>
      </p:sp>
      <p:cxnSp>
        <p:nvCxnSpPr>
          <p:cNvPr id="25" name="直線單箭頭接點 52"/>
          <p:cNvCxnSpPr>
            <a:endCxn id="18" idx="2"/>
          </p:cNvCxnSpPr>
          <p:nvPr/>
        </p:nvCxnSpPr>
        <p:spPr>
          <a:xfrm flipV="1">
            <a:off x="5695950" y="4173538"/>
            <a:ext cx="1238250" cy="127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53"/>
          <p:cNvCxnSpPr>
            <a:stCxn id="14" idx="3"/>
            <a:endCxn id="19" idx="2"/>
          </p:cNvCxnSpPr>
          <p:nvPr/>
        </p:nvCxnSpPr>
        <p:spPr>
          <a:xfrm>
            <a:off x="5689600" y="4216400"/>
            <a:ext cx="1236663" cy="7302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54"/>
          <p:cNvCxnSpPr>
            <a:stCxn id="14" idx="3"/>
            <a:endCxn id="20" idx="2"/>
          </p:cNvCxnSpPr>
          <p:nvPr/>
        </p:nvCxnSpPr>
        <p:spPr>
          <a:xfrm>
            <a:off x="5689600" y="4216400"/>
            <a:ext cx="1223963" cy="19589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55"/>
          <p:cNvCxnSpPr>
            <a:endCxn id="18" idx="2"/>
          </p:cNvCxnSpPr>
          <p:nvPr/>
        </p:nvCxnSpPr>
        <p:spPr>
          <a:xfrm flipV="1">
            <a:off x="5727700" y="4173538"/>
            <a:ext cx="1206500" cy="5953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56"/>
          <p:cNvCxnSpPr>
            <a:stCxn id="13" idx="3"/>
            <a:endCxn id="19" idx="2"/>
          </p:cNvCxnSpPr>
          <p:nvPr/>
        </p:nvCxnSpPr>
        <p:spPr>
          <a:xfrm>
            <a:off x="5683250" y="4787900"/>
            <a:ext cx="1243013" cy="15875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57"/>
          <p:cNvCxnSpPr>
            <a:stCxn id="13" idx="3"/>
            <a:endCxn id="20" idx="2"/>
          </p:cNvCxnSpPr>
          <p:nvPr/>
        </p:nvCxnSpPr>
        <p:spPr>
          <a:xfrm>
            <a:off x="5683250" y="4787900"/>
            <a:ext cx="1230313" cy="138747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58"/>
          <p:cNvCxnSpPr>
            <a:endCxn id="18" idx="2"/>
          </p:cNvCxnSpPr>
          <p:nvPr/>
        </p:nvCxnSpPr>
        <p:spPr>
          <a:xfrm flipV="1">
            <a:off x="5792788" y="4173538"/>
            <a:ext cx="1141412" cy="19939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59"/>
          <p:cNvCxnSpPr>
            <a:endCxn id="19" idx="2"/>
          </p:cNvCxnSpPr>
          <p:nvPr/>
        </p:nvCxnSpPr>
        <p:spPr>
          <a:xfrm flipV="1">
            <a:off x="5781675" y="4946650"/>
            <a:ext cx="1144588" cy="121602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60"/>
          <p:cNvCxnSpPr>
            <a:endCxn id="20" idx="2"/>
          </p:cNvCxnSpPr>
          <p:nvPr/>
        </p:nvCxnSpPr>
        <p:spPr>
          <a:xfrm>
            <a:off x="5781675" y="6162675"/>
            <a:ext cx="1131888" cy="1270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內容版面配置區 3"/>
          <p:cNvGraphicFramePr>
            <a:graphicFrameLocks noGrp="1"/>
          </p:cNvGraphicFramePr>
          <p:nvPr/>
        </p:nvGraphicFramePr>
        <p:xfrm>
          <a:off x="3332163" y="4275138"/>
          <a:ext cx="1804987" cy="1724028"/>
        </p:xfrm>
        <a:graphic>
          <a:graphicData uri="http://schemas.openxmlformats.org/drawingml/2006/table">
            <a:tbl>
              <a:tblPr/>
              <a:tblGrid>
                <a:gridCol w="301625">
                  <a:extLst>
                    <a:ext uri="{9D8B030D-6E8A-4147-A177-3AD203B41FA5}">
                      <a16:colId xmlns:a16="http://schemas.microsoft.com/office/drawing/2014/main" val="20000"/>
                    </a:ext>
                  </a:extLst>
                </a:gridCol>
                <a:gridCol w="300037">
                  <a:extLst>
                    <a:ext uri="{9D8B030D-6E8A-4147-A177-3AD203B41FA5}">
                      <a16:colId xmlns:a16="http://schemas.microsoft.com/office/drawing/2014/main" val="20001"/>
                    </a:ext>
                  </a:extLst>
                </a:gridCol>
                <a:gridCol w="300038">
                  <a:extLst>
                    <a:ext uri="{9D8B030D-6E8A-4147-A177-3AD203B41FA5}">
                      <a16:colId xmlns:a16="http://schemas.microsoft.com/office/drawing/2014/main" val="20002"/>
                    </a:ext>
                  </a:extLst>
                </a:gridCol>
                <a:gridCol w="301625">
                  <a:extLst>
                    <a:ext uri="{9D8B030D-6E8A-4147-A177-3AD203B41FA5}">
                      <a16:colId xmlns:a16="http://schemas.microsoft.com/office/drawing/2014/main" val="20003"/>
                    </a:ext>
                  </a:extLst>
                </a:gridCol>
                <a:gridCol w="300037">
                  <a:extLst>
                    <a:ext uri="{9D8B030D-6E8A-4147-A177-3AD203B41FA5}">
                      <a16:colId xmlns:a16="http://schemas.microsoft.com/office/drawing/2014/main" val="20004"/>
                    </a:ext>
                  </a:extLst>
                </a:gridCol>
                <a:gridCol w="301625">
                  <a:extLst>
                    <a:ext uri="{9D8B030D-6E8A-4147-A177-3AD203B41FA5}">
                      <a16:colId xmlns:a16="http://schemas.microsoft.com/office/drawing/2014/main" val="20005"/>
                    </a:ext>
                  </a:extLst>
                </a:gridCol>
              </a:tblGrid>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7338">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15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15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15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57429" marR="57429" marT="28707" marB="28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4742" name="矩形 68"/>
          <p:cNvSpPr>
            <a:spLocks noChangeArrowheads="1"/>
          </p:cNvSpPr>
          <p:nvPr/>
        </p:nvSpPr>
        <p:spPr bwMode="auto">
          <a:xfrm>
            <a:off x="1600200" y="150813"/>
            <a:ext cx="7010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3200" b="1" i="1" u="sng" dirty="0"/>
              <a:t>Convolution </a:t>
            </a:r>
            <a:r>
              <a:rPr lang="en-US" altLang="zh-TW" sz="3200" b="1" i="1" u="sng" dirty="0" err="1"/>
              <a:t>vs</a:t>
            </a:r>
            <a:r>
              <a:rPr lang="en-US" altLang="zh-TW" sz="3200" b="1" i="1" u="sng" dirty="0"/>
              <a:t>. Fully Connected</a:t>
            </a:r>
            <a:endParaRPr lang="zh-TW" altLang="en-US" sz="3200" b="1" i="1" u="sng" dirty="0"/>
          </a:p>
        </p:txBody>
      </p:sp>
      <p:sp>
        <p:nvSpPr>
          <p:cNvPr id="24743" name="文字方塊 69"/>
          <p:cNvSpPr txBox="1">
            <a:spLocks noChangeArrowheads="1"/>
          </p:cNvSpPr>
          <p:nvPr/>
        </p:nvSpPr>
        <p:spPr bwMode="auto">
          <a:xfrm>
            <a:off x="1476375" y="4687888"/>
            <a:ext cx="193675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a:t>Fully-connected</a:t>
            </a:r>
            <a:endParaRPr lang="zh-TW" altLang="en-US" sz="2800"/>
          </a:p>
        </p:txBody>
      </p:sp>
      <p:sp>
        <p:nvSpPr>
          <p:cNvPr id="37" name="矩形 71"/>
          <p:cNvSpPr/>
          <p:nvPr/>
        </p:nvSpPr>
        <p:spPr>
          <a:xfrm>
            <a:off x="6732588" y="3797300"/>
            <a:ext cx="915987" cy="2749550"/>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38" name="矩形 72"/>
          <p:cNvSpPr/>
          <p:nvPr/>
        </p:nvSpPr>
        <p:spPr>
          <a:xfrm>
            <a:off x="5916612" y="1233488"/>
            <a:ext cx="2084388" cy="2057400"/>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Tree>
    <p:extLst>
      <p:ext uri="{BB962C8B-B14F-4D97-AF65-F5344CB8AC3E}">
        <p14:creationId xmlns:p14="http://schemas.microsoft.com/office/powerpoint/2010/main" val="2570930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extLst>
              <p:ext uri="{D42A27DB-BD31-4B8C-83A1-F6EECF244321}">
                <p14:modId xmlns:p14="http://schemas.microsoft.com/office/powerpoint/2010/main" val="3365635162"/>
              </p:ext>
            </p:extLst>
          </p:nvPr>
        </p:nvGraphicFramePr>
        <p:xfrm>
          <a:off x="1619250" y="1849438"/>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7">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5652" name="文字方塊 4"/>
          <p:cNvSpPr txBox="1">
            <a:spLocks noChangeArrowheads="1"/>
          </p:cNvSpPr>
          <p:nvPr/>
        </p:nvSpPr>
        <p:spPr bwMode="auto">
          <a:xfrm>
            <a:off x="1927225" y="4640263"/>
            <a:ext cx="2347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graphicFrame>
        <p:nvGraphicFramePr>
          <p:cNvPr id="6" name="表格 5"/>
          <p:cNvGraphicFramePr>
            <a:graphicFrameLocks noGrp="1"/>
          </p:cNvGraphicFramePr>
          <p:nvPr>
            <p:extLst>
              <p:ext uri="{D42A27DB-BD31-4B8C-83A1-F6EECF244321}">
                <p14:modId xmlns:p14="http://schemas.microsoft.com/office/powerpoint/2010/main" val="2875461368"/>
              </p:ext>
            </p:extLst>
          </p:nvPr>
        </p:nvGraphicFramePr>
        <p:xfrm>
          <a:off x="1619250" y="15240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7" name="文字方塊 6"/>
          <p:cNvSpPr txBox="1">
            <a:spLocks noChangeArrowheads="1"/>
          </p:cNvSpPr>
          <p:nvPr/>
        </p:nvSpPr>
        <p:spPr bwMode="auto">
          <a:xfrm>
            <a:off x="3065463" y="236538"/>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8" name="矩形 7"/>
          <p:cNvSpPr/>
          <p:nvPr/>
        </p:nvSpPr>
        <p:spPr>
          <a:xfrm>
            <a:off x="1619250" y="1849438"/>
            <a:ext cx="1417638" cy="13827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pic>
        <p:nvPicPr>
          <p:cNvPr id="9" name="圖片 3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65575" y="1196975"/>
            <a:ext cx="2239963" cy="2227263"/>
          </a:xfrm>
          <a:prstGeom prst="rect">
            <a:avLst/>
          </a:prstGeom>
          <a:noFill/>
          <a:ln w="38100" cap="sq">
            <a:solidFill>
              <a:srgbClr val="000000"/>
            </a:solidFill>
            <a:miter lim="800000"/>
            <a:headEnd/>
            <a:tailEnd/>
          </a:ln>
          <a:effectLst>
            <a:outerShdw blurRad="50800" dist="38100" dir="2700000" algn="tl" rotWithShape="0">
              <a:srgbClr val="808080">
                <a:alpha val="42999"/>
              </a:srgbClr>
            </a:outerShdw>
          </a:effectLst>
          <a:extLst>
            <a:ext uri="{909E8E84-426E-40DD-AFC4-6F175D3DCCD1}">
              <a14:hiddenFill xmlns:a14="http://schemas.microsoft.com/office/drawing/2010/main">
                <a:solidFill>
                  <a:srgbClr val="FFFFFF"/>
                </a:solidFill>
              </a14:hiddenFill>
            </a:ext>
          </a:extLst>
        </p:spPr>
      </p:pic>
      <p:cxnSp>
        <p:nvCxnSpPr>
          <p:cNvPr id="10" name="直線單箭頭接點 33"/>
          <p:cNvCxnSpPr/>
          <p:nvPr/>
        </p:nvCxnSpPr>
        <p:spPr>
          <a:xfrm>
            <a:off x="3241675" y="838200"/>
            <a:ext cx="860425" cy="5699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34"/>
          <p:cNvCxnSpPr/>
          <p:nvPr/>
        </p:nvCxnSpPr>
        <p:spPr>
          <a:xfrm flipV="1">
            <a:off x="3059113" y="1571625"/>
            <a:ext cx="1042987" cy="9652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37"/>
          <p:cNvSpPr txBox="1">
            <a:spLocks noChangeArrowheads="1"/>
          </p:cNvSpPr>
          <p:nvPr/>
        </p:nvSpPr>
        <p:spPr bwMode="auto">
          <a:xfrm>
            <a:off x="6311900" y="49213"/>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a:t>
            </a:r>
            <a:endParaRPr lang="zh-TW" altLang="en-US"/>
          </a:p>
        </p:txBody>
      </p:sp>
      <p:sp>
        <p:nvSpPr>
          <p:cNvPr id="13" name="文字方塊 38"/>
          <p:cNvSpPr txBox="1">
            <a:spLocks noChangeArrowheads="1"/>
          </p:cNvSpPr>
          <p:nvPr/>
        </p:nvSpPr>
        <p:spPr bwMode="auto">
          <a:xfrm>
            <a:off x="6311900" y="511175"/>
            <a:ext cx="387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2</a:t>
            </a:r>
            <a:endParaRPr lang="zh-TW" altLang="en-US"/>
          </a:p>
        </p:txBody>
      </p:sp>
      <p:sp>
        <p:nvSpPr>
          <p:cNvPr id="14" name="文字方塊 39"/>
          <p:cNvSpPr txBox="1">
            <a:spLocks noChangeArrowheads="1"/>
          </p:cNvSpPr>
          <p:nvPr/>
        </p:nvSpPr>
        <p:spPr bwMode="auto">
          <a:xfrm>
            <a:off x="6311900" y="96043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3</a:t>
            </a:r>
            <a:endParaRPr lang="zh-TW" altLang="en-US"/>
          </a:p>
        </p:txBody>
      </p:sp>
      <p:sp>
        <p:nvSpPr>
          <p:cNvPr id="15" name="文字方塊 40"/>
          <p:cNvSpPr txBox="1">
            <a:spLocks noChangeArrowheads="1"/>
          </p:cNvSpPr>
          <p:nvPr/>
        </p:nvSpPr>
        <p:spPr bwMode="auto">
          <a:xfrm rot="5400000">
            <a:off x="6175375" y="1811338"/>
            <a:ext cx="8207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17" name="文字方塊 42"/>
          <p:cNvSpPr txBox="1">
            <a:spLocks noChangeArrowheads="1"/>
          </p:cNvSpPr>
          <p:nvPr/>
        </p:nvSpPr>
        <p:spPr bwMode="auto">
          <a:xfrm>
            <a:off x="6327775" y="2701925"/>
            <a:ext cx="387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8</a:t>
            </a:r>
            <a:endParaRPr lang="zh-TW" altLang="en-US"/>
          </a:p>
        </p:txBody>
      </p:sp>
      <p:sp>
        <p:nvSpPr>
          <p:cNvPr id="18" name="文字方塊 43"/>
          <p:cNvSpPr txBox="1">
            <a:spLocks noChangeArrowheads="1"/>
          </p:cNvSpPr>
          <p:nvPr/>
        </p:nvSpPr>
        <p:spPr bwMode="auto">
          <a:xfrm>
            <a:off x="6327775" y="315118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9</a:t>
            </a:r>
            <a:endParaRPr lang="zh-TW" altLang="en-US"/>
          </a:p>
        </p:txBody>
      </p:sp>
      <p:sp>
        <p:nvSpPr>
          <p:cNvPr id="19" name="文字方塊 44"/>
          <p:cNvSpPr txBox="1">
            <a:spLocks noChangeArrowheads="1"/>
          </p:cNvSpPr>
          <p:nvPr/>
        </p:nvSpPr>
        <p:spPr bwMode="auto">
          <a:xfrm rot="5400000">
            <a:off x="6313488" y="3987800"/>
            <a:ext cx="539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0" name="文字方塊 45"/>
          <p:cNvSpPr txBox="1">
            <a:spLocks noChangeArrowheads="1"/>
          </p:cNvSpPr>
          <p:nvPr/>
        </p:nvSpPr>
        <p:spPr bwMode="auto">
          <a:xfrm>
            <a:off x="6169025" y="4438650"/>
            <a:ext cx="522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13</a:t>
            </a:r>
            <a:endParaRPr lang="zh-TW" altLang="en-US"/>
          </a:p>
        </p:txBody>
      </p:sp>
      <p:sp>
        <p:nvSpPr>
          <p:cNvPr id="21" name="文字方塊 46"/>
          <p:cNvSpPr txBox="1">
            <a:spLocks noChangeArrowheads="1"/>
          </p:cNvSpPr>
          <p:nvPr/>
        </p:nvSpPr>
        <p:spPr bwMode="auto">
          <a:xfrm>
            <a:off x="6181725" y="5024437"/>
            <a:ext cx="523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t>14</a:t>
            </a:r>
            <a:endParaRPr lang="zh-TW" altLang="en-US" dirty="0"/>
          </a:p>
        </p:txBody>
      </p:sp>
      <p:sp>
        <p:nvSpPr>
          <p:cNvPr id="22" name="文字方塊 47"/>
          <p:cNvSpPr txBox="1">
            <a:spLocks noChangeArrowheads="1"/>
          </p:cNvSpPr>
          <p:nvPr/>
        </p:nvSpPr>
        <p:spPr bwMode="auto">
          <a:xfrm>
            <a:off x="6162675" y="5380038"/>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15</a:t>
            </a:r>
            <a:endParaRPr lang="zh-TW" altLang="en-US"/>
          </a:p>
        </p:txBody>
      </p:sp>
      <p:sp>
        <p:nvSpPr>
          <p:cNvPr id="23" name="文字方塊 48"/>
          <p:cNvSpPr txBox="1">
            <a:spLocks noChangeArrowheads="1"/>
          </p:cNvSpPr>
          <p:nvPr/>
        </p:nvSpPr>
        <p:spPr bwMode="auto">
          <a:xfrm rot="5400000">
            <a:off x="6361906" y="6217444"/>
            <a:ext cx="423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4" name="文字方塊 49"/>
          <p:cNvSpPr txBox="1">
            <a:spLocks noChangeArrowheads="1"/>
          </p:cNvSpPr>
          <p:nvPr/>
        </p:nvSpPr>
        <p:spPr bwMode="auto">
          <a:xfrm>
            <a:off x="7362825" y="5303838"/>
            <a:ext cx="1781175" cy="1323439"/>
          </a:xfrm>
          <a:prstGeom prst="rect">
            <a:avLst/>
          </a:prstGeom>
          <a:gradFill rotWithShape="1">
            <a:gsLst>
              <a:gs pos="0">
                <a:srgbClr val="F7F6FF"/>
              </a:gs>
              <a:gs pos="64999">
                <a:srgbClr val="ECEBFF"/>
              </a:gs>
              <a:gs pos="100000">
                <a:srgbClr val="E5E3FF"/>
              </a:gs>
            </a:gsLst>
            <a:lin ang="5400000" scaled="1"/>
          </a:gradFill>
          <a:ln w="9525">
            <a:solidFill>
              <a:srgbClr val="D4D3E7"/>
            </a:solidFill>
            <a:miter lim="800000"/>
            <a:headEnd/>
            <a:tailEnd/>
          </a:ln>
          <a:effectLst>
            <a:outerShdw blurRad="40000" dist="20000" dir="5400000" rotWithShape="0">
              <a:srgbClr val="808080">
                <a:alpha val="37999"/>
              </a:srgbClr>
            </a:outerShdw>
          </a:effec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000" dirty="0">
                <a:solidFill>
                  <a:srgbClr val="000000"/>
                </a:solidFill>
              </a:rPr>
              <a:t>Only connect to 9 inputs, not fully connected</a:t>
            </a:r>
            <a:endParaRPr lang="zh-TW" altLang="en-US" sz="2000" dirty="0">
              <a:solidFill>
                <a:srgbClr val="000000"/>
              </a:solidFill>
            </a:endParaRPr>
          </a:p>
        </p:txBody>
      </p:sp>
      <p:sp>
        <p:nvSpPr>
          <p:cNvPr id="25" name="文字方塊 50"/>
          <p:cNvSpPr txBox="1">
            <a:spLocks noChangeArrowheads="1"/>
          </p:cNvSpPr>
          <p:nvPr/>
        </p:nvSpPr>
        <p:spPr bwMode="auto">
          <a:xfrm>
            <a:off x="6321425" y="1408113"/>
            <a:ext cx="388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4:</a:t>
            </a:r>
            <a:endParaRPr lang="zh-TW" altLang="en-US"/>
          </a:p>
        </p:txBody>
      </p:sp>
      <p:sp>
        <p:nvSpPr>
          <p:cNvPr id="26" name="文字方塊 51"/>
          <p:cNvSpPr txBox="1">
            <a:spLocks noChangeArrowheads="1"/>
          </p:cNvSpPr>
          <p:nvPr/>
        </p:nvSpPr>
        <p:spPr bwMode="auto">
          <a:xfrm>
            <a:off x="6096000" y="3562350"/>
            <a:ext cx="639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TW"/>
              <a:t>10:</a:t>
            </a:r>
            <a:endParaRPr lang="zh-TW" altLang="en-US"/>
          </a:p>
        </p:txBody>
      </p:sp>
      <p:sp>
        <p:nvSpPr>
          <p:cNvPr id="27" name="文字方塊 52"/>
          <p:cNvSpPr txBox="1">
            <a:spLocks noChangeArrowheads="1"/>
          </p:cNvSpPr>
          <p:nvPr/>
        </p:nvSpPr>
        <p:spPr bwMode="auto">
          <a:xfrm>
            <a:off x="6157913" y="5789613"/>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16</a:t>
            </a:r>
            <a:endParaRPr lang="zh-TW" altLang="en-US"/>
          </a:p>
        </p:txBody>
      </p:sp>
      <p:sp>
        <p:nvSpPr>
          <p:cNvPr id="28" name="矩形 54"/>
          <p:cNvSpPr/>
          <p:nvPr/>
        </p:nvSpPr>
        <p:spPr>
          <a:xfrm>
            <a:off x="6754813" y="1460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29" name="矩形 55"/>
          <p:cNvSpPr/>
          <p:nvPr/>
        </p:nvSpPr>
        <p:spPr>
          <a:xfrm>
            <a:off x="6754813" y="61436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0" name="矩形 56"/>
          <p:cNvSpPr/>
          <p:nvPr/>
        </p:nvSpPr>
        <p:spPr>
          <a:xfrm>
            <a:off x="6754813" y="10572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1" name="矩形 57"/>
          <p:cNvSpPr/>
          <p:nvPr/>
        </p:nvSpPr>
        <p:spPr>
          <a:xfrm>
            <a:off x="6754813" y="1517650"/>
            <a:ext cx="269875"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2" name="矩形 58"/>
          <p:cNvSpPr/>
          <p:nvPr/>
        </p:nvSpPr>
        <p:spPr>
          <a:xfrm>
            <a:off x="6754813" y="23558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3" name="矩形 59"/>
          <p:cNvSpPr/>
          <p:nvPr/>
        </p:nvSpPr>
        <p:spPr>
          <a:xfrm>
            <a:off x="6754813" y="28257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34" name="矩形 60"/>
          <p:cNvSpPr/>
          <p:nvPr/>
        </p:nvSpPr>
        <p:spPr>
          <a:xfrm>
            <a:off x="6754813" y="32670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5" name="矩形 61"/>
          <p:cNvSpPr/>
          <p:nvPr/>
        </p:nvSpPr>
        <p:spPr>
          <a:xfrm>
            <a:off x="6754813" y="37290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6" name="矩形 62"/>
          <p:cNvSpPr/>
          <p:nvPr/>
        </p:nvSpPr>
        <p:spPr>
          <a:xfrm>
            <a:off x="6754813" y="451961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7" name="矩形 63"/>
          <p:cNvSpPr/>
          <p:nvPr/>
        </p:nvSpPr>
        <p:spPr>
          <a:xfrm>
            <a:off x="6754813" y="498792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8" name="矩形 64"/>
          <p:cNvSpPr/>
          <p:nvPr/>
        </p:nvSpPr>
        <p:spPr>
          <a:xfrm>
            <a:off x="6754813" y="54308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39" name="矩形 65"/>
          <p:cNvSpPr/>
          <p:nvPr/>
        </p:nvSpPr>
        <p:spPr>
          <a:xfrm>
            <a:off x="6754813" y="589280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cxnSp>
        <p:nvCxnSpPr>
          <p:cNvPr id="40" name="直線單箭頭接點 67"/>
          <p:cNvCxnSpPr>
            <a:stCxn id="28" idx="3"/>
          </p:cNvCxnSpPr>
          <p:nvPr/>
        </p:nvCxnSpPr>
        <p:spPr>
          <a:xfrm>
            <a:off x="7024688" y="280988"/>
            <a:ext cx="1420812" cy="12763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68"/>
          <p:cNvCxnSpPr>
            <a:stCxn id="29" idx="3"/>
          </p:cNvCxnSpPr>
          <p:nvPr/>
        </p:nvCxnSpPr>
        <p:spPr>
          <a:xfrm>
            <a:off x="7024688" y="749300"/>
            <a:ext cx="1420812" cy="8080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70"/>
          <p:cNvCxnSpPr>
            <a:stCxn id="30" idx="3"/>
          </p:cNvCxnSpPr>
          <p:nvPr/>
        </p:nvCxnSpPr>
        <p:spPr>
          <a:xfrm>
            <a:off x="7024688" y="1192213"/>
            <a:ext cx="1420812" cy="36512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78"/>
          <p:cNvCxnSpPr/>
          <p:nvPr/>
        </p:nvCxnSpPr>
        <p:spPr>
          <a:xfrm flipV="1">
            <a:off x="7043738" y="1597025"/>
            <a:ext cx="1350962" cy="893763"/>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79"/>
          <p:cNvCxnSpPr>
            <a:endCxn id="49" idx="2"/>
          </p:cNvCxnSpPr>
          <p:nvPr/>
        </p:nvCxnSpPr>
        <p:spPr>
          <a:xfrm flipV="1">
            <a:off x="7043738" y="1536700"/>
            <a:ext cx="1371600" cy="141605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80"/>
          <p:cNvCxnSpPr>
            <a:endCxn id="49" idx="2"/>
          </p:cNvCxnSpPr>
          <p:nvPr/>
        </p:nvCxnSpPr>
        <p:spPr>
          <a:xfrm flipV="1">
            <a:off x="7043738" y="1536700"/>
            <a:ext cx="1371600" cy="18637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81"/>
          <p:cNvCxnSpPr>
            <a:stCxn id="36" idx="3"/>
          </p:cNvCxnSpPr>
          <p:nvPr/>
        </p:nvCxnSpPr>
        <p:spPr>
          <a:xfrm flipV="1">
            <a:off x="7024688" y="1644650"/>
            <a:ext cx="1350962" cy="300990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82"/>
          <p:cNvCxnSpPr>
            <a:endCxn id="49" idx="2"/>
          </p:cNvCxnSpPr>
          <p:nvPr/>
        </p:nvCxnSpPr>
        <p:spPr>
          <a:xfrm flipV="1">
            <a:off x="7024688" y="1536700"/>
            <a:ext cx="1390650" cy="356552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83"/>
          <p:cNvCxnSpPr>
            <a:endCxn id="49" idx="2"/>
          </p:cNvCxnSpPr>
          <p:nvPr/>
        </p:nvCxnSpPr>
        <p:spPr>
          <a:xfrm flipV="1">
            <a:off x="7024688" y="1536700"/>
            <a:ext cx="1390650" cy="401320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9" name="橢圓 108"/>
          <p:cNvSpPr>
            <a:spLocks noChangeArrowheads="1"/>
          </p:cNvSpPr>
          <p:nvPr/>
        </p:nvSpPr>
        <p:spPr bwMode="auto">
          <a:xfrm>
            <a:off x="8415338" y="1177925"/>
            <a:ext cx="720725" cy="719138"/>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50" name="橢圓 116"/>
          <p:cNvSpPr/>
          <p:nvPr/>
        </p:nvSpPr>
        <p:spPr>
          <a:xfrm>
            <a:off x="1665288" y="160338"/>
            <a:ext cx="455612" cy="455612"/>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1" name="橢圓 117"/>
          <p:cNvSpPr/>
          <p:nvPr/>
        </p:nvSpPr>
        <p:spPr>
          <a:xfrm>
            <a:off x="2217738" y="131763"/>
            <a:ext cx="455612" cy="455612"/>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2" name="橢圓 118"/>
          <p:cNvSpPr/>
          <p:nvPr/>
        </p:nvSpPr>
        <p:spPr>
          <a:xfrm>
            <a:off x="2728913" y="146050"/>
            <a:ext cx="455612" cy="454025"/>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3" name="橢圓 119"/>
          <p:cNvSpPr/>
          <p:nvPr/>
        </p:nvSpPr>
        <p:spPr>
          <a:xfrm>
            <a:off x="1665288" y="619125"/>
            <a:ext cx="455612" cy="455613"/>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4" name="橢圓 120"/>
          <p:cNvSpPr/>
          <p:nvPr/>
        </p:nvSpPr>
        <p:spPr>
          <a:xfrm>
            <a:off x="2217738" y="590550"/>
            <a:ext cx="455612" cy="455613"/>
          </a:xfrm>
          <a:prstGeom prst="ellipse">
            <a:avLst/>
          </a:prstGeom>
          <a:noFill/>
          <a:ln w="762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5" name="橢圓 121"/>
          <p:cNvSpPr/>
          <p:nvPr/>
        </p:nvSpPr>
        <p:spPr>
          <a:xfrm>
            <a:off x="2728913" y="603250"/>
            <a:ext cx="455612" cy="455613"/>
          </a:xfrm>
          <a:prstGeom prst="ellipse">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6" name="橢圓 122"/>
          <p:cNvSpPr/>
          <p:nvPr/>
        </p:nvSpPr>
        <p:spPr>
          <a:xfrm>
            <a:off x="1677988" y="1074738"/>
            <a:ext cx="455612" cy="455612"/>
          </a:xfrm>
          <a:prstGeom prst="ellipse">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7" name="橢圓 123"/>
          <p:cNvSpPr/>
          <p:nvPr/>
        </p:nvSpPr>
        <p:spPr>
          <a:xfrm>
            <a:off x="2230438" y="1046163"/>
            <a:ext cx="455612" cy="455612"/>
          </a:xfrm>
          <a:prstGeom prst="ellipse">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8" name="橢圓 124"/>
          <p:cNvSpPr/>
          <p:nvPr/>
        </p:nvSpPr>
        <p:spPr>
          <a:xfrm>
            <a:off x="2741613" y="1058863"/>
            <a:ext cx="455612" cy="455612"/>
          </a:xfrm>
          <a:prstGeom prst="ellipse">
            <a:avLst/>
          </a:prstGeom>
          <a:noFill/>
          <a:ln w="762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9" name="文字方塊 66"/>
          <p:cNvSpPr txBox="1"/>
          <p:nvPr/>
        </p:nvSpPr>
        <p:spPr>
          <a:xfrm>
            <a:off x="1600200" y="5258561"/>
            <a:ext cx="3276600" cy="523220"/>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sz="2800">
                <a:solidFill>
                  <a:srgbClr val="000000"/>
                </a:solidFill>
              </a:rPr>
              <a:t>fewer parameters!</a:t>
            </a:r>
            <a:endParaRPr lang="zh-TW" altLang="en-US" sz="2800">
              <a:solidFill>
                <a:srgbClr val="000000"/>
              </a:solidFill>
            </a:endParaRPr>
          </a:p>
        </p:txBody>
      </p:sp>
    </p:spTree>
    <p:extLst>
      <p:ext uri="{BB962C8B-B14F-4D97-AF65-F5344CB8AC3E}">
        <p14:creationId xmlns:p14="http://schemas.microsoft.com/office/powerpoint/2010/main" val="41622454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5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5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5"/>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6"/>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ntr" presetSubtype="0" fill="hold" nodeType="clickEffect">
                                  <p:stCondLst>
                                    <p:cond delay="0"/>
                                  </p:stCondLst>
                                  <p:childTnLst>
                                    <p:set>
                                      <p:cBhvr>
                                        <p:cTn id="100" dur="1" fill="hold">
                                          <p:stCondLst>
                                            <p:cond delay="0"/>
                                          </p:stCondLst>
                                        </p:cTn>
                                        <p:tgtEl>
                                          <p:spTgt spid="4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4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4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48"/>
                                        </p:tgtEl>
                                        <p:attrNameLst>
                                          <p:attrName>style.visibility</p:attrName>
                                        </p:attrNameLst>
                                      </p:cBhvr>
                                      <p:to>
                                        <p:strVal val="visible"/>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24"/>
                                        </p:tgtEl>
                                        <p:attrNameLst>
                                          <p:attrName>style.visibility</p:attrName>
                                        </p:attrNameLst>
                                      </p:cBhvr>
                                      <p:to>
                                        <p:strVal val="visible"/>
                                      </p:to>
                                    </p:se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nodeType="clickEffect">
                                  <p:stCondLst>
                                    <p:cond delay="0"/>
                                  </p:stCondLst>
                                  <p:childTnLst>
                                    <p:set>
                                      <p:cBhvr>
                                        <p:cTn id="12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2" grpId="0"/>
      <p:bldP spid="13" grpId="0"/>
      <p:bldP spid="14" grpId="0"/>
      <p:bldP spid="15" grpId="0"/>
      <p:bldP spid="17" grpId="0"/>
      <p:bldP spid="18" grpId="0"/>
      <p:bldP spid="19" grpId="0"/>
      <p:bldP spid="20" grpId="0"/>
      <p:bldP spid="21" grpId="0"/>
      <p:bldP spid="22" grpId="0"/>
      <p:bldP spid="23" grpId="0"/>
      <p:bldP spid="24" grpId="0" animBg="1"/>
      <p:bldP spid="25" grpId="0"/>
      <p:bldP spid="26" grpId="0"/>
      <p:bldP spid="27" grpId="0"/>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extLst>
              <p:ext uri="{D42A27DB-BD31-4B8C-83A1-F6EECF244321}">
                <p14:modId xmlns:p14="http://schemas.microsoft.com/office/powerpoint/2010/main" val="1334949389"/>
              </p:ext>
            </p:extLst>
          </p:nvPr>
        </p:nvGraphicFramePr>
        <p:xfrm>
          <a:off x="1619250" y="1849438"/>
          <a:ext cx="2873375" cy="2743200"/>
        </p:xfrm>
        <a:graphic>
          <a:graphicData uri="http://schemas.openxmlformats.org/drawingml/2006/table">
            <a:tbl>
              <a:tblPr/>
              <a:tblGrid>
                <a:gridCol w="479425">
                  <a:extLst>
                    <a:ext uri="{9D8B030D-6E8A-4147-A177-3AD203B41FA5}">
                      <a16:colId xmlns:a16="http://schemas.microsoft.com/office/drawing/2014/main" val="20000"/>
                    </a:ext>
                  </a:extLst>
                </a:gridCol>
                <a:gridCol w="477838">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gridCol w="479425">
                  <a:extLst>
                    <a:ext uri="{9D8B030D-6E8A-4147-A177-3AD203B41FA5}">
                      <a16:colId xmlns:a16="http://schemas.microsoft.com/office/drawing/2014/main" val="20003"/>
                    </a:ext>
                  </a:extLst>
                </a:gridCol>
                <a:gridCol w="477837">
                  <a:extLst>
                    <a:ext uri="{9D8B030D-6E8A-4147-A177-3AD203B41FA5}">
                      <a16:colId xmlns:a16="http://schemas.microsoft.com/office/drawing/2014/main" val="20004"/>
                    </a:ext>
                  </a:extLst>
                </a:gridCol>
                <a:gridCol w="479425">
                  <a:extLst>
                    <a:ext uri="{9D8B030D-6E8A-4147-A177-3AD203B41FA5}">
                      <a16:colId xmlns:a16="http://schemas.microsoft.com/office/drawing/2014/main" val="20005"/>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rgbClr val="0000FF"/>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rgbClr val="0000FF"/>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0</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21" marR="914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aphicFrame>
        <p:nvGraphicFramePr>
          <p:cNvPr id="5" name="表格 5"/>
          <p:cNvGraphicFramePr>
            <a:graphicFrameLocks noGrp="1"/>
          </p:cNvGraphicFramePr>
          <p:nvPr>
            <p:extLst>
              <p:ext uri="{D42A27DB-BD31-4B8C-83A1-F6EECF244321}">
                <p14:modId xmlns:p14="http://schemas.microsoft.com/office/powerpoint/2010/main" val="1309920972"/>
              </p:ext>
            </p:extLst>
          </p:nvPr>
        </p:nvGraphicFramePr>
        <p:xfrm>
          <a:off x="1619250" y="152400"/>
          <a:ext cx="1622425" cy="1371600"/>
        </p:xfrm>
        <a:graphic>
          <a:graphicData uri="http://schemas.openxmlformats.org/drawingml/2006/table">
            <a:tbl>
              <a:tblPr/>
              <a:tblGrid>
                <a:gridCol w="541338">
                  <a:extLst>
                    <a:ext uri="{9D8B030D-6E8A-4147-A177-3AD203B41FA5}">
                      <a16:colId xmlns:a16="http://schemas.microsoft.com/office/drawing/2014/main" val="20000"/>
                    </a:ext>
                  </a:extLst>
                </a:gridCol>
                <a:gridCol w="539750">
                  <a:extLst>
                    <a:ext uri="{9D8B030D-6E8A-4147-A177-3AD203B41FA5}">
                      <a16:colId xmlns:a16="http://schemas.microsoft.com/office/drawing/2014/main" val="20001"/>
                    </a:ext>
                  </a:extLst>
                </a:gridCol>
                <a:gridCol w="541337">
                  <a:extLst>
                    <a:ext uri="{9D8B030D-6E8A-4147-A177-3AD203B41FA5}">
                      <a16:colId xmlns:a16="http://schemas.microsoft.com/office/drawing/2014/main" val="20002"/>
                    </a:ext>
                  </a:extLst>
                </a:gridCol>
              </a:tblGrid>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0"/>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1"/>
                  </a:ext>
                </a:extLst>
              </a:tr>
              <a:tr h="371475">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tc>
                  <a:txBody>
                    <a:bodyPr/>
                    <a:lstStyle>
                      <a:lvl1pPr eaLnBrk="0" hangingPunct="0">
                        <a:spcBef>
                          <a:spcPct val="20000"/>
                        </a:spcBef>
                        <a:buClr>
                          <a:schemeClr val="accent1"/>
                        </a:buClr>
                        <a:buFont typeface="Wingdings" pitchFamily="2" charset="2"/>
                        <a:defRPr sz="2800">
                          <a:solidFill>
                            <a:schemeClr val="tx1"/>
                          </a:solidFill>
                          <a:latin typeface="Arial" pitchFamily="34" charset="0"/>
                          <a:ea typeface="ＭＳ Ｐゴシック" pitchFamily="34" charset="-128"/>
                        </a:defRPr>
                      </a:lvl1pPr>
                      <a:lvl2pPr marL="742950" indent="-285750" eaLnBrk="0" hangingPunct="0">
                        <a:spcBef>
                          <a:spcPct val="20000"/>
                        </a:spcBef>
                        <a:buClr>
                          <a:schemeClr val="accent1"/>
                        </a:buClr>
                        <a:buFont typeface="Wingdings" pitchFamily="2" charset="2"/>
                        <a:defRPr sz="2300">
                          <a:solidFill>
                            <a:schemeClr val="tx1"/>
                          </a:solidFill>
                          <a:latin typeface="Arial" pitchFamily="34" charset="0"/>
                          <a:ea typeface="Arial" pitchFamily="34" charset="0"/>
                          <a:cs typeface="Arial" pitchFamily="34" charset="0"/>
                        </a:defRPr>
                      </a:lvl2pPr>
                      <a:lvl3pPr marL="1143000" indent="-228600" eaLnBrk="0" hangingPunct="0">
                        <a:spcBef>
                          <a:spcPct val="20000"/>
                        </a:spcBef>
                        <a:buClr>
                          <a:schemeClr val="accent1"/>
                        </a:buClr>
                        <a:buFont typeface="Wingdings" pitchFamily="2" charset="2"/>
                        <a:defRPr sz="2100">
                          <a:solidFill>
                            <a:schemeClr val="tx1"/>
                          </a:solidFill>
                          <a:latin typeface="Arial" pitchFamily="34" charset="0"/>
                          <a:ea typeface="Arial" pitchFamily="34" charset="0"/>
                          <a:cs typeface="Arial" pitchFamily="34" charset="0"/>
                        </a:defRPr>
                      </a:lvl3pPr>
                      <a:lvl4pPr marL="1600200" indent="-228600" eaLnBrk="0" hangingPunct="0">
                        <a:spcBef>
                          <a:spcPct val="20000"/>
                        </a:spcBef>
                        <a:buClr>
                          <a:schemeClr val="accent1"/>
                        </a:buClr>
                        <a:defRPr>
                          <a:solidFill>
                            <a:schemeClr val="tx1"/>
                          </a:solidFill>
                          <a:latin typeface="Arial" pitchFamily="34" charset="0"/>
                          <a:ea typeface="Arial" pitchFamily="34" charset="0"/>
                          <a:cs typeface="Arial" pitchFamily="34" charset="0"/>
                        </a:defRPr>
                      </a:lvl4pPr>
                      <a:lvl5pPr marL="2057400" indent="-228600" eaLnBrk="0" hangingPunct="0">
                        <a:spcBef>
                          <a:spcPct val="20000"/>
                        </a:spcBef>
                        <a:buClr>
                          <a:schemeClr val="accent1"/>
                        </a:buClr>
                        <a:buFont typeface="Wingdings" pitchFamily="2" charset="2"/>
                        <a:defRPr>
                          <a:solidFill>
                            <a:schemeClr val="tx1"/>
                          </a:solidFill>
                          <a:latin typeface="Arial" pitchFamily="34" charset="0"/>
                          <a:ea typeface="Arial" pitchFamily="34" charset="0"/>
                          <a:cs typeface="Arial" pitchFamily="34" charset="0"/>
                        </a:defRPr>
                      </a:lvl5pPr>
                      <a:lvl6pPr marL="25146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6pPr>
                      <a:lvl7pPr marL="29718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7pPr>
                      <a:lvl8pPr marL="34290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8pPr>
                      <a:lvl9pPr marL="3886200" indent="-228600" eaLnBrk="0" fontAlgn="base" hangingPunct="0">
                        <a:spcBef>
                          <a:spcPct val="20000"/>
                        </a:spcBef>
                        <a:spcAft>
                          <a:spcPct val="0"/>
                        </a:spcAft>
                        <a:buClr>
                          <a:schemeClr val="accent1"/>
                        </a:buClr>
                        <a:buFont typeface="Wingdings" pitchFamily="2" charset="2"/>
                        <a:defRPr>
                          <a:solidFill>
                            <a:schemeClr val="tx1"/>
                          </a:solidFill>
                          <a:latin typeface="Arial" pitchFamily="34" charset="0"/>
                          <a:ea typeface="Arial" pitchFamily="34" charset="0"/>
                          <a:cs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TW" sz="2400" b="0" i="0" u="none" strike="noStrike" cap="none" normalizeH="0" baseline="0">
                          <a:ln>
                            <a:noFill/>
                          </a:ln>
                          <a:solidFill>
                            <a:schemeClr val="tx1"/>
                          </a:solidFill>
                          <a:effectLst/>
                          <a:latin typeface="Arial" pitchFamily="34" charset="0"/>
                          <a:ea typeface="ＭＳ Ｐゴシック" pitchFamily="34" charset="-128"/>
                          <a:cs typeface="Arial" pitchFamily="34" charset="0"/>
                        </a:rPr>
                        <a:t>1</a:t>
                      </a:r>
                      <a:endParaRPr kumimoji="0" lang="zh-TW" altLang="en-US" sz="2400" b="0" i="0" u="none" strike="noStrike" cap="none" normalizeH="0" baseline="0">
                        <a:ln>
                          <a:noFill/>
                        </a:ln>
                        <a:solidFill>
                          <a:schemeClr val="tx1"/>
                        </a:solidFill>
                        <a:effectLst/>
                        <a:latin typeface="Arial" pitchFamily="34" charset="0"/>
                        <a:ea typeface="ＭＳ Ｐゴシック" pitchFamily="34" charset="-128"/>
                        <a:cs typeface="Arial" pitchFamily="34" charset="0"/>
                      </a:endParaRPr>
                    </a:p>
                  </a:txBody>
                  <a:tcPr marL="91455" marR="9145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7F7FB"/>
                    </a:solidFill>
                  </a:tcPr>
                </a:tc>
                <a:extLst>
                  <a:ext uri="{0D108BD9-81ED-4DB2-BD59-A6C34878D82A}">
                    <a16:rowId xmlns:a16="http://schemas.microsoft.com/office/drawing/2014/main" val="10002"/>
                  </a:ext>
                </a:extLst>
              </a:tr>
            </a:tbl>
          </a:graphicData>
        </a:graphic>
      </p:graphicFrame>
      <p:sp>
        <p:nvSpPr>
          <p:cNvPr id="26694" name="文字方塊 6"/>
          <p:cNvSpPr txBox="1">
            <a:spLocks noChangeArrowheads="1"/>
          </p:cNvSpPr>
          <p:nvPr/>
        </p:nvSpPr>
        <p:spPr bwMode="auto">
          <a:xfrm>
            <a:off x="3241675" y="606425"/>
            <a:ext cx="1447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Filter 1</a:t>
            </a:r>
            <a:endParaRPr lang="zh-TW" altLang="en-US"/>
          </a:p>
        </p:txBody>
      </p:sp>
      <p:sp>
        <p:nvSpPr>
          <p:cNvPr id="7" name="矩形 7"/>
          <p:cNvSpPr/>
          <p:nvPr/>
        </p:nvSpPr>
        <p:spPr>
          <a:xfrm>
            <a:off x="2130425" y="1835150"/>
            <a:ext cx="1417638" cy="138112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26696" name="文字方塊 37"/>
          <p:cNvSpPr txBox="1">
            <a:spLocks noChangeArrowheads="1"/>
          </p:cNvSpPr>
          <p:nvPr/>
        </p:nvSpPr>
        <p:spPr bwMode="auto">
          <a:xfrm>
            <a:off x="6235700" y="49213"/>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a:t>
            </a:r>
            <a:endParaRPr lang="zh-TW" altLang="en-US"/>
          </a:p>
        </p:txBody>
      </p:sp>
      <p:sp>
        <p:nvSpPr>
          <p:cNvPr id="26697" name="文字方塊 38"/>
          <p:cNvSpPr txBox="1">
            <a:spLocks noChangeArrowheads="1"/>
          </p:cNvSpPr>
          <p:nvPr/>
        </p:nvSpPr>
        <p:spPr bwMode="auto">
          <a:xfrm>
            <a:off x="6235700" y="511175"/>
            <a:ext cx="387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2:</a:t>
            </a:r>
            <a:endParaRPr lang="zh-TW" altLang="en-US"/>
          </a:p>
        </p:txBody>
      </p:sp>
      <p:sp>
        <p:nvSpPr>
          <p:cNvPr id="26698" name="文字方塊 39"/>
          <p:cNvSpPr txBox="1">
            <a:spLocks noChangeArrowheads="1"/>
          </p:cNvSpPr>
          <p:nvPr/>
        </p:nvSpPr>
        <p:spPr bwMode="auto">
          <a:xfrm>
            <a:off x="6235700" y="96043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3:</a:t>
            </a:r>
            <a:endParaRPr lang="zh-TW" altLang="en-US"/>
          </a:p>
        </p:txBody>
      </p:sp>
      <p:sp>
        <p:nvSpPr>
          <p:cNvPr id="26699" name="文字方塊 40"/>
          <p:cNvSpPr txBox="1">
            <a:spLocks noChangeArrowheads="1"/>
          </p:cNvSpPr>
          <p:nvPr/>
        </p:nvSpPr>
        <p:spPr bwMode="auto">
          <a:xfrm rot="5400000">
            <a:off x="6099175" y="1811338"/>
            <a:ext cx="8207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6700" name="文字方塊 41"/>
          <p:cNvSpPr txBox="1">
            <a:spLocks noChangeArrowheads="1"/>
          </p:cNvSpPr>
          <p:nvPr/>
        </p:nvSpPr>
        <p:spPr bwMode="auto">
          <a:xfrm>
            <a:off x="6251575" y="2239963"/>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7:</a:t>
            </a:r>
            <a:endParaRPr lang="zh-TW" altLang="en-US"/>
          </a:p>
        </p:txBody>
      </p:sp>
      <p:sp>
        <p:nvSpPr>
          <p:cNvPr id="26701" name="文字方塊 42"/>
          <p:cNvSpPr txBox="1">
            <a:spLocks noChangeArrowheads="1"/>
          </p:cNvSpPr>
          <p:nvPr/>
        </p:nvSpPr>
        <p:spPr bwMode="auto">
          <a:xfrm>
            <a:off x="6251575" y="2701925"/>
            <a:ext cx="3873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8:</a:t>
            </a:r>
            <a:endParaRPr lang="zh-TW" altLang="en-US"/>
          </a:p>
        </p:txBody>
      </p:sp>
      <p:sp>
        <p:nvSpPr>
          <p:cNvPr id="26702" name="文字方塊 43"/>
          <p:cNvSpPr txBox="1">
            <a:spLocks noChangeArrowheads="1"/>
          </p:cNvSpPr>
          <p:nvPr/>
        </p:nvSpPr>
        <p:spPr bwMode="auto">
          <a:xfrm>
            <a:off x="6251575" y="3151188"/>
            <a:ext cx="387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9:</a:t>
            </a:r>
            <a:endParaRPr lang="zh-TW" altLang="en-US"/>
          </a:p>
        </p:txBody>
      </p:sp>
      <p:sp>
        <p:nvSpPr>
          <p:cNvPr id="26703" name="文字方塊 44"/>
          <p:cNvSpPr txBox="1">
            <a:spLocks noChangeArrowheads="1"/>
          </p:cNvSpPr>
          <p:nvPr/>
        </p:nvSpPr>
        <p:spPr bwMode="auto">
          <a:xfrm rot="5400000">
            <a:off x="6237288" y="3987800"/>
            <a:ext cx="539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6704" name="文字方塊 45"/>
          <p:cNvSpPr txBox="1">
            <a:spLocks noChangeArrowheads="1"/>
          </p:cNvSpPr>
          <p:nvPr/>
        </p:nvSpPr>
        <p:spPr bwMode="auto">
          <a:xfrm>
            <a:off x="6092825" y="4438650"/>
            <a:ext cx="5222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13:</a:t>
            </a:r>
            <a:endParaRPr lang="zh-TW" altLang="en-US"/>
          </a:p>
        </p:txBody>
      </p:sp>
      <p:sp>
        <p:nvSpPr>
          <p:cNvPr id="26705" name="文字方塊 46"/>
          <p:cNvSpPr txBox="1">
            <a:spLocks noChangeArrowheads="1"/>
          </p:cNvSpPr>
          <p:nvPr/>
        </p:nvSpPr>
        <p:spPr bwMode="auto">
          <a:xfrm>
            <a:off x="6086475" y="4902200"/>
            <a:ext cx="523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14:</a:t>
            </a:r>
            <a:endParaRPr lang="zh-TW" altLang="en-US"/>
          </a:p>
        </p:txBody>
      </p:sp>
      <p:sp>
        <p:nvSpPr>
          <p:cNvPr id="26706" name="文字方塊 47"/>
          <p:cNvSpPr txBox="1">
            <a:spLocks noChangeArrowheads="1"/>
          </p:cNvSpPr>
          <p:nvPr/>
        </p:nvSpPr>
        <p:spPr bwMode="auto">
          <a:xfrm>
            <a:off x="6086475" y="5380038"/>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15:</a:t>
            </a:r>
            <a:endParaRPr lang="zh-TW" altLang="en-US"/>
          </a:p>
        </p:txBody>
      </p:sp>
      <p:sp>
        <p:nvSpPr>
          <p:cNvPr id="26707" name="文字方塊 48"/>
          <p:cNvSpPr txBox="1">
            <a:spLocks noChangeArrowheads="1"/>
          </p:cNvSpPr>
          <p:nvPr/>
        </p:nvSpPr>
        <p:spPr bwMode="auto">
          <a:xfrm rot="5400000">
            <a:off x="6285706" y="6217444"/>
            <a:ext cx="423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sz="2800" b="1"/>
              <a:t>…</a:t>
            </a:r>
            <a:endParaRPr lang="zh-TW" altLang="en-US" sz="2800" b="1"/>
          </a:p>
        </p:txBody>
      </p:sp>
      <p:sp>
        <p:nvSpPr>
          <p:cNvPr id="26708" name="文字方塊 50"/>
          <p:cNvSpPr txBox="1">
            <a:spLocks noChangeArrowheads="1"/>
          </p:cNvSpPr>
          <p:nvPr/>
        </p:nvSpPr>
        <p:spPr bwMode="auto">
          <a:xfrm>
            <a:off x="6245225" y="1408113"/>
            <a:ext cx="388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4:</a:t>
            </a:r>
            <a:endParaRPr lang="zh-TW" altLang="en-US"/>
          </a:p>
        </p:txBody>
      </p:sp>
      <p:sp>
        <p:nvSpPr>
          <p:cNvPr id="26709" name="文字方塊 51"/>
          <p:cNvSpPr txBox="1">
            <a:spLocks noChangeArrowheads="1"/>
          </p:cNvSpPr>
          <p:nvPr/>
        </p:nvSpPr>
        <p:spPr bwMode="auto">
          <a:xfrm>
            <a:off x="6019800" y="3562350"/>
            <a:ext cx="6397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r" eaLnBrk="1" hangingPunct="1"/>
            <a:r>
              <a:rPr lang="en-US" altLang="zh-TW"/>
              <a:t>10:</a:t>
            </a:r>
            <a:endParaRPr lang="zh-TW" altLang="en-US"/>
          </a:p>
        </p:txBody>
      </p:sp>
      <p:sp>
        <p:nvSpPr>
          <p:cNvPr id="26710" name="文字方塊 52"/>
          <p:cNvSpPr txBox="1">
            <a:spLocks noChangeArrowheads="1"/>
          </p:cNvSpPr>
          <p:nvPr/>
        </p:nvSpPr>
        <p:spPr bwMode="auto">
          <a:xfrm>
            <a:off x="6081713" y="5789613"/>
            <a:ext cx="5969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t>16:</a:t>
            </a:r>
            <a:endParaRPr lang="zh-TW" altLang="en-US"/>
          </a:p>
        </p:txBody>
      </p:sp>
      <p:sp>
        <p:nvSpPr>
          <p:cNvPr id="23" name="矩形 54"/>
          <p:cNvSpPr/>
          <p:nvPr/>
        </p:nvSpPr>
        <p:spPr>
          <a:xfrm>
            <a:off x="6678613" y="1460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24" name="矩形 55"/>
          <p:cNvSpPr/>
          <p:nvPr/>
        </p:nvSpPr>
        <p:spPr>
          <a:xfrm>
            <a:off x="6678613" y="61436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5" name="矩形 56"/>
          <p:cNvSpPr/>
          <p:nvPr/>
        </p:nvSpPr>
        <p:spPr>
          <a:xfrm>
            <a:off x="6678613" y="10572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6" name="矩形 57"/>
          <p:cNvSpPr/>
          <p:nvPr/>
        </p:nvSpPr>
        <p:spPr>
          <a:xfrm>
            <a:off x="6678613" y="1517650"/>
            <a:ext cx="269875" cy="27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7" name="矩形 58"/>
          <p:cNvSpPr/>
          <p:nvPr/>
        </p:nvSpPr>
        <p:spPr>
          <a:xfrm>
            <a:off x="6678613" y="23558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28" name="矩形 59"/>
          <p:cNvSpPr/>
          <p:nvPr/>
        </p:nvSpPr>
        <p:spPr>
          <a:xfrm>
            <a:off x="6678613" y="282575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29" name="矩形 60"/>
          <p:cNvSpPr/>
          <p:nvPr/>
        </p:nvSpPr>
        <p:spPr>
          <a:xfrm>
            <a:off x="6678613" y="326707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0" name="矩形 61"/>
          <p:cNvSpPr/>
          <p:nvPr/>
        </p:nvSpPr>
        <p:spPr>
          <a:xfrm>
            <a:off x="6678613" y="37290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1" name="矩形 62"/>
          <p:cNvSpPr/>
          <p:nvPr/>
        </p:nvSpPr>
        <p:spPr>
          <a:xfrm>
            <a:off x="6678613" y="4519613"/>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2" name="矩形 63"/>
          <p:cNvSpPr/>
          <p:nvPr/>
        </p:nvSpPr>
        <p:spPr>
          <a:xfrm>
            <a:off x="6678613" y="4987925"/>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0</a:t>
            </a:r>
            <a:endParaRPr lang="zh-TW" altLang="en-US">
              <a:solidFill>
                <a:srgbClr val="FFFFFF"/>
              </a:solidFill>
            </a:endParaRPr>
          </a:p>
        </p:txBody>
      </p:sp>
      <p:sp>
        <p:nvSpPr>
          <p:cNvPr id="33" name="矩形 64"/>
          <p:cNvSpPr/>
          <p:nvPr/>
        </p:nvSpPr>
        <p:spPr>
          <a:xfrm>
            <a:off x="6678613" y="5430838"/>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sp>
        <p:nvSpPr>
          <p:cNvPr id="34" name="矩形 65"/>
          <p:cNvSpPr/>
          <p:nvPr/>
        </p:nvSpPr>
        <p:spPr>
          <a:xfrm>
            <a:off x="6678613" y="5892800"/>
            <a:ext cx="269875" cy="269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FFFFFF"/>
                </a:solidFill>
              </a:rPr>
              <a:t>1</a:t>
            </a:r>
            <a:endParaRPr lang="zh-TW" altLang="en-US">
              <a:solidFill>
                <a:srgbClr val="FFFFFF"/>
              </a:solidFill>
            </a:endParaRPr>
          </a:p>
        </p:txBody>
      </p:sp>
      <p:cxnSp>
        <p:nvCxnSpPr>
          <p:cNvPr id="35" name="直線單箭頭接點 67"/>
          <p:cNvCxnSpPr>
            <a:stCxn id="23" idx="3"/>
          </p:cNvCxnSpPr>
          <p:nvPr/>
        </p:nvCxnSpPr>
        <p:spPr>
          <a:xfrm>
            <a:off x="6948488" y="280988"/>
            <a:ext cx="1420812" cy="12763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68"/>
          <p:cNvCxnSpPr>
            <a:stCxn id="24" idx="3"/>
          </p:cNvCxnSpPr>
          <p:nvPr/>
        </p:nvCxnSpPr>
        <p:spPr>
          <a:xfrm>
            <a:off x="6948488" y="749300"/>
            <a:ext cx="1420812" cy="80803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70"/>
          <p:cNvCxnSpPr>
            <a:stCxn id="25" idx="3"/>
          </p:cNvCxnSpPr>
          <p:nvPr/>
        </p:nvCxnSpPr>
        <p:spPr>
          <a:xfrm>
            <a:off x="6948488" y="1192213"/>
            <a:ext cx="1420812" cy="36512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78"/>
          <p:cNvCxnSpPr/>
          <p:nvPr/>
        </p:nvCxnSpPr>
        <p:spPr>
          <a:xfrm flipV="1">
            <a:off x="6967538" y="1597025"/>
            <a:ext cx="1350962" cy="893763"/>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79"/>
          <p:cNvCxnSpPr>
            <a:endCxn id="44" idx="2"/>
          </p:cNvCxnSpPr>
          <p:nvPr/>
        </p:nvCxnSpPr>
        <p:spPr>
          <a:xfrm flipV="1">
            <a:off x="6967538" y="1536700"/>
            <a:ext cx="1371600" cy="141605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80"/>
          <p:cNvCxnSpPr>
            <a:endCxn id="44" idx="2"/>
          </p:cNvCxnSpPr>
          <p:nvPr/>
        </p:nvCxnSpPr>
        <p:spPr>
          <a:xfrm flipV="1">
            <a:off x="6967538" y="1536700"/>
            <a:ext cx="1371600" cy="18637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81"/>
          <p:cNvCxnSpPr>
            <a:stCxn id="31" idx="3"/>
          </p:cNvCxnSpPr>
          <p:nvPr/>
        </p:nvCxnSpPr>
        <p:spPr>
          <a:xfrm flipV="1">
            <a:off x="6948488" y="1644650"/>
            <a:ext cx="1350962" cy="3009900"/>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82"/>
          <p:cNvCxnSpPr>
            <a:endCxn id="44" idx="2"/>
          </p:cNvCxnSpPr>
          <p:nvPr/>
        </p:nvCxnSpPr>
        <p:spPr>
          <a:xfrm flipV="1">
            <a:off x="6948488" y="1536700"/>
            <a:ext cx="1390650" cy="356552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83"/>
          <p:cNvCxnSpPr>
            <a:endCxn id="44" idx="2"/>
          </p:cNvCxnSpPr>
          <p:nvPr/>
        </p:nvCxnSpPr>
        <p:spPr>
          <a:xfrm flipV="1">
            <a:off x="6948488" y="1536700"/>
            <a:ext cx="1390650" cy="4013200"/>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4" name="橢圓 108"/>
          <p:cNvSpPr>
            <a:spLocks noChangeArrowheads="1"/>
          </p:cNvSpPr>
          <p:nvPr/>
        </p:nvSpPr>
        <p:spPr bwMode="auto">
          <a:xfrm>
            <a:off x="8339138" y="1177925"/>
            <a:ext cx="720725" cy="719138"/>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3</a:t>
            </a:r>
            <a:endParaRPr lang="zh-TW" altLang="en-US">
              <a:solidFill>
                <a:srgbClr val="000000"/>
              </a:solidFill>
            </a:endParaRPr>
          </a:p>
        </p:txBody>
      </p:sp>
      <p:sp>
        <p:nvSpPr>
          <p:cNvPr id="45" name="橢圓 109"/>
          <p:cNvSpPr>
            <a:spLocks noChangeArrowheads="1"/>
          </p:cNvSpPr>
          <p:nvPr/>
        </p:nvSpPr>
        <p:spPr bwMode="auto">
          <a:xfrm>
            <a:off x="8318500" y="2973388"/>
            <a:ext cx="720725" cy="720725"/>
          </a:xfrm>
          <a:prstGeom prst="ellipse">
            <a:avLst/>
          </a:prstGeom>
          <a:gradFill rotWithShape="1">
            <a:gsLst>
              <a:gs pos="0">
                <a:srgbClr val="F7F6FF"/>
              </a:gs>
              <a:gs pos="64999">
                <a:srgbClr val="ECEBFF"/>
              </a:gs>
              <a:gs pos="100000">
                <a:srgbClr val="E5E3FF"/>
              </a:gs>
            </a:gsLst>
            <a:lin ang="5400000" scaled="1"/>
          </a:gradFill>
          <a:ln w="9525">
            <a:solidFill>
              <a:srgbClr val="D4D3E7"/>
            </a:solidFill>
            <a:round/>
            <a:headEnd/>
            <a:tailEnd/>
          </a:ln>
          <a:effectLst>
            <a:outerShdw blurRad="40000" dist="20000" dir="5400000" rotWithShape="0">
              <a:srgbClr val="808080">
                <a:alpha val="37999"/>
              </a:srgbClr>
            </a:outerShdw>
          </a:effectLst>
        </p:spPr>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solidFill>
                  <a:srgbClr val="000000"/>
                </a:solidFill>
              </a:rPr>
              <a:t>-1</a:t>
            </a:r>
            <a:endParaRPr lang="zh-TW" altLang="en-US">
              <a:solidFill>
                <a:srgbClr val="000000"/>
              </a:solidFill>
            </a:endParaRPr>
          </a:p>
        </p:txBody>
      </p:sp>
      <p:sp>
        <p:nvSpPr>
          <p:cNvPr id="46" name="橢圓 116"/>
          <p:cNvSpPr/>
          <p:nvPr/>
        </p:nvSpPr>
        <p:spPr>
          <a:xfrm>
            <a:off x="1665288" y="160338"/>
            <a:ext cx="455612" cy="455612"/>
          </a:xfrm>
          <a:prstGeom prst="ellipse">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47" name="橢圓 117"/>
          <p:cNvSpPr/>
          <p:nvPr/>
        </p:nvSpPr>
        <p:spPr>
          <a:xfrm>
            <a:off x="2217738" y="131763"/>
            <a:ext cx="455612" cy="455612"/>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48" name="橢圓 118"/>
          <p:cNvSpPr/>
          <p:nvPr/>
        </p:nvSpPr>
        <p:spPr>
          <a:xfrm>
            <a:off x="2728913" y="146050"/>
            <a:ext cx="455612" cy="454025"/>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49" name="橢圓 119"/>
          <p:cNvSpPr/>
          <p:nvPr/>
        </p:nvSpPr>
        <p:spPr>
          <a:xfrm>
            <a:off x="1665288" y="619125"/>
            <a:ext cx="455612" cy="455613"/>
          </a:xfrm>
          <a:prstGeom prst="ellipse">
            <a:avLst/>
          </a:prstGeom>
          <a:noFill/>
          <a:ln w="762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0" name="橢圓 120"/>
          <p:cNvSpPr/>
          <p:nvPr/>
        </p:nvSpPr>
        <p:spPr>
          <a:xfrm>
            <a:off x="2217738" y="590550"/>
            <a:ext cx="455612" cy="455613"/>
          </a:xfrm>
          <a:prstGeom prst="ellipse">
            <a:avLst/>
          </a:prstGeom>
          <a:noFill/>
          <a:ln w="762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1" name="橢圓 121"/>
          <p:cNvSpPr/>
          <p:nvPr/>
        </p:nvSpPr>
        <p:spPr>
          <a:xfrm>
            <a:off x="2728913" y="603250"/>
            <a:ext cx="455612" cy="455613"/>
          </a:xfrm>
          <a:prstGeom prst="ellipse">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2" name="橢圓 122"/>
          <p:cNvSpPr/>
          <p:nvPr/>
        </p:nvSpPr>
        <p:spPr>
          <a:xfrm>
            <a:off x="1677988" y="1074738"/>
            <a:ext cx="455612" cy="455612"/>
          </a:xfrm>
          <a:prstGeom prst="ellipse">
            <a:avLst/>
          </a:prstGeom>
          <a:no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3" name="橢圓 123"/>
          <p:cNvSpPr/>
          <p:nvPr/>
        </p:nvSpPr>
        <p:spPr>
          <a:xfrm>
            <a:off x="2230438" y="1046163"/>
            <a:ext cx="455612" cy="455612"/>
          </a:xfrm>
          <a:prstGeom prst="ellipse">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4" name="橢圓 124"/>
          <p:cNvSpPr/>
          <p:nvPr/>
        </p:nvSpPr>
        <p:spPr>
          <a:xfrm>
            <a:off x="2741613" y="1058863"/>
            <a:ext cx="455612" cy="455612"/>
          </a:xfrm>
          <a:prstGeom prst="ellipse">
            <a:avLst/>
          </a:prstGeom>
          <a:noFill/>
          <a:ln w="762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endParaRPr lang="zh-TW" altLang="en-US" sz="1800">
              <a:solidFill>
                <a:srgbClr val="FFFFFF"/>
              </a:solidFill>
            </a:endParaRPr>
          </a:p>
        </p:txBody>
      </p:sp>
      <p:sp>
        <p:nvSpPr>
          <p:cNvPr id="55" name="文字方塊 66"/>
          <p:cNvSpPr txBox="1">
            <a:spLocks noChangeArrowheads="1"/>
          </p:cNvSpPr>
          <p:nvPr/>
        </p:nvSpPr>
        <p:spPr bwMode="auto">
          <a:xfrm>
            <a:off x="7305675" y="5761038"/>
            <a:ext cx="1304925" cy="830997"/>
          </a:xfrm>
          <a:prstGeom prst="rect">
            <a:avLst/>
          </a:prstGeom>
          <a:gradFill rotWithShape="1">
            <a:gsLst>
              <a:gs pos="0">
                <a:srgbClr val="F7F6FF"/>
              </a:gs>
              <a:gs pos="64999">
                <a:srgbClr val="ECEBFF"/>
              </a:gs>
              <a:gs pos="100000">
                <a:srgbClr val="E5E3FF"/>
              </a:gs>
            </a:gsLst>
            <a:lin ang="5400000" scaled="1"/>
          </a:gradFill>
          <a:ln w="9525">
            <a:solidFill>
              <a:srgbClr val="D4D3E7"/>
            </a:solidFill>
            <a:miter lim="800000"/>
            <a:headEnd/>
            <a:tailEnd/>
          </a:ln>
          <a:effectLst>
            <a:outerShdw blurRad="40000" dist="20000" dir="5400000" rotWithShape="0">
              <a:srgbClr val="808080">
                <a:alpha val="37999"/>
              </a:srgbClr>
            </a:outerShdw>
          </a:effec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dirty="0">
                <a:solidFill>
                  <a:srgbClr val="000000"/>
                </a:solidFill>
              </a:rPr>
              <a:t>Shared weights</a:t>
            </a:r>
            <a:endParaRPr lang="zh-TW" altLang="en-US" dirty="0">
              <a:solidFill>
                <a:srgbClr val="000000"/>
              </a:solidFill>
            </a:endParaRPr>
          </a:p>
        </p:txBody>
      </p:sp>
      <p:cxnSp>
        <p:nvCxnSpPr>
          <p:cNvPr id="56" name="直線單箭頭接點 71"/>
          <p:cNvCxnSpPr>
            <a:stCxn id="24" idx="3"/>
            <a:endCxn id="45" idx="2"/>
          </p:cNvCxnSpPr>
          <p:nvPr/>
        </p:nvCxnSpPr>
        <p:spPr>
          <a:xfrm>
            <a:off x="6948488" y="749300"/>
            <a:ext cx="1370012" cy="258445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72"/>
          <p:cNvCxnSpPr>
            <a:stCxn id="25" idx="3"/>
            <a:endCxn id="45" idx="2"/>
          </p:cNvCxnSpPr>
          <p:nvPr/>
        </p:nvCxnSpPr>
        <p:spPr>
          <a:xfrm>
            <a:off x="6948488" y="1192213"/>
            <a:ext cx="1370012" cy="214153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73"/>
          <p:cNvCxnSpPr>
            <a:stCxn id="26" idx="3"/>
            <a:endCxn id="45" idx="2"/>
          </p:cNvCxnSpPr>
          <p:nvPr/>
        </p:nvCxnSpPr>
        <p:spPr>
          <a:xfrm>
            <a:off x="6948488" y="1654175"/>
            <a:ext cx="1370012" cy="167957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74"/>
          <p:cNvCxnSpPr>
            <a:endCxn id="45" idx="2"/>
          </p:cNvCxnSpPr>
          <p:nvPr/>
        </p:nvCxnSpPr>
        <p:spPr>
          <a:xfrm>
            <a:off x="6977063" y="2981325"/>
            <a:ext cx="1341437" cy="352425"/>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75"/>
          <p:cNvCxnSpPr>
            <a:endCxn id="45" idx="2"/>
          </p:cNvCxnSpPr>
          <p:nvPr/>
        </p:nvCxnSpPr>
        <p:spPr>
          <a:xfrm flipV="1">
            <a:off x="6964363" y="3333750"/>
            <a:ext cx="1354137" cy="125413"/>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76"/>
          <p:cNvCxnSpPr>
            <a:endCxn id="45" idx="2"/>
          </p:cNvCxnSpPr>
          <p:nvPr/>
        </p:nvCxnSpPr>
        <p:spPr>
          <a:xfrm flipV="1">
            <a:off x="6964363" y="3333750"/>
            <a:ext cx="1354137" cy="569913"/>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77"/>
          <p:cNvCxnSpPr>
            <a:stCxn id="32" idx="3"/>
          </p:cNvCxnSpPr>
          <p:nvPr/>
        </p:nvCxnSpPr>
        <p:spPr>
          <a:xfrm flipV="1">
            <a:off x="6948488" y="3360738"/>
            <a:ext cx="1336675" cy="17621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84"/>
          <p:cNvCxnSpPr>
            <a:stCxn id="33" idx="3"/>
          </p:cNvCxnSpPr>
          <p:nvPr/>
        </p:nvCxnSpPr>
        <p:spPr>
          <a:xfrm flipV="1">
            <a:off x="6948488" y="3327400"/>
            <a:ext cx="1358900" cy="223837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85"/>
          <p:cNvCxnSpPr>
            <a:stCxn id="34" idx="3"/>
          </p:cNvCxnSpPr>
          <p:nvPr/>
        </p:nvCxnSpPr>
        <p:spPr>
          <a:xfrm flipV="1">
            <a:off x="6948488" y="3389313"/>
            <a:ext cx="1343025" cy="2638425"/>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6753" name="文字方塊 87"/>
          <p:cNvSpPr txBox="1">
            <a:spLocks noChangeArrowheads="1"/>
          </p:cNvSpPr>
          <p:nvPr/>
        </p:nvSpPr>
        <p:spPr bwMode="auto">
          <a:xfrm>
            <a:off x="1927225" y="4640263"/>
            <a:ext cx="2347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altLang="zh-TW"/>
              <a:t>6 x 6 image</a:t>
            </a:r>
            <a:endParaRPr lang="zh-TW" altLang="en-US"/>
          </a:p>
        </p:txBody>
      </p:sp>
      <p:pic>
        <p:nvPicPr>
          <p:cNvPr id="66" name="圖片 8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3825" y="1216025"/>
            <a:ext cx="2230438" cy="2243138"/>
          </a:xfrm>
          <a:prstGeom prst="rect">
            <a:avLst/>
          </a:prstGeom>
          <a:noFill/>
          <a:ln w="38100" cap="sq">
            <a:solidFill>
              <a:srgbClr val="000000"/>
            </a:solidFill>
            <a:miter lim="800000"/>
            <a:headEnd/>
            <a:tailEnd/>
          </a:ln>
          <a:effectLst>
            <a:outerShdw blurRad="50800" dist="38100" dir="2700000" algn="tl" rotWithShape="0">
              <a:srgbClr val="808080">
                <a:alpha val="42999"/>
              </a:srgbClr>
            </a:outerShdw>
          </a:effectLst>
          <a:extLst>
            <a:ext uri="{909E8E84-426E-40DD-AFC4-6F175D3DCCD1}">
              <a14:hiddenFill xmlns:a14="http://schemas.microsoft.com/office/drawing/2010/main">
                <a:solidFill>
                  <a:srgbClr val="FFFFFF"/>
                </a:solidFill>
              </a14:hiddenFill>
            </a:ext>
          </a:extLst>
        </p:spPr>
      </p:pic>
      <p:cxnSp>
        <p:nvCxnSpPr>
          <p:cNvPr id="67" name="直線單箭頭接點 34"/>
          <p:cNvCxnSpPr/>
          <p:nvPr/>
        </p:nvCxnSpPr>
        <p:spPr>
          <a:xfrm flipV="1">
            <a:off x="3548063" y="1557338"/>
            <a:ext cx="944562" cy="9334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單箭頭接點 33"/>
          <p:cNvCxnSpPr/>
          <p:nvPr/>
        </p:nvCxnSpPr>
        <p:spPr>
          <a:xfrm>
            <a:off x="3241675" y="838200"/>
            <a:ext cx="1250950" cy="68580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9" name="文字方塊 91"/>
          <p:cNvSpPr txBox="1"/>
          <p:nvPr/>
        </p:nvSpPr>
        <p:spPr>
          <a:xfrm>
            <a:off x="1828800" y="5257800"/>
            <a:ext cx="3483048"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solidFill>
                  <a:srgbClr val="000000"/>
                </a:solidFill>
              </a:rPr>
              <a:t>Fewer parameters</a:t>
            </a:r>
            <a:endParaRPr lang="zh-TW" altLang="en-US">
              <a:solidFill>
                <a:srgbClr val="000000"/>
              </a:solidFill>
            </a:endParaRPr>
          </a:p>
        </p:txBody>
      </p:sp>
      <p:sp>
        <p:nvSpPr>
          <p:cNvPr id="70" name="文字方塊 92"/>
          <p:cNvSpPr txBox="1"/>
          <p:nvPr/>
        </p:nvSpPr>
        <p:spPr>
          <a:xfrm>
            <a:off x="1848678" y="5937959"/>
            <a:ext cx="3485322" cy="461665"/>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ltLang="zh-TW">
                <a:solidFill>
                  <a:srgbClr val="000000"/>
                </a:solidFill>
              </a:rPr>
              <a:t>Even fewer parameters</a:t>
            </a:r>
            <a:endParaRPr lang="zh-TW" altLang="en-US">
              <a:solidFill>
                <a:srgbClr val="000000"/>
              </a:solidFill>
            </a:endParaRPr>
          </a:p>
        </p:txBody>
      </p:sp>
    </p:spTree>
    <p:extLst>
      <p:ext uri="{BB962C8B-B14F-4D97-AF65-F5344CB8AC3E}">
        <p14:creationId xmlns:p14="http://schemas.microsoft.com/office/powerpoint/2010/main" val="4207071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5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Different CNN Architectures</a:t>
            </a:r>
          </a:p>
        </p:txBody>
      </p:sp>
      <p:sp>
        <p:nvSpPr>
          <p:cNvPr id="3" name="Content Placeholder 2"/>
          <p:cNvSpPr>
            <a:spLocks noGrp="1"/>
          </p:cNvSpPr>
          <p:nvPr>
            <p:ph idx="1"/>
          </p:nvPr>
        </p:nvSpPr>
        <p:spPr/>
        <p:txBody>
          <a:bodyPr/>
          <a:lstStyle/>
          <a:p>
            <a:endParaRPr lang="en-GB"/>
          </a:p>
        </p:txBody>
      </p:sp>
      <p:pic>
        <p:nvPicPr>
          <p:cNvPr id="2050" name="Picture 2" descr="CNN Architecture over a timel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25" y="990600"/>
            <a:ext cx="6884377" cy="5257800"/>
          </a:xfrm>
          <a:prstGeom prst="rect">
            <a:avLst/>
          </a:prstGeom>
          <a:noFill/>
          <a:extLst>
            <a:ext uri="{909E8E84-426E-40DD-AFC4-6F175D3DCCD1}">
              <a14:hiddenFill xmlns:a14="http://schemas.microsoft.com/office/drawing/2010/main">
                <a:solidFill>
                  <a:srgbClr val="FFFFFF"/>
                </a:solidFill>
              </a14:hiddenFill>
            </a:ext>
          </a:extLst>
        </p:spPr>
      </p:pic>
      <p:sp>
        <p:nvSpPr>
          <p:cNvPr id="2051" name="Source note"/>
          <p:cNvSpPr txBox="1"/>
          <p:nvPr/>
        </p:nvSpPr>
        <p:spPr>
          <a:xfrm>
            <a:off x="1809892" y="6248400"/>
            <a:ext cx="6705458" cy="520000"/>
          </a:xfrm>
          <a:prstGeom prst="rect">
            <a:avLst/>
          </a:prstGeom>
          <a:noFill/>
        </p:spPr>
        <p:txBody>
          <a:bodyPr wrap="square">
            <a:spAutoFit/>
          </a:bodyPr>
          <a:lstStyle/>
          <a:p>
            <a:pPr algn="r"/>
            <a:r>
              <a:rPr lang="en-GB" sz="1100" b="0">
                <a:solidFill>
                  <a:schemeClr val="bg1">
                    <a:lumMod val="50000"/>
                  </a:schemeClr>
                </a:solidFill>
              </a:rPr>
              <a:t>The years in this picture are wrong. Correct years: LeNet-5 1998, AlexNet 2012, VGG-16 2014, Inception-v1 2014, ResNet-50 2015, Inception-v3 2015, Xception 2016, Inception-v4 and Inception-ResNet 2016, ResNeXt-50 2016.</a:t>
            </a:r>
          </a:p>
        </p:txBody>
      </p:sp>
    </p:spTree>
    <p:extLst>
      <p:ext uri="{BB962C8B-B14F-4D97-AF65-F5344CB8AC3E}">
        <p14:creationId xmlns:p14="http://schemas.microsoft.com/office/powerpoint/2010/main" val="42181264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Differences in examples</a:t>
            </a:r>
          </a:p>
        </p:txBody>
      </p:sp>
      <p:sp>
        <p:nvSpPr>
          <p:cNvPr id="4" name="AutoShape 2" descr="The comparison of different CNN architectures on model size,... | Download  Tabl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4341" name="Picture 5" descr="Visualizing CNN architectures side by side with mxnet – Joseph Paul Cohen  Ph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9129227" cy="5040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7561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C15E-1860-4D86-9CB4-BF8200EDC9C8}"/>
              </a:ext>
            </a:extLst>
          </p:cNvPr>
          <p:cNvSpPr>
            <a:spLocks noGrp="1"/>
          </p:cNvSpPr>
          <p:nvPr>
            <p:ph type="title"/>
          </p:nvPr>
        </p:nvSpPr>
        <p:spPr/>
        <p:txBody>
          <a:bodyPr/>
          <a:lstStyle/>
          <a:p>
            <a:r>
              <a:rPr lang="en-GB" dirty="0"/>
              <a:t>Contrastive Deep Learning</a:t>
            </a:r>
            <a:br>
              <a:rPr lang="en-GB" dirty="0"/>
            </a:br>
            <a:r>
              <a:rPr lang="en-GB" dirty="0"/>
              <a:t>(few-shot) algorithms</a:t>
            </a:r>
          </a:p>
        </p:txBody>
      </p:sp>
      <p:pic>
        <p:nvPicPr>
          <p:cNvPr id="3074" name="Picture 2" descr="Siamese Network Image">
            <a:extLst>
              <a:ext uri="{FF2B5EF4-FFF2-40B4-BE49-F238E27FC236}">
                <a16:creationId xmlns:a16="http://schemas.microsoft.com/office/drawing/2014/main" id="{3BAB01B7-81A3-4F78-A12F-B0D99B1AEA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600200"/>
            <a:ext cx="8666933" cy="400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5418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20EE8-372F-473C-B702-CEB7209067B8}"/>
              </a:ext>
            </a:extLst>
          </p:cNvPr>
          <p:cNvSpPr>
            <a:spLocks noGrp="1"/>
          </p:cNvSpPr>
          <p:nvPr>
            <p:ph type="title"/>
          </p:nvPr>
        </p:nvSpPr>
        <p:spPr/>
        <p:txBody>
          <a:bodyPr/>
          <a:lstStyle/>
          <a:p>
            <a:r>
              <a:rPr lang="en-GB" dirty="0"/>
              <a:t>One possible improvement (research by Dr Hong Qing Yu)</a:t>
            </a:r>
          </a:p>
        </p:txBody>
      </p:sp>
      <p:pic>
        <p:nvPicPr>
          <p:cNvPr id="5" name="Content Placeholder 4" descr="Diagram&#10;&#10;Description automatically generated">
            <a:extLst>
              <a:ext uri="{FF2B5EF4-FFF2-40B4-BE49-F238E27FC236}">
                <a16:creationId xmlns:a16="http://schemas.microsoft.com/office/drawing/2014/main" id="{88E48B72-777D-45F1-A3C3-6837956526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905000"/>
            <a:ext cx="9140912" cy="2514600"/>
          </a:xfrm>
        </p:spPr>
      </p:pic>
    </p:spTree>
    <p:extLst>
      <p:ext uri="{BB962C8B-B14F-4D97-AF65-F5344CB8AC3E}">
        <p14:creationId xmlns:p14="http://schemas.microsoft.com/office/powerpoint/2010/main" val="19535514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8E63D-6DD4-4FF4-BA65-5548A584CEAB}"/>
              </a:ext>
            </a:extLst>
          </p:cNvPr>
          <p:cNvSpPr>
            <a:spLocks noGrp="1"/>
          </p:cNvSpPr>
          <p:nvPr>
            <p:ph type="title"/>
          </p:nvPr>
        </p:nvSpPr>
        <p:spPr/>
        <p:txBody>
          <a:bodyPr/>
          <a:lstStyle/>
          <a:p>
            <a:endParaRPr lang="en-GB"/>
          </a:p>
        </p:txBody>
      </p:sp>
      <p:pic>
        <p:nvPicPr>
          <p:cNvPr id="4098" name="Picture 2">
            <a:extLst>
              <a:ext uri="{FF2B5EF4-FFF2-40B4-BE49-F238E27FC236}">
                <a16:creationId xmlns:a16="http://schemas.microsoft.com/office/drawing/2014/main" id="{755B738C-8923-46E3-8AC7-14BD97FD74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67" y="0"/>
            <a:ext cx="9144000" cy="24161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F958200-B737-45EB-866D-AF2EA6153C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47219"/>
            <a:ext cx="9144000" cy="24161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1DF1B24-6AB1-416C-8FFC-44400785088A}"/>
              </a:ext>
            </a:extLst>
          </p:cNvPr>
          <p:cNvSpPr txBox="1"/>
          <p:nvPr/>
        </p:nvSpPr>
        <p:spPr>
          <a:xfrm>
            <a:off x="1600200" y="5181600"/>
            <a:ext cx="7315200" cy="646331"/>
          </a:xfrm>
          <a:prstGeom prst="rect">
            <a:avLst/>
          </a:prstGeom>
          <a:noFill/>
        </p:spPr>
        <p:txBody>
          <a:bodyPr wrap="square">
            <a:spAutoFit/>
          </a:bodyPr>
          <a:lstStyle/>
          <a:p>
            <a:r>
              <a:rPr lang="en-GB" dirty="0">
                <a:hlinkClick r:id="rId4"/>
              </a:rPr>
              <a:t>https://www.kaggle.com/code/harryyu/cluster-siamese-model-on-face-recognition-1-data</a:t>
            </a:r>
            <a:r>
              <a:rPr lang="en-GB" dirty="0"/>
              <a:t> </a:t>
            </a:r>
          </a:p>
        </p:txBody>
      </p:sp>
    </p:spTree>
    <p:extLst>
      <p:ext uri="{BB962C8B-B14F-4D97-AF65-F5344CB8AC3E}">
        <p14:creationId xmlns:p14="http://schemas.microsoft.com/office/powerpoint/2010/main" val="3467241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A8F28-E899-410F-9417-0022FE9F0B7D}"/>
              </a:ext>
            </a:extLst>
          </p:cNvPr>
          <p:cNvSpPr>
            <a:spLocks noGrp="1"/>
          </p:cNvSpPr>
          <p:nvPr>
            <p:ph type="title"/>
          </p:nvPr>
        </p:nvSpPr>
        <p:spPr/>
        <p:txBody>
          <a:bodyPr/>
          <a:lstStyle/>
          <a:p>
            <a:r>
              <a:rPr lang="en-GB" dirty="0"/>
              <a:t>Other types of DNN</a:t>
            </a:r>
          </a:p>
        </p:txBody>
      </p:sp>
      <p:sp>
        <p:nvSpPr>
          <p:cNvPr id="3" name="Content Placeholder 2">
            <a:extLst>
              <a:ext uri="{FF2B5EF4-FFF2-40B4-BE49-F238E27FC236}">
                <a16:creationId xmlns:a16="http://schemas.microsoft.com/office/drawing/2014/main" id="{0FEEFA4F-9A02-4597-B0E2-6F8AD9E5A090}"/>
              </a:ext>
            </a:extLst>
          </p:cNvPr>
          <p:cNvSpPr>
            <a:spLocks noGrp="1"/>
          </p:cNvSpPr>
          <p:nvPr>
            <p:ph idx="1"/>
          </p:nvPr>
        </p:nvSpPr>
        <p:spPr/>
        <p:txBody>
          <a:bodyPr/>
          <a:lstStyle/>
          <a:p>
            <a:r>
              <a:rPr lang="en-GB" dirty="0"/>
              <a:t>The next slides introduce recurrent networks (RNN, LSTM), pre-trained models and transfer learning, and GANs.</a:t>
            </a:r>
          </a:p>
        </p:txBody>
      </p:sp>
    </p:spTree>
    <p:extLst>
      <p:ext uri="{BB962C8B-B14F-4D97-AF65-F5344CB8AC3E}">
        <p14:creationId xmlns:p14="http://schemas.microsoft.com/office/powerpoint/2010/main" val="2886325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Recurrent Neural Networks</a:t>
            </a:r>
          </a:p>
        </p:txBody>
      </p:sp>
      <p:sp>
        <p:nvSpPr>
          <p:cNvPr id="3" name="Content Placeholder 2"/>
          <p:cNvSpPr>
            <a:spLocks noGrp="1"/>
          </p:cNvSpPr>
          <p:nvPr>
            <p:ph idx="1"/>
          </p:nvPr>
        </p:nvSpPr>
        <p:spPr>
          <a:xfrm>
            <a:off x="1809892" y="1066801"/>
            <a:ext cx="6705458" cy="5110164"/>
          </a:xfrm>
        </p:spPr>
        <p:txBody>
          <a:bodyPr/>
          <a:lstStyle/>
          <a:p>
            <a:r>
              <a:rPr lang="en-GB" dirty="0"/>
              <a:t>Recurrent networks take as their input not just the current input example they see, but also what they have perceived previously in time.</a:t>
            </a:r>
          </a:p>
        </p:txBody>
      </p:sp>
      <p:pic>
        <p:nvPicPr>
          <p:cNvPr id="15362" name="Picture 2" descr="Recurrent Neural Network Definition | DeepA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09800"/>
            <a:ext cx="5334000" cy="23150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00" y="4419600"/>
            <a:ext cx="5065485" cy="2209800"/>
          </a:xfrm>
          <a:prstGeom prst="rect">
            <a:avLst/>
          </a:prstGeom>
        </p:spPr>
      </p:pic>
    </p:spTree>
    <p:extLst>
      <p:ext uri="{BB962C8B-B14F-4D97-AF65-F5344CB8AC3E}">
        <p14:creationId xmlns:p14="http://schemas.microsoft.com/office/powerpoint/2010/main" val="2186797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Problem of Long-Term Dependencies</a:t>
            </a:r>
            <a:br>
              <a:rPr lang="en-GB" dirty="0"/>
            </a:br>
            <a:endParaRPr lang="en-GB" dirty="0"/>
          </a:p>
        </p:txBody>
      </p:sp>
      <p:sp>
        <p:nvSpPr>
          <p:cNvPr id="3" name="Content Placeholder 2"/>
          <p:cNvSpPr>
            <a:spLocks noGrp="1"/>
          </p:cNvSpPr>
          <p:nvPr>
            <p:ph idx="1"/>
          </p:nvPr>
        </p:nvSpPr>
        <p:spPr/>
        <p:txBody>
          <a:bodyPr/>
          <a:lstStyle/>
          <a:p>
            <a:r>
              <a:rPr lang="en-GB" sz="2000" b="1" dirty="0"/>
              <a:t>Ex. 1: I used to live in France.</a:t>
            </a:r>
          </a:p>
          <a:p>
            <a:r>
              <a:rPr lang="en-GB" sz="2000" b="1" dirty="0"/>
              <a:t>           I learnt to speak </a:t>
            </a:r>
            <a:r>
              <a:rPr lang="en-GB" sz="2000" b="1" u="sng" dirty="0"/>
              <a:t>?.</a:t>
            </a:r>
          </a:p>
          <a:p>
            <a:r>
              <a:rPr lang="en-GB" sz="2000" b="1" dirty="0"/>
              <a:t>Ex. 2: I grew up in France … (a long sentence)  </a:t>
            </a:r>
          </a:p>
          <a:p>
            <a:r>
              <a:rPr lang="en-GB" sz="2000" b="1" dirty="0"/>
              <a:t>           I speak fluent </a:t>
            </a:r>
            <a:r>
              <a:rPr lang="en-GB" sz="2000" b="1" u="sng" dirty="0"/>
              <a:t>?</a:t>
            </a:r>
            <a:r>
              <a:rPr lang="en-GB" sz="2000" b="1" dirty="0"/>
              <a:t>.</a:t>
            </a:r>
            <a:endParaRPr lang="en-GB" sz="2000" b="1" u="sng" dirty="0"/>
          </a:p>
        </p:txBody>
      </p:sp>
      <p:sp>
        <p:nvSpPr>
          <p:cNvPr id="4" name="TextBox 3"/>
          <p:cNvSpPr txBox="1"/>
          <p:nvPr/>
        </p:nvSpPr>
        <p:spPr>
          <a:xfrm>
            <a:off x="6477000" y="1600200"/>
            <a:ext cx="1492716" cy="369332"/>
          </a:xfrm>
          <a:prstGeom prst="rect">
            <a:avLst/>
          </a:prstGeom>
          <a:noFill/>
        </p:spPr>
        <p:txBody>
          <a:bodyPr wrap="none" rtlCol="0">
            <a:spAutoFit/>
          </a:bodyPr>
          <a:lstStyle/>
          <a:p>
            <a:r>
              <a:rPr lang="en-GB" dirty="0">
                <a:solidFill>
                  <a:srgbClr val="FF0000"/>
                </a:solidFill>
              </a:rPr>
              <a:t>RNN is good</a:t>
            </a:r>
          </a:p>
        </p:txBody>
      </p:sp>
      <p:sp>
        <p:nvSpPr>
          <p:cNvPr id="5" name="TextBox 4"/>
          <p:cNvSpPr txBox="1"/>
          <p:nvPr/>
        </p:nvSpPr>
        <p:spPr>
          <a:xfrm>
            <a:off x="5410200" y="2703063"/>
            <a:ext cx="3265714" cy="646331"/>
          </a:xfrm>
          <a:prstGeom prst="rect">
            <a:avLst/>
          </a:prstGeom>
          <a:noFill/>
        </p:spPr>
        <p:txBody>
          <a:bodyPr wrap="square" rtlCol="0">
            <a:spAutoFit/>
          </a:bodyPr>
          <a:lstStyle/>
          <a:p>
            <a:r>
              <a:rPr lang="en-GB" dirty="0">
                <a:solidFill>
                  <a:srgbClr val="FF0000"/>
                </a:solidFill>
              </a:rPr>
              <a:t>In theory RNNs should cope, but not in practice</a:t>
            </a:r>
          </a:p>
        </p:txBody>
      </p:sp>
      <p:pic>
        <p:nvPicPr>
          <p:cNvPr id="16386" name="Picture 2" descr="The Vanishing Gradient Problem in Recurrent Neural Networks | Nick McCull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365288"/>
            <a:ext cx="4038600" cy="277527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791200" y="4648200"/>
            <a:ext cx="2976008" cy="369332"/>
          </a:xfrm>
          <a:prstGeom prst="rect">
            <a:avLst/>
          </a:prstGeom>
        </p:spPr>
        <p:txBody>
          <a:bodyPr wrap="none">
            <a:spAutoFit/>
          </a:bodyPr>
          <a:lstStyle/>
          <a:p>
            <a:r>
              <a:rPr lang="en-GB" dirty="0">
                <a:solidFill>
                  <a:srgbClr val="FF0000"/>
                </a:solidFill>
              </a:rPr>
              <a:t>Vanishing gradient problem</a:t>
            </a:r>
          </a:p>
        </p:txBody>
      </p:sp>
    </p:spTree>
    <p:extLst>
      <p:ext uri="{BB962C8B-B14F-4D97-AF65-F5344CB8AC3E}">
        <p14:creationId xmlns:p14="http://schemas.microsoft.com/office/powerpoint/2010/main" val="3402834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LSTM (Long Short Term Memory networks)</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GB" dirty="0"/>
              <a:t>LSTM is a special kind of recurrent neural network capable of learning long-term dependencies. </a:t>
            </a:r>
          </a:p>
          <a:p>
            <a:pPr marL="342900" indent="-342900">
              <a:buFont typeface="Arial" panose="020B0604020202020204" pitchFamily="34" charset="0"/>
              <a:buChar char="•"/>
            </a:pPr>
            <a:r>
              <a:rPr lang="en-GB" dirty="0"/>
              <a:t>They were introduced by </a:t>
            </a:r>
            <a:r>
              <a:rPr lang="en-GB" dirty="0" err="1"/>
              <a:t>Hochreiter</a:t>
            </a:r>
            <a:r>
              <a:rPr lang="en-GB" dirty="0"/>
              <a:t> &amp; </a:t>
            </a:r>
            <a:r>
              <a:rPr lang="en-GB" dirty="0" err="1"/>
              <a:t>Schmidhuber</a:t>
            </a:r>
            <a:r>
              <a:rPr lang="en-GB" dirty="0"/>
              <a:t> in 1997.</a:t>
            </a:r>
          </a:p>
        </p:txBody>
      </p:sp>
      <p:pic>
        <p:nvPicPr>
          <p:cNvPr id="17410" name="Picture 2" descr="Image for po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505200"/>
            <a:ext cx="6400800" cy="2464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1759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8" name="Picture 6" descr="Image for pos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3962400"/>
            <a:ext cx="3587281" cy="15588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GB" dirty="0"/>
              <a:t>How does LSTM work?</a:t>
            </a:r>
          </a:p>
        </p:txBody>
      </p:sp>
      <p:pic>
        <p:nvPicPr>
          <p:cNvPr id="4" name="Picture 2" descr="Image for pos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990600"/>
            <a:ext cx="6926919" cy="2667000"/>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descr="Image for pos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3962400"/>
            <a:ext cx="3599328" cy="16764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641426" y="5715000"/>
            <a:ext cx="1364476" cy="369332"/>
          </a:xfrm>
          <a:prstGeom prst="rect">
            <a:avLst/>
          </a:prstGeom>
        </p:spPr>
        <p:txBody>
          <a:bodyPr wrap="none">
            <a:spAutoFit/>
          </a:bodyPr>
          <a:lstStyle/>
          <a:p>
            <a:r>
              <a:rPr lang="en-GB" dirty="0"/>
              <a:t>Forget gate</a:t>
            </a:r>
          </a:p>
        </p:txBody>
      </p:sp>
      <p:pic>
        <p:nvPicPr>
          <p:cNvPr id="18436" name="Picture 4" descr="Image for po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0544" y="4212771"/>
            <a:ext cx="3283693" cy="13302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18034" y="5671457"/>
            <a:ext cx="1210588" cy="369332"/>
          </a:xfrm>
          <a:prstGeom prst="rect">
            <a:avLst/>
          </a:prstGeom>
        </p:spPr>
        <p:txBody>
          <a:bodyPr wrap="none">
            <a:spAutoFit/>
          </a:bodyPr>
          <a:lstStyle/>
          <a:p>
            <a:r>
              <a:rPr lang="en-GB" dirty="0"/>
              <a:t>Input gate</a:t>
            </a:r>
          </a:p>
        </p:txBody>
      </p:sp>
      <p:sp>
        <p:nvSpPr>
          <p:cNvPr id="7" name="Rectangle 6"/>
          <p:cNvSpPr/>
          <p:nvPr/>
        </p:nvSpPr>
        <p:spPr>
          <a:xfrm>
            <a:off x="6834237" y="5650468"/>
            <a:ext cx="1390124" cy="369332"/>
          </a:xfrm>
          <a:prstGeom prst="rect">
            <a:avLst/>
          </a:prstGeom>
        </p:spPr>
        <p:txBody>
          <a:bodyPr wrap="none">
            <a:spAutoFit/>
          </a:bodyPr>
          <a:lstStyle/>
          <a:p>
            <a:r>
              <a:rPr lang="en-GB" dirty="0"/>
              <a:t>Output gate</a:t>
            </a:r>
          </a:p>
        </p:txBody>
      </p:sp>
    </p:spTree>
    <p:extLst>
      <p:ext uri="{BB962C8B-B14F-4D97-AF65-F5344CB8AC3E}">
        <p14:creationId xmlns:p14="http://schemas.microsoft.com/office/powerpoint/2010/main" val="16150229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Pre-trained models</a:t>
            </a:r>
          </a:p>
        </p:txBody>
      </p:sp>
      <p:sp>
        <p:nvSpPr>
          <p:cNvPr id="3" name="Content Placeholder 2"/>
          <p:cNvSpPr>
            <a:spLocks noGrp="1"/>
          </p:cNvSpPr>
          <p:nvPr>
            <p:ph idx="1"/>
          </p:nvPr>
        </p:nvSpPr>
        <p:spPr/>
        <p:txBody>
          <a:bodyPr/>
          <a:lstStyle/>
          <a:p>
            <a:r>
              <a:rPr lang="en-GB" dirty="0"/>
              <a:t>Pre-trained learning models are good sources for solving a common AI problem. Due to time restrictions or computational constraints, it’s not always possible to build a model from scratch, which is why pre-trained models are useful. In addition, you can use a pre-trained model as a benchmark to either improve the existing model or test your own model against it.</a:t>
            </a:r>
          </a:p>
          <a:p>
            <a:r>
              <a:rPr lang="en-GB" dirty="0"/>
              <a:t>Pre-trained CV models </a:t>
            </a:r>
            <a:r>
              <a:rPr lang="en-GB" dirty="0" err="1"/>
              <a:t>e.g.</a:t>
            </a:r>
            <a:r>
              <a:rPr lang="en-GB" dirty="0"/>
              <a:t> YOLO (object </a:t>
            </a:r>
            <a:r>
              <a:rPr lang="en-GB" dirty="0" err="1"/>
              <a:t>detection</a:t>
            </a:r>
            <a:r>
              <a:rPr lang="en-GB" dirty="0"/>
              <a:t>), ResNet and VGG (image classification, pre-trained on ImageNet)</a:t>
            </a:r>
          </a:p>
          <a:p>
            <a:endParaRPr lang="en-GB" dirty="0"/>
          </a:p>
          <a:p>
            <a:r>
              <a:rPr lang="en-GB" dirty="0"/>
              <a:t>Pre-trained NLP models e.g. BERT, GPT-3…	  </a:t>
            </a:r>
          </a:p>
          <a:p>
            <a:endParaRPr lang="en-GB" dirty="0"/>
          </a:p>
        </p:txBody>
      </p:sp>
    </p:spTree>
    <p:extLst>
      <p:ext uri="{BB962C8B-B14F-4D97-AF65-F5344CB8AC3E}">
        <p14:creationId xmlns:p14="http://schemas.microsoft.com/office/powerpoint/2010/main" val="3672740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Transfer learning process</a:t>
            </a:r>
            <a:br>
              <a:rPr lang="en-GB" b="0" dirty="0"/>
            </a:br>
            <a:br>
              <a:rPr lang="en-GB" dirty="0"/>
            </a:br>
            <a:endParaRPr lang="en-GB" dirty="0"/>
          </a:p>
        </p:txBody>
      </p:sp>
      <p:sp>
        <p:nvSpPr>
          <p:cNvPr id="3" name="Content Placeholder 2"/>
          <p:cNvSpPr>
            <a:spLocks noGrp="1"/>
          </p:cNvSpPr>
          <p:nvPr>
            <p:ph idx="1"/>
          </p:nvPr>
        </p:nvSpPr>
        <p:spPr/>
        <p:txBody>
          <a:bodyPr/>
          <a:lstStyle/>
          <a:p>
            <a:r>
              <a:rPr lang="en-GB" dirty="0"/>
              <a:t>From a practical perspective, the entire transfer learning process can be summarised as follows:</a:t>
            </a:r>
          </a:p>
          <a:p>
            <a:endParaRPr lang="en-GB" dirty="0"/>
          </a:p>
          <a:p>
            <a:pPr marL="457200" indent="-457200">
              <a:buFont typeface="+mj-lt"/>
              <a:buAutoNum type="arabicPeriod"/>
            </a:pPr>
            <a:r>
              <a:rPr lang="en-GB" b="1" dirty="0"/>
              <a:t>Select a pre-trained model based on your task</a:t>
            </a:r>
            <a:endParaRPr lang="en-GB" dirty="0"/>
          </a:p>
          <a:p>
            <a:pPr marL="457200" indent="-457200">
              <a:buFont typeface="+mj-lt"/>
              <a:buAutoNum type="arabicPeriod"/>
            </a:pPr>
            <a:endParaRPr lang="en-GB" dirty="0"/>
          </a:p>
          <a:p>
            <a:pPr marL="457200" indent="-457200">
              <a:buFont typeface="+mj-lt"/>
              <a:buAutoNum type="arabicPeriod"/>
            </a:pPr>
            <a:r>
              <a:rPr lang="en-GB" b="1" dirty="0"/>
              <a:t>Classify your problem according to the Size-Similarity Matrix</a:t>
            </a:r>
          </a:p>
          <a:p>
            <a:pPr marL="457200" indent="-457200">
              <a:buFont typeface="+mj-lt"/>
              <a:buAutoNum type="arabicPeriod"/>
            </a:pPr>
            <a:endParaRPr lang="en-GB" dirty="0"/>
          </a:p>
          <a:p>
            <a:pPr marL="457200" indent="-457200">
              <a:buFont typeface="+mj-lt"/>
              <a:buAutoNum type="arabicPeriod"/>
            </a:pPr>
            <a:r>
              <a:rPr lang="en-GB" b="1" dirty="0"/>
              <a:t>Fine-tune your model</a:t>
            </a:r>
            <a:endParaRPr lang="en-GB" dirty="0"/>
          </a:p>
        </p:txBody>
      </p:sp>
    </p:spTree>
    <p:extLst>
      <p:ext uri="{BB962C8B-B14F-4D97-AF65-F5344CB8AC3E}">
        <p14:creationId xmlns:p14="http://schemas.microsoft.com/office/powerpoint/2010/main" val="3673882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Generative Adversarial Networks (GANs)</a:t>
            </a:r>
            <a:br>
              <a:rPr lang="en-GB" dirty="0"/>
            </a:br>
            <a:endParaRPr lang="en-GB" dirty="0"/>
          </a:p>
        </p:txBody>
      </p:sp>
      <p:sp>
        <p:nvSpPr>
          <p:cNvPr id="3" name="Content Placeholder 2"/>
          <p:cNvSpPr>
            <a:spLocks noGrp="1"/>
          </p:cNvSpPr>
          <p:nvPr>
            <p:ph idx="1"/>
          </p:nvPr>
        </p:nvSpPr>
        <p:spPr/>
        <p:txBody>
          <a:bodyPr/>
          <a:lstStyle/>
          <a:p>
            <a:pPr marL="342900" indent="-342900" fontAlgn="base">
              <a:buFont typeface="Arial" panose="020B0604020202020204" pitchFamily="34" charset="0"/>
              <a:buChar char="•"/>
            </a:pPr>
            <a:r>
              <a:rPr lang="en-GB" dirty="0"/>
              <a:t>Generative Adversarial Networks, or GANs for short, are an approach to generative modelling using deep learning methods, such as convolutional neural networks.</a:t>
            </a:r>
          </a:p>
          <a:p>
            <a:pPr marL="342900" indent="-342900" fontAlgn="base">
              <a:buFont typeface="Arial" panose="020B0604020202020204" pitchFamily="34" charset="0"/>
              <a:buChar char="•"/>
            </a:pPr>
            <a:r>
              <a:rPr lang="en-GB" dirty="0"/>
              <a:t>Generative modelling is an unsupervised learning task in machine learning that involves automatically discovering and learning the regularities or patterns in input data in such a way that the model can be used to generate or output new examples that plausibly could have been drawn from the original dataset.</a:t>
            </a:r>
          </a:p>
          <a:p>
            <a:pPr algn="r"/>
            <a:r>
              <a:rPr lang="en-GB" sz="1400" b="1" dirty="0">
                <a:solidFill>
                  <a:schemeClr val="bg1">
                    <a:lumMod val="75000"/>
                  </a:schemeClr>
                </a:solidFill>
              </a:rPr>
              <a:t>Jason Brownlee</a:t>
            </a:r>
          </a:p>
          <a:p>
            <a:pPr algn="r"/>
            <a:r>
              <a:rPr lang="en-GB" sz="1400" b="1" dirty="0">
                <a:solidFill>
                  <a:schemeClr val="bg1">
                    <a:lumMod val="75000"/>
                  </a:schemeClr>
                </a:solidFill>
              </a:rPr>
              <a:t>A Gentle Introduction to Generative Adversarial Networks (GANs)</a:t>
            </a:r>
          </a:p>
          <a:p>
            <a:pPr algn="r"/>
            <a:r>
              <a:rPr lang="en-GB" sz="1400" b="1" dirty="0">
                <a:solidFill>
                  <a:schemeClr val="bg1">
                    <a:lumMod val="75000"/>
                  </a:schemeClr>
                </a:solidFill>
              </a:rPr>
              <a:t>https://machinelearningmastery.com/what-are-generative-adversarial-networks-gans/</a:t>
            </a:r>
          </a:p>
          <a:p>
            <a:endParaRPr lang="en-GB" sz="1400" dirty="0"/>
          </a:p>
        </p:txBody>
      </p:sp>
    </p:spTree>
    <p:extLst>
      <p:ext uri="{BB962C8B-B14F-4D97-AF65-F5344CB8AC3E}">
        <p14:creationId xmlns:p14="http://schemas.microsoft.com/office/powerpoint/2010/main" val="33550562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GANs Process/Architecture</a:t>
            </a:r>
          </a:p>
        </p:txBody>
      </p:sp>
      <p:sp>
        <p:nvSpPr>
          <p:cNvPr id="4" name="AutoShape 2" descr="A Short Introduction to Generative Adversarial Networks - Thalles' blo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AutoShape 4" descr="A Short Introduction to Generative Adversarial Networks - Thalles' blo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9462" name="Picture 6" descr="A Short Introduction to Generative Adversarial Networks - Thalles'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47800"/>
            <a:ext cx="7513261"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5436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CD961-DF5B-4570-770B-4640C1CEE4B6}"/>
              </a:ext>
            </a:extLst>
          </p:cNvPr>
          <p:cNvSpPr>
            <a:spLocks noGrp="1"/>
          </p:cNvSpPr>
          <p:nvPr>
            <p:ph type="title"/>
          </p:nvPr>
        </p:nvSpPr>
        <p:spPr/>
        <p:txBody>
          <a:bodyPr/>
          <a:lstStyle/>
          <a:p>
            <a:r>
              <a:rPr lang="en-GB" dirty="0"/>
              <a:t>Explainable AI</a:t>
            </a:r>
          </a:p>
        </p:txBody>
      </p:sp>
      <p:sp>
        <p:nvSpPr>
          <p:cNvPr id="3" name="Content Placeholder 2">
            <a:extLst>
              <a:ext uri="{FF2B5EF4-FFF2-40B4-BE49-F238E27FC236}">
                <a16:creationId xmlns:a16="http://schemas.microsoft.com/office/drawing/2014/main" id="{2E24A93C-F57C-167E-BF80-B4EF9D50845D}"/>
              </a:ext>
            </a:extLst>
          </p:cNvPr>
          <p:cNvSpPr>
            <a:spLocks noGrp="1"/>
          </p:cNvSpPr>
          <p:nvPr>
            <p:ph idx="1"/>
          </p:nvPr>
        </p:nvSpPr>
        <p:spPr/>
        <p:txBody>
          <a:bodyPr/>
          <a:lstStyle/>
          <a:p>
            <a:pPr marL="173038" indent="-173038">
              <a:spcBef>
                <a:spcPts val="600"/>
              </a:spcBef>
              <a:buFont typeface="Arial" panose="020B0604020202020204" pitchFamily="34" charset="0"/>
              <a:buChar char="•"/>
            </a:pPr>
            <a:r>
              <a:rPr lang="en-US" sz="2400" dirty="0">
                <a:latin typeface="Avenir Next"/>
              </a:rPr>
              <a:t>The current generation of AI systems offer tremendous benefits, but their effectiveness will be limited by the machine’s inability to explain its decisions and actions to users. </a:t>
            </a:r>
          </a:p>
          <a:p>
            <a:pPr marL="173038" indent="-173038">
              <a:spcBef>
                <a:spcPts val="600"/>
              </a:spcBef>
              <a:buFont typeface="Arial" panose="020B0604020202020204" pitchFamily="34" charset="0"/>
              <a:buChar char="•"/>
            </a:pPr>
            <a:r>
              <a:rPr lang="en-US" sz="2400" dirty="0">
                <a:latin typeface="Avenir Next"/>
              </a:rPr>
              <a:t>Explainable AI will be essential if users are to understand, appropriately trust, and effectively manage this incoming generation of artificially intelligent partners.</a:t>
            </a:r>
          </a:p>
          <a:p>
            <a:endParaRPr lang="en-GB" dirty="0"/>
          </a:p>
        </p:txBody>
      </p:sp>
      <p:sp>
        <p:nvSpPr>
          <p:cNvPr id="4" name="Source note"/>
          <p:cNvSpPr txBox="1"/>
          <p:nvPr/>
        </p:nvSpPr>
        <p:spPr>
          <a:xfrm>
            <a:off x="1809892" y="6248400"/>
            <a:ext cx="6705458" cy="320000"/>
          </a:xfrm>
          <a:prstGeom prst="rect">
            <a:avLst/>
          </a:prstGeom>
          <a:noFill/>
        </p:spPr>
        <p:txBody>
          <a:bodyPr wrap="square">
            <a:spAutoFit/>
          </a:bodyPr>
          <a:lstStyle/>
          <a:p>
            <a:pPr algn="r"/>
            <a:r>
              <a:rPr lang="en-GB" sz="1200" b="0">
                <a:solidFill>
                  <a:schemeClr val="bg1">
                    <a:lumMod val="50000"/>
                  </a:schemeClr>
                </a:solidFill>
              </a:rPr>
              <a:t>Source: D. Gunning, Explainable Artificial Intelligence (XAI), DARPA, 2017</a:t>
            </a:r>
          </a:p>
        </p:txBody>
      </p:sp>
    </p:spTree>
    <p:extLst>
      <p:ext uri="{BB962C8B-B14F-4D97-AF65-F5344CB8AC3E}">
        <p14:creationId xmlns:p14="http://schemas.microsoft.com/office/powerpoint/2010/main" val="20285951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9B9D1-9090-E3D1-314C-92DC33A64915}"/>
              </a:ext>
            </a:extLst>
          </p:cNvPr>
          <p:cNvSpPr>
            <a:spLocks noGrp="1"/>
          </p:cNvSpPr>
          <p:nvPr>
            <p:ph type="title"/>
          </p:nvPr>
        </p:nvSpPr>
        <p:spPr>
          <a:xfrm>
            <a:off x="1809893" y="365126"/>
            <a:ext cx="7029307" cy="595996"/>
          </a:xfrm>
        </p:spPr>
        <p:txBody>
          <a:bodyPr/>
          <a:lstStyle/>
          <a:p>
            <a:r>
              <a:rPr lang="en-GB" dirty="0"/>
              <a:t>Explainability of Today’s Algorithms</a:t>
            </a:r>
          </a:p>
        </p:txBody>
      </p:sp>
      <p:sp>
        <p:nvSpPr>
          <p:cNvPr id="4" name="Rounded Rectangle 56">
            <a:extLst>
              <a:ext uri="{FF2B5EF4-FFF2-40B4-BE49-F238E27FC236}">
                <a16:creationId xmlns:a16="http://schemas.microsoft.com/office/drawing/2014/main" id="{0A790C66-2395-5135-C0F4-99DA81CA0D7B}"/>
              </a:ext>
            </a:extLst>
          </p:cNvPr>
          <p:cNvSpPr/>
          <p:nvPr/>
        </p:nvSpPr>
        <p:spPr>
          <a:xfrm>
            <a:off x="1709385" y="2384393"/>
            <a:ext cx="4023138" cy="2682297"/>
          </a:xfrm>
          <a:prstGeom prst="roundRect">
            <a:avLst>
              <a:gd name="adj" fmla="val 22135"/>
            </a:avLst>
          </a:prstGeom>
          <a:solidFill>
            <a:srgbClr val="FDE5CD">
              <a:alpha val="50196"/>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CF30D612-5C07-FA75-A823-031AE8759DC4}"/>
              </a:ext>
            </a:extLst>
          </p:cNvPr>
          <p:cNvSpPr txBox="1"/>
          <p:nvPr/>
        </p:nvSpPr>
        <p:spPr>
          <a:xfrm rot="16200000">
            <a:off x="4738989" y="3491015"/>
            <a:ext cx="2442276" cy="307777"/>
          </a:xfrm>
          <a:prstGeom prst="rect">
            <a:avLst/>
          </a:prstGeom>
          <a:noFill/>
        </p:spPr>
        <p:txBody>
          <a:bodyPr wrap="square" rtlCol="0">
            <a:spAutoFit/>
          </a:bodyPr>
          <a:lstStyle/>
          <a:p>
            <a:pPr algn="ctr">
              <a:defRPr/>
            </a:pPr>
            <a:r>
              <a:rPr lang="en-US" sz="1400" kern="0" dirty="0">
                <a:solidFill>
                  <a:srgbClr val="1B587C">
                    <a:lumMod val="75000"/>
                  </a:srgbClr>
                </a:solidFill>
                <a:latin typeface="Avenir Next"/>
                <a:ea typeface="Avenir Next" charset="0"/>
                <a:cs typeface="Avenir Next" charset="0"/>
              </a:rPr>
              <a:t>Prediction Accuracy</a:t>
            </a:r>
          </a:p>
        </p:txBody>
      </p:sp>
      <p:sp>
        <p:nvSpPr>
          <p:cNvPr id="6" name="TextBox 5">
            <a:extLst>
              <a:ext uri="{FF2B5EF4-FFF2-40B4-BE49-F238E27FC236}">
                <a16:creationId xmlns:a16="http://schemas.microsoft.com/office/drawing/2014/main" id="{6D7B0756-8FA9-586F-EDFE-AA06E8FF6124}"/>
              </a:ext>
            </a:extLst>
          </p:cNvPr>
          <p:cNvSpPr txBox="1"/>
          <p:nvPr/>
        </p:nvSpPr>
        <p:spPr>
          <a:xfrm>
            <a:off x="5824686" y="4466804"/>
            <a:ext cx="2620344" cy="307777"/>
          </a:xfrm>
          <a:prstGeom prst="rect">
            <a:avLst/>
          </a:prstGeom>
          <a:noFill/>
        </p:spPr>
        <p:txBody>
          <a:bodyPr wrap="square" rtlCol="0">
            <a:spAutoFit/>
          </a:bodyPr>
          <a:lstStyle/>
          <a:p>
            <a:pPr algn="ctr">
              <a:defRPr/>
            </a:pPr>
            <a:r>
              <a:rPr lang="en-US" sz="1400" kern="0" dirty="0">
                <a:solidFill>
                  <a:srgbClr val="1B587C">
                    <a:lumMod val="75000"/>
                  </a:srgbClr>
                </a:solidFill>
                <a:latin typeface="Avenir Next"/>
                <a:ea typeface="Avenir Next" charset="0"/>
                <a:cs typeface="Avenir Next" charset="0"/>
              </a:rPr>
              <a:t>Explainability</a:t>
            </a:r>
          </a:p>
        </p:txBody>
      </p:sp>
      <p:sp>
        <p:nvSpPr>
          <p:cNvPr id="7" name="Rectangle 6">
            <a:extLst>
              <a:ext uri="{FF2B5EF4-FFF2-40B4-BE49-F238E27FC236}">
                <a16:creationId xmlns:a16="http://schemas.microsoft.com/office/drawing/2014/main" id="{18B8F607-6711-4824-0E80-09061A73FA00}"/>
              </a:ext>
            </a:extLst>
          </p:cNvPr>
          <p:cNvSpPr>
            <a:spLocks noChangeAspect="1"/>
          </p:cNvSpPr>
          <p:nvPr/>
        </p:nvSpPr>
        <p:spPr>
          <a:xfrm>
            <a:off x="6127863" y="2713080"/>
            <a:ext cx="2134550" cy="1716263"/>
          </a:xfrm>
          <a:prstGeom prst="rect">
            <a:avLst/>
          </a:prstGeom>
          <a:pattFill prst="smGrid">
            <a:fgClr>
              <a:srgbClr val="DAE3F3"/>
            </a:fgClr>
            <a:bgClr>
              <a:sysClr val="window" lastClr="FFFFFF"/>
            </a:bgClr>
          </a:patt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n-US" sz="800" kern="0" dirty="0">
              <a:solidFill>
                <a:prstClr val="black"/>
              </a:solidFill>
              <a:latin typeface="Avenir Next"/>
              <a:ea typeface="Avenir Next" charset="0"/>
              <a:cs typeface="Avenir Next" charset="0"/>
            </a:endParaRPr>
          </a:p>
        </p:txBody>
      </p:sp>
      <p:cxnSp>
        <p:nvCxnSpPr>
          <p:cNvPr id="8" name="Straight Connector 7">
            <a:extLst>
              <a:ext uri="{FF2B5EF4-FFF2-40B4-BE49-F238E27FC236}">
                <a16:creationId xmlns:a16="http://schemas.microsoft.com/office/drawing/2014/main" id="{FCABE7AC-9459-241D-7E1F-DEE3B3127AA9}"/>
              </a:ext>
            </a:extLst>
          </p:cNvPr>
          <p:cNvCxnSpPr/>
          <p:nvPr/>
        </p:nvCxnSpPr>
        <p:spPr>
          <a:xfrm>
            <a:off x="6150279" y="2702921"/>
            <a:ext cx="0" cy="1734778"/>
          </a:xfrm>
          <a:prstGeom prst="line">
            <a:avLst/>
          </a:prstGeom>
          <a:noFill/>
          <a:ln w="28575" cap="flat" cmpd="sng" algn="ctr">
            <a:solidFill>
              <a:srgbClr val="5B9BD5">
                <a:lumMod val="50000"/>
              </a:srgbClr>
            </a:solidFill>
            <a:prstDash val="solid"/>
            <a:miter lim="800000"/>
            <a:headEnd type="triangle" w="med" len="med"/>
            <a:tailEnd type="none" w="med" len="med"/>
          </a:ln>
          <a:effectLst/>
        </p:spPr>
      </p:cxnSp>
      <p:cxnSp>
        <p:nvCxnSpPr>
          <p:cNvPr id="9" name="Straight Connector 8">
            <a:extLst>
              <a:ext uri="{FF2B5EF4-FFF2-40B4-BE49-F238E27FC236}">
                <a16:creationId xmlns:a16="http://schemas.microsoft.com/office/drawing/2014/main" id="{3E0F416A-F34C-A4CE-8F0C-1536767D0E61}"/>
              </a:ext>
            </a:extLst>
          </p:cNvPr>
          <p:cNvCxnSpPr>
            <a:cxnSpLocks noChangeAspect="1"/>
          </p:cNvCxnSpPr>
          <p:nvPr/>
        </p:nvCxnSpPr>
        <p:spPr>
          <a:xfrm flipH="1">
            <a:off x="6139596" y="4437697"/>
            <a:ext cx="2139410" cy="0"/>
          </a:xfrm>
          <a:prstGeom prst="line">
            <a:avLst/>
          </a:prstGeom>
          <a:noFill/>
          <a:ln w="28575" cap="flat" cmpd="sng" algn="ctr">
            <a:solidFill>
              <a:srgbClr val="5B9BD5">
                <a:lumMod val="50000"/>
              </a:srgbClr>
            </a:solidFill>
            <a:prstDash val="solid"/>
            <a:miter lim="800000"/>
            <a:headEnd type="triangle" w="med" len="med"/>
            <a:tailEnd type="none" w="med" len="med"/>
          </a:ln>
          <a:effectLst/>
        </p:spPr>
      </p:cxnSp>
      <p:sp>
        <p:nvSpPr>
          <p:cNvPr id="10" name="Oval 9">
            <a:extLst>
              <a:ext uri="{FF2B5EF4-FFF2-40B4-BE49-F238E27FC236}">
                <a16:creationId xmlns:a16="http://schemas.microsoft.com/office/drawing/2014/main" id="{4DC20F73-2FB5-DB9C-44C7-04FEFEE38EE1}"/>
              </a:ext>
            </a:extLst>
          </p:cNvPr>
          <p:cNvSpPr>
            <a:spLocks noChangeAspect="1"/>
          </p:cNvSpPr>
          <p:nvPr/>
        </p:nvSpPr>
        <p:spPr>
          <a:xfrm>
            <a:off x="6281871" y="2858742"/>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1" name="Oval 10">
            <a:extLst>
              <a:ext uri="{FF2B5EF4-FFF2-40B4-BE49-F238E27FC236}">
                <a16:creationId xmlns:a16="http://schemas.microsoft.com/office/drawing/2014/main" id="{233295AB-E2B7-2C79-2120-F767879DA101}"/>
              </a:ext>
            </a:extLst>
          </p:cNvPr>
          <p:cNvSpPr>
            <a:spLocks noChangeAspect="1"/>
          </p:cNvSpPr>
          <p:nvPr/>
        </p:nvSpPr>
        <p:spPr>
          <a:xfrm>
            <a:off x="6403821" y="3173032"/>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2" name="Oval 11">
            <a:extLst>
              <a:ext uri="{FF2B5EF4-FFF2-40B4-BE49-F238E27FC236}">
                <a16:creationId xmlns:a16="http://schemas.microsoft.com/office/drawing/2014/main" id="{38425A00-D9D2-2098-141F-A6EE438FC4D0}"/>
              </a:ext>
            </a:extLst>
          </p:cNvPr>
          <p:cNvSpPr>
            <a:spLocks noChangeAspect="1"/>
          </p:cNvSpPr>
          <p:nvPr/>
        </p:nvSpPr>
        <p:spPr>
          <a:xfrm>
            <a:off x="6645891" y="3474733"/>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3" name="Oval 12">
            <a:extLst>
              <a:ext uri="{FF2B5EF4-FFF2-40B4-BE49-F238E27FC236}">
                <a16:creationId xmlns:a16="http://schemas.microsoft.com/office/drawing/2014/main" id="{95EBA929-1E7E-2288-CB40-1D95A82E75EC}"/>
              </a:ext>
            </a:extLst>
          </p:cNvPr>
          <p:cNvSpPr>
            <a:spLocks noChangeAspect="1"/>
          </p:cNvSpPr>
          <p:nvPr/>
        </p:nvSpPr>
        <p:spPr>
          <a:xfrm>
            <a:off x="7030063" y="3803006"/>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4" name="Oval 13">
            <a:extLst>
              <a:ext uri="{FF2B5EF4-FFF2-40B4-BE49-F238E27FC236}">
                <a16:creationId xmlns:a16="http://schemas.microsoft.com/office/drawing/2014/main" id="{AC8717DC-0F9D-9C1A-4612-2A81814425D5}"/>
              </a:ext>
            </a:extLst>
          </p:cNvPr>
          <p:cNvSpPr>
            <a:spLocks noChangeAspect="1"/>
          </p:cNvSpPr>
          <p:nvPr/>
        </p:nvSpPr>
        <p:spPr>
          <a:xfrm>
            <a:off x="6411552" y="3305055"/>
            <a:ext cx="98118" cy="86655"/>
          </a:xfrm>
          <a:prstGeom prst="ellipse">
            <a:avLst/>
          </a:prstGeom>
          <a:solidFill>
            <a:srgbClr val="F07F09">
              <a:lumMod val="60000"/>
              <a:lumOff val="40000"/>
            </a:srgbClr>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dirty="0">
              <a:ln>
                <a:noFill/>
              </a:ln>
              <a:solidFill>
                <a:prstClr val="black"/>
              </a:solidFill>
              <a:effectLst/>
              <a:uLnTx/>
              <a:uFillTx/>
              <a:latin typeface="Avenir Next"/>
              <a:ea typeface="Avenir Next" charset="0"/>
              <a:cs typeface="Avenir Next" charset="0"/>
            </a:endParaRPr>
          </a:p>
        </p:txBody>
      </p:sp>
      <p:sp>
        <p:nvSpPr>
          <p:cNvPr id="15" name="TextBox 14">
            <a:extLst>
              <a:ext uri="{FF2B5EF4-FFF2-40B4-BE49-F238E27FC236}">
                <a16:creationId xmlns:a16="http://schemas.microsoft.com/office/drawing/2014/main" id="{EA42CD46-5FDD-992B-AA6F-0186548B0794}"/>
              </a:ext>
            </a:extLst>
          </p:cNvPr>
          <p:cNvSpPr txBox="1"/>
          <p:nvPr/>
        </p:nvSpPr>
        <p:spPr>
          <a:xfrm>
            <a:off x="1967475" y="1991569"/>
            <a:ext cx="3488154" cy="369332"/>
          </a:xfrm>
          <a:prstGeom prst="rect">
            <a:avLst/>
          </a:prstGeom>
          <a:noFill/>
        </p:spPr>
        <p:txBody>
          <a:bodyPr wrap="square" rtlCol="0">
            <a:spAutoFit/>
          </a:bodyPr>
          <a:lstStyle/>
          <a:p>
            <a:pPr algn="ctr"/>
            <a:r>
              <a:rPr lang="en-US" dirty="0">
                <a:solidFill>
                  <a:srgbClr val="F07F09">
                    <a:lumMod val="50000"/>
                  </a:srgbClr>
                </a:solidFill>
                <a:latin typeface="Avenir Next"/>
              </a:rPr>
              <a:t>Learning Techniques (today)</a:t>
            </a:r>
          </a:p>
        </p:txBody>
      </p:sp>
      <p:sp>
        <p:nvSpPr>
          <p:cNvPr id="16" name="Oval 15">
            <a:extLst>
              <a:ext uri="{FF2B5EF4-FFF2-40B4-BE49-F238E27FC236}">
                <a16:creationId xmlns:a16="http://schemas.microsoft.com/office/drawing/2014/main" id="{F2D71AB0-CCD4-79A7-E913-40D8A241BEC0}"/>
              </a:ext>
            </a:extLst>
          </p:cNvPr>
          <p:cNvSpPr/>
          <p:nvPr/>
        </p:nvSpPr>
        <p:spPr>
          <a:xfrm>
            <a:off x="3058477" y="2735196"/>
            <a:ext cx="1776080" cy="2227334"/>
          </a:xfrm>
          <a:prstGeom prst="ellipse">
            <a:avLst/>
          </a:prstGeom>
          <a:solidFill>
            <a:srgbClr val="C19859">
              <a:lumMod val="40000"/>
              <a:lumOff val="60000"/>
              <a:alpha val="49804"/>
            </a:srgbClr>
          </a:solidFill>
          <a:ln w="3175" cap="flat" cmpd="sng" algn="ctr">
            <a:solidFill>
              <a:srgbClr val="C19859">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CF89E47-9C24-5B2D-2BB9-0DDF162511B9}"/>
              </a:ext>
            </a:extLst>
          </p:cNvPr>
          <p:cNvSpPr/>
          <p:nvPr/>
        </p:nvSpPr>
        <p:spPr>
          <a:xfrm>
            <a:off x="1807055" y="2465492"/>
            <a:ext cx="1670628" cy="1541183"/>
          </a:xfrm>
          <a:prstGeom prst="ellipse">
            <a:avLst/>
          </a:prstGeom>
          <a:solidFill>
            <a:srgbClr val="DFD7E7">
              <a:alpha val="50196"/>
            </a:srgbClr>
          </a:solidFill>
          <a:ln w="3175" cap="flat" cmpd="sng" algn="ctr">
            <a:solidFill>
              <a:srgbClr val="604878">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BC85F931-85BD-3EAA-D25C-5EE1CD8054D1}"/>
              </a:ext>
            </a:extLst>
          </p:cNvPr>
          <p:cNvSpPr/>
          <p:nvPr/>
        </p:nvSpPr>
        <p:spPr>
          <a:xfrm>
            <a:off x="1895659" y="3602022"/>
            <a:ext cx="1481714" cy="1360507"/>
          </a:xfrm>
          <a:prstGeom prst="ellipse">
            <a:avLst/>
          </a:prstGeom>
          <a:solidFill>
            <a:srgbClr val="323232">
              <a:lumMod val="25000"/>
              <a:lumOff val="75000"/>
              <a:alpha val="50196"/>
            </a:srgbClr>
          </a:solidFill>
          <a:ln w="3175" cap="flat" cmpd="sng" algn="ctr">
            <a:solidFill>
              <a:srgbClr val="323232">
                <a:lumMod val="50000"/>
                <a:lumOff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20F46E9E-5247-5B1F-44A3-B166F63B8ADE}"/>
              </a:ext>
            </a:extLst>
          </p:cNvPr>
          <p:cNvSpPr/>
          <p:nvPr/>
        </p:nvSpPr>
        <p:spPr>
          <a:xfrm>
            <a:off x="4384343" y="2948625"/>
            <a:ext cx="1235718" cy="1216862"/>
          </a:xfrm>
          <a:prstGeom prst="ellipse">
            <a:avLst/>
          </a:prstGeom>
          <a:solidFill>
            <a:srgbClr val="D3CBB6">
              <a:alpha val="50196"/>
            </a:srgbClr>
          </a:solidFill>
          <a:ln w="3175" cap="flat" cmpd="sng" algn="ctr">
            <a:solidFill>
              <a:srgbClr val="C19859">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24D9B5CF-9547-B632-CB59-D471AD606422}"/>
              </a:ext>
            </a:extLst>
          </p:cNvPr>
          <p:cNvSpPr/>
          <p:nvPr/>
        </p:nvSpPr>
        <p:spPr>
          <a:xfrm>
            <a:off x="2195476" y="2807045"/>
            <a:ext cx="1135212" cy="1044368"/>
          </a:xfrm>
          <a:prstGeom prst="ellipse">
            <a:avLst/>
          </a:prstGeom>
          <a:solidFill>
            <a:srgbClr val="BFAFCF">
              <a:alpha val="25098"/>
            </a:srgbClr>
          </a:solidFill>
          <a:ln w="3175" cap="flat" cmpd="sng" algn="ctr">
            <a:solidFill>
              <a:srgbClr val="604878">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72650215-DC8A-47D9-2B8D-45C3F9BCD1D6}"/>
              </a:ext>
            </a:extLst>
          </p:cNvPr>
          <p:cNvSpPr/>
          <p:nvPr/>
        </p:nvSpPr>
        <p:spPr>
          <a:xfrm>
            <a:off x="2093036" y="2563151"/>
            <a:ext cx="994182" cy="276999"/>
          </a:xfrm>
          <a:prstGeom prst="rect">
            <a:avLst/>
          </a:prstGeom>
          <a:ln>
            <a:noFill/>
          </a:ln>
        </p:spPr>
        <p:txBody>
          <a:bodyPr wrap="none">
            <a:spAutoFit/>
          </a:bodyPr>
          <a:lstStyle/>
          <a:p>
            <a:pPr algn="ctr"/>
            <a:r>
              <a:rPr lang="en-US" sz="1200" dirty="0">
                <a:solidFill>
                  <a:srgbClr val="604878">
                    <a:lumMod val="75000"/>
                  </a:srgbClr>
                </a:solidFill>
                <a:latin typeface="Avenir Next"/>
              </a:rPr>
              <a:t>Neural Nets</a:t>
            </a:r>
          </a:p>
        </p:txBody>
      </p:sp>
      <p:sp>
        <p:nvSpPr>
          <p:cNvPr id="22" name="Rectangle 21">
            <a:extLst>
              <a:ext uri="{FF2B5EF4-FFF2-40B4-BE49-F238E27FC236}">
                <a16:creationId xmlns:a16="http://schemas.microsoft.com/office/drawing/2014/main" id="{A104345E-6FAF-F08E-4080-F957F201ED87}"/>
              </a:ext>
            </a:extLst>
          </p:cNvPr>
          <p:cNvSpPr/>
          <p:nvPr/>
        </p:nvSpPr>
        <p:spPr>
          <a:xfrm>
            <a:off x="1888242" y="4079732"/>
            <a:ext cx="841897" cy="461665"/>
          </a:xfrm>
          <a:prstGeom prst="rect">
            <a:avLst/>
          </a:prstGeom>
          <a:ln>
            <a:noFill/>
          </a:ln>
        </p:spPr>
        <p:txBody>
          <a:bodyPr wrap="none">
            <a:spAutoFit/>
          </a:bodyPr>
          <a:lstStyle/>
          <a:p>
            <a:pPr algn="ctr"/>
            <a:r>
              <a:rPr lang="en-US" sz="1200" dirty="0">
                <a:solidFill>
                  <a:srgbClr val="323232">
                    <a:lumMod val="75000"/>
                    <a:lumOff val="25000"/>
                  </a:srgbClr>
                </a:solidFill>
                <a:latin typeface="Avenir Next"/>
              </a:rPr>
              <a:t>Statistical</a:t>
            </a:r>
          </a:p>
          <a:p>
            <a:pPr algn="ctr"/>
            <a:r>
              <a:rPr lang="en-US" sz="1200" dirty="0">
                <a:solidFill>
                  <a:srgbClr val="323232">
                    <a:lumMod val="75000"/>
                    <a:lumOff val="25000"/>
                  </a:srgbClr>
                </a:solidFill>
                <a:latin typeface="Avenir Next"/>
              </a:rPr>
              <a:t>Models</a:t>
            </a:r>
          </a:p>
        </p:txBody>
      </p:sp>
      <p:sp>
        <p:nvSpPr>
          <p:cNvPr id="23" name="Rectangle 22">
            <a:extLst>
              <a:ext uri="{FF2B5EF4-FFF2-40B4-BE49-F238E27FC236}">
                <a16:creationId xmlns:a16="http://schemas.microsoft.com/office/drawing/2014/main" id="{E21AA716-9672-448E-714C-CEE4F77C0FCF}"/>
              </a:ext>
            </a:extLst>
          </p:cNvPr>
          <p:cNvSpPr/>
          <p:nvPr/>
        </p:nvSpPr>
        <p:spPr>
          <a:xfrm>
            <a:off x="4596066" y="3188207"/>
            <a:ext cx="865943" cy="461665"/>
          </a:xfrm>
          <a:prstGeom prst="rect">
            <a:avLst/>
          </a:prstGeom>
          <a:ln>
            <a:noFill/>
          </a:ln>
        </p:spPr>
        <p:txBody>
          <a:bodyPr wrap="none">
            <a:spAutoFit/>
          </a:bodyPr>
          <a:lstStyle/>
          <a:p>
            <a:pPr algn="ctr"/>
            <a:r>
              <a:rPr lang="en-US" sz="1200" dirty="0">
                <a:solidFill>
                  <a:srgbClr val="C19859">
                    <a:lumMod val="75000"/>
                  </a:srgbClr>
                </a:solidFill>
                <a:latin typeface="Avenir Next"/>
              </a:rPr>
              <a:t>Ensemble</a:t>
            </a:r>
          </a:p>
          <a:p>
            <a:pPr algn="ctr"/>
            <a:r>
              <a:rPr lang="en-US" sz="1200" dirty="0">
                <a:solidFill>
                  <a:srgbClr val="C19859">
                    <a:lumMod val="75000"/>
                  </a:srgbClr>
                </a:solidFill>
                <a:latin typeface="Avenir Next"/>
              </a:rPr>
              <a:t>Methods</a:t>
            </a:r>
          </a:p>
        </p:txBody>
      </p:sp>
      <p:sp>
        <p:nvSpPr>
          <p:cNvPr id="24" name="Rectangle 23">
            <a:extLst>
              <a:ext uri="{FF2B5EF4-FFF2-40B4-BE49-F238E27FC236}">
                <a16:creationId xmlns:a16="http://schemas.microsoft.com/office/drawing/2014/main" id="{4102400B-49B8-840B-2628-8F0A02607687}"/>
              </a:ext>
            </a:extLst>
          </p:cNvPr>
          <p:cNvSpPr/>
          <p:nvPr/>
        </p:nvSpPr>
        <p:spPr>
          <a:xfrm>
            <a:off x="4664871" y="4201615"/>
            <a:ext cx="771365" cy="461665"/>
          </a:xfrm>
          <a:prstGeom prst="rect">
            <a:avLst/>
          </a:prstGeom>
          <a:ln>
            <a:noFill/>
          </a:ln>
        </p:spPr>
        <p:txBody>
          <a:bodyPr wrap="none">
            <a:spAutoFit/>
          </a:bodyPr>
          <a:lstStyle/>
          <a:p>
            <a:pPr algn="ctr"/>
            <a:r>
              <a:rPr lang="en-US" sz="1200" dirty="0">
                <a:solidFill>
                  <a:srgbClr val="9F2936">
                    <a:lumMod val="75000"/>
                  </a:srgbClr>
                </a:solidFill>
                <a:latin typeface="Avenir Next"/>
              </a:rPr>
              <a:t>Decision</a:t>
            </a:r>
          </a:p>
          <a:p>
            <a:pPr algn="ctr"/>
            <a:r>
              <a:rPr lang="en-US" sz="1200" dirty="0">
                <a:solidFill>
                  <a:srgbClr val="9F2936">
                    <a:lumMod val="75000"/>
                  </a:srgbClr>
                </a:solidFill>
                <a:latin typeface="Avenir Next"/>
              </a:rPr>
              <a:t>Trees</a:t>
            </a:r>
          </a:p>
        </p:txBody>
      </p:sp>
      <p:sp>
        <p:nvSpPr>
          <p:cNvPr id="25" name="Oval 24">
            <a:extLst>
              <a:ext uri="{FF2B5EF4-FFF2-40B4-BE49-F238E27FC236}">
                <a16:creationId xmlns:a16="http://schemas.microsoft.com/office/drawing/2014/main" id="{58528720-3B74-321E-7798-6F77C45EA24D}"/>
              </a:ext>
            </a:extLst>
          </p:cNvPr>
          <p:cNvSpPr/>
          <p:nvPr/>
        </p:nvSpPr>
        <p:spPr>
          <a:xfrm>
            <a:off x="3246523" y="3304415"/>
            <a:ext cx="1290142" cy="807279"/>
          </a:xfrm>
          <a:prstGeom prst="ellipse">
            <a:avLst/>
          </a:prstGeom>
          <a:solidFill>
            <a:srgbClr val="E4D1B6">
              <a:alpha val="50196"/>
            </a:srgbClr>
          </a:solidFill>
          <a:ln w="3175" cap="flat" cmpd="sng" algn="ctr">
            <a:solidFill>
              <a:srgbClr val="C19859">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DFA9845B-9D3B-31E1-2679-0CCA69311D9F}"/>
              </a:ext>
            </a:extLst>
          </p:cNvPr>
          <p:cNvSpPr/>
          <p:nvPr/>
        </p:nvSpPr>
        <p:spPr>
          <a:xfrm>
            <a:off x="2391908" y="3058916"/>
            <a:ext cx="779381" cy="461665"/>
          </a:xfrm>
          <a:prstGeom prst="rect">
            <a:avLst/>
          </a:prstGeom>
          <a:ln>
            <a:noFill/>
          </a:ln>
        </p:spPr>
        <p:txBody>
          <a:bodyPr wrap="none">
            <a:spAutoFit/>
          </a:bodyPr>
          <a:lstStyle/>
          <a:p>
            <a:pPr algn="ctr"/>
            <a:r>
              <a:rPr lang="en-US" sz="1200" dirty="0">
                <a:solidFill>
                  <a:srgbClr val="604878">
                    <a:lumMod val="75000"/>
                  </a:srgbClr>
                </a:solidFill>
                <a:latin typeface="Avenir Next"/>
              </a:rPr>
              <a:t>Deep</a:t>
            </a:r>
          </a:p>
          <a:p>
            <a:pPr algn="ctr"/>
            <a:r>
              <a:rPr lang="en-US" sz="1200" dirty="0">
                <a:solidFill>
                  <a:srgbClr val="604878">
                    <a:lumMod val="75000"/>
                  </a:srgbClr>
                </a:solidFill>
                <a:latin typeface="Avenir Next"/>
              </a:rPr>
              <a:t>Learning</a:t>
            </a:r>
          </a:p>
        </p:txBody>
      </p:sp>
      <p:sp>
        <p:nvSpPr>
          <p:cNvPr id="27" name="Oval 26">
            <a:extLst>
              <a:ext uri="{FF2B5EF4-FFF2-40B4-BE49-F238E27FC236}">
                <a16:creationId xmlns:a16="http://schemas.microsoft.com/office/drawing/2014/main" id="{A024BE30-0211-86BC-5B11-A15570982002}"/>
              </a:ext>
            </a:extLst>
          </p:cNvPr>
          <p:cNvSpPr/>
          <p:nvPr/>
        </p:nvSpPr>
        <p:spPr>
          <a:xfrm>
            <a:off x="3294486" y="4019286"/>
            <a:ext cx="1281260" cy="784714"/>
          </a:xfrm>
          <a:prstGeom prst="ellipse">
            <a:avLst/>
          </a:prstGeom>
          <a:solidFill>
            <a:srgbClr val="E4D1B6">
              <a:alpha val="50196"/>
            </a:srgbClr>
          </a:solidFill>
          <a:ln w="3175" cap="flat" cmpd="sng" algn="ctr">
            <a:solidFill>
              <a:srgbClr val="C19859">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EDAB47A0-DBF4-0A9F-698A-CAC6F862B5EA}"/>
              </a:ext>
            </a:extLst>
          </p:cNvPr>
          <p:cNvSpPr/>
          <p:nvPr/>
        </p:nvSpPr>
        <p:spPr>
          <a:xfrm>
            <a:off x="2597159" y="4481814"/>
            <a:ext cx="561372" cy="261610"/>
          </a:xfrm>
          <a:prstGeom prst="rect">
            <a:avLst/>
          </a:prstGeom>
          <a:ln>
            <a:noFill/>
          </a:ln>
        </p:spPr>
        <p:txBody>
          <a:bodyPr wrap="none">
            <a:spAutoFit/>
          </a:bodyPr>
          <a:lstStyle/>
          <a:p>
            <a:pPr algn="ctr"/>
            <a:r>
              <a:rPr lang="en-US" sz="1100" dirty="0">
                <a:solidFill>
                  <a:srgbClr val="323232">
                    <a:lumMod val="75000"/>
                    <a:lumOff val="25000"/>
                  </a:srgbClr>
                </a:solidFill>
                <a:latin typeface="Avenir Next"/>
              </a:rPr>
              <a:t>SVMs</a:t>
            </a:r>
          </a:p>
        </p:txBody>
      </p:sp>
      <p:sp>
        <p:nvSpPr>
          <p:cNvPr id="29" name="Rectangle 28">
            <a:extLst>
              <a:ext uri="{FF2B5EF4-FFF2-40B4-BE49-F238E27FC236}">
                <a16:creationId xmlns:a16="http://schemas.microsoft.com/office/drawing/2014/main" id="{E702B920-0CDB-B141-F6F3-F675B1D67126}"/>
              </a:ext>
            </a:extLst>
          </p:cNvPr>
          <p:cNvSpPr/>
          <p:nvPr/>
        </p:nvSpPr>
        <p:spPr>
          <a:xfrm>
            <a:off x="2716050" y="4007196"/>
            <a:ext cx="567783" cy="261610"/>
          </a:xfrm>
          <a:prstGeom prst="rect">
            <a:avLst/>
          </a:prstGeom>
          <a:ln>
            <a:noFill/>
          </a:ln>
        </p:spPr>
        <p:txBody>
          <a:bodyPr wrap="none">
            <a:spAutoFit/>
          </a:bodyPr>
          <a:lstStyle/>
          <a:p>
            <a:pPr algn="ctr"/>
            <a:r>
              <a:rPr lang="en-US" sz="1100" dirty="0">
                <a:solidFill>
                  <a:srgbClr val="323232">
                    <a:lumMod val="75000"/>
                    <a:lumOff val="25000"/>
                  </a:srgbClr>
                </a:solidFill>
                <a:latin typeface="Avenir Next"/>
              </a:rPr>
              <a:t>AOGs</a:t>
            </a:r>
          </a:p>
        </p:txBody>
      </p:sp>
      <p:sp>
        <p:nvSpPr>
          <p:cNvPr id="30" name="Oval 29">
            <a:extLst>
              <a:ext uri="{FF2B5EF4-FFF2-40B4-BE49-F238E27FC236}">
                <a16:creationId xmlns:a16="http://schemas.microsoft.com/office/drawing/2014/main" id="{A857BE4A-6DDE-6AFF-738C-024BC76DE9D2}"/>
              </a:ext>
            </a:extLst>
          </p:cNvPr>
          <p:cNvSpPr/>
          <p:nvPr/>
        </p:nvSpPr>
        <p:spPr>
          <a:xfrm>
            <a:off x="3365644" y="3730331"/>
            <a:ext cx="1087118" cy="627603"/>
          </a:xfrm>
          <a:prstGeom prst="ellipse">
            <a:avLst/>
          </a:prstGeom>
          <a:solidFill>
            <a:srgbClr val="F3EADE">
              <a:alpha val="20000"/>
            </a:srgbClr>
          </a:solidFill>
          <a:ln w="3175" cap="flat" cmpd="sng" algn="ctr">
            <a:solidFill>
              <a:srgbClr val="C19859">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DA32A610-998E-E1DA-7848-F74B175939C7}"/>
              </a:ext>
            </a:extLst>
          </p:cNvPr>
          <p:cNvSpPr/>
          <p:nvPr/>
        </p:nvSpPr>
        <p:spPr>
          <a:xfrm>
            <a:off x="3438987" y="3320297"/>
            <a:ext cx="906017" cy="430887"/>
          </a:xfrm>
          <a:prstGeom prst="rect">
            <a:avLst/>
          </a:prstGeom>
          <a:ln>
            <a:noFill/>
          </a:ln>
        </p:spPr>
        <p:txBody>
          <a:bodyPr wrap="none">
            <a:spAutoFit/>
          </a:bodyPr>
          <a:lstStyle/>
          <a:p>
            <a:pPr algn="ctr"/>
            <a:r>
              <a:rPr lang="en-US" sz="1100" dirty="0">
                <a:solidFill>
                  <a:srgbClr val="C19859">
                    <a:lumMod val="75000"/>
                  </a:srgbClr>
                </a:solidFill>
                <a:latin typeface="Avenir Next"/>
              </a:rPr>
              <a:t>Bayesian</a:t>
            </a:r>
          </a:p>
          <a:p>
            <a:pPr algn="ctr"/>
            <a:r>
              <a:rPr lang="en-US" sz="1100" dirty="0">
                <a:solidFill>
                  <a:srgbClr val="C19859">
                    <a:lumMod val="75000"/>
                  </a:srgbClr>
                </a:solidFill>
                <a:latin typeface="Avenir Next"/>
              </a:rPr>
              <a:t> Belief Nets</a:t>
            </a:r>
          </a:p>
        </p:txBody>
      </p:sp>
      <p:sp>
        <p:nvSpPr>
          <p:cNvPr id="32" name="Rectangle 31">
            <a:extLst>
              <a:ext uri="{FF2B5EF4-FFF2-40B4-BE49-F238E27FC236}">
                <a16:creationId xmlns:a16="http://schemas.microsoft.com/office/drawing/2014/main" id="{63E53FA5-CDAA-6A72-90ED-C3CBAF512C7C}"/>
              </a:ext>
            </a:extLst>
          </p:cNvPr>
          <p:cNvSpPr/>
          <p:nvPr/>
        </p:nvSpPr>
        <p:spPr>
          <a:xfrm>
            <a:off x="3575168" y="4328991"/>
            <a:ext cx="730302" cy="430887"/>
          </a:xfrm>
          <a:prstGeom prst="rect">
            <a:avLst/>
          </a:prstGeom>
          <a:ln>
            <a:noFill/>
          </a:ln>
        </p:spPr>
        <p:txBody>
          <a:bodyPr wrap="square">
            <a:spAutoFit/>
          </a:bodyPr>
          <a:lstStyle/>
          <a:p>
            <a:pPr algn="ctr"/>
            <a:r>
              <a:rPr lang="en-US" sz="1100" dirty="0">
                <a:solidFill>
                  <a:srgbClr val="C19859">
                    <a:lumMod val="75000"/>
                  </a:srgbClr>
                </a:solidFill>
                <a:latin typeface="Avenir Next"/>
              </a:rPr>
              <a:t>Markov Models</a:t>
            </a:r>
          </a:p>
        </p:txBody>
      </p:sp>
      <p:sp>
        <p:nvSpPr>
          <p:cNvPr id="33" name="Rectangle 32">
            <a:extLst>
              <a:ext uri="{FF2B5EF4-FFF2-40B4-BE49-F238E27FC236}">
                <a16:creationId xmlns:a16="http://schemas.microsoft.com/office/drawing/2014/main" id="{D209ADC0-B9BF-9487-F45A-C298945758BF}"/>
              </a:ext>
            </a:extLst>
          </p:cNvPr>
          <p:cNvSpPr/>
          <p:nvPr/>
        </p:nvSpPr>
        <p:spPr>
          <a:xfrm>
            <a:off x="3970160" y="3921100"/>
            <a:ext cx="452367" cy="215444"/>
          </a:xfrm>
          <a:prstGeom prst="rect">
            <a:avLst/>
          </a:prstGeom>
          <a:ln>
            <a:noFill/>
          </a:ln>
        </p:spPr>
        <p:txBody>
          <a:bodyPr wrap="none">
            <a:spAutoFit/>
          </a:bodyPr>
          <a:lstStyle/>
          <a:p>
            <a:pPr algn="ctr"/>
            <a:r>
              <a:rPr lang="en-US" sz="800" dirty="0">
                <a:solidFill>
                  <a:srgbClr val="C19859">
                    <a:lumMod val="75000"/>
                  </a:srgbClr>
                </a:solidFill>
                <a:latin typeface="Avenir Next"/>
              </a:rPr>
              <a:t>HBNs</a:t>
            </a:r>
          </a:p>
        </p:txBody>
      </p:sp>
      <p:sp>
        <p:nvSpPr>
          <p:cNvPr id="34" name="Rectangle 33">
            <a:extLst>
              <a:ext uri="{FF2B5EF4-FFF2-40B4-BE49-F238E27FC236}">
                <a16:creationId xmlns:a16="http://schemas.microsoft.com/office/drawing/2014/main" id="{65CF9F55-3079-DF01-93E0-4A0E3013260E}"/>
              </a:ext>
            </a:extLst>
          </p:cNvPr>
          <p:cNvSpPr/>
          <p:nvPr/>
        </p:nvSpPr>
        <p:spPr>
          <a:xfrm>
            <a:off x="3698868" y="4106283"/>
            <a:ext cx="452368" cy="215444"/>
          </a:xfrm>
          <a:prstGeom prst="rect">
            <a:avLst/>
          </a:prstGeom>
          <a:ln>
            <a:noFill/>
          </a:ln>
        </p:spPr>
        <p:txBody>
          <a:bodyPr wrap="none">
            <a:spAutoFit/>
          </a:bodyPr>
          <a:lstStyle/>
          <a:p>
            <a:pPr algn="ctr"/>
            <a:r>
              <a:rPr lang="en-US" sz="800" dirty="0">
                <a:solidFill>
                  <a:srgbClr val="C19859">
                    <a:lumMod val="75000"/>
                  </a:srgbClr>
                </a:solidFill>
                <a:latin typeface="Avenir Next"/>
              </a:rPr>
              <a:t>MLNs</a:t>
            </a:r>
          </a:p>
        </p:txBody>
      </p:sp>
      <p:sp>
        <p:nvSpPr>
          <p:cNvPr id="35" name="Rectangle 34">
            <a:extLst>
              <a:ext uri="{FF2B5EF4-FFF2-40B4-BE49-F238E27FC236}">
                <a16:creationId xmlns:a16="http://schemas.microsoft.com/office/drawing/2014/main" id="{050BC0F7-4D69-CECE-45A1-A7009934AAAE}"/>
              </a:ext>
            </a:extLst>
          </p:cNvPr>
          <p:cNvSpPr/>
          <p:nvPr/>
        </p:nvSpPr>
        <p:spPr>
          <a:xfrm>
            <a:off x="3715105" y="3733899"/>
            <a:ext cx="433132" cy="246221"/>
          </a:xfrm>
          <a:prstGeom prst="rect">
            <a:avLst/>
          </a:prstGeom>
          <a:ln>
            <a:noFill/>
          </a:ln>
        </p:spPr>
        <p:txBody>
          <a:bodyPr wrap="none">
            <a:spAutoFit/>
          </a:bodyPr>
          <a:lstStyle/>
          <a:p>
            <a:pPr algn="ctr"/>
            <a:r>
              <a:rPr lang="en-US" sz="1000" dirty="0">
                <a:solidFill>
                  <a:srgbClr val="C19859">
                    <a:lumMod val="75000"/>
                  </a:srgbClr>
                </a:solidFill>
                <a:latin typeface="Avenir Next"/>
              </a:rPr>
              <a:t>SRL</a:t>
            </a:r>
          </a:p>
        </p:txBody>
      </p:sp>
      <p:sp>
        <p:nvSpPr>
          <p:cNvPr id="36" name="Rectangle 35">
            <a:extLst>
              <a:ext uri="{FF2B5EF4-FFF2-40B4-BE49-F238E27FC236}">
                <a16:creationId xmlns:a16="http://schemas.microsoft.com/office/drawing/2014/main" id="{303216A4-5B95-039C-52AA-FAFD4FC42063}"/>
              </a:ext>
            </a:extLst>
          </p:cNvPr>
          <p:cNvSpPr/>
          <p:nvPr/>
        </p:nvSpPr>
        <p:spPr>
          <a:xfrm>
            <a:off x="3439116" y="3921100"/>
            <a:ext cx="445956" cy="215444"/>
          </a:xfrm>
          <a:prstGeom prst="rect">
            <a:avLst/>
          </a:prstGeom>
          <a:ln>
            <a:noFill/>
          </a:ln>
        </p:spPr>
        <p:txBody>
          <a:bodyPr wrap="none">
            <a:spAutoFit/>
          </a:bodyPr>
          <a:lstStyle/>
          <a:p>
            <a:pPr algn="ctr"/>
            <a:r>
              <a:rPr lang="en-US" sz="800" dirty="0">
                <a:solidFill>
                  <a:srgbClr val="C19859">
                    <a:lumMod val="75000"/>
                  </a:srgbClr>
                </a:solidFill>
                <a:latin typeface="Avenir Next"/>
              </a:rPr>
              <a:t>CRFs</a:t>
            </a:r>
          </a:p>
        </p:txBody>
      </p:sp>
      <p:cxnSp>
        <p:nvCxnSpPr>
          <p:cNvPr id="37" name="Straight Arrow Connector 36">
            <a:extLst>
              <a:ext uri="{FF2B5EF4-FFF2-40B4-BE49-F238E27FC236}">
                <a16:creationId xmlns:a16="http://schemas.microsoft.com/office/drawing/2014/main" id="{A6029965-CDA8-584F-DCA2-1BF1C85893BE}"/>
              </a:ext>
            </a:extLst>
          </p:cNvPr>
          <p:cNvCxnSpPr>
            <a:endCxn id="10" idx="2"/>
          </p:cNvCxnSpPr>
          <p:nvPr/>
        </p:nvCxnSpPr>
        <p:spPr>
          <a:xfrm flipV="1">
            <a:off x="3058477" y="2902070"/>
            <a:ext cx="3223394" cy="381895"/>
          </a:xfrm>
          <a:prstGeom prst="straightConnector1">
            <a:avLst/>
          </a:prstGeom>
          <a:noFill/>
          <a:ln w="6350" cap="flat" cmpd="sng" algn="ctr">
            <a:solidFill>
              <a:srgbClr val="F07F09">
                <a:lumMod val="75000"/>
              </a:srgbClr>
            </a:solidFill>
            <a:prstDash val="solid"/>
            <a:miter lim="800000"/>
            <a:tailEnd type="stealth"/>
          </a:ln>
          <a:effectLst/>
        </p:spPr>
      </p:cxnSp>
      <p:sp>
        <p:nvSpPr>
          <p:cNvPr id="38" name="Oval 37">
            <a:extLst>
              <a:ext uri="{FF2B5EF4-FFF2-40B4-BE49-F238E27FC236}">
                <a16:creationId xmlns:a16="http://schemas.microsoft.com/office/drawing/2014/main" id="{7650693D-4513-F4A8-2C6F-B260CA68D483}"/>
              </a:ext>
            </a:extLst>
          </p:cNvPr>
          <p:cNvSpPr/>
          <p:nvPr/>
        </p:nvSpPr>
        <p:spPr>
          <a:xfrm>
            <a:off x="4460671" y="3694330"/>
            <a:ext cx="1159390" cy="1207027"/>
          </a:xfrm>
          <a:prstGeom prst="ellipse">
            <a:avLst/>
          </a:prstGeom>
          <a:solidFill>
            <a:srgbClr val="F2CED2">
              <a:alpha val="50196"/>
            </a:srgbClr>
          </a:solidFill>
          <a:ln w="3175" cap="flat" cmpd="sng" algn="ctr">
            <a:solidFill>
              <a:srgbClr val="9F2936">
                <a:lumMod val="60000"/>
                <a:lumOff val="4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0010828A-27F3-354A-BBB0-5A0CE2352C97}"/>
              </a:ext>
            </a:extLst>
          </p:cNvPr>
          <p:cNvSpPr/>
          <p:nvPr/>
        </p:nvSpPr>
        <p:spPr>
          <a:xfrm>
            <a:off x="4681025" y="3711642"/>
            <a:ext cx="696024" cy="415498"/>
          </a:xfrm>
          <a:prstGeom prst="rect">
            <a:avLst/>
          </a:prstGeom>
          <a:ln>
            <a:noFill/>
          </a:ln>
        </p:spPr>
        <p:txBody>
          <a:bodyPr wrap="none">
            <a:spAutoFit/>
          </a:bodyPr>
          <a:lstStyle/>
          <a:p>
            <a:pPr algn="ctr"/>
            <a:r>
              <a:rPr lang="en-US" sz="1050" dirty="0">
                <a:solidFill>
                  <a:srgbClr val="C19859">
                    <a:lumMod val="75000"/>
                  </a:srgbClr>
                </a:solidFill>
                <a:latin typeface="Avenir Next"/>
              </a:rPr>
              <a:t>Random</a:t>
            </a:r>
          </a:p>
          <a:p>
            <a:pPr algn="ctr"/>
            <a:r>
              <a:rPr lang="en-US" sz="1050" dirty="0">
                <a:solidFill>
                  <a:srgbClr val="C19859">
                    <a:lumMod val="75000"/>
                  </a:srgbClr>
                </a:solidFill>
                <a:latin typeface="Avenir Next"/>
              </a:rPr>
              <a:t>Forests</a:t>
            </a:r>
          </a:p>
        </p:txBody>
      </p:sp>
      <p:sp>
        <p:nvSpPr>
          <p:cNvPr id="40" name="Rectangle 39">
            <a:extLst>
              <a:ext uri="{FF2B5EF4-FFF2-40B4-BE49-F238E27FC236}">
                <a16:creationId xmlns:a16="http://schemas.microsoft.com/office/drawing/2014/main" id="{B4BB4EEF-320C-CA3E-ED87-20C495057C6D}"/>
              </a:ext>
            </a:extLst>
          </p:cNvPr>
          <p:cNvSpPr/>
          <p:nvPr/>
        </p:nvSpPr>
        <p:spPr>
          <a:xfrm>
            <a:off x="3521192" y="2757894"/>
            <a:ext cx="840295" cy="461665"/>
          </a:xfrm>
          <a:prstGeom prst="rect">
            <a:avLst/>
          </a:prstGeom>
          <a:ln>
            <a:noFill/>
          </a:ln>
        </p:spPr>
        <p:txBody>
          <a:bodyPr wrap="none">
            <a:spAutoFit/>
          </a:bodyPr>
          <a:lstStyle/>
          <a:p>
            <a:pPr algn="ctr"/>
            <a:r>
              <a:rPr lang="en-US" sz="1200" dirty="0">
                <a:solidFill>
                  <a:srgbClr val="C19859">
                    <a:lumMod val="75000"/>
                  </a:srgbClr>
                </a:solidFill>
                <a:latin typeface="Avenir Next"/>
              </a:rPr>
              <a:t>Graphical</a:t>
            </a:r>
          </a:p>
          <a:p>
            <a:pPr algn="ctr"/>
            <a:r>
              <a:rPr lang="en-US" sz="1200" dirty="0">
                <a:solidFill>
                  <a:srgbClr val="C19859">
                    <a:lumMod val="75000"/>
                  </a:srgbClr>
                </a:solidFill>
                <a:latin typeface="Avenir Next"/>
              </a:rPr>
              <a:t>Models</a:t>
            </a:r>
          </a:p>
        </p:txBody>
      </p:sp>
      <p:cxnSp>
        <p:nvCxnSpPr>
          <p:cNvPr id="41" name="Straight Arrow Connector 40">
            <a:extLst>
              <a:ext uri="{FF2B5EF4-FFF2-40B4-BE49-F238E27FC236}">
                <a16:creationId xmlns:a16="http://schemas.microsoft.com/office/drawing/2014/main" id="{3E8BBD38-BA05-DCF5-4341-231289188DF3}"/>
              </a:ext>
            </a:extLst>
          </p:cNvPr>
          <p:cNvCxnSpPr/>
          <p:nvPr/>
        </p:nvCxnSpPr>
        <p:spPr>
          <a:xfrm flipV="1">
            <a:off x="5029037" y="3219559"/>
            <a:ext cx="1374784" cy="568284"/>
          </a:xfrm>
          <a:prstGeom prst="straightConnector1">
            <a:avLst/>
          </a:prstGeom>
          <a:noFill/>
          <a:ln w="6350" cap="flat" cmpd="sng" algn="ctr">
            <a:solidFill>
              <a:srgbClr val="F07F09">
                <a:lumMod val="75000"/>
              </a:srgbClr>
            </a:solidFill>
            <a:prstDash val="solid"/>
            <a:miter lim="800000"/>
            <a:tailEnd type="stealth"/>
          </a:ln>
          <a:effectLst/>
        </p:spPr>
      </p:cxnSp>
      <p:cxnSp>
        <p:nvCxnSpPr>
          <p:cNvPr id="42" name="Straight Arrow Connector 41">
            <a:extLst>
              <a:ext uri="{FF2B5EF4-FFF2-40B4-BE49-F238E27FC236}">
                <a16:creationId xmlns:a16="http://schemas.microsoft.com/office/drawing/2014/main" id="{6BA8A74B-9383-ACC5-D4B5-B9968A2BACDF}"/>
              </a:ext>
            </a:extLst>
          </p:cNvPr>
          <p:cNvCxnSpPr>
            <a:endCxn id="14" idx="2"/>
          </p:cNvCxnSpPr>
          <p:nvPr/>
        </p:nvCxnSpPr>
        <p:spPr>
          <a:xfrm flipV="1">
            <a:off x="3098671" y="3348383"/>
            <a:ext cx="3312881" cy="1259669"/>
          </a:xfrm>
          <a:prstGeom prst="straightConnector1">
            <a:avLst/>
          </a:prstGeom>
          <a:noFill/>
          <a:ln w="6350" cap="flat" cmpd="sng" algn="ctr">
            <a:solidFill>
              <a:srgbClr val="F07F09">
                <a:lumMod val="75000"/>
              </a:srgbClr>
            </a:solidFill>
            <a:prstDash val="solid"/>
            <a:miter lim="800000"/>
            <a:tailEnd type="stealth"/>
          </a:ln>
          <a:effectLst/>
        </p:spPr>
      </p:cxnSp>
      <p:cxnSp>
        <p:nvCxnSpPr>
          <p:cNvPr id="43" name="Straight Arrow Connector 42">
            <a:extLst>
              <a:ext uri="{FF2B5EF4-FFF2-40B4-BE49-F238E27FC236}">
                <a16:creationId xmlns:a16="http://schemas.microsoft.com/office/drawing/2014/main" id="{D9BC9ABB-C0D0-3268-89D4-8863C16E4C24}"/>
              </a:ext>
            </a:extLst>
          </p:cNvPr>
          <p:cNvCxnSpPr>
            <a:endCxn id="12" idx="2"/>
          </p:cNvCxnSpPr>
          <p:nvPr/>
        </p:nvCxnSpPr>
        <p:spPr>
          <a:xfrm flipV="1">
            <a:off x="4305470" y="3518061"/>
            <a:ext cx="2340421" cy="212270"/>
          </a:xfrm>
          <a:prstGeom prst="straightConnector1">
            <a:avLst/>
          </a:prstGeom>
          <a:noFill/>
          <a:ln w="6350" cap="flat" cmpd="sng" algn="ctr">
            <a:solidFill>
              <a:srgbClr val="F07F09">
                <a:lumMod val="75000"/>
              </a:srgbClr>
            </a:solidFill>
            <a:prstDash val="solid"/>
            <a:miter lim="800000"/>
            <a:tailEnd type="stealth"/>
          </a:ln>
          <a:effectLst/>
        </p:spPr>
      </p:cxnSp>
      <p:cxnSp>
        <p:nvCxnSpPr>
          <p:cNvPr id="44" name="Straight Arrow Connector 43">
            <a:extLst>
              <a:ext uri="{FF2B5EF4-FFF2-40B4-BE49-F238E27FC236}">
                <a16:creationId xmlns:a16="http://schemas.microsoft.com/office/drawing/2014/main" id="{39660B69-1C22-B588-3B99-88D68741CC34}"/>
              </a:ext>
            </a:extLst>
          </p:cNvPr>
          <p:cNvCxnSpPr>
            <a:endCxn id="13" idx="2"/>
          </p:cNvCxnSpPr>
          <p:nvPr/>
        </p:nvCxnSpPr>
        <p:spPr>
          <a:xfrm flipV="1">
            <a:off x="5387858" y="3846334"/>
            <a:ext cx="1642205" cy="511602"/>
          </a:xfrm>
          <a:prstGeom prst="straightConnector1">
            <a:avLst/>
          </a:prstGeom>
          <a:noFill/>
          <a:ln w="6350" cap="flat" cmpd="sng" algn="ctr">
            <a:solidFill>
              <a:srgbClr val="F07F09">
                <a:lumMod val="75000"/>
              </a:srgbClr>
            </a:solidFill>
            <a:prstDash val="solid"/>
            <a:miter lim="800000"/>
            <a:tailEnd type="stealth"/>
          </a:ln>
          <a:effectLst/>
        </p:spPr>
      </p:cxnSp>
      <p:sp>
        <p:nvSpPr>
          <p:cNvPr id="45" name="TextBox 44">
            <a:extLst>
              <a:ext uri="{FF2B5EF4-FFF2-40B4-BE49-F238E27FC236}">
                <a16:creationId xmlns:a16="http://schemas.microsoft.com/office/drawing/2014/main" id="{C82D4AD3-7DB1-34A4-C043-A97FBA841E39}"/>
              </a:ext>
            </a:extLst>
          </p:cNvPr>
          <p:cNvSpPr txBox="1"/>
          <p:nvPr/>
        </p:nvSpPr>
        <p:spPr>
          <a:xfrm>
            <a:off x="5562600" y="1981200"/>
            <a:ext cx="3231235" cy="646331"/>
          </a:xfrm>
          <a:prstGeom prst="rect">
            <a:avLst/>
          </a:prstGeom>
          <a:noFill/>
        </p:spPr>
        <p:txBody>
          <a:bodyPr wrap="square" rtlCol="0">
            <a:spAutoFit/>
          </a:bodyPr>
          <a:lstStyle/>
          <a:p>
            <a:pPr algn="ctr"/>
            <a:r>
              <a:rPr lang="en-US" dirty="0">
                <a:solidFill>
                  <a:srgbClr val="F07F09">
                    <a:lumMod val="50000"/>
                  </a:srgbClr>
                </a:solidFill>
                <a:latin typeface="Avenir Next"/>
              </a:rPr>
              <a:t>Explainability</a:t>
            </a:r>
          </a:p>
          <a:p>
            <a:pPr algn="ctr"/>
            <a:r>
              <a:rPr lang="en-US" dirty="0">
                <a:solidFill>
                  <a:srgbClr val="F07F09">
                    <a:lumMod val="50000"/>
                  </a:srgbClr>
                </a:solidFill>
                <a:latin typeface="Avenir Next"/>
              </a:rPr>
              <a:t>(notional)</a:t>
            </a:r>
          </a:p>
        </p:txBody>
      </p:sp>
      <p:sp>
        <p:nvSpPr>
          <p:cNvPr id="46" name="Source note"/>
          <p:cNvSpPr txBox="1"/>
          <p:nvPr/>
        </p:nvSpPr>
        <p:spPr>
          <a:xfrm>
            <a:off x="1809892" y="6248400"/>
            <a:ext cx="6705458" cy="320000"/>
          </a:xfrm>
          <a:prstGeom prst="rect">
            <a:avLst/>
          </a:prstGeom>
          <a:noFill/>
        </p:spPr>
        <p:txBody>
          <a:bodyPr wrap="square">
            <a:spAutoFit/>
          </a:bodyPr>
          <a:lstStyle/>
          <a:p>
            <a:pPr algn="r"/>
            <a:r>
              <a:rPr lang="en-GB" sz="1200" b="0">
                <a:solidFill>
                  <a:schemeClr val="bg1">
                    <a:lumMod val="50000"/>
                  </a:schemeClr>
                </a:solidFill>
              </a:rPr>
              <a:t>Source: D. Gunning, Explainable Artificial Intelligence (XAI), DARPA, 2017</a:t>
            </a:r>
          </a:p>
        </p:txBody>
      </p:sp>
    </p:spTree>
    <p:extLst>
      <p:ext uri="{BB962C8B-B14F-4D97-AF65-F5344CB8AC3E}">
        <p14:creationId xmlns:p14="http://schemas.microsoft.com/office/powerpoint/2010/main" val="12173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1A51F-E99A-6353-46A3-8CDD2D8DADD4}"/>
              </a:ext>
            </a:extLst>
          </p:cNvPr>
          <p:cNvSpPr>
            <a:spLocks noGrp="1"/>
          </p:cNvSpPr>
          <p:nvPr>
            <p:ph type="title"/>
          </p:nvPr>
        </p:nvSpPr>
        <p:spPr/>
        <p:txBody>
          <a:bodyPr/>
          <a:lstStyle/>
          <a:p>
            <a:r>
              <a:rPr lang="en-GB" dirty="0"/>
              <a:t>XAI vs AI</a:t>
            </a:r>
          </a:p>
        </p:txBody>
      </p:sp>
      <p:pic>
        <p:nvPicPr>
          <p:cNvPr id="5" name="Picture 4">
            <a:extLst>
              <a:ext uri="{FF2B5EF4-FFF2-40B4-BE49-F238E27FC236}">
                <a16:creationId xmlns:a16="http://schemas.microsoft.com/office/drawing/2014/main" id="{CFD3BD20-0558-82AB-EF6C-FC08E5DB7E9F}"/>
              </a:ext>
            </a:extLst>
          </p:cNvPr>
          <p:cNvPicPr>
            <a:picLocks noChangeAspect="1"/>
          </p:cNvPicPr>
          <p:nvPr/>
        </p:nvPicPr>
        <p:blipFill>
          <a:blip r:embed="rId2"/>
          <a:stretch>
            <a:fillRect/>
          </a:stretch>
        </p:blipFill>
        <p:spPr>
          <a:xfrm>
            <a:off x="1564318" y="1447800"/>
            <a:ext cx="7274882" cy="4009890"/>
          </a:xfrm>
          <a:prstGeom prst="rect">
            <a:avLst/>
          </a:prstGeom>
        </p:spPr>
      </p:pic>
      <p:sp>
        <p:nvSpPr>
          <p:cNvPr id="6" name="Source note"/>
          <p:cNvSpPr txBox="1"/>
          <p:nvPr/>
        </p:nvSpPr>
        <p:spPr>
          <a:xfrm>
            <a:off x="1809892" y="6248400"/>
            <a:ext cx="6705458" cy="320000"/>
          </a:xfrm>
          <a:prstGeom prst="rect">
            <a:avLst/>
          </a:prstGeom>
          <a:noFill/>
        </p:spPr>
        <p:txBody>
          <a:bodyPr wrap="square">
            <a:spAutoFit/>
          </a:bodyPr>
          <a:lstStyle/>
          <a:p>
            <a:pPr algn="r"/>
            <a:r>
              <a:rPr lang="en-GB" sz="1200" b="0">
                <a:solidFill>
                  <a:schemeClr val="bg1">
                    <a:lumMod val="50000"/>
                  </a:schemeClr>
                </a:solidFill>
              </a:rPr>
              <a:t>Source: D. Gunning, Explainable Artificial Intelligence (XAI), DARPA, 2017</a:t>
            </a:r>
          </a:p>
        </p:txBody>
      </p:sp>
    </p:spTree>
    <p:extLst>
      <p:ext uri="{BB962C8B-B14F-4D97-AF65-F5344CB8AC3E}">
        <p14:creationId xmlns:p14="http://schemas.microsoft.com/office/powerpoint/2010/main" val="25297547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F3F99-F874-0016-3800-2114D48CCC41}"/>
              </a:ext>
            </a:extLst>
          </p:cNvPr>
          <p:cNvSpPr>
            <a:spLocks noGrp="1"/>
          </p:cNvSpPr>
          <p:nvPr>
            <p:ph type="title"/>
          </p:nvPr>
        </p:nvSpPr>
        <p:spPr/>
        <p:txBody>
          <a:bodyPr/>
          <a:lstStyle/>
          <a:p>
            <a:r>
              <a:rPr lang="en-GB" dirty="0"/>
              <a:t>Python XAI libraries </a:t>
            </a:r>
          </a:p>
        </p:txBody>
      </p:sp>
      <p:sp>
        <p:nvSpPr>
          <p:cNvPr id="3" name="Content Placeholder 2">
            <a:extLst>
              <a:ext uri="{FF2B5EF4-FFF2-40B4-BE49-F238E27FC236}">
                <a16:creationId xmlns:a16="http://schemas.microsoft.com/office/drawing/2014/main" id="{1F36DD63-7911-6896-C97B-848CABBD681B}"/>
              </a:ext>
            </a:extLst>
          </p:cNvPr>
          <p:cNvSpPr>
            <a:spLocks noGrp="1"/>
          </p:cNvSpPr>
          <p:nvPr>
            <p:ph idx="1"/>
          </p:nvPr>
        </p:nvSpPr>
        <p:spPr/>
        <p:txBody>
          <a:bodyPr/>
          <a:lstStyle/>
          <a:p>
            <a:pPr algn="l"/>
            <a:r>
              <a:rPr lang="en-GB" dirty="0">
                <a:solidFill>
                  <a:srgbClr val="242424"/>
                </a:solidFill>
                <a:latin typeface="source-serif-pro"/>
              </a:rPr>
              <a:t>Here are 6</a:t>
            </a:r>
            <a:r>
              <a:rPr lang="en-GB" b="0" i="0" dirty="0">
                <a:solidFill>
                  <a:srgbClr val="242424"/>
                </a:solidFill>
                <a:effectLst/>
                <a:latin typeface="source-serif-pro"/>
              </a:rPr>
              <a:t> popular Python frameworks for model interpretability and explainability</a:t>
            </a:r>
          </a:p>
          <a:p>
            <a:pPr algn="l"/>
            <a:r>
              <a:rPr lang="en-GB" b="0" i="0" u="sng" dirty="0">
                <a:solidFill>
                  <a:srgbClr val="242424"/>
                </a:solidFill>
                <a:effectLst/>
                <a:latin typeface="source-serif-pro"/>
                <a:hlinkClick r:id="rId2"/>
              </a:rPr>
              <a:t>SHAP</a:t>
            </a:r>
            <a:endParaRPr lang="en-GB" b="0" i="0" dirty="0">
              <a:solidFill>
                <a:srgbClr val="242424"/>
              </a:solidFill>
              <a:effectLst/>
              <a:latin typeface="source-serif-pro"/>
            </a:endParaRPr>
          </a:p>
          <a:p>
            <a:pPr algn="l"/>
            <a:r>
              <a:rPr lang="en-GB" b="0" i="0" u="sng" dirty="0">
                <a:solidFill>
                  <a:srgbClr val="242424"/>
                </a:solidFill>
                <a:effectLst/>
                <a:latin typeface="source-serif-pro"/>
                <a:hlinkClick r:id="rId3"/>
              </a:rPr>
              <a:t>LIME</a:t>
            </a:r>
            <a:endParaRPr lang="en-GB" b="0" i="0" dirty="0">
              <a:solidFill>
                <a:srgbClr val="242424"/>
              </a:solidFill>
              <a:effectLst/>
              <a:latin typeface="source-serif-pro"/>
            </a:endParaRPr>
          </a:p>
          <a:p>
            <a:pPr algn="l"/>
            <a:r>
              <a:rPr lang="en-GB" b="0" i="0" u="sng" dirty="0" err="1">
                <a:solidFill>
                  <a:srgbClr val="242424"/>
                </a:solidFill>
                <a:effectLst/>
                <a:latin typeface="source-serif-pro"/>
                <a:hlinkClick r:id="rId4"/>
              </a:rPr>
              <a:t>Shapash</a:t>
            </a:r>
            <a:endParaRPr lang="en-GB" b="0" i="0" dirty="0">
              <a:solidFill>
                <a:srgbClr val="242424"/>
              </a:solidFill>
              <a:effectLst/>
              <a:latin typeface="source-serif-pro"/>
            </a:endParaRPr>
          </a:p>
          <a:p>
            <a:pPr algn="l"/>
            <a:r>
              <a:rPr lang="en-GB" b="0" i="0" u="sng" dirty="0">
                <a:solidFill>
                  <a:srgbClr val="242424"/>
                </a:solidFill>
                <a:effectLst/>
                <a:latin typeface="source-serif-pro"/>
                <a:hlinkClick r:id="rId5"/>
              </a:rPr>
              <a:t>ELI5</a:t>
            </a:r>
            <a:endParaRPr lang="en-GB" b="0" i="0" dirty="0">
              <a:solidFill>
                <a:srgbClr val="242424"/>
              </a:solidFill>
              <a:effectLst/>
              <a:latin typeface="source-serif-pro"/>
            </a:endParaRPr>
          </a:p>
          <a:p>
            <a:pPr algn="l"/>
            <a:r>
              <a:rPr lang="en-GB" b="0" i="0" u="sng" dirty="0" err="1">
                <a:solidFill>
                  <a:srgbClr val="242424"/>
                </a:solidFill>
                <a:effectLst/>
                <a:latin typeface="source-serif-pro"/>
                <a:hlinkClick r:id="rId6"/>
              </a:rPr>
              <a:t>InterpretML</a:t>
            </a:r>
            <a:endParaRPr lang="en-GB" b="0" i="0" dirty="0">
              <a:solidFill>
                <a:srgbClr val="242424"/>
              </a:solidFill>
              <a:effectLst/>
              <a:latin typeface="source-serif-pro"/>
            </a:endParaRPr>
          </a:p>
          <a:p>
            <a:pPr algn="l"/>
            <a:r>
              <a:rPr lang="en-GB" b="0" i="0" u="sng" dirty="0" err="1">
                <a:solidFill>
                  <a:srgbClr val="242424"/>
                </a:solidFill>
                <a:effectLst/>
                <a:latin typeface="source-serif-pro"/>
                <a:hlinkClick r:id="rId7"/>
              </a:rPr>
              <a:t>OmniXAI</a:t>
            </a:r>
            <a:r>
              <a:rPr lang="en-GB" b="0" i="0" u="sng" dirty="0">
                <a:solidFill>
                  <a:srgbClr val="242424"/>
                </a:solidFill>
                <a:effectLst/>
                <a:latin typeface="source-serif-pro"/>
              </a:rPr>
              <a:t> (Integrated framework of libraries above)</a:t>
            </a:r>
            <a:endParaRPr lang="en-GB" b="0" i="0" dirty="0">
              <a:solidFill>
                <a:srgbClr val="242424"/>
              </a:solidFill>
              <a:effectLst/>
              <a:latin typeface="source-serif-pro"/>
            </a:endParaRPr>
          </a:p>
          <a:p>
            <a:endParaRPr lang="en-GB" dirty="0"/>
          </a:p>
        </p:txBody>
      </p:sp>
    </p:spTree>
    <p:extLst>
      <p:ext uri="{BB962C8B-B14F-4D97-AF65-F5344CB8AC3E}">
        <p14:creationId xmlns:p14="http://schemas.microsoft.com/office/powerpoint/2010/main" val="9710578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D613E-4D2F-6A6C-1AC1-E9EE971F21C5}"/>
              </a:ext>
            </a:extLst>
          </p:cNvPr>
          <p:cNvSpPr>
            <a:spLocks noGrp="1"/>
          </p:cNvSpPr>
          <p:nvPr>
            <p:ph type="title"/>
          </p:nvPr>
        </p:nvSpPr>
        <p:spPr/>
        <p:txBody>
          <a:bodyPr/>
          <a:lstStyle/>
          <a:p>
            <a:r>
              <a:rPr lang="en-GB" dirty="0"/>
              <a:t>SHAP example</a:t>
            </a:r>
          </a:p>
        </p:txBody>
      </p:sp>
      <p:pic>
        <p:nvPicPr>
          <p:cNvPr id="5" name="Picture 4">
            <a:extLst>
              <a:ext uri="{FF2B5EF4-FFF2-40B4-BE49-F238E27FC236}">
                <a16:creationId xmlns:a16="http://schemas.microsoft.com/office/drawing/2014/main" id="{C048A0BC-AAFE-CDF2-BE46-204FC36446BB}"/>
              </a:ext>
            </a:extLst>
          </p:cNvPr>
          <p:cNvPicPr>
            <a:picLocks noChangeAspect="1"/>
          </p:cNvPicPr>
          <p:nvPr/>
        </p:nvPicPr>
        <p:blipFill>
          <a:blip r:embed="rId2"/>
          <a:stretch>
            <a:fillRect/>
          </a:stretch>
        </p:blipFill>
        <p:spPr>
          <a:xfrm>
            <a:off x="1905000" y="990600"/>
            <a:ext cx="6248400" cy="965113"/>
          </a:xfrm>
          <a:prstGeom prst="rect">
            <a:avLst/>
          </a:prstGeom>
        </p:spPr>
      </p:pic>
      <p:pic>
        <p:nvPicPr>
          <p:cNvPr id="7" name="Picture 6">
            <a:extLst>
              <a:ext uri="{FF2B5EF4-FFF2-40B4-BE49-F238E27FC236}">
                <a16:creationId xmlns:a16="http://schemas.microsoft.com/office/drawing/2014/main" id="{6C123932-9540-13CF-BFE4-F17BE5CCB157}"/>
              </a:ext>
            </a:extLst>
          </p:cNvPr>
          <p:cNvPicPr>
            <a:picLocks noChangeAspect="1"/>
          </p:cNvPicPr>
          <p:nvPr/>
        </p:nvPicPr>
        <p:blipFill>
          <a:blip r:embed="rId3"/>
          <a:stretch>
            <a:fillRect/>
          </a:stretch>
        </p:blipFill>
        <p:spPr>
          <a:xfrm>
            <a:off x="1981200" y="2814443"/>
            <a:ext cx="6172200" cy="1846444"/>
          </a:xfrm>
          <a:prstGeom prst="rect">
            <a:avLst/>
          </a:prstGeom>
        </p:spPr>
      </p:pic>
    </p:spTree>
    <p:extLst>
      <p:ext uri="{BB962C8B-B14F-4D97-AF65-F5344CB8AC3E}">
        <p14:creationId xmlns:p14="http://schemas.microsoft.com/office/powerpoint/2010/main" val="14194226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DC0C-754F-1C9F-E7CD-F9BA71B16C2A}"/>
              </a:ext>
            </a:extLst>
          </p:cNvPr>
          <p:cNvSpPr>
            <a:spLocks noGrp="1"/>
          </p:cNvSpPr>
          <p:nvPr>
            <p:ph type="title"/>
          </p:nvPr>
        </p:nvSpPr>
        <p:spPr/>
        <p:txBody>
          <a:bodyPr/>
          <a:lstStyle/>
          <a:p>
            <a:r>
              <a:rPr lang="en-GB" dirty="0"/>
              <a:t>LIME</a:t>
            </a:r>
          </a:p>
        </p:txBody>
      </p:sp>
      <p:pic>
        <p:nvPicPr>
          <p:cNvPr id="5" name="Picture 4">
            <a:extLst>
              <a:ext uri="{FF2B5EF4-FFF2-40B4-BE49-F238E27FC236}">
                <a16:creationId xmlns:a16="http://schemas.microsoft.com/office/drawing/2014/main" id="{B2C3ABBF-DC2F-75F8-D70E-77D7C08D44AB}"/>
              </a:ext>
            </a:extLst>
          </p:cNvPr>
          <p:cNvPicPr>
            <a:picLocks noChangeAspect="1"/>
          </p:cNvPicPr>
          <p:nvPr/>
        </p:nvPicPr>
        <p:blipFill>
          <a:blip r:embed="rId2"/>
          <a:stretch>
            <a:fillRect/>
          </a:stretch>
        </p:blipFill>
        <p:spPr>
          <a:xfrm>
            <a:off x="1905000" y="914400"/>
            <a:ext cx="5257800" cy="2550033"/>
          </a:xfrm>
          <a:prstGeom prst="rect">
            <a:avLst/>
          </a:prstGeom>
        </p:spPr>
      </p:pic>
      <p:pic>
        <p:nvPicPr>
          <p:cNvPr id="6" name="Picture 5">
            <a:extLst>
              <a:ext uri="{FF2B5EF4-FFF2-40B4-BE49-F238E27FC236}">
                <a16:creationId xmlns:a16="http://schemas.microsoft.com/office/drawing/2014/main" id="{65F0649C-52BD-79F6-A62C-176EC081620D}"/>
              </a:ext>
            </a:extLst>
          </p:cNvPr>
          <p:cNvPicPr>
            <a:picLocks noChangeAspect="1"/>
          </p:cNvPicPr>
          <p:nvPr/>
        </p:nvPicPr>
        <p:blipFill>
          <a:blip r:embed="rId3"/>
          <a:stretch>
            <a:fillRect/>
          </a:stretch>
        </p:blipFill>
        <p:spPr>
          <a:xfrm>
            <a:off x="1981200" y="3810000"/>
            <a:ext cx="6989109" cy="2057400"/>
          </a:xfrm>
          <a:prstGeom prst="rect">
            <a:avLst/>
          </a:prstGeom>
        </p:spPr>
      </p:pic>
    </p:spTree>
    <p:extLst>
      <p:ext uri="{BB962C8B-B14F-4D97-AF65-F5344CB8AC3E}">
        <p14:creationId xmlns:p14="http://schemas.microsoft.com/office/powerpoint/2010/main" val="16817705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Summary</a:t>
            </a:r>
          </a:p>
        </p:txBody>
      </p:sp>
      <p:sp>
        <p:nvSpPr>
          <p:cNvPr id="5" name="Content Placeholder 4"/>
          <p:cNvSpPr>
            <a:spLocks noGrp="1"/>
          </p:cNvSpPr>
          <p:nvPr>
            <p:ph idx="1"/>
          </p:nvPr>
        </p:nvSpPr>
        <p:spPr/>
        <p:txBody>
          <a:bodyPr/>
          <a:lstStyle/>
          <a:p>
            <a:r>
              <a:rPr lang="en-GB" dirty="0" sz="2000"/>
              <a:t>In this lecture: </a:t>
            </a:r>
          </a:p>
          <a:p>
            <a:pPr marL="342900" indent="-342900">
              <a:buFont typeface="Arial" panose="020B0604020202020204" pitchFamily="34" charset="0"/>
              <a:buChar char="•"/>
            </a:pPr>
            <a:r>
              <a:rPr lang="en-GB" dirty="0" sz="2000"/>
              <a:t>We have learnt ANN, Deep Learning (DL) and different types of DL. </a:t>
            </a:r>
          </a:p>
          <a:p>
            <a:pPr marL="342900" indent="-342900">
              <a:buFont typeface="Arial" panose="020B0604020202020204" pitchFamily="34" charset="0"/>
              <a:buChar char="•"/>
            </a:pPr>
            <a:r>
              <a:rPr lang="en-GB" dirty="0" sz="2000"/>
              <a:t>We focused on two research areas of Computer Vision (CV) and NLP. </a:t>
            </a:r>
          </a:p>
          <a:p>
            <a:pPr marL="342900" indent="-342900">
              <a:buFont typeface="Arial" panose="020B0604020202020204" pitchFamily="34" charset="0"/>
              <a:buChar char="•"/>
            </a:pPr>
            <a:r>
              <a:rPr lang="en-GB" dirty="0" sz="2000"/>
              <a:t>In particular, we had a detailed study of CNN and LSTM (a special case of RNN)</a:t>
            </a:r>
          </a:p>
          <a:p>
            <a:pPr marL="342900" indent="-342900">
              <a:buFont typeface="Arial" panose="020B0604020202020204" pitchFamily="34" charset="0"/>
              <a:buChar char="•"/>
            </a:pPr>
            <a:r>
              <a:rPr lang="en-GB" dirty="0" sz="2000"/>
              <a:t>Ideas of transfer learning and GANs</a:t>
            </a:r>
          </a:p>
          <a:p>
            <a:pPr marL="342900" indent="-342900">
              <a:buFont typeface="Arial" panose="020B0604020202020204" pitchFamily="34" charset="0"/>
              <a:buChar char="•"/>
            </a:pPr>
            <a:r>
              <a:rPr lang="en-GB" dirty="0" sz="2000"/>
              <a:t>Explainable AI (XAI) and Python XAI libraries (SHAP, LIME, …)</a:t>
            </a:r>
          </a:p>
          <a:p>
            <a:r>
              <a:rPr lang="en-GB" dirty="0" sz="2000"/>
              <a:t>Next: </a:t>
            </a:r>
          </a:p>
          <a:p>
            <a:r>
              <a:rPr lang="en-GB" dirty="0" sz="2000"/>
              <a:t>Practical labs on object detection (YOLO) and explainable AI</a:t>
            </a:r>
          </a:p>
          <a:p>
            <a:endParaRPr lang="en-GB" dirty="0" sz="2000"/>
          </a:p>
        </p:txBody>
      </p:sp>
    </p:spTree>
    <p:extLst>
      <p:ext uri="{BB962C8B-B14F-4D97-AF65-F5344CB8AC3E}">
        <p14:creationId xmlns:p14="http://schemas.microsoft.com/office/powerpoint/2010/main" val="2003874335"/>
      </p:ext>
    </p:extLst>
  </p:cSld>
  <p:clrMapOvr>
    <a:masterClrMapping/>
  </p:clrMapOvr>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Template>
  <TotalTime>1691</TotalTime>
  <Words>3058</Words>
  <Application>Microsoft Office PowerPoint</Application>
  <PresentationFormat>Προβολή στην οθόνη (4:3)</PresentationFormat>
  <Paragraphs>972</Paragraphs>
  <Slides>56</Slides>
  <Notes>6</Notes>
  <HiddenSlides>0</HiddenSlides>
  <MMClips>0</MMClips>
  <ScaleCrop>false</ScaleCrop>
  <HeadingPairs>
    <vt:vector size="8" baseType="variant">
      <vt:variant>
        <vt:lpstr>Γραμματοσειρές που χρησιμοποιούνται</vt:lpstr>
      </vt:variant>
      <vt:variant>
        <vt:i4>8</vt:i4>
      </vt:variant>
      <vt:variant>
        <vt:lpstr>Θέμα</vt:lpstr>
      </vt:variant>
      <vt:variant>
        <vt:i4>1</vt:i4>
      </vt:variant>
      <vt:variant>
        <vt:lpstr>Ενσωματωμένοι διακομιστές OLE</vt:lpstr>
      </vt:variant>
      <vt:variant>
        <vt:i4>1</vt:i4>
      </vt:variant>
      <vt:variant>
        <vt:lpstr>Τίτλοι διαφανειών</vt:lpstr>
      </vt:variant>
      <vt:variant>
        <vt:i4>56</vt:i4>
      </vt:variant>
    </vt:vector>
  </HeadingPairs>
  <TitlesOfParts>
    <vt:vector size="66" baseType="lpstr">
      <vt:lpstr>ＭＳ Ｐゴシック</vt:lpstr>
      <vt:lpstr>Arial</vt:lpstr>
      <vt:lpstr>Avenir Next</vt:lpstr>
      <vt:lpstr>Calibri</vt:lpstr>
      <vt:lpstr>Comic Sans MS</vt:lpstr>
      <vt:lpstr>Söhne</vt:lpstr>
      <vt:lpstr>source-serif-pro</vt:lpstr>
      <vt:lpstr>Wingdings</vt:lpstr>
      <vt:lpstr>2_Office Theme</vt:lpstr>
      <vt:lpstr>方程式</vt:lpstr>
      <vt:lpstr>AI Current Development, Neural Networks and Deep Learning                  Ioannis Tsioulis (MC)</vt:lpstr>
      <vt:lpstr>Outline</vt:lpstr>
      <vt:lpstr>AI Recent Development (1)</vt:lpstr>
      <vt:lpstr>AI Recent Development (2)</vt:lpstr>
      <vt:lpstr>AI Recent Development (3)</vt:lpstr>
      <vt:lpstr>AI Recent Development (4)</vt:lpstr>
      <vt:lpstr>AI Recent Development (5)</vt:lpstr>
      <vt:lpstr>AI Recent Development (6)</vt:lpstr>
      <vt:lpstr>ChatGPT development framework</vt:lpstr>
      <vt:lpstr>Trend</vt:lpstr>
      <vt:lpstr>ANN History</vt:lpstr>
      <vt:lpstr>Motivations of ANN</vt:lpstr>
      <vt:lpstr>Image to vector</vt:lpstr>
      <vt:lpstr>Παρουσίαση του PowerPoint</vt:lpstr>
      <vt:lpstr>Activation Functions</vt:lpstr>
      <vt:lpstr>Activation Functions</vt:lpstr>
      <vt:lpstr>So, what is Deep Learning?</vt:lpstr>
      <vt:lpstr>1 vs Deep</vt:lpstr>
      <vt:lpstr>Deep learning algorithms</vt:lpstr>
      <vt:lpstr>Computer Vision and Deep Learning</vt:lpstr>
      <vt:lpstr>CNN: Convolutional Neural Network</vt:lpstr>
      <vt:lpstr>About CNN’s</vt:lpstr>
      <vt:lpstr>Classification</vt:lpstr>
      <vt:lpstr>CNN by Example</vt:lpstr>
      <vt:lpstr>Same pattern appears in different places: They can be compressed!  What about training a lot of such “small” detectors and each detector must “move around”.</vt:lpstr>
      <vt:lpstr>A convolutional layer</vt:lpstr>
      <vt:lpstr>Convolution</vt:lpstr>
      <vt:lpstr>Convolution</vt:lpstr>
      <vt:lpstr>Convolution</vt:lpstr>
      <vt:lpstr>Convolution</vt:lpstr>
      <vt:lpstr>Convolution</vt:lpstr>
      <vt:lpstr>Color image: RGB 3 channels</vt:lpstr>
      <vt:lpstr>Παρουσίαση του PowerPoint</vt:lpstr>
      <vt:lpstr>Παρουσίαση του PowerPoint</vt:lpstr>
      <vt:lpstr>Παρουσίαση του PowerPoint</vt:lpstr>
      <vt:lpstr>Different CNN Architectures</vt:lpstr>
      <vt:lpstr>Differences in examples</vt:lpstr>
      <vt:lpstr>Contrastive Deep Learning (few short) algorithms</vt:lpstr>
      <vt:lpstr>One possible improvement which I am working on </vt:lpstr>
      <vt:lpstr>Παρουσίαση του PowerPoint</vt:lpstr>
      <vt:lpstr>Other types of DNN</vt:lpstr>
      <vt:lpstr>Recurrent Neural Networks</vt:lpstr>
      <vt:lpstr>The Problem of Long-Term Dependencies </vt:lpstr>
      <vt:lpstr>LSTM (Long Short Term Memory networks)</vt:lpstr>
      <vt:lpstr>How does LSTM work?</vt:lpstr>
      <vt:lpstr>Pre-trained models</vt:lpstr>
      <vt:lpstr>Transfer learning process  </vt:lpstr>
      <vt:lpstr>Generative Adversarial Networks (GANs) </vt:lpstr>
      <vt:lpstr>GANs Process/Architecture</vt:lpstr>
      <vt:lpstr>Explainable AI</vt:lpstr>
      <vt:lpstr>Explainability of Today’s Algorithms</vt:lpstr>
      <vt:lpstr>XAI vs AI</vt:lpstr>
      <vt:lpstr>Python XAI libraries </vt:lpstr>
      <vt:lpstr>SHAP example</vt:lpstr>
      <vt:lpstr>LIME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Xia</dc:creator>
  <cp:lastModifiedBy>Giannis Tsioulis</cp:lastModifiedBy>
  <cp:revision>30</cp:revision>
  <dcterms:created xsi:type="dcterms:W3CDTF">2006-08-16T00:00:00Z</dcterms:created>
  <dcterms:modified xsi:type="dcterms:W3CDTF">2026-02-03T20:01:54Z</dcterms:modified>
</cp:coreProperties>
</file>