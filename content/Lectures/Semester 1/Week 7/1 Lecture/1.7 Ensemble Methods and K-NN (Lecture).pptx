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3"/>
  </p:notesMasterIdLst>
  <p:sldIdLst>
    <p:sldId id="326" r:id="rId2"/>
    <p:sldId id="318" r:id="rId3"/>
    <p:sldId id="258" r:id="rId4"/>
    <p:sldId id="259" r:id="rId5"/>
    <p:sldId id="260" r:id="rId6"/>
    <p:sldId id="261" r:id="rId7"/>
    <p:sldId id="264" r:id="rId8"/>
    <p:sldId id="319" r:id="rId9"/>
    <p:sldId id="265" r:id="rId10"/>
    <p:sldId id="291" r:id="rId11"/>
    <p:sldId id="295" r:id="rId12"/>
    <p:sldId id="296" r:id="rId13"/>
    <p:sldId id="297" r:id="rId14"/>
    <p:sldId id="298" r:id="rId15"/>
    <p:sldId id="299" r:id="rId16"/>
    <p:sldId id="300" r:id="rId17"/>
    <p:sldId id="273" r:id="rId18"/>
    <p:sldId id="317" r:id="rId19"/>
    <p:sldId id="320" r:id="rId20"/>
    <p:sldId id="281" r:id="rId21"/>
    <p:sldId id="286" r:id="rId22"/>
    <p:sldId id="316" r:id="rId23"/>
    <p:sldId id="289" r:id="rId24"/>
    <p:sldId id="314" r:id="rId25"/>
    <p:sldId id="315" r:id="rId26"/>
    <p:sldId id="321" r:id="rId27"/>
    <p:sldId id="303" r:id="rId28"/>
    <p:sldId id="313" r:id="rId29"/>
    <p:sldId id="304" r:id="rId30"/>
    <p:sldId id="305" r:id="rId31"/>
    <p:sldId id="306" r:id="rId32"/>
    <p:sldId id="307" r:id="rId33"/>
    <p:sldId id="308" r:id="rId34"/>
    <p:sldId id="310" r:id="rId35"/>
    <p:sldId id="311" r:id="rId36"/>
    <p:sldId id="312" r:id="rId37"/>
    <p:sldId id="322" r:id="rId38"/>
    <p:sldId id="323" r:id="rId39"/>
    <p:sldId id="324" r:id="rId40"/>
    <p:sldId id="290" r:id="rId41"/>
    <p:sldId id="325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y Yu" userId="d96b6105-45a7-4b80-b1a6-ecee0368581f" providerId="ADAL" clId="{680E61E3-D9B0-48C1-B15B-1D6CC3F0B612}"/>
    <pc:docChg chg="custSel addSld delSld modSld">
      <pc:chgData name="Harry Yu" userId="d96b6105-45a7-4b80-b1a6-ecee0368581f" providerId="ADAL" clId="{680E61E3-D9B0-48C1-B15B-1D6CC3F0B612}" dt="2025-10-23T09:07:57.547" v="68" actId="20577"/>
      <pc:docMkLst>
        <pc:docMk/>
      </pc:docMkLst>
    </pc:docChg>
  </pc:docChgLst>
  <pc:docChgLst>
    <pc:chgData name="Giannis Tsioulis" userId="d59c48a07cb29050" providerId="LiveId" clId="{D1FB67B2-2F40-423F-AEB1-7CE013CAD466}"/>
    <pc:docChg chg="addSld delSld modSld">
      <pc:chgData name="Giannis Tsioulis" userId="d59c48a07cb29050" providerId="LiveId" clId="{D1FB67B2-2F40-423F-AEB1-7CE013CAD466}" dt="2025-11-18T21:01:55.127" v="35" actId="47"/>
      <pc:docMkLst>
        <pc:docMk/>
      </pc:docMkLst>
      <pc:sldChg chg="del">
        <pc:chgData name="Giannis Tsioulis" userId="d59c48a07cb29050" providerId="LiveId" clId="{D1FB67B2-2F40-423F-AEB1-7CE013CAD466}" dt="2025-11-18T21:01:55.127" v="35" actId="47"/>
        <pc:sldMkLst>
          <pc:docMk/>
          <pc:sldMk cId="1762119713" sldId="256"/>
        </pc:sldMkLst>
      </pc:sldChg>
      <pc:sldChg chg="modSp add mod">
        <pc:chgData name="Giannis Tsioulis" userId="d59c48a07cb29050" providerId="LiveId" clId="{D1FB67B2-2F40-423F-AEB1-7CE013CAD466}" dt="2025-11-18T21:01:51.423" v="34" actId="14100"/>
        <pc:sldMkLst>
          <pc:docMk/>
          <pc:sldMk cId="2361805970" sldId="326"/>
        </pc:sldMkLst>
        <pc:spChg chg="mod">
          <ac:chgData name="Giannis Tsioulis" userId="d59c48a07cb29050" providerId="LiveId" clId="{D1FB67B2-2F40-423F-AEB1-7CE013CAD466}" dt="2025-11-18T21:01:51.423" v="34" actId="14100"/>
          <ac:spMkLst>
            <pc:docMk/>
            <pc:sldMk cId="2361805970" sldId="32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48384-A248-4B4B-B310-012A72C7A3D8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F565F-0B8F-4ABD-80AF-E19684E203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820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7942F5-15E4-4DE5-9872-26B21059CE2F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087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7942F5-15E4-4DE5-9872-26B21059CE2F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66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7942F5-15E4-4DE5-9872-26B21059CE2F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703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7942F5-15E4-4DE5-9872-26B21059CE2F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089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7942F5-15E4-4DE5-9872-26B21059CE2F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401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example, we have randomized the data by fitting each estimator with a random subset of 80% of the training points. 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7F565F-0B8F-4ABD-80AF-E19684E2037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535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Scikit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-Learn, such an optimized ensemble of randomized decision trees is implemented in the </a:t>
            </a:r>
            <a:r>
              <a:rPr lang="en-GB" dirty="0" err="1"/>
              <a:t>RandomForestClassifier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estimator, which takes care of all the randomization automatically. All you need to do is select a number of estimators, and it will very quickly (in parallel, if desired) fit the ensemble of trees.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7F565F-0B8F-4ABD-80AF-E19684E2037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8043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7942F5-15E4-4DE5-9872-26B21059CE2F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396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7942F5-15E4-4DE5-9872-26B21059CE2F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960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7942F5-15E4-4DE5-9872-26B21059CE2F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240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7942F5-15E4-4DE5-9872-26B21059CE2F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2775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956BCA-6B8B-4445-A762-8A5783AD39E1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31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2000" cy="3429000"/>
          </a:xfrm>
          <a:ln/>
        </p:spPr>
      </p:sp>
      <p:sp>
        <p:nvSpPr>
          <p:cNvPr id="131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</p:spPr>
        <p:txBody>
          <a:bodyPr/>
          <a:lstStyle/>
          <a:p>
            <a:r>
              <a:rPr lang="en-US" altLang="en-US"/>
              <a:t>Similar inputs map to similar outputs</a:t>
            </a:r>
          </a:p>
          <a:p>
            <a:pPr lvl="1"/>
            <a:r>
              <a:rPr lang="en-US" altLang="en-US"/>
              <a:t>If not true =&gt; learning is impossible</a:t>
            </a:r>
          </a:p>
          <a:p>
            <a:pPr lvl="1"/>
            <a:r>
              <a:rPr lang="en-US" altLang="en-US"/>
              <a:t>If true =&gt; learning reduces to defining “</a:t>
            </a:r>
            <a:r>
              <a:rPr lang="en-US" altLang="en-US" i="1"/>
              <a:t>similar</a:t>
            </a:r>
            <a:r>
              <a:rPr lang="en-US" altLang="en-US"/>
              <a:t>”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4D0377-1DD0-4475-84E1-CC9151E5BDA0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31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5B8AA2-16E2-4E42-A8D7-3402EF613F1E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131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9C2505-BDAE-47BC-A780-93976B6D730A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132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D6B4F2-6FB5-41DC-9D79-F3FA82B90642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132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DA4615-BB23-45FC-AC20-0B36955DA6F9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132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12FAE5-EAA1-49EC-92B3-89537F79DF7D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132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2000" cy="3429000"/>
          </a:xfrm>
          <a:ln/>
        </p:spPr>
      </p:sp>
      <p:sp>
        <p:nvSpPr>
          <p:cNvPr id="132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29311A-EC49-4541-BAC9-2686947A5C39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133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2000" cy="3429000"/>
          </a:xfrm>
          <a:ln/>
        </p:spPr>
      </p:sp>
      <p:sp>
        <p:nvSpPr>
          <p:cNvPr id="133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altLang="en-US"/>
              <a:t>Prediction accuracy can quickly degrade when number of attributes grows.</a:t>
            </a: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en-US" altLang="en-US"/>
              <a:t>Imagine attribute vector (y,r1,r2,r3,…,rN), </a:t>
            </a:r>
          </a:p>
          <a:p>
            <a:pPr lvl="2">
              <a:lnSpc>
                <a:spcPct val="90000"/>
              </a:lnSpc>
              <a:buFontTx/>
              <a:buChar char="•"/>
            </a:pPr>
            <a:r>
              <a:rPr lang="en-US" altLang="en-US"/>
              <a:t>first feature always tells the label</a:t>
            </a:r>
          </a:p>
          <a:p>
            <a:pPr lvl="2">
              <a:lnSpc>
                <a:spcPct val="90000"/>
              </a:lnSpc>
              <a:buFontTx/>
              <a:buChar char="•"/>
            </a:pPr>
            <a:r>
              <a:rPr lang="en-US" altLang="en-US"/>
              <a:t>r1,…,rN take random binary values.</a:t>
            </a: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en-US" altLang="en-US"/>
              <a:t>What is the probability that the nearest neighbor has the same label? P(y=yNN) </a:t>
            </a:r>
          </a:p>
          <a:p>
            <a:pPr lvl="2">
              <a:lnSpc>
                <a:spcPct val="90000"/>
              </a:lnSpc>
              <a:buFontTx/>
              <a:buChar char="•"/>
            </a:pPr>
            <a:r>
              <a:rPr lang="en-US" altLang="en-US"/>
              <a:t>Similarity measure is number of mismatches.</a:t>
            </a:r>
          </a:p>
          <a:p>
            <a:pPr lvl="2">
              <a:lnSpc>
                <a:spcPct val="90000"/>
              </a:lnSpc>
              <a:buFontTx/>
              <a:buChar char="•"/>
            </a:pPr>
            <a:r>
              <a:rPr lang="en-US" altLang="en-US"/>
              <a:t>Assume we have only two training examples, one for each label. Both training examples have distance N+1 (all bits different)</a:t>
            </a:r>
            <a:br>
              <a:rPr lang="en-US" altLang="en-US"/>
            </a:br>
            <a:r>
              <a:rPr lang="en-US" altLang="en-US"/>
              <a:t>(-1,+1,-1,+1,-1,+1,…,-1)</a:t>
            </a:r>
            <a:br>
              <a:rPr lang="en-US" altLang="en-US"/>
            </a:br>
            <a:r>
              <a:rPr lang="en-US" altLang="en-US"/>
              <a:t>(+1,-1,+1,-1,+1,-1,…,+1)</a:t>
            </a:r>
          </a:p>
          <a:p>
            <a:pPr lvl="2">
              <a:lnSpc>
                <a:spcPct val="90000"/>
              </a:lnSpc>
              <a:buFontTx/>
              <a:buChar char="•"/>
            </a:pPr>
            <a:r>
              <a:rPr lang="en-US" altLang="en-US"/>
              <a:t>If N=0, then P(y=yNN)=1</a:t>
            </a:r>
          </a:p>
          <a:p>
            <a:pPr lvl="2">
              <a:lnSpc>
                <a:spcPct val="90000"/>
              </a:lnSpc>
              <a:buFontTx/>
              <a:buChar char="•"/>
            </a:pPr>
            <a:r>
              <a:rPr lang="en-US" altLang="en-US"/>
              <a:t>If N=2, then P(y=yNN)=3/4 </a:t>
            </a:r>
            <a:br>
              <a:rPr lang="en-US" altLang="en-US"/>
            </a:br>
            <a:r>
              <a:rPr lang="en-US" altLang="en-US">
                <a:sym typeface="Wingdings" pitchFamily="2" charset="2"/>
              </a:rPr>
              <a:t> need both random attributes to match the wrong example</a:t>
            </a:r>
            <a:br>
              <a:rPr lang="en-US" altLang="en-US"/>
            </a:br>
            <a:r>
              <a:rPr lang="en-US" altLang="en-US"/>
              <a:t>(4 outcomes on random attributes, and only one leads to a mistake)</a:t>
            </a:r>
          </a:p>
          <a:p>
            <a:pPr lvl="2">
              <a:lnSpc>
                <a:spcPct val="90000"/>
              </a:lnSpc>
              <a:buFontTx/>
              <a:buChar char="•"/>
            </a:pPr>
            <a:r>
              <a:rPr lang="en-US" altLang="en-US"/>
              <a:t>If N=4, then P(y=yNN)=11/16 </a:t>
            </a:r>
            <a:br>
              <a:rPr lang="en-US" altLang="en-US"/>
            </a:br>
            <a:r>
              <a:rPr lang="en-US" altLang="en-US">
                <a:sym typeface="Wingdings" pitchFamily="2" charset="2"/>
              </a:rPr>
              <a:t> need at least three random attributes to match the wrong example</a:t>
            </a:r>
            <a:br>
              <a:rPr lang="en-US" altLang="en-US"/>
            </a:br>
            <a:r>
              <a:rPr lang="en-US" altLang="en-US"/>
              <a:t>(16 outcomes on random attributes, and 5 lead to a mistake)</a:t>
            </a:r>
          </a:p>
          <a:p>
            <a:pPr lvl="2">
              <a:lnSpc>
                <a:spcPct val="90000"/>
              </a:lnSpc>
              <a:buFontTx/>
              <a:buChar char="•"/>
            </a:pPr>
            <a:r>
              <a:rPr lang="en-US" altLang="en-US"/>
              <a:t>If N=100, then P(y=yNN) almost 1/2 </a:t>
            </a:r>
            <a:br>
              <a:rPr lang="en-US" altLang="en-US"/>
            </a:br>
            <a:r>
              <a:rPr lang="en-US" altLang="en-US">
                <a:sym typeface="Wingdings" pitchFamily="2" charset="2"/>
              </a:rPr>
              <a:t> need N/2+1 random attributes to match the wrong example</a:t>
            </a:r>
          </a:p>
          <a:p>
            <a:pPr lvl="2">
              <a:lnSpc>
                <a:spcPct val="90000"/>
              </a:lnSpc>
              <a:buFontTx/>
              <a:buChar char="•"/>
            </a:pPr>
            <a:r>
              <a:rPr lang="en-US" altLang="en-US"/>
              <a:t>For every random attribute, we need exponentially more training examples.</a:t>
            </a:r>
          </a:p>
          <a:p>
            <a:pPr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D91F9E-F1F3-4F8B-961A-043AA7DC90AD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133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2000" cy="3429000"/>
          </a:xfrm>
          <a:ln/>
        </p:spPr>
      </p:sp>
      <p:sp>
        <p:nvSpPr>
          <p:cNvPr id="133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en-US"/>
              <a:t>Need similarity measure and attributes that “match” target function</a:t>
            </a:r>
          </a:p>
          <a:p>
            <a:pPr lvl="1">
              <a:buFontTx/>
              <a:buChar char="•"/>
            </a:pPr>
            <a:r>
              <a:rPr lang="en-US" altLang="en-US"/>
              <a:t>predicting a person’s height may depend on different attributes than predicting their IQ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08D7-2280-7445-9E56-56259A07FC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94424" y="373770"/>
            <a:ext cx="6206576" cy="54063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Arial 32pt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F6D12-0445-E148-BB09-E64C08B1B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94423" y="1435007"/>
            <a:ext cx="6206577" cy="503921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Body Copy  ARIAL 16pt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76B2E5-FD2E-2F48-B255-21F97B6C0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972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135D-D60C-5E43-A2E0-33CB99A831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9893" y="365126"/>
            <a:ext cx="6705457" cy="595996"/>
          </a:xfrm>
          <a:prstGeom prst="rect">
            <a:avLst/>
          </a:prstGeom>
        </p:spPr>
        <p:txBody>
          <a:bodyPr/>
          <a:lstStyle>
            <a:lvl1pPr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Arial 32pt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E60C7-65E9-2D4E-8F6F-2124696CD5C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9892" y="1414985"/>
            <a:ext cx="6705458" cy="4761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Body Copy Arial 16pt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0AFCE-B625-D845-858E-A0692B422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1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31BC6-EBE9-7C40-8DF3-ADD0BBB8D7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1986" y="373771"/>
            <a:ext cx="6808602" cy="493909"/>
          </a:xfrm>
          <a:prstGeom prst="rect">
            <a:avLst/>
          </a:prstGeom>
        </p:spPr>
        <p:txBody>
          <a:bodyPr anchor="t"/>
          <a:lstStyle>
            <a:lvl1pPr algn="l"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Arial 32pt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ED869-0B77-A24D-B0EF-98935AA253B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01986" y="1428334"/>
            <a:ext cx="6808602" cy="46613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Body Copy Arial 16pt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A86DEB-DB85-A34A-BADA-0D640BBCD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E027B-BEB9-F140-97F9-C790358BC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1152" y="365126"/>
            <a:ext cx="7089102" cy="605836"/>
          </a:xfrm>
          <a:prstGeom prst="rect">
            <a:avLst/>
          </a:prstGeom>
        </p:spPr>
        <p:txBody>
          <a:bodyPr/>
          <a:lstStyle>
            <a:lvl1pPr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Arial 32pt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3DD45-69DA-CE42-8028-948E1F6A678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701152" y="1159497"/>
            <a:ext cx="3329718" cy="501746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Body Copy Arial 16pt</a:t>
            </a:r>
          </a:p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BBB932-9B4D-8B43-9456-CBAA647F088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226097" y="1159497"/>
            <a:ext cx="3564158" cy="5017466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Body Copy Arial 16pt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1306C6-F56C-F74F-AD6E-673B032DA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9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C81EAB-9B18-3048-B3A6-B3FFDF4410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  <p:sp>
        <p:nvSpPr>
          <p:cNvPr id="2" name="MSIPCMContentMarking" descr="{&quot;HashCode&quot;:269818377,&quot;Placement&quot;:&quot;Footer&quot;}"/>
          <p:cNvSpPr txBox="1"/>
          <p:nvPr/>
        </p:nvSpPr>
        <p:spPr>
          <a:xfrm>
            <a:off x="0" y="6525073"/>
            <a:ext cx="114185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74070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an-introduction-to-the-bootstrap-method-58bcb51b4d6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kit-learn.org/stable/modules/generated/sklearn.neighbors.KNeighborsClassifier.html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tacamp.com/tutorial/k-nearest-neighbor-classification-scikit-lear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676400" y="3019456"/>
            <a:ext cx="6712024" cy="819088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Ensemble Methods and K-NN</a:t>
            </a:r>
            <a:br>
              <a:rPr lang="en-US" sz="2800" dirty="0"/>
            </a:br>
            <a:br>
              <a:rPr lang="en-GB" dirty="0"/>
            </a:br>
            <a:br>
              <a:rPr lang="en-GB" dirty="0"/>
            </a:br>
            <a:endParaRPr lang="en-GB" sz="2000" dirty="0"/>
          </a:p>
        </p:txBody>
      </p:sp>
      <p:pic>
        <p:nvPicPr>
          <p:cNvPr id="1026" name="Picture 2" descr="Robot Artificial Intelligence World Connection Gear Vector Illustration  Royalty Free Cliparts, Vectors, And Stock Illustration. Image 108901860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8100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676400" y="228600"/>
            <a:ext cx="7086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</a:rPr>
              <a:t>Module 6CM521: </a:t>
            </a:r>
            <a:r>
              <a:rPr lang="en-US" sz="2400" dirty="0">
                <a:solidFill>
                  <a:srgbClr val="0070C0"/>
                </a:solidFill>
              </a:rPr>
              <a:t>Frontiers in AI and Data Science </a:t>
            </a:r>
            <a:endParaRPr lang="en-GB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246FF1-9020-F3E7-8FC5-A95BBE191469}"/>
              </a:ext>
            </a:extLst>
          </p:cNvPr>
          <p:cNvSpPr txBox="1"/>
          <p:nvPr/>
        </p:nvSpPr>
        <p:spPr>
          <a:xfrm>
            <a:off x="6477000" y="6144089"/>
            <a:ext cx="304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Slides acknowledgements:</a:t>
            </a:r>
          </a:p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Dr Aaisha Makkar</a:t>
            </a:r>
            <a:endParaRPr lang="el-GR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06DA0F-9E79-2E9B-A996-5C8CE0755C04}"/>
              </a:ext>
            </a:extLst>
          </p:cNvPr>
          <p:cNvSpPr txBox="1"/>
          <p:nvPr/>
        </p:nvSpPr>
        <p:spPr>
          <a:xfrm>
            <a:off x="2819400" y="3838544"/>
            <a:ext cx="449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Ioannis Tsioulis (MC)</a:t>
            </a:r>
            <a:endParaRPr lang="el-GR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805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Tree ensembles:</a:t>
            </a:r>
          </a:p>
          <a:p>
            <a:pPr marL="1028700" lvl="1" indent="-342900"/>
            <a:r>
              <a:rPr lang="en-GB" sz="2000" dirty="0"/>
              <a:t>Bagging and Random Forest (RF)</a:t>
            </a:r>
          </a:p>
          <a:p>
            <a:pPr marL="1028700" lvl="1" indent="-342900"/>
            <a:r>
              <a:rPr lang="en-GB" sz="2000" dirty="0"/>
              <a:t>Boosting (boosted trees)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K-NN</a:t>
            </a:r>
          </a:p>
        </p:txBody>
      </p:sp>
    </p:spTree>
    <p:extLst>
      <p:ext uri="{BB962C8B-B14F-4D97-AF65-F5344CB8AC3E}">
        <p14:creationId xmlns:p14="http://schemas.microsoft.com/office/powerpoint/2010/main" val="1806619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Tree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19672" y="1556792"/>
            <a:ext cx="7164288" cy="47525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Disadvantages of the Tree-Structured Approach</a:t>
            </a:r>
          </a:p>
          <a:p>
            <a:r>
              <a:rPr lang="en-US" sz="2400" dirty="0"/>
              <a:t>Do not predict very accurately compared to other kinds of machine learning models, which is due to the greedy nature of the tree construction algorithms, </a:t>
            </a:r>
            <a:r>
              <a:rPr lang="en-US" sz="2400" dirty="0" err="1"/>
              <a:t>e.g.</a:t>
            </a:r>
            <a:r>
              <a:rPr lang="en-US" sz="2400" dirty="0"/>
              <a:t> information gain or Gini index, which introduce overfitting problems very easily. 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Trees are unstable</a:t>
            </a:r>
          </a:p>
          <a:p>
            <a:pPr lvl="1"/>
            <a:r>
              <a:rPr lang="en-US" sz="2000" dirty="0"/>
              <a:t>Small changes to the input data can have large effects on the structure of the tree due to the hierarchical nature of the tree-growing process.</a:t>
            </a:r>
          </a:p>
          <a:p>
            <a:pPr lvl="1"/>
            <a:endParaRPr lang="en-US" sz="2000" dirty="0"/>
          </a:p>
          <a:p>
            <a:r>
              <a:rPr lang="en-US" sz="2400" b="1" u="sng" dirty="0">
                <a:solidFill>
                  <a:srgbClr val="FF0000"/>
                </a:solidFill>
              </a:rPr>
              <a:t>Solution</a:t>
            </a:r>
            <a:r>
              <a:rPr lang="en-US" sz="2400" b="1" dirty="0">
                <a:solidFill>
                  <a:srgbClr val="FF0000"/>
                </a:solidFill>
              </a:rPr>
              <a:t>: bagging and boosting.</a:t>
            </a:r>
          </a:p>
        </p:txBody>
      </p:sp>
    </p:spTree>
    <p:extLst>
      <p:ext uri="{BB962C8B-B14F-4D97-AF65-F5344CB8AC3E}">
        <p14:creationId xmlns:p14="http://schemas.microsoft.com/office/powerpoint/2010/main" val="239285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Averaging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91680" y="1268760"/>
            <a:ext cx="6552728" cy="4648200"/>
          </a:xfrm>
        </p:spPr>
        <p:txBody>
          <a:bodyPr/>
          <a:lstStyle/>
          <a:p>
            <a:r>
              <a:rPr lang="en-US" sz="2400" dirty="0"/>
              <a:t>Previously, we focused on machine learning procedures that produce a single set of results:</a:t>
            </a:r>
          </a:p>
          <a:p>
            <a:pPr lvl="1"/>
            <a:r>
              <a:rPr lang="en-US" sz="2000" dirty="0"/>
              <a:t>A regression equation, with one set of regression coefficients or smoothing parameters.</a:t>
            </a:r>
          </a:p>
          <a:p>
            <a:pPr lvl="1"/>
            <a:r>
              <a:rPr lang="en-US" sz="2000" dirty="0"/>
              <a:t>A classification or regression tree with one set of leaf nodes.</a:t>
            </a:r>
          </a:p>
          <a:p>
            <a:pPr lvl="1"/>
            <a:endParaRPr lang="en-US" sz="2000" dirty="0"/>
          </a:p>
          <a:p>
            <a:r>
              <a:rPr lang="en-US" sz="2400" dirty="0"/>
              <a:t>Model selection is often required: a measure of fit associated with each candidate model.</a:t>
            </a:r>
          </a:p>
          <a:p>
            <a:endParaRPr lang="en-US" sz="2400" dirty="0"/>
          </a:p>
          <a:p>
            <a:r>
              <a:rPr lang="en-US" sz="2400" dirty="0"/>
              <a:t>Here, the discussion shifts to machine learning building on many sets of outputs that are </a:t>
            </a:r>
            <a:r>
              <a:rPr lang="en-US" sz="2400" b="1" dirty="0"/>
              <a:t>aggregated</a:t>
            </a:r>
            <a:r>
              <a:rPr lang="en-US" sz="2400" dirty="0"/>
              <a:t> to produce results.</a:t>
            </a:r>
          </a:p>
        </p:txBody>
      </p:sp>
    </p:spTree>
    <p:extLst>
      <p:ext uri="{BB962C8B-B14F-4D97-AF65-F5344CB8AC3E}">
        <p14:creationId xmlns:p14="http://schemas.microsoft.com/office/powerpoint/2010/main" val="194761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Averaging (cont’d)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47664" y="1340768"/>
            <a:ext cx="6840760" cy="46482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aggregating procedure makes multiple tree-growing passes over the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 each </a:t>
            </a:r>
            <a:r>
              <a:rPr lang="en-US" dirty="0"/>
              <a:t>pass</a:t>
            </a:r>
            <a:r>
              <a:rPr lang="en-US" sz="2400" dirty="0"/>
              <a:t>, inputs </a:t>
            </a:r>
            <a:r>
              <a:rPr lang="en-US" sz="2400" i="1" dirty="0"/>
              <a:t>X</a:t>
            </a:r>
            <a:r>
              <a:rPr lang="en-US" sz="2400" dirty="0"/>
              <a:t> (a bootstrap sample drawn by the bagging process) are linked with outputs </a:t>
            </a:r>
            <a:r>
              <a:rPr lang="en-US" sz="2400" i="1" dirty="0"/>
              <a:t>Y</a:t>
            </a:r>
            <a:r>
              <a:rPr lang="en-US" sz="2400" dirty="0"/>
              <a:t>, just as for a single tree.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However, of interest now is the collection of all the results from </a:t>
            </a:r>
            <a:r>
              <a:rPr lang="en-US" dirty="0"/>
              <a:t>these different trees</a:t>
            </a:r>
            <a:r>
              <a:rPr lang="en-US" sz="2400" dirty="0"/>
              <a:t> for aggregating votes.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Aggregated results have several important benefits.</a:t>
            </a:r>
          </a:p>
        </p:txBody>
      </p:sp>
    </p:spTree>
    <p:extLst>
      <p:ext uri="{BB962C8B-B14F-4D97-AF65-F5344CB8AC3E}">
        <p14:creationId xmlns:p14="http://schemas.microsoft.com/office/powerpoint/2010/main" val="3289370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Averaging (cont’d)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91680" y="1600200"/>
            <a:ext cx="6912768" cy="464820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Averaging over a collection of fitted values can help to avoid overfitting.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tends to cancel out the uncommon features of the data captured by a specific model. Therefore, the aggregated results are more stable.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large number of fitting attempts can produce very flexible fitting functions.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Putting the averaging and the flexible fitting functions together has the potential to break the bias-variance tradeoff.</a:t>
            </a:r>
          </a:p>
        </p:txBody>
      </p:sp>
    </p:spTree>
    <p:extLst>
      <p:ext uri="{BB962C8B-B14F-4D97-AF65-F5344CB8AC3E}">
        <p14:creationId xmlns:p14="http://schemas.microsoft.com/office/powerpoint/2010/main" val="411030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Averaging (cont’d)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19672" y="1340768"/>
            <a:ext cx="6840760" cy="464820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Ideally, one would have two random samples from the same population: a training dataset and a test dataset. The fit measure from the test data would be a better indicator of how accurate the classification 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Often there is only a single dataset. The data are split up into several randomly chosen, non-overlapping, partitions of about the same size. With ten partitions, each partition is part of the training data in nine analyses and serves as the test data in one.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model selection is based on choosing the one with the smallest cross-validation prediction error.</a:t>
            </a:r>
          </a:p>
        </p:txBody>
      </p:sp>
    </p:spTree>
    <p:extLst>
      <p:ext uri="{BB962C8B-B14F-4D97-AF65-F5344CB8AC3E}">
        <p14:creationId xmlns:p14="http://schemas.microsoft.com/office/powerpoint/2010/main" val="3243641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Tree ensembles:</a:t>
            </a:r>
          </a:p>
          <a:p>
            <a:pPr marL="1028700" lvl="1" indent="-342900"/>
            <a:r>
              <a:rPr lang="en-GB" sz="2000" dirty="0">
                <a:solidFill>
                  <a:srgbClr val="FF0000"/>
                </a:solidFill>
              </a:rPr>
              <a:t>Bagging and Random Forest (RF)</a:t>
            </a:r>
          </a:p>
          <a:p>
            <a:pPr marL="1028700" lvl="1" indent="-342900"/>
            <a:r>
              <a:rPr lang="en-GB" sz="2000" dirty="0"/>
              <a:t>Boosting (boosted trees)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K-NN</a:t>
            </a:r>
          </a:p>
        </p:txBody>
      </p:sp>
    </p:spTree>
    <p:extLst>
      <p:ext uri="{BB962C8B-B14F-4D97-AF65-F5344CB8AC3E}">
        <p14:creationId xmlns:p14="http://schemas.microsoft.com/office/powerpoint/2010/main" val="325258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Bagging: </a:t>
            </a:r>
            <a:r>
              <a:rPr lang="en-US" dirty="0">
                <a:solidFill>
                  <a:srgbClr val="FF0000"/>
                </a:solidFill>
              </a:rPr>
              <a:t>Bootstrap Aggregating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91680" y="1196752"/>
            <a:ext cx="6660232" cy="4896544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There is a very powerful idea in the use of subsamples of the data and in averaging over subsamples through bootstrapping.</a:t>
            </a:r>
          </a:p>
          <a:p>
            <a:endParaRPr lang="en-US" sz="1200" dirty="0"/>
          </a:p>
          <a:p>
            <a:r>
              <a:rPr lang="en-US" sz="2400" dirty="0"/>
              <a:t>Bagging exploits that idea to address the overfitting issue in a more fundamental manner. </a:t>
            </a:r>
          </a:p>
          <a:p>
            <a:endParaRPr lang="en-US" sz="1200" dirty="0"/>
          </a:p>
          <a:p>
            <a:r>
              <a:rPr lang="en-US" sz="2400" dirty="0"/>
              <a:t>It was invented by Leo </a:t>
            </a:r>
            <a:r>
              <a:rPr lang="en-US" sz="2400" dirty="0" err="1"/>
              <a:t>Breiman</a:t>
            </a:r>
            <a:r>
              <a:rPr lang="en-US" sz="2400" dirty="0"/>
              <a:t>, who called it "</a:t>
            </a:r>
            <a:r>
              <a:rPr lang="en-US" sz="2400" b="1" dirty="0"/>
              <a:t>b</a:t>
            </a:r>
            <a:r>
              <a:rPr lang="en-US" sz="2400" dirty="0"/>
              <a:t>ootstrap </a:t>
            </a:r>
            <a:r>
              <a:rPr lang="en-US" sz="2400" b="1" dirty="0"/>
              <a:t>agg</a:t>
            </a:r>
            <a:r>
              <a:rPr lang="en-US" sz="2400" dirty="0"/>
              <a:t>regat</a:t>
            </a:r>
            <a:r>
              <a:rPr lang="en-US" sz="2400" b="1" dirty="0"/>
              <a:t>ing</a:t>
            </a:r>
            <a:r>
              <a:rPr lang="en-US" sz="2400" dirty="0"/>
              <a:t>" or simply "bagging".</a:t>
            </a:r>
          </a:p>
          <a:p>
            <a:endParaRPr lang="en-US" sz="1200" dirty="0"/>
          </a:p>
          <a:p>
            <a:r>
              <a:rPr lang="en-US" sz="2400" dirty="0"/>
              <a:t>In a classification tree, bagging takes a majority vote from classifiers trained on bootstrap samples of the training data.</a:t>
            </a:r>
          </a:p>
          <a:p>
            <a:endParaRPr lang="en-US" sz="2400" dirty="0"/>
          </a:p>
          <a:p>
            <a:r>
              <a:rPr lang="en-US" dirty="0"/>
              <a:t>Introduction to bootstrap method: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https://towardsdatascience.com/an-introduction-to-the-bootstrap-method-58bcb51b4d60</a:t>
            </a:r>
            <a:r>
              <a:rPr lang="en-US" dirty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68743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Bagging-based Averaging Learning</a:t>
            </a:r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985" y="2132856"/>
            <a:ext cx="6926762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AutoShape 2" descr="Bagging (Bootstrap Aggregation) - Overview, How It Works, Advantages"/>
          <p:cNvSpPr>
            <a:spLocks noChangeAspect="1" noChangeArrowheads="1"/>
          </p:cNvSpPr>
          <p:nvPr/>
        </p:nvSpPr>
        <p:spPr bwMode="auto">
          <a:xfrm>
            <a:off x="155575" y="-661988"/>
            <a:ext cx="3314700" cy="138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745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354" y="1052736"/>
            <a:ext cx="540067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979" y="2132856"/>
            <a:ext cx="535305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AutoShape 6" descr="data:image/png;base64,iVBORw0KGgoAAAANSUhEUgAAAeIAAAFVCAYAAAAzJuxuAAAABHNCSVQICAgIfAhkiAAAAAlwSFlz%0AAAALEgAACxIB0t1+/AAAIABJREFUeJzs3XV0VMfbwPHvZuPuAgGCu0OQ4BrcKW6FFqv3rVJqFH4t%0AFUoLhUJxdyd4SJAEDa5BkxB32SS7e98/AiGb3cDGSAjzOaenzcy9c2dvk32uzDwjkyRJQhAEQRCE%0AEmFQ0h0QBEEQhDeZCMSCIAiCUIJEIBYEQRCEEiQCsSAIgiCUIBGIBUEQBKEEiUAsCIIgCCVI70B8%0A6dIlRo8eDcCNGzcYOXIkY8aMYeLEicTGxhZbBwVBEAShLNMrEC9dupQZM2aQmZkJwOzZs5k5cyar%0AVq2ia9eu/Pvvv8XaSUEQBEEoq/QKxJUqVWLBggXZP//xxx/UrFkTAKVSiYmJSfH0ThAEQRDKOL0C%0AcdeuXZHL5dk/Ozo6AnDhwgXWrVvHuHHjiqVzgiAIglDWGRZ0x3379rF48WL+/fdf7OzsXrq9JEnI%0AZLKCHk4QBEEQyqQCBeKdO3eyadMmVq9ejbW1tV77yGQyoqKSCnK4N4qTk5U4T3oS50o/4jzpR5wn%0A/YlzpR8nJyu9tst3IFar1cyePZty5coxbdo0ZDIZnp6eTJ8+Pd+dFARBEIQ3nd6BuHz58mzYsAGA%0AwMDAYuuQIAiCILxJREIPQRAEQShBIhALgiAIQgkSgVgQBEEQSpAIxIIgCIJQgkQgFgRBEIQSJAKx%0AIAiCIJQgEYgFQRAEoQSJQCwIgiAIJUgEYkEQBEEoQSIQC4IgCEIJEoFYEARBEEqQCMSCIAiCUIJE%0AIBYEQRCEEiQCsSAIgiCUIBGIBUEQBKEEiUAsCIIgCCVIBGJBEARBKEEiEAuCIAhCCRKBWBAEQRBK%0AkAjEgiAIglCCRCAWBEEQhBIkArEgCIIglCARiAVBEAShBIlALAiCIAglSARiQRAEQShBIhALZVJm%0AZia3b94gIiK8pLsiCILwQiIQC2XO8UV/c6pzGxzbtSChdVP2jn6L8IcPS7pbgiAIOhmWdAcEoSgF%0AbFxH09k/UFmhAKBmUhJeB/azPDaWnrsPYGAgrj0FQShdxLeSUKYkb9mUHYRz6n3uDIG7tpdAjwRB%0AEF5MBGKhTDF5Eqqz3EmSSL596xX3RhAE4eVEIBbKlHS3cjrLo2UyLKrVeMW9EQRBeDm9A/GlS5cY%0APXo0AI8ePWLEiBGMGjWK77//vtg6Jwj5ZTFoKA9MTLTKdzdtTsv+A0ugR4IgCC+mVyBeunQpM2bM%0AIDMzE4A5c+bw8ccfs2bNGtRqNYcPHy7WTgqCvloNG8nZL75hW42a3AMCLCxZ2aU7TRcuEQO1BEEo%0AlfT6ZqpUqRILFizI/vnatWs0a9YMgHbt2nH69Oni6Z0gFECHae/T4uhJQo6cwPzkWXqu24ybR+WS%0A7pYgCIJOek1f6tq1K6GhzwfBSJKU/d8WFhYkJSXpdTAnJ6t8du/NJM6T/l50rsqX93qFPSndxO+U%0AfsR50p84V0WnQPOIcz7iS0lJwdraWq/9oqL0C9hvMicnK3Ge9CTOlX7EedKPOE/6E+dKP/perBTo%0ApVmdOnU4e/YsAH5+fjRt2rQgzQiCIAjCG69Ad8Sff/4533zzDZmZmVStWhVvb++i7pcgCIIgvBFk%0AUs4XvsVMPMp4OfHIR3+l7VwpFAoCdm5HrczEs99ALC0tS7pLQOk7T6WVOE/6E+dKP/o+mha5pgWh%0ACARuWEfGvLn0vheMHDj4+1zSJ0+l3aQpJd01QRBKOTGxUhAK6d6N69h9+xUD7wVjBhgDvR8/pOac%0AWVzx9yvp7gmCUMqJQCwIhXR3zQq84mK1yuslJxG+ZUMJ9EgQhNeJCMTCG0+lUhVqf6O4uALVCYIg%0AgHhHLLyhJEni8B9zke/dhXlkJCnlyiMfMIj2705DJpPlqy1llaoo0f5jkgBFJY8i6rEgCGWVCMTC%0AG8nnh5n0WTgfu2eTBiLCeXLlEkcVCjp/+Gm+2moxaTJbdu1g2M3rGuW7K1eh8btTi6rLgiCUUSIQ%0AC2+c5OQkHHdsfR6En3JTKjHcuonMaR9gZGSkd3vWNrbU+G8Va375CctzZ5Cp1aQ0bkrVj/4PF/cK%0ARdLnmJhotn84nXK3b2KdkUlatWo4jJlAkz79iqR9QRBKjgjEwhvn7qWLNA4N0VlXI/guoaEheORz%0AkYgK1WtQYclKVCoVkiRhaFg0f1qSJHFwzo+ELlrAR4o0TJ9VhD7m8sXzXAARjAXhNScCsfBKXT1+%0AjLBVyzF7/IgMR0fM+w6k1bAR+W5HkiQOLVlCzNYdGKUkk1qjJo2mvI9rpUov3depQiUeWVrilpys%0AVffE3oFq9vb57s8zcrm8wPvq4r98CVXn/059tfp5EH6qQWIi11Yt57yBAbHbNmMcG0N6xYpUGTeR%0Aao1F2llBeF2IQCy8Mhf37MT+kw8YmWOqz2M/Xw6FPKLrp1/kq629X39Gn2VLcFSrswpO+LHDz5fM%0AFeuoUKPmC/ctX7ESe7za4XlgHzmHZamB0HbtaWJtk6++FKeMPbuIUqvpm0e9LOgCVacG4J2WmlVw%0AEvyPHuHqnwup16nLK+unIAgFJ6YvCa+EJElEL1lEs1zzbStkZGC7bjXJyfqny7t/8wYNNq57HoSf%0A6n/3Dtfn/65XGy1/ncd/HToRbGwMwDUzc/7r3oOOP+u3/6tiHB2NNaA9SzmLIjWF6s+C8FNtI8J5%0AsvCvYu+bIAhFQ9wRC69EYmIC5a5f01nXPuQxBw8doM2AwXq1dXffbkbksQa26ZVLerXh6OJKv007%0AuHr6JIHXrlCpaXM6eFTm5IL5GIc8JsPenrrjJ+FeuYpe7RWX9AoVaXvzOpuBYbnqFIBJZqbO/Zyv%0AXCIpKRErK/2WKBUEoeSIQCy8EsbGJqSYm0FCvFZdrIEBlo5O+jdmZIQK0PU2Vv30Dldf9Vp5Ua+V%0AF/evXuZSr64Mv3sHOVlzgH23bSVyztwiHQz1bI0VfecqO44cw/XAUzROTGQD0A2wB84ayDncqjWj%0AT/rr3C/D2BhDQ/1HfguCUHLEo2nhlTAzMyOqZWt0LfXl16gJDdu007utZiPHcNjVVatcBaS1aFWg%0A/t2aM4vBT4MwgAzoGBlOwu8/FzrzFkDovWB8Jr+Nv2cj/Js34MC743l066bObYOOHeHwx+9zdPo7%0AxIWFEvzj/zjfvAWuVlYst7XjmwaNSNi2h/FbdnGifkOdbUR7tsTMzKzQ/RYEofiJZRBLmbK8vFh0%0ARDin3h7DgDMB2APpwM7qNSj321/UbJm/AHpq1TKc5vxIq5gYZEAcsKlNO7qt2pDv5QeTkhIJ9mxE%0A15horbpw4OKGrTTr1DVfbeaUEB/Hub49tBJ+bK5Rk/rb9+Hg9PxpgM+s72i1eAHV0tMBSAHWPP1c%0AGRnpmJmZawTYK0cOkvrZR/R4/Bg5kAZsatCQxktX4+bhARTudyopMQH/Wd9jHnASuSKdtHr1qDL1%0Afao18yxQe6VZWf7bK2riXOlH32UQRSAuZcr6L7hKpSJg60bSb94AZxdajpmAubl5gdpKjQ/Hf/5C%0AjFKSMWrclNZDhhVo+lBCQjwPmzekc7x2XuhY4OSqDbT07lmgPgIc+Pknhv/2s9ajdDWw5r2P6PHN%0A9wAEX7mMSV9vGqdoTqtSAes++Bjvr7/T2X5sdDTnlv2LYUw0VK1G6zETMDV9PtmpoL9TKpWKnUP6%0AMemEn8ajs0PuFbBZtZ7K9Rrku83SrKz/7RUlca70I9YjfkMkJycTuHoFUmwMts2a07Rbj3znSn6V%0A5HI5XkPzP29Yl0rVq2M+84dCt2NjY0t4w8Zw/KhWnW/1GrQo5DQg4+C7Ot9nGwBm9+9l/3xvx1ZG%0ApGjPbZYDpmfP5Nm+vaMj3T77qlB91CVg2xYG5wrCAF1DHrN2ySIq/7mwyI8pCG8iEYhfY1ePHibu%0Aq08ZeO8exkCoXM729h3p/t9qLCwsSrp7r5UKH33KoeDbdA15nnEryMYG+ZT3MM7nALDclDZ5z0vO%0AsM4xqllS57kd6hfUFRPFpYs45FFnEnz3lfZFEMoyEYhfUxkZGUR89zXD7j2/oyqvUjHx6GHW/PAN%0APUvZfNicYqOiCJzzA2Znz2CgUpLWsAl1Pvr0pYk4ilPt1m14vGknq/9bjFnIY9IdHHEfNpLWLVuT%0AmZnJqXWrUZ0/i9rEBOe+A2jQtr3ebVccNpIL27fQJDFRo/yqhSVuQ97K/rlCzz7cWPovtRVpGttJ%0AQFoJZMpSWVujRveITqW1mBYlCEVFBOLXVOCObfS6eUOrXA6Y5zGlpTRIS0vj5Oi3GH/h3POsVnfv%0AsOVyECZbduLsVq7E+lahWnUqzPlVoyw1NZX9Y4Yxys+XZ0PAbm1cx4Ep0+n+5Uy92q3ZtDknvprJ%0AkwXz6fb4ETLgUHl3UiZPo73X89HitZp5snv4SOxWLcf16UhtJbCqWXPaffhJEXzC/GkybiIH167C%0A+0mYRnmUXI5Rtx6vvD+CUFaJQPyaUsTFkNfYYMPU1DxqSt7pFf8xPGcQfmrQnVusXvQ3Pb6fXSL9%0Ayov/vF+Z6Oer8YdSU6Egecki7vUdSJW69fRqp82Ed0geOpxtWzcjqdV4Dh6qM9lG7//9xmnPlqQd%0A9EGenk5G/QZ0fHdavkeCFwVHZ2ce/jCbbbN/oOf9e5gAJ+3suDtkOD3HTnjl/RGEskoE4tdUXe9e%0AnP7tF1rrGOmbWrtOCfRITzeuo2t2qwwwu3P7VffmpUzOBOj8I2manMy6bZt1BuLwRw+5uHghZg/v%0Ak2Fji/PAoTTq3AVLSys6vSSAyWQyWg8aCoOGFtEnKJym/QaS2tWbXZs3oExOom7vfvSq5FHS3RKE%0AMkUE4tdUuUoe7Bk4hNrLl2isq3vS2YXy70wpwZ69mNIq7zs7pZV+Q/1fqaePiCXQuouXqbUTfdy7%0AHETEpHGMvn8ve/ube3dz7P++pOO094u1qwUhSRLnfPaSGBiAytKSJmMm4OjsrLGNubk5HcUdsCAU%0AGxGIX2O95szlUCUPVId8ME6IJ61KVSpNeJe6rVqXdNfyVHX4aM5sWo9nQoJG+UMTE2z69C+hXuXt%0Agb0DWwATsubzZgA9gRBTM8r16K21/Z0/5jIqx5QkgFqpKdz/bzFJY8YVW+5ntVpN4O4dJN8Lxr5e%0AA5p06fbSaWwKhYI9b4+m39HDlFOpUAMHVy7j3swf8BySO7O1IAjFRQTi15hMJqPjlOkwZXpJd0Vv%0AVevV58SX37D/z9/p+iQMOeDn4EDI2Lfp1vvVL3CfkZFBwOYNpIeGYNewkcY87Osn/PEKPE3OyxoV%0AsASQD3mL/p4tNdpSq9VYBF3QeZwuIY/Zum0LncdOIOzhA64fO4K9hweN23cq9LzvkLt3CHp/Mn3O%0An8NRkggxNGRny9a0W7wce6e8c3gf+/knJh46wLOM1AaAd0Q4e2b/QGL3HliXouUgBaEsE4G4DLpx%0ANoCQbVuQZ6Rj1LxlgTNOvci9y0Hc/edvTG9cR2VhQUbb9nT65HOMjF6+0ECbCe+QMHAImzesRVIq%0AaTBwCHXKlS/S/unjXtAF7n40nb7XrmLF03nYXm3pvGQFNnb2hK5YwojYGI195EAvAwOu6hg1LJPJ%0AwED3eVYBkoEBuz6cRp19exgWH0eooSH7mzan7i9/UKkQ7/Uvf/V/jD93Nvtnd6WSiSf8WPn1Z/T6%0Ad3me+5mdOoGu/1veoSFsXrOSLlNL36N0QSiLRCAuYw79MpsGC+fT7unI6djVK9m4Yxu9V6zVSHtY%0AGPcuB5E4fhQjHz/KLlOcDWTl3TsMXLpSrzZsbO3oMrnk7uQlSeLm158z9trV7LLyKhXv+PmyauaX%0A9PxrMSbBwTr3raBWc+LCOeiuGYxlMhnJzZpDjvPyzD6PyqTfu8vwdat5ltDTXalkbOBpVnz6PhX3%0AHCrQnfG9WzdpFHBaq1wGlDvpT1JSYp5p9gzS0nSWGwJSKR55LwhljVh9qQy5d/0aNRb9Tb0cX6L2%0AwMSjh/CbX3QJPu4uWkDXXMHGFOh8YB+XT/gV2XGK0+VT/nS4eF6rXAbYnTxBeno6SltbnfsqAAMH%0AR511cWbmrAdyrhJ8Grjm5ISF71F0ZdX2Pn+Oswd88vkJnh7vSRhuCt0B1TExgcRcSURySqtbV2f5%0AJXMLKot5woLwyohAXIac+v0XmiVr5yo2AowDThXZcUxzrSL0TLX0dCL9jxe6/dTUVI4tXcThOT9y%0A7sA+imNdkviwMJyVSp11VklJpKcrkLp05wqQewXl3VWr0XLUWK39FAoFlU6eoA+wH9gNbAdcgDbB%0Ad5FHR+k8nqtaTeLD+wX6HDWbeXKmQiWddcE1auLq6pbnvjWmvo9PrqlICcDZ/gOp1kD38oqCIBQ9%0A8Wi6jDi2YD42+3bnvUEeQacglBa6pyApAamQiSeu+fkS9fnH9Au+iwlZ7223tW1P92WrsbTMesR6%0A++J5Hqxbg5UimRjnchhVq4GjmyuN2nbQeheemppK4OYNKFNTaNBvIC5P30U37NINf1c3uoU/0epD%0AeK1aJOzYisH2LSgM5ARKamIkCU/gbJ16uP0wW+eKUVFRkVQKC8ES6Jurzio2lm2160BEhNZ+QRaW%0AVPZqW5DThaWlJQlD3yL8z99xzfH/ONjUDMORY144NqBy/YbIVq5nzb8LMbt5g0wrK2SdutDn3WkF%0A6osgCAVToECsVCr5/PPPCQ0NxdDQkB9//JHKlSsXdd8EPSUmJmC9ZCHVlEqCgaq56iVA0bBxkR1P%0A2b4jaYGntRJz+JR3x3P0uIK3q1Ty5NuvGJ5jQYHyKhXv+B5l9Xff0PPXeZxatYzys75jZHzWfaoa%0A2EbWI/hj9Rvg9PkMGnbzBuDcts2k/fwTfZ9mhfKb/zsXho+mx8wfsLWzJ2LIMKIWzsdJ9Xw+8BVr%0Aa2LqNaDrt19TMyUlu1wCfq9WnWEHffNcBMLR0YmgcuVp9PCBVt11ewesR43j1k/fUzP1ebsZwNku%0A3ehfr37BThrQ9bOv8XNwRLlrB8ZRkaSXd8dq6HDaDB3+0n096tTFY96CAh9bEITCK1AgPn78OGq1%0Amg0bNnDq1Cn++OMP5s+fX9R9E/R0dutmBoeFYQisBhyAZ2831cCqho1p/UHR5Sru9OGnrL57m/b7%0A9lBToUAJ+LhXwPCb77GxtStwuwF7dtIjx+CpZwwAi5P+JCcnw19/0iw+XqNuMLAZGH7lMvs/+4jI%0ABg2RJAn5zK8YGPn8DrR9TAxPFv3NyRo18Ro2ku4zvsPX1RXV3t0Yx8SgqFgJp1FjcVi1TCMIQ9a7%0A41H3gjl7YB8t+vTn3tUr3FmxFNPQENKdnHAfPoo6rdoQ170naf8u1LhIUQJ3O3Wm76TJBFpZcX7t%0ASmzv3SPFxobUjp3pMfPHAp8zyBok1n7iZJg4WaM8PPwJarUaJ6dahWpfEITiVaBA7OHhgUqlQpIk%0AkpKS9JqyIhSfmLho9gO1gZHAISCNrCB11dqaIRu3Y2tvX2THMzQ0ZMCiZVwPPM0F36PIrKzwHF34%0AZBVp0VHkNXPVKDWZwB1bGZDHu1QTsi46uoeFsm7ZEmQyGBGp/RjYTalEsW8PDBuJTCajw6QpMEkz%0AE5nfHN1rHLuo1STeuM4VCwvkH0xjVER4dl2Qzz4CvvuJbt/NYpNKicv+PdQMC+OeoxMPO3el6y9/%0AANBi2EgYNpL09HSMjIwwMCj6YRo3T5/i0a9zqHruLIaSmi3Nm2M/7SPqF3JdZUEQikeBArGFhQUh%0AISF4e3sTHx/P4sWLi7pfgh5SUlI48v5kPI8doSFwA1gL9AOehcT4Lt5FGoRzqtOiFXVatCqy9hr0%0A6I3/rz/TLtfcXYDU2nWRo51mMieJrHm+RjFRYGSS57ZGubJ65Zbh5Aw6VraKB8wqeRA+/w9G5AjC%0AAI3i47mz6G+kIcPoOedXkr6ayY0rl0mMCKdu7TqYmWk+yDcxMXlhHwoqMvwJCe9NZuSjB9llzfz9%0AOXrnLo+27KJiMS81qVarycjIwMTEpNCJSgThjSEVwJw5c6Tff/9dkiRJCg8Pl7p16yalp6cXpCmh%0AENaNHi0pQZJy/KMCaQ1IGSBtbNhQCgkOLulu6kWtVktnDx2SfmzVStoNGp/rjJOTdH7fPik5OVna%0A5+Gh8Xmf/bPp6b/TQdr5v/9JB5culeJ1bCeBtHnixBf25fC//0qhxsZa+61r1kwKCQmRTllaShJI%0A90HaAtIOkLaDtByko7t3S2q1Wtr62WfSgQoVpGiQLpuZSWu7dZNC7t4t9vO49bPPJHUen3vr9OnF%0AdtyUlBRpw+TJ0vbq1aUDTk7S5rZtJf81a4r8OGq1Wgr08ZF2fvmltGP2bCk2JqbIjyEIr1qB7oht%0AbGwwNMza1crKCqVSiVqtful+UVFJBTncG8XJyUqv85SQEI+jzwFyj4k1AFyNjVnyzlR6fPx/GFvq%0A115JSkpM4PCk8XQ96ceMjAxigH8srTB2dsGiTl3cx0+iTrM2pKaqUUyeTtBP39MoKeszqYE9QNOn%0AbW2tXZeWQ8dgamrKxpbLmBRwSuPO+EDFiniMmZR9TpISEzgx/w9Mgy4gGRqiat2WDlOmc/zeI8zX%0Ar6Xlw/tEmppyoXkL6v70C8nJmaTL5YQA14FBOdpWAfO+/obwgPN0+/VXHJ7+TTikpVH/4EGWjxxN%0Ar10+xXqnqAp+kOeTAHXwg2L7Xdg+ZhgTfPY9f8QWFcXVi0H4pClp2m9gkRwjIyOD3e+Mw/vwQTwz%0AMlABPgsWIp/5A00HDC50+/r+7QniXOkrr2Q6uRUoEI8dO5avvvqKkSNHolQq+eSTT4osa5Ogn6jI%0ASCpGReqsq56Rgaxnn+zpPqWd39efMfHY4exJ7Q7A9OQk5tnaYFG3Hk41amRv22bCO9yo14B1G9ah%0AfHCXRw8eUi8+njtmZpxq7kntL2dmr93baeU6Vv34LRaBAcgy0lHUb0DV6R9SqVZtAC6e8Ofqe+/w%0AYWho9rEVRw+z4vwZBixfi2LydC6eCcDW1ZWetZ6noDzbzJPoI4fI/dUvB8ZfDuKfhITsIJyT97kz%0AnDvoQ/PuxZcsI93ZWedKUc/qisO1gFN08D2q9WVSLzmJK2tXQREF4qNzZzNh3x6ejVmXA71CQ9g9%0A6zuSunQrtgU1BKG4FSgQm5ubM2/evKLui5AP5d0rEFS5CjVzrfQDcNXdndq1Xo+RsgqFAscT/joz%0Ay/QOCSHl558IW76U2598jtf4iQDU9mxJbc+W2VflCQnxyOWGNMkxhzk9PZ2za1ZhFhWFulo11C1b%0A03HiZIyMjMjMzGTPe5NR79rOB0qlxrFNgUE++zi9cxutBgymaYdOWv2q/uU3XDl1AnSkiLQHLPJI%0A3OGmUnHszi2t1JiFpVAoCNyykczYGKxbt+HIjm10eRKmsc0pRyeqFGJq2YuEnQmkg0Khs87kfsES%0Alehi6u+Hrolj3o8fsXXNKjq/RoufCEJOIqHHa8rMzIzEvgOIm/+7xnrEiUB07/6vzd1wamoKNkm6%0A0zC6AYFAl8gIjv/8E6EdO1PeQ3u+uo2NZirKjIwM9owZxvhjR3g2JCpt/15WnPSn/4p1HP11DmO2%0AbeYAaD3aB3CSJFJP+EEejzurNGjE7VZecPSwVp0EJNvaQIp2hrNgY2NcGjXR2aY+bp87w4PVyzF5%0AEk66szPuI0ejTlMQ/c0X9LpzG3Oy0lMebNKUJ65utLx0EbkkEdS4MWaT36NZg0YFPvaLmLu7E0vW%0ARUhuyiIcKJhXbmwjQJ0sHpMKry8RiF9j3b6ayX4jI4z27sYpLJQoVzfSe/Si+xczSrprerOzs+di%0A1eqgI+9zAPAsbLWLjWHd2lWU//rbl7Z5YvkSxuYIwgBmwMiDPhzauA7jY0cwJev9cl7UeSTteMa8%0AZx+ifY/imOsR9HEHB8qNf4cHc2fjkZ7+vD3gaJv29G/T7qX91+XC7p3YfPYRI2Ois8tOHdhPsIkJ%0Ao3NM02qYmkL1E35s//RznvzyOyqliv7d2hMTk6Kr2SLRst9A9v7zN6MvXdQoTwSURXj3n1arNty4%0AplV+1cycSl26FdlxBOFVE4H4NSaTyej62VeoPvmc5OQkallaFflyh8VNJpOR0qkLVy9dpF6OoBYN%0AxAHP0oPIAHmqnsHkbKBW1i/ImtKVedIf46cDvYyBJCD3s4ObpqaUe8l7zbajx7H75nXqbVpP88RE%0AVMDBcuXI/PRL+owai7+5GWfWraHy3TtE29gQ3rY9nebMBbJWfvL771+Ue3ZiFB1NesWKOIwYTZM8%0A1mOWJIm4hfPpniMIQ9aAvSE6tjcHjI4dpfZnXwMUy1zlnORyOTV/n8/Kzz+hy8XzuKlU+Ds4ENyn%0AP70+/LTIjlN96nscOn+Wro8eZpelAKd692VA46Z57ygIpZwIxGWAXC7Xejz7ukhNTcV8724S1Gq2%0AkhUcM4FYsu6odpOVmcoEsPDUb86yOo81gQFC79zCrrw7BN/Fm6xMZF2BZ6shXzEx4eKkKfRo2fqF%0Ax5DJZPSePZcHY99m3d5dyExNaT5idHZmsbYTJ6MaP4mIiHBqWdvQLMf764Ozf6Dr3/NweZZa8/ZN%0Argae5kxqKp460lI+evSQ2rnuNiHrPOU1RNIwj8f9xaVy/YZ47D3EhWNH8Hv8kPpdulOnvHuRHqNK%0Aw8bcW7aaNYv/wfzWDTItLVF16Ezf9z4s0uMIwqsmArFQogJWL2fAzes6A8o2oM/T/75pYEDQfd3r%0AAyuVSmQyGeEP7nPl73mEnD+r851lOND0UhChFpYcNzWlvULBWLKWKQwArlWtRse/FtGjmafe/feo%0AWQuPmroHxsnlcsqVK69RlpgQj+Pm9c+D8FP1kpK4suI/pCHDtKY3mZiYkGJkrLVwRyXgFqArRUdq%0A9Ro6SouXTCajaTFn76rSoBFVFogEQkLZIgLxGygxMYHAZUuQR4QjVaxEq7Fv61xN6FWQHj/K+64u%0Ax3/XUqt5sGIpiRMmYW2dlQjz9vnznP3mOyyDzhOjUmOcksLolGTUZN3pdgdcn+4fBhwBRgGylGR8%0AgT9r16WrA0+GAAAgAElEQVRCehpKK2vS23di4udfF3u61svHjtI1LExnnfutG8TFxWJv76BR7urq%0AxsHmLWjpd0yjvCHwg709n8fGarwPP+nsQsWJmmk7BUEovUQgfsPcCjhNxEdTGRIcjBFZi9xv27iO%0AGouWZc+vLYw7ly7yYPNG5OkKTFq0onHPPgSsXo7swnlUxibY9OxFM+9e2Xd9sgoVUaD7EWvuhRu7%0AhIWxZftWOo+dQERoCI+GDWPk3ayVmrbyPLmGATAG8Ccr73YKUB9oTtb6wEZkPdZVm5vR9vjpQn/m%0A/LAt50akkRGWmZladYlW1lQy031BVOWrb9ga+ph+wXcxJCt5yJ5KlfH6dR4b/Xwx9TuGYVISqTVq%0AUWHSFOp4tSneDyIIQpGRSVIxrLqeB5GJ5eWKM2ONJEkc7NOdUWcCtOoWeLZkyO4Dhcr6dGTer9Sc%0A/weNn04liQb+srPjo7i47NWgHhkZcWT8RHrP+hmAtLQ0Tnh3YkSu0bDXgVSgWY6yVGDfX4to/9YI%0AfGZ+yahFC7ITV+xCew3gZ3YC5cgK7DnfMgfK5UTNW0CLt0YU9CPnmyRJ7O/rzdhAzQsACVg56C16%0A/bMkz30T4uM489+/GIaGkOniSrOJk7F30Lx7Djp8gMjNGzGOiSa9QgWqjZtIyy7txN+eHkS2KP2J%0Ac6UffTNriUBcyhTnL/ity5dw6tGJmjruxnyBG42aUO/72dRq9eKBSro8vHMbZY9OtEzUHCSUAewD%0A+ucou2ZmTszWndRu1gKA+9eucuuHb6gRGIBNWir+1jZUT4inQ65jbKtaDU/f05iYmOA7ZjhDfPZm%0A1+3IdYxnJGAdWYO9dM0KXl7endZH/LUeBxen+1cucevDafS7chlrIEwuZ08rLzouXVWoBTr8ly6m%0A9k/fUzvHHGY/F1csVyynQlOvIuh52SaCi/7EudKPvoG4eOc1CKWKIjlJ5yNRyJra0zvoAhEfTyO5%0AAMkRbm3aoBWEAZ2ZkOqmpRKye1f2z5Xr1sN743ZMT50j1i8Qz0PHedigIc9yNUnAMScnTD/9InvV%0Aokw7zXWPDcl6BJ2br4MD1xo0wiOPfncMDeGIVzMO5rH0YXGoXL8hnX2OcfjPhaz79AsuLV9D/627%0ACxWEFQoFBv8t0gjCAO0iwrk/d25huywIQjES74jfIHWat+B0jVoMun1Tq+4+0BhwDQ5my7KldHn/%0Ao3y1baDMyLNO18NuXWXlypUnMSGe0//8jbF7Rf6Wy5HZ2eNSuy71xk6gXo6sWm5Dh3Ntz07qPp0T%0A3IOsJSA9gVpkBe8jTs4k/9+X9G/fgVSv5lqjjiHrXXH7mBgc/pqHfzl32o6doP+HLgQjIyPaDh9V%0AZO1dPHqY9sG6R5U7nT9PfHwctrZ2OusFQShZIhC/QYyMjJC//Q7Xf5hJnRx3ThfJeocqI2sgkyzi%0ASb7bdunSjbtLF1MtRzYpyAqIucPfTVNTyvXqQ24Rjx9xaexwhl+9kp168qaZOUEtW2ultqzn1Zag%0An37i3q+/0e3RQ1SAZZWqHOndl4syAyQTExqOGouzqxsAB9u0A9+jWscMIuuRtUypJGPPTnhFgbio%0AmViYkyqTaaQ7fSbDxARDw+IdDS4IQsGJQPyG8Ro/kaDy7vh8/jHVQ0PIAKrzfBBTKmBQuarGPjER%0AEZyZ9ytml4OQDA3JaNmKdh/+n8Zi9/W92rGt/yAcN67LHpglAf+gOYgqTC7n5PDR9PVsqdW3C7/9%0AjzFXr2iU1UpLJWzJP0QNH42Ti4tGXdf33uNBnyHs2LkNuaEhLfoOyHMVsCpfzGDr44f0Dw5GTlbK%0AyUNABeAgkA4khIbkfeJe4NyuHcRt2YBpZCRpbuVwHj6KRt28C9RWQTVq24Ej9Rsy4nKQVt0FNzei%0ARgzGNCwMhYsLhn360f7dacW6HKMgCPoTg7VKmVc1COLaCX8sJo6heWyMRvnq+g3puO9w9rvY+NhY%0AAob2Y9TlS9mPk5XA0o6d6bd2c/a61ABqtZrFb4+mwd7dGJD12LcFWXedauCBqSke8/+hZb+BOoOA%0Ab9sWDLl1Q6tcDWyY+QNdp2tmUHrRuUpIiCclJQVXV7fsFI/xcbFs/fQDKu/eiRFgSdaFR3eypk/5%0AGxpyd8wEes+Zq3eQ8l+6iHqzvqdGjvSbV62teTDrZ1oMG6lXG0XlytFDKD79AO+QEAzIurj4zdmF%0AkfFxVMp4/uogUi7n0Aef0O01ykn+KogBSPoT50o/YrCW8EJ127Ql5pffWefZggBzC47YO7DKuxf1%0AFi/LDsIAAQvmMzJHEIasxyhvHTvC6c0bNNo0MDCg8wefUs3cnL5kzet1B3qTdVfs1KgJrfoPKtid%0AmJ77RIaFsnfCKB60bEJmy8Yc79GJgHWrAbC1s2f8kpUktm5DR7IuKPqTtSCEDGinVNJ/+RJ8lyzS%0A61gZGRlIK5ZpBGGAeomJpPy3GLWONYmLU/1OXans48v6jz9j4+jxbJ7xLdVs7TSCMICzSoX1lo2k%0ApBTfQhCCIOhPBOI3WNO+A+iy+yCWgRepGHCBHqvW416tusY2ptcu6/wlsQMyzwZqlddo1JjTHTtr%0AvRe+a2qG5UsGJ6U1baaz/JiTM42HaOdgzk2lUhEwaRzj9uyiS0w0zRQKhl68QJUZX3Bx324g62Kh%0A/dJVzKtXH13r9dhLEqpDPi89FsCtS0E01zHwDaD2tas8yrE4wavi6OxMty9m0Om3P6nZdyC1793V%0AuV2zRw+5E3ThFfdOEARdRCB+w8lkMlxcXPMcUas21bWOURZVHu9juy9cytqxE9juUZmjtnZsaNyU%0Aa7Pm0PIlgbjpZ1+xun5DjSB+zdyc6MnTsHNw4OSWjRz+eRYnt25ClStXM0DA9i3013FxUDc5iZh1%0Aa7J/tnN0pHbHLnkOkDBOTHhhP5+xsLUlPo9zkGhmhoWFpc66V8XW1paIPBYDCbWwxKGIF2UQBKFg%0AxGAt4YUMO3clZv8eHHINJbhsbkGFgboW4QMzMzN6zp1HZmYmaWmp1LOy1utxtHO58njt2MvGxQsx%0AunUDpZUVroOGUqucO/t7d6Xf+XPYAzHArqWL6bZpA8ZWTtn7p92+RV5pOYxzDcSybNyEMLJGi+f2%0A6AWrN+VUpXoNfJq3oIH/ca26ey1bU9PJScder46trR0n2rRD2rlNa7rYlVZe9M41El0QhJIhArHw%0AQm1HjWX7xfO03bKRmoqsFBuB1tYET55O15esUmRkZISRkU2+jmdlZU23T7/QKNs7Ygjjz5/L/tkB%0AGH/+LOs/+IAuy9Y9P557BZLJGoSVW4aTs8bP5nb2bJPJmCJJ5Ay7/oBBRt5zonMzGjSUuZcvUT0h%0AHhVQFzjToBH1v5+tdxvFqc3/fmN1ahLtjh/HIyODULmcA54t8fz5t5LumiAIT4lALLyQTCaj3+9/%0AcX3YSM777EWSG1FzyFt0raFr8b2i9yQslJqnT+qs8zh+nIiIcFxcstZYajVsJNtXLGV0rilQj01M%0AsBgwSKMs/OJ5xksS28iaO/1slHctoGJ8vF59O712FTW+n8GwhKztJWCXnT0Vvv1R6117SbF1cGD0%0AgQMc2bqb01cuYVu9Fr27dRdTlwShFBGBWNBLHc+W1NEx97e4xcfGUD5X2sZnHJOSiIyNzQ7ExsbG%0A1PprEatmfEGzs4E4ZmQQULkKacNH0ynX+2nbatVJMjBgiI6RzVf1eKSckZGBcuF8muQI2jKgX1ws%0Aaxf8Sb227fPxKYuXTCajYfuO0L5jSXdFEAQdRCAWSrWqNWpxukYtquoYnXy9Xj2a57rz9KhbH4/t%0Ae7lz9QoPoyJo1NJLI/HIM82692RvM0/G51qJKlYmQ9KR9Su380cO0eHObZ11LhcvkJiYkL1usiAI%0AwouIUdNCqWZsbIw0cgz3c41OvmdqitnEiRgZ6U7dWL1efZp17KIzCEPWXWLjPxeyol0HrpqaEg8c%0AcCvHninv0SlX4hBd5EaGaI/bzqI2MMhOIiIIgvAy4o5YKPU6TJlOgIMDAVs3YfzkCRlublgNHkbv%0AqRMLld2nfNVqlN+yiztXr+D3+BF1WrWmiZ4LIzTp0Bnf2nUZkmsdZYDIps1pbKlfRh1BEASR4rKU%0AEanj9FfS5+r8zm2Yff0Z7SIjkQEqYEfVargvXkaVBo1KrF+5lfR5el2I86Q/ca70o2+KS3FHLOjt%0A4c0b3Fy8ANM7t1FaWWHYrQftxr39xo7AbdpvII/q1GPdqmUYx8SQXrEinpOmYuegezZzZmYm+zee%0A4MmlDAwtlXQeVR+PqhULfHxJkji+P4CQ64nYu5vQbXAbjdzfgiC8HsQdcSlTWq80710OIm7CGLwf%0APcguizEwYOe4ifT5368l0qfiOldqtZr09HRMTU2L7CIjMTGR38fsx/rUUEyxRkIiyu4kzb5OoPeY%0AdvluLyY6lr8mHcIioBcWKjcUJBDfYBej/mxAjbpVNLZ1crIiIiKB7cuO8MBXhSpNjm3tdPpNb4GL%0Aa8kmHSlNCvP7lJGRwf71J4gJzsTMSaLP+DZYWpZsZrXiVFq/p0obfe+IRSAuZUrrL/jBd8YzcsdW%0ArfJAGxsM9x+lYgnMmy3qc5WRkcHhH2diceQQlvHxxFfywHT4KLzGjC9024u+2IVy2XAMco2PDC+3%0An49962FrqzsVZV7+eHcHxttHIcuVMyu29Rpm7OinUebkZMVXw5chbRiEKVkjuSUkImtvZvLaJri5%0Aay4vqYskSfjuC+Dm4QSQoGo7S7r0b12mBqUV9Pcp9OETFk06hX3QYEywREkGUVV2M+iPCjRqVbsY%0AelrySuv3VGkjVl8SipTZ1cs6yz0TEri5Z9cr7k3x2P/hNIYtXsjgu3fwjo5i2PmzNJjxOadWryh0%0A2xGBplpBGMA5rBsH1gXo2CNvycnJxJ5y0grCALKzzbkapLmUZKB/EGnb22QHYQAZMlxuDGXH/DMv%0APZ4kSfz54RbOTayHtHYI0rohXJ7SjF/f1Z3z+0XtBB6/yNo/fDiwxS9f+5Zm678/g1vQOEye5nQz%0AxBi3e4PY+cMdXuF9jvAaE4FY0Isqx9KIOWUCBhYWr7YzxeDhnds0OLif3J+yikJB6oa1OveJjohg%0A/3cz8B39FoemTuK8z94821dn6n7ELcOAzPT8fVmnpqZikKz7Dto004WosFiNsrN7H2KbXkPn9rFX%0AdC9akdPRXafI2NgDC9XzzNzmkhOGO4eyd62fXn2Oj49n1vCNHBtZgYQ5Q7g6tTXfe+/m9rV7eu1f%0AWiUnJ5EQ6KyzzjioNRfP6L6AFYScChyI//33X4YNG8agQYPYulX7kaVQtqS28tI5b9anYqWXrqr0%0AOrjl70vzxESdddYP7pORK/90yN07XB3Uh9EL5zPkwH5GbNlIjUnjOPSLdo7pgG2bKZf8P+zoSAYT%0ASSIouy7GJpA2fevmq69OTk4Y1nyksy6xwmmat2ugUWZgJCGhO9gbGL18zeRbR5KwVLtplZtiwwP/%0AF+flPrT5NLP77+P9BuuxO/o21hlZC02YYYfrpdFs+OLya33XqFCkI1PovhA1VtmSEKs7K5wg5FSg%0AQHzmzBkuXrzIhg0bWL16NU+ePCnqfgmlTLuvvmVJ+45EPx28pAYOurhi+MU3ZWJQinO1GjzKIzlI%0Aqp29VuKQa7//wpDbNzUeDldJT8dtxX9ERYRnlx2aO4eGH0xlRthZ3seXn/iPtvQlET9S5RG4DL+b%0A75HTMpmMZmOtibfQfASdahhO1SFJWOaaw9xrfDOi7LTzdavIpFzr3CtHa5NUeQ9YU7/g6fKhrac5%0A+1kFLE8NwF5RV+ejeaMLbbgQ8PreNTo4OGBSN0RnXWJlf1p2aPKKeyS8jgoUiE+cOEGNGjWYOnUq%0AU6ZMoWNHkcO2rLO0tGTAxu2c/Oc/NrwzlfWffE75Q8dpPnhonvtIkkRoaAiRkZGvsKcF07Bte47q%0AWE1KAaR17qY1etos6ILOdtpHRxG0ZSMA8XGxOK5eQcX0dI1t+vEYW+ePqPPHOd75vm+B+ttjuBet%0A/wwjuctGImvuINFrE9VmnWH0595a21aq4k7d96OItnn+PjhVFkV8l2UM+6jLS49VycuYNOK0yjNJ%0Ao7xn3kH67JpYbFNqoyQNY51rYoF5phsRj2Ne2ofSSiaT4TXJiVj7cxrlSab3qTtGlWdmN0HIqUCT%0ADuPi4ggLC2Px4sU8fvyYKVOm4OPjU9R9E0oZAwMDWg8cDAMHv3TboH27iVown5pXLpFiZMSF5i2o%0A8dXMUpXoIieZTEbj3/9i+Sfv0/FsIBUzMzljY8vV7j3pOeNbre0lue41iyVA9rTu3M7tDA3X/bSo%0AgcETWgzxKtT0qA59PemgZxwfMq0LdzoF47dpI+pUOQ1bWtK53zC9Rj33eKsdlw9sRL5/FMZkPYbN%0AREF8h9VMmTBI5z6SJJFy3xRbwARrUonWuV2sy0ladGqo34copTr0aY6V3VX8V28gLcQEE8cMmg2w%0Ao3P/l1/kCAIUMBDb2tpStWpVDA0NqVy5MiYmJsTGxmJvb//C/fQdyv2me93P0/WAAGw++4iuz+6E%0AFQq8jh5m25NQagcEYG1tXWTHKspz5eTUmIYn/Lhw/DhXb92iYZcutKxaVee2UhsvpFs3tcYtHy1X%0Ajh7TJ2NrZ4VjOSfS0L0+MmamODtbv7LpP05OVjg5NaJ1u4JdCM3d9TbrFx7g3vFMUMuo2tqAEe+P%0AxSSPQXwAZk4ShGWN0DbHiShu4kSt7HqFLI5qI2KpWasTKSkpmJubl/h0qIL+PnkPaIX3gFaoVCoO%0AbPcnJjyJ9LQk3CuWe/nOgEqlYtdaXx6cTcHIUkWfd5pTqbJ7gfryqrzu31OlSYHmEfv6+rJ69Wr+%0A++8/IiIiGDNmDD4+Pi+9uhfzzl6uLMzPO/jBFEau1x5pnAls/vIbun70f0VynJI8V9ER4QSOHsbw%0AoAvZI63PW1vz4POvaTdpCpA1L/lUJy+G3L6lsa8ErBoyjJ4L/n0lfS2p8/Tfj7tJ/msARmQ9nn3M%0AaZIIQzJOo1xDE6p6GyCXG3B9eyaZIXbIHRKo2C2TcV/3QJ7HE4fiVNjzFHT6BttnBGN9pTum2BFt%0AfxKn/veYMqf/C78bk5OT+W3cHiz9BmGGfdYcbwc/WsxIpefINgXuT3EqC99Tr0Kxprjs0KED586d%0AY/DgwUiSxLfffvvGpjkUtJmEheksNwLkIY9fbWeKiaOLKx137GPrf4uR37pJppUVld8aSbtGjbO3%0AMTY2xubLb9j/1Wd0fxKGAZAMbGrajFYzfyixvr8qY7/swd+RG4jyqYNjgif2BpUxaXKXEXOzsn9t%0A/OsQD2a1xEn5dER2DCTdTmFR0lamzR1Qsp3PJ4VCwdbP7uN2a3h2mVNsGxTL67LJ/TBvTe+a577r%0A5hzDwe/t7MFsMmS4xLTn9C/7aN0rPt/JXoTXT4ET03766adF2Q+hDEl31D2vUgVkOr88i9Prwtzc%0AnK7vffTCbRr36kt0sxasX7EEo7g4DGrVofuI0RgbG7+iXpYcQ0NDPvxrMA/uPuSc7xZcKtrRpms/%0AZDIZKpWKm1uk50H4KWMsiNxXgYtDgji/N4TMRCMcakKfse1K9cAnnw0ncbilvY61qWRH8AEVTM97%0A3/BAExx1JXt50g2fddsYNrVHUXZVKIVEhnihyLkNH8WlQ/tpmGte7p5KHjSfOLmEelVyHF1c6Pb5%0AjJLuRonxqFYJj2qVNMqio6NRP9T9DtQ6qgn/DFtLw+QpyJDxhDTmbN/ItJXtSm1u7OQoJcaY66zL%0AjNc9Le4ZdYbup4lyDFEqCt014TUgMmsJRa5+u/Y8/H4Om2vX5TFwy9CQtc09sf1jAfZ5rEwkvB5u%0AXLrNkq/38c+HB9ix4ohWohN92djYIDlE6ayL5Q4Vk7tnp/A0wgyXi2PZNPt0gftdGGq1mqBzl7l8%0A4Spqte4EKFWaOJJo9FBnnWWVF0dT+3q6z2G09Vla9aqls04oW0QgFopFq5GjaXPEn9u7DxDlc4yu%0Aew5Rp03bku6WUAhbFh5hywADMpe8hbRuMPc/68LsodtJSsr/oB1TU1OcO8ShQjOhiIREFNexR3O0%0AugwZkWdf/aNp311n+LH7Afb1Kseeni7M8vbhxP7zWtu16tSEzHYHUOfKPxdrd4624yq88Bi93qtL%0AVJU9GmVpBtE4DblJ1ZqVC/8hhFJPrL5UyojRiPoT50o/8THRbJkfgCrFCNcGRvQc3lYrU9jLhIdF%0A8E/nEFxiOmiUq1Fj9M563p2V/8QkaWlpLHh/L6lHG2Cf1JgE09uEu+/G/e4YrNAeSxBWcTuzzhXf%0A3Nzcv0+3rt5l49BUHKO9NLaLcvFl7A4nrYxoKSkprPjuMOEnzFAlG2FTO402E1zx8n55dq2H90LY%0At+giibfNMLRUUr2bCX1Gdyi1g2DF355+inXUtCAIpY9arcZ332kiHyZRy7MCjZrXZfcqPy7Otscx%0ANms07z2SmLVlIx+v9sbGxuYlLT53eMMFnGOGaJUbYEDU2bznEr+ImZkZny4ZzL3bD7gUuI0OdSvi%0AWmEIf3W8ilWkdiB2aJSuo5Xic3TVTRyjh2uVO0a059DyDUyapRmILSwsmDa3H5IkoVar8zUFq1IV%0Ad6b8UrrnDQvFRwRiQSgDgm88YNXHF7G64I255Mw+01vs8lpD2lU3KsS2yt7OBCucAiawfvYGJv+s%0APco3L2olOpddBJCUhXvDVaWGB1VqeGT/XH3cWUL/fIBVelaZhERU5X0Me79moY6TXxnRJuh6biBD%0AhiIq74sPmUxWIvOghdeXCMSC8JpIS0tj6yJfIs8bgAG4t4I6DcwJXbOSgwcrUjVpbva2toqaqI9U%0A4xqbyf2G0gADIs7k7y62Ze/qbFx0EYfkxlp1Do0KP7Q3MiKabb8HEHXRBJnMgPS228DYHnmaNZZV%0A0nn73cZU8Chf6OPkh5lbOplIWhcgEhLmbq/27lxfqampnD56AQtrUzzbNCnxTGWCfkQgFoTXgEKh%0A4OeRO3E4MQ7Tp/dpYT6p+MnforLqIQ7M0trHADlGmKMiE3mue7u8pszkpUadajiN2EHyf26Yq1yB%0ArIAUUXsTkz9sXsBPlSUhIYG/R57A5fIoHJ4GPQmJSM/lfLmlLaamL14zOTU1lY1/HCU80AhJLcOh%0AYTqDP/LCwfHFKXdfptuEBqzcewSnMM330pEVfJg8qVmh2n5GqVRyYMsJnlxRYGyjpsc4T5ycHQvU%0A1paFR7iyQo7Ng/ZkypLwabiPXl9Xonn7+kXSV6H4iEAslFlqtZr9B9aRqriHgVyFpLShaePeVK5c%0Ao6S7prfT69eQsnkDymu3qBZXhYekYMsHANxiFw6q7wghkip46NzfCDMySdMKxAV53/ruj/040MCf%0AmwdSUKbIsa2VwXtTW+HkXLgpaTv+OYHz5REad54yZNifGc6u5XsZOqV7nvtmZmYyd8xO7P0mYPP0%0A60x5RmLemVV8uqVzvt6D5+ZRtSI9/0zg8LyNKC5UBpka06YP6P9JZdzKuxa43Wfi4+KZN/4AVqcG%0AYYYdCtT8tfYgnX68T4e++bu48d0TSPDP9XFJyxptbipZYxU0nF2f7KT6YZGdq7QTgVgos9Zv/BWv%0AjirMLZ4vu3Dm1ErU0iiqVqldgj3Tj//SRTT+YSaVFc8e/UYQzhl+Jopo2lGVrpjjQDKRPOY0HrTT%0AaiPDJRhldD1QZS20ISERVXUXY97P/12STCbDe2g7vHOtfBnyKIzDq4NQphjg3ticrgO98vWONO6G%0AMcZob2+EGVFXX3znvm+9P9Z+w5Hn+CqTIcPl0ii2/7OZcV/00rsfujRvX5/m7evz5EkYBgYGuLjU%0ALVR7Oa358ThOp97OvgAxwADXJ94cnbOdlt0UL30SkNPFbTFYpWmPKHd51Js9/21l1CciO1dpJgKx%0AUCZdv3GZKjWTMLew0yj3bO3A8UN7S30gVqlUqNatzhGEs7iiwpN1bKEu5mTdiVrizAOOoSARU56v%0AbJVgfoueX3hgbX+TM5v8USbLsa6ewaTJTSlfUTO1ZEHtW3uCwFlmOMcMRYaMq0QTuHETn67si4WF%0AhV5tyM1VedeZKfOsAwg7n4kJ2lNEDJATezV/U7RexM1Nv1WU8iMy0AxXHQPgHIK9ObTtAH1GdNa7%0ArYwYY3S99TdAjiJaDBwr7UQgFsqku8HnadneTmedTK69yH1p8+RJGNXu3tFZ15kHrEezrg5DuM0e%0A1CiRDGJxb21FsxH2dB3shZOTFV499JvzmZ6eTkREOI6OTpib607Z+Ex8fDwBc8E1x9xicxwx9Xub%0Atf/byDs/6jcqu15PG87seoxVpuawsnizG9RqCIv+by9pEUaYl8ugy/i6GkkuDExzp9BAo640Uyt0%0AB0hDTElNzF/GMjN33QPmMkjFtaoYsFXaiUAslElyuTFKpQpDQ+0vu/D7ScybcBD7mkr6TfbS+z3i%0A48cPuHI1EDtbJ1q06FCsI1JtbGy4a20DCu0v2EeYIaH5zs8AA2rRl1SisZu+krdnvJWv46nValbO%0A3seDvebIHlVC7XIOl86xTJzVI881hw+sDcA5bKBWuQFywk/rPyq7Q++W+Pb4h9s+llTK6IIDNYiy%0APYVhh7NcneOJY3RrTMhaNGTNPl+6/ZFAq85Z6yo37+/O/g3XsUuro9FmqkEUtTvr/2i3JNjWSwMd%0Ai5FFOfgzqN/Lk4Dk1H5cVXb5nsYhqpVGeWyDrUwZLR5Ll3biUkkok9q07kXgKe1cxpkZSiJ2N8F4%0AzyASfxvMbwOPEx4W+cK2VCoV6zf+yu1H/9LUKwQ7t1Os3zyDO3evFVf3sbKyJtSrLbrS3m2hJnKs%0AucZWjXI1KuJbb2Lcl2/n+3gr5+wnbn4PXIL74ZzZCNeQXqhWvsWi/9uT5z7K9Kygq4u+o7LDHofz%0A46BtmO1/i6YZ01AZpnKt+myG7TRBdb8cjtGtNbZ3Cu/AkXmhPEsI2KRVfSpMvUK01bnsbeJMb2I8%0AcrdERvEAACAASURBVA89h7XXqw8lpdu0akS7H9EoSzUMx31YKK5u+VulrGHz2nT6I5P4Nht4YuPL%0AE2cfUnuv4Z2lnnleSAmlh0hxWcqI1HH6e9m5OnnKh5iEY3i2dsLAwICwx4lsnyXH4fCPGD59oyYh%0AIRu9gam/9c6znR27l9LIMxpzc82lCw/tj2LYoFnFlrwhPjaWY++Op/upE1TKzOQJMpbTijhWYkk1%0A4rjPEy6glimxrabEo5OMkV900no3q+s8KZVKfDb5E303A1MHFZdXg/s97bvoCIfjTD3mjour9tKW%0Awbfus66HSufcYuWQ9by/IO9z+sxPb23D7thYjTIVSuJ6LETu0xM7qZrWPpEmF3j7lAkVKjzPbHX3%0A5j1ObLmJpJbRuEdFGjXP/6Cqkvjbu3U1mENLb5AcbIqhjZJaPczoNaJdoVJbxsfHYWRkrPc7+oIQ%0A31P6ESkuhTeeV2tvYmKac8p/N6f3HsdgtykmGbVQEIclWdNPZMiIOv/iO4b0zPuYm2tP0fFsbcmp%0AU4do29a7QP2TJImMjAyMjY11fvHa2tvTf9MOgo4d5eSVSwScicP60BwsyVr8wI7K2FGZuA4r+Xqj%0A9iPivDwJieCfSf7Ynh+IKTYkoCCWLZhwAyc0B7FZxdTn1uVzOgNx1ZqVsR+yjbSVFTBTP5/7Glll%0AN6On13tpP25evYP6dFOtcjmGpF50x1SWiq5HAhIqrYufarWqUG1GlZces7SpWa8qNedVffmG+WBr%0Aq3tshFB6iUAslGl2dnaoDp9j+q7dNMzMQA3s4W+OMRNbpmZt9JKbD7mB7oEzNjZm3E6OLlC/tv97%0AjCtb00gPscLIMZXK3iqGfdwZnw0nCb+ciaGlko4j61KlhgeNO3WGTp3pkJnJwk82EnWgOnZxzUgy%0AvQetzvD2H23ydex13wbg+v/snXdgFNe1h7/ZqlXvEkKFpgKidyEBQvQOBmywAdfYxLHj5CV+yYsd%0AO3HixHYc23HiEndjeu+igyREFU1ICJCQUO+9bZ15f8hIrHdVANHs/f5Cd2bu3B1259x77jm/c/rJ%0A5r+V2NGfxaSwFk/CzPJ565wv0yMs0Fo3ADz/1ly29T5Mxn4dhho5zqFanlw2iKCeTbrJkiRhMBgQ%0ARZF9mxJpqNYTOX0A/oF+5GUV4ai1XpFLVdsFXd9jkNzf4ph6WAZ+fu2vtm3YeFCwGWIbP2rivvqM%0ABauWN4c2yYBZFGPHa+xhEk70xGtI2xKNosm6e+lqeiU9uk+86TGt/2g/WX8bjqfhe8nGUqhIq+O5%0AVe8woPhl1DhhAr5bc5TB/xfHzCea9jqVSiUvfTiPvJwCzh7dRY8wf8IHtr8SliSJgzuOkpFQi1HS%0AkhmvxZrj1o+hFJOMLwOaPjciDtGX8A+c32rfgiAw+4lx8IR5u9Fo5Js3d5N7QElDoZJqXTEO2gB6%0AMZsvPkiky8OnGLMwjD12CXTXTrPoV94jn8m/C2Pfb/fhVTgBAaFJyStgF3N/a33lq9VqWf7mPgoS%0AVJjqFTiHaol5thtDxnRe7q8NG3cCmyG28aNGOrAfa5pCEylnF59RPLAvL75sKYRxI0GBUVy9EkfP%0AkJboaoPBRHqamqWP3ZwwhslkInWDCW+DuW6yGkc8i6Mx0bL69qocxan3dxM1uxI3txZ3o3+gH/6B%0Abee16vV6Dh3eSkNjEQlfNuB78hc4ik25w56kcJFN9MHciGtwJ8c5FseaLjS4pOMYnc6y91pXtWqL%0Aj367FVY9gg8tNYQruUYWB+lROZ7az0N5d/snqLQh6KhDTYvoSrXsGn0fVhI5cTBB2wvY8+VaGkuU%0AqH20hHiZSNrWyPlD15iwZGDzc5Akifd+tgWnPU/iff21lg2x544i/zyNgRH3d964jZ82NkNs477j%0AQkoSOTlpODi4ERU5BYXi1r+m8vp6q+0C4Db0AkvX/RpHR0er51xnxLAYjp0wcXBPIkpVLUajApnk%0AzyPzf3nT4ykrK4Us667eLgymmGQzhSzvwonsXbOJR37e8X3okpIiYve9z9gJbhxcXUPg8bdQ0RK4%0A40NfZCgoIhlfWly/NUFHeG3zeHIzLhAUHIBfV0u3cEfIyymgKjYErxuMMIAb3SjkDHmcokbMQVnQ%0ACzlKTvIfPAhGgR166qjgMlMGNKlE+Qf68fSf/aipqeG9pbE4H12AHS7okfh85WFG/jGLqYsiORl3%0ADvmhiWYKWwDuJaM4+MVqmyG2cV9jM8Q27hsaGxtZt/EdwgeIDBvtQm1tLms3HmHY4MWEBLcf/GO1%0Az9594HiiRXuxIDDouYXtGuHrRIyYSMSIiZhMJmQy2S1HtTo7uyC6X4YGy2PVZOOE+UpXQIZRd3OJ%0ADYfilzNlpjeCIFB03B9XLKNnvQgjjS3NhrhOnU3vxQb8/f3x97+9urhJcRfwqJxr9ZgKB0QM9GFe%0Ac5ueBtLYRBhzkCHnkriN4xtyGTSyxduw8s3DeB59Ctn3GZcCAj5l4zj2jx2MnlnLlZMlOOmtezbq%0Armqsttuwcb9gyyO2cd+wM/ZzJk63J7BbkwvYycmOidO8OXl6JaJ4aypJA5//JZuDzevYGoBNMRMY%0AMXPOTfcnl8tvK7VEo9HgNbYCE5bSjSWk4IF5uk6Zy3GiZnd8EmIymZArS5vHKBlan2uLQVepHLSF%0AhonrGPR+Ggtfurn97vLycjIzMzAYDGbtQSFdqFVds3pNPaX4M8KsTYU9XvShiqZrJESMtebjLjlu%0A12yEb8QrbzKxq46icRUwYr2QhcLJYLXdho37BduK2MZ9gSRJiEI+CoWlkMHQkQ6cOHGYiIiYm+7X%0ANygI0/LVrPjP+2iSkxHVarQRUcx4+ff3rFbr029O5j81y9EfGoJbXX9qVJnU9d+LU6k9UnZL/dt6%0ARSFdHs0kqPusDvctiiIyWcukxaVvLmKCaGHE6mXFPPTHcMbPirzp8ZcUl/Ht/yVQeyQQebUXUuhh%0A+i6UMf/5Jm3kgcP7sWPYZkg0T8sxoqeWfKsiIH4M5hLbMKLFhQDcQjPMjpv01v+vZCgwNIrM+dlY%0A/v7VLrpkmq/EtdSQln+ctZ+amPPkBJu4hY37EpshtnFfYDKZUCisC/y7uWvITLNUyeooXXv2ouv7%0AH93y9Z2Nvb09//vlAi6nZnDhxAYi+vgxeORiCnKL2PHpGqqvqFA4meg31ZEpCzpuhKEpstqobwns%0Amvqshi+PvY3fud81G2M9DZimbWXcjJuTwYSmCdMnyw7hmfgkDgg0UknZpRrOvilh75LAtMdGIwgC%0Aj783gm9+/S2qU9E4GQIpVJ4g1+4ADg3eWBOHbqSSOgoBcO1fzZxnzQseuPfXwlXL68pcjjNzdj/s%0A7e2Z8Tdvdry2Do8r01HhQC5HKeMKI/L+QeFrjbz+3Qae+mwgIeEPXr6xjR83NmWt+4yfsmLNuo1/%0AJnqSZapQ8tlS+vR6Hj8/86IAP+Vn1RYpKUnklWxm8LAmEZLaGi1r364mc3svZCYHHAYU8taGF5pX%0Ah6IosuWrg1yLNyLqZLj30zHvhTG4uFpqcB/Ze4qjj4dib/LlIhuxxwMfBlBNNoXuB3g7/mE8v69P%0ALEkSJ4+cJTe9hMFRYfQI6cbnr2+n8ZP5KDBXKTsp/xC3QCU9I5yZ/78j8fUzFxC5kpLJqqfz8M5q%0AKWvYIC/G6Zl9PPeX2c1tVVVV/GbUCmrLDPRnMe6YG92qMSv4w4bZWMP2feo4tmfVMTqqrGUzxPcZ%0AP+Uv+IlTBzAKcQSHtiQc1dfpOHHEjoULfm1x/k/5WbVHxtU0zifvoSArk8aLgdQfH4FPSVO+rp56%0A7Jdt5dk3ZiJJEv/8xTpkG5qikaEpf7hk4Hf8avU43D3MVZpWfrCb6r8tII3N9GCiWdqRhETV+G95%0AZfU8WkOv1/PB81sw7IvArbEPWmqo6rOLeW/1ZMDIsDY/07WMXHb99xy16XYonEyETrGUg9y+aj8X%0AfjWEGnIJxNLtXmp3jqWHZHTv2d3imO371HFsz6pj2CQubTxwjBg2nqQkOXH7jiDIahBFNRpVTx6e%0At/ReD+2Bo1fP3ri5evPhq5n4lMZwY2y4CgfyY51p+H0DZ49dxLh1Is60rH5lyPA5t5TN/17D038y%0AV7DqGuJCvlAAkmBmhKEpkpnEEaSevUT4IOtGVaVS8b9fPMyF02mkJG7AxUfNxIcmoVS2Xzu4W68A%0Anv9HQJvnGA0mDDSgxnpFLaXWnaqKHOhcVUkbNm4LmyG2cV8xdGg0Q4dG3+th/Ci4euka9qXW82fl%0Aed0oLi4i7VApzoZxlHCRGnLxph/O+CEgUHZeZXHd2Kkj2TdkFeqkYKv9umhDuHJhU6uG+Dr9hvSm%0A35DOz+2d8FAEp98/Q1WBAR8so811wUmED2hSKquqqiQvp4Cg7gE4OTl3+lhs2OgotvQlGzbuIVqt%0Alpqa6jvSd/eQIBrcr1g9ZuySjbe3D7WN1SSzEgEZ3YimmmySWYUJAzKl5a6VIAj8/ONx1DtmWu23%0A0vE8/UeEWj0GTfvGCXtO8sUfdvPFq7tITrp4ax/uBnQ6HRkZ6VRWVuDk5MzAZ02g1FHKJbPzqtXp%0A9F8qx2Qy8a8XN/F+ZDpbJ/jwj9HJfPz7LRiNLcGCoiiyY+VhPnx2Dx88tYd1H+9Bp7OeHnUdrVbL%0AycTTpF/KaPM8GzZ+iG1FbMPGPeD82bMs/+NhhCthqEUPHMJLiXrWhzHTh3baPby8PHGNicO0IdJM%0AccqIDp8JFTg4OFCSaqA/jzUfCyACXwZxkY1ERlifp/t38yP6fzzI+WsxDmJLupkJI3Yx5+kZal2b%0A2mQy8c/n18P2qTgam0RDtn+XStLPtvPUqzNv+vNJksSq9/ZyZaMCeUYYRo9MXEYf5um3Y/APy2LL%0Ahzu4kL4XleSEV285EYt9GT83hvd/sRHF+sX4XH8mBd0xfNXIh85bWPKHyS375hvno6Fpj7xwh5a3%0ADi3nd9/Nxc7OzmIs6z7aT+oKGZqrwzCoy5EP38b8N/raIrRtdAibIbbxo0eSJFJTz9HQUMuAASPu%0AeS7plm1fcugflYRc/lNLpaNjEH85CY3TBYaNuTn96rZY9s9pfK1ZR/EuP+zKe6H1voTn5AKefXMG%0A55NScUodb3GNEjtk9o3MWzbdSo9QmF8ECgP1076l9kpPZNndMXkU4TW2jF/83bKAw3W2fn0I5eaF%0AqGkJYHFrDKfwMzmnY5IZMurmJDU3fHqAwn+Oxsf4/WSgPAxpi8RHtV/zyuoFjIyxrJNcUlxK9YEe%0ALXrUzZ9ZQ+ZWexp/3cix/Wdh88xmI9x03A63uMfZ/Nl2Fv3SXH97z/pEst4ahI+uW1ODzg8S+vHd%0Aiyv5425/VCpLF78NGzdyW67p8vJyoqOjycrK6qzx2LDRqaSmnmbNhj+il23B2TuOHXv+xIGDG+7Z%0AeM6cOUbBlQsEXv6VWblBAPeKoRxZnt2p99NoNLy+/FFeTOjG5O1Z/PpICC/+cy5KpZJrl/Jx1vWy%0Aep2rKgCTyTyvW5IkPn11K5+NL6HstYdx2fFzTIKeIe9m8fvEwfzyX3Oxt7dvdSzX4o1mRvg6btow%0ATm/Lu+nPlrZFj73RXABGQEBIjOTcqVSr12SkZWFf0cr+da4/paUlXDlcg4Poa3FYgZrCU5aXnd9Y%0AjdN1I3wD7imziV1zpN3PYcPGLRtio9HI66+/btVNY8PG/UBVVSVpGesYP8Ud/wAX3D0cGD3OCxfP%0AFE4lxd2TMV3LPYlU6Wm22rqRhtw783vy9PRg8IiBZkXjB0b2psLFimUBCqvT+filvVRXtexfb/7y%0AIPVfTMGrIhIBATVOdL28iJPvypGk9iVIRX3r0qBlhdUsfyeWNR/FUlVV1X5fooi2wLqGtKs2lPSz%0AuVaP9erdnXqPNOudBubh5eXddnlqKwd1pdY9LGocqcq1yWvaaJ9bNsRvv/02ixYtwtvbu/2Tbdjo%0AAHq9nt1717Fl+/ts3vYBR48d4HbS3BOObGXUGE+L9sDuzlzLPXE7Q71lZDIjGq+GVnWRlR56q+2S%0AJHE8LomtK/ZSUlzWKWMJ6h6AJiYVI+b3rCEfO8mdku2BvDr/Sz54JpZ/LtrH4Y8K0IiWz9M7ezo7%0AvrUsrPFDPAcYEa3IatVTQt5+O+refZjSPz/EP8edZ9/64232JZPJUPtaf4bVqgx69rNeJtLbxwvX%0A8VmYMDeQehroObsBjUZD70lu1CksV+gGGvGPsOxT42d9HI1U4t3LtlCx0T63tEe8adMmPDw8iIyM%0A5NNPP+3wdR1Nbv6p81N8To2NjXzy2WuMmWCPRqMCJIqLEtm24zLPPPW7Vq9r7Vnp9XqyriXTaKzH%0A2cWOQUMCzYQf7OyM9+Q5uzgH0HdeI1+t+Rb/zGfNjtUqsol8zNtiXCln0vnyhSQUJ8egMflw3vso%0AQQtP8ZsPFnS4AEVrn7VvtDdbN29AhSN2uNJAGSoc6MsjnOITQpKfQpV8PXd3m9U+5CiR6+zafZ7P%0A/Wk6rx5dhduJx5rlNg1oSWMLgw3PfN+Xgi75Mzjy5l4mLdDj6eXRan+DF2q4cqEcjdhyjoSELPoo%0Ak2e1nnv+2rcLeddhA4W7vVEUdsMYkEH3OdW8+M5DKBQKHnpsPBcPr6Dm64k4fu+i1lKDaeYGnv2/%0AJRY5zxOXdSP26CWca81d3o0jd/LYzxchl1tqa/8Y+Cm+p+4Ut6SstXjx4uYXwKVLl+jevTuffPIJ%0AHh6t/2jApqzVEX5MijW1tTUcO34AjcaRURExbb6Qtm3/iqFR5SgU5ufkXKtGKU1nQP/hFte09qyu%0ApKdw+twKIsa4Ym+voqysjsS4DKLHh+Di2rSHGbdPZMFDv73NT3jz1NfXs3HLX/D3UXPwra44pTyM%0AWvQg120L4UtFnnrFXH7RaDTyxuRd+F54zKxdK1TS9dVDPPKiecWkM2cTyciMQ6aoRTSpcNQEs3TJ%0AMsrK6gBoaGhAqVQ2G5Nv39xD/b/mY8KInjrUODcbyQusph+Lmvu+yEaz8oXXqZMVMvSLZGJmjGr3%0A89fU1LDxw3hKzymRKSTSr16mb/bvkGNu3EREXH+/gcX/M7XVviRJ4pu/7SJrswN2OQPQOefiEJXB%0AU/8Y26YBv051dRUF+UUEBHbF0dHJ7PskSRKHdhzj0v4aJKNAQISKaQtHt1obe9fKIyR9W4d4MRjR%0AoQqniFwefWMEXQO7tDuOB5Ef03vqTnLXJC6XLFnCG2+8QffulpJxP8T2H9c+99MX3GQysSv2O7SG%0ATASZAUl0oXfwePr2Hdbutbtil2MklSHDPWho0HPmZD3BPWYweJD1aj8bt73J6HHW9/yOxdkze8Yy%0Ai3Zrz0qSJFate5WJ0zws2mN3pDBtZj8uXqjEy3Uu4X0Gt/s57gQVFeUcjFuNRBFZaVVoa514fNmz%0ABAVZ/oZi18WR9sLoZvlJs36GrePVnS2G6lTSYbTiQUJ7t0iE1tbquHjWFXflSBI+K6Iu1QU0WjxH%0A1rD4z6M5HXeRC8+PwB5Lw/VDw1tCKjpqCKDFPysiUj72S15b98gtlYd8c/J+3M5ar11s/+J6nvjj%0AlHb7qK+vJ/3SVXy7euPraxlk1VFu97cniiJ5ebk4Ojri7t7+ROBB5n56T93P3DWJy9upzWrj/mbN%0Aun8SGSNib9/yYr9wfiumZBMD+o9s9bojiXvo2uMaXfyaIlpdVArGTbLnSNxWugWFtfKSams+2PG5%0A4vnkU4QPsJRLFAQBlVrJnh1lhAVPumdGGMDd3YP5c19o+sO6DWqmskBr1QgDGCrM02Iys+MYN8nV%0ArM3JSY1CncWOF8MIKH+Y6/pR0gaJf+d+xSsb53D0m61oTj5pFsVdwGmc8Tfry5twijjPWcf/4O3i%0Aj9zeiM8oLb95fYbV94AkScTvPkFuahVe3eyZMDfSwiviEqqFs5afrVaZQ/+RlpMpURQt+nBwcGDg%0AkJtLfboTyGQyAgOD7vUwbDyA3LYhXr58eWeMw8Z9RmbmZQJ71mBv727W3m+AO3H7DrZpiItKzxLS%0A39GiPSLKmyMJ25g180mLY3KhC0ZjhYVrOjenmkD/9l2e16mqKqNbmPUAGVdXZyIG/xY3N3erx+9H%0Aeg7y4pAqE2e9pTCEQ1BLkJDRaEShrAEr6UGDh/sQrzJX76pVZmESi/j6q9foNs+VbMePqD0egKLR%0AjUrpGkbHctyMPUBr3pcP/fGdn8LP345pcxJeWlLOx88exP7EVBxMXSimgqOfb+OJfw+he0hg83lT%0AloWz8thuvLJbVr5G9JjG7yZywkIAqquqWf6nQxQfc0BsUOAa3kj0c/4MH3fvja8NG52BTdDjLpOV%0AlUldXTVhYX07JHR/r0i7dIpho60bLEHWdnqJTK4HLEUM5HIZgsx6hOnEmIWs2/hXJkxzRa1uei5l%0AZfVcuuDMYwtbjH5NTTUJiduRJD2hIQPp1XOQmUEYPCiSw0fjGRlpGc1fW2Vvlr7zIDB8zCD2jVmL%0AuL9b894tQJVTKqMe82r+Wy6XYzRa34OvrGhE3tByboXrcXr93yrGzXNHEJqeU0rIFVjmRkivYLRa%0ABzw9vTi04Twpb5/Eo7ppf76CTDK9V9IjJZR/PLKHoLEC85dNsLr3v/yVBDyPtqyyNbijObuUVX/4%0Ajlc2tBjiXn26s/ArkT2frKHyohqFxoRflJHnfvsQgiAgiiLvP7kbr8Sn8bu+Yi+GvSlHUX2exsCI%0AjulVS5LEhk8PkLHbiK5cgWM3AxFLfIicfO88IzZsXMdmiO8SVzMvcSJpNf7d9Dg7K9mycx3uzkMY%0AH2NdDvBeo7ZzoqEhD3t7S4Mqim1/bUSD5WoYoKFeh50q0OoxBwcHFj38OgcPb0KnLwBJhqf7MB59%0ApEXF6FTSIXIKY4mI8kKhkFOYv53lK7az8OHfN6tlOTu7IBl6UVZWhKdni7hExpUqArpG3XdbKYWF%0AeRw7sRVBVoMkqgnwH8qwoWOajwuCwK8+m8HXr62kIMEJah3QhFQw4gl3omeONDtPEP0wmYzI5eZZ%0AibFrC/CtntT8t/3UzcTMb3L7Zl6u4sqZRnoNsCOv+Dhju0xvNqxzn4mmT0QG8WvWUFlUT9lxOUOL%0A/wgl34/9cD3vXVjNy58+Yna/mppqqo760sVK0q14ciBX0tIJ6d1SNCK0X09CP7ZeDunA1mM4Hp1t%0AKX5SMorD36zusCH+/PXt1H42BZfrEdZXIO7EefTvnmTcbMtAQBs27iY2Q3wX0Gq1nEj6mglTW1SA%0A/LpCzrVUTpx0Z8TwmHs4OuuMjpzC5h1HiZlkrlxk0BtRyNouRdev70TOn1nLgMEtK2pJkog/UM3C%0ABbNavc7Ozo5pUx61eqy+vp7s/FjGxLQE43Tp6oSnl5Fdsd8wd85zze2zZjzNwUObST2XgiDTIZkc%0A6RE0kSEjR1vtW6/XIwjCXfdQXM1MI/niciJjPBGEpolEbvZBYnfnMHXK4ubzHB0defG9ORiNRnQ6%0AHfb29lYnFNOn/oz1m95m4DA5fl2daGjQcyyhCl+PKPKURTgY/KijmPBJtdTVyvnuZQHhyKO4Nw7h%0AgOYcDYPX4usZx5gxLd/H0PBehP6lF5/87w5CiheZ3U+FA9odMZxKOMew0QOb2+vq6pDXWg9WUmt9%0AKC1KJqQd+1lVWcXGfx8haWse/STrAVt1WR3L0S0rLSd/Uxd8RPMxuVYP4PjX6xg3u5ULbdi4S9gM%0A8V0gLn47kdGWLtHAbk7E7z/BCO6uIW5sbORi2nlcXdzp2TPE6jlqtZrewXM5tG8TEaM9sLNTknOt%0AmovnFTyy4KU2+w8N6YdWW8/hvftQ21djNAoYdV5MnvDSLevuJiTuJCLKUkxCqVJglMzFFwRBYHzM%0AQ8BDbfaZdukcF1J3oVRXIEoCJr0nEcMfJiCg/QyAzuDM+W2MneBl1hYQ5ExBXgpVVZUWbnSFQtFq%0A+gw0eRUeX/xnzpw5xqmEdNQqJ+bNmkHXrh68W7aWzNVuaAr7IokSa16T8Nj312Z3t0fjYNwTB7FX%0A8YGZIb5OZYoaV4tWcNb3IOXgaYbdMMfx9e2CELIXki3dvvVBJxg4vO2o+/KyCv71aDze5x5DxS5M%0AGCzSmwBUbh1TrTqyOwnPkjlWj9VddqWhoaFNaU4bNu40NkN8F9Abqr4XqbBEJtdabb9TxO5eQYM+%0AhbBwDUWVeo6tkTNqxGJ6dLc0yAP6jyQkeAAJCTvQG+oJDBzN0sXtpy5dv3ZA/5E0NjaiUChue7Vp%0ANDSiVFn/ugqym5cRzMu7RnrWWqIneQEtKkz7Yj9httsfcXS8s2IFkiQhCKVm977O0JGeHDu+l6lT%0AHrG8sB0EQWDIkFGAeYDb47+fRtWyKuJ2HuPK1XoajkzH9QfCegIC8vODKS0txcvLfIIgU1uXsJSQ%0AkKnMj8lkMgYvtSf1tXScG1pc0PXKQno9rMXBwaHNz7Dxw0R8zi1GQKAbY0knljDMPSkN8mJCp3Rs%0ARezl58oVWQmOouWzFhwbbEUZbNxzbPWI7wIatQcN9daDlETx7s3E4+J34BOQgVJVR9zBy1xIzkah%0AKuJw4lusWf8OxcWFFtdoNBomTVrAjOlP0L9fx4zwD6/vDJdvSPBQ0i9XWD0mmm4+AOtE0g5GRnlZ%0AtEdP8OJw3Kab7u86RUUFHDy0gytXLIsOnDt/gh07lxMXvwuTyYQoWd+vNhlF5PLOd5O7uroy+7FJ%0A9A6dhKrCuidEVRVEYV6RRXvXSJNVWc5StyPEPDrAon3m0jEMfS+LunHrKA7eTE3kOkLfPM2Sl9vP%0AC65MtmveE1bjhAsBpLIBLdWIiBR7HcJ12UFmPRHdbl8Ao2KG0zDooEW7iIhPZG2bXgYbNu4Gtm/g%0AXWDMmBms23SSSdPNI3kzM6rpHjDhro0jNW0/ji41hIT6YDCYGB0dbHZ8z44PmDf79U5300mSxNFj%0ABygtbxLb9/Xuy4jh0TcVOBUSEs6p1c509ddh79Aisn/6ZDn9wx++6THJZHVYi+xWKuUYpfaLMUGP%0AeAAAIABJREFUDvwQg8HAhk3/wsOnjLC+bhTknWDFahkTY5bh4ODEhs3v0H+IjOFjnKmpyWXNxnj0%0AWusruqNHSpgx6YWbHkNHiY6exJGARMi1NMa6gBR6BA+xaH/klxN498K3KPfOwMHkh4REqetR+v26%0AgoCggRbnA0x4KIIJbe8OWEVQmutRd2EQ7gRzgVUoB6fxl29fxNun43WbBUFg/l97s/Y3q3C/OBM1%0ATtQqctFH7eGlNyyVuyoqKtiz8gQmncDwab0I6WO9QpUNG52FzRDfBVQqFWMjn2N/7Ao8fepwdJST%0Amy3QxWskI0dbDyDqbEwmE5KsginTB7Jv90UmTLaMlome6M6huE1Mn7rYSg+3hiiKfLfq7wyLFAnu%0A1+SSLCqMZ9WaJB5d+Nt2jXF9fT37D67FJJWgtpPYtKYc/0BH5HIjSoUnYSGLCAnue9PjkiQ11oRC%0AJEkCsf16xaIoErt7JQ26qwgyHfl55fTuZ8/AQU1R4T16udGjF+zd8SkqpQtTZjkjkzU5oJydNbi4%0AFpJ6oYTN69XY26vwC3ClX/+unD2dQ8blGjSzrauMdQYajYZe83RU/qsCO6kloE5LFYGzanF0tIx6%0AV6lU/N83C4nffYL0xCPI1SJPPNaPbj06P5fXL0KiIk6HAjWNVJLMShzxwY2e1J5R88bcjTzxVhRD%0Ax3T8/73vkBBC9nZjz7pDVBXqGDDIk1HjH7b4/u1cnsCJd+V4F81Dhpx1n5zDbd4mnn977n0XcW/j%0Ax8NtS1zeDDZJNCgpKaG+vo6goG7NL+YbuVPScfHxsXTpcQYXFw2H9l9i3ATrNVmPxyuZNf3FTrvv%0AgYNbCQpNwdnZ3LCUldZRWTSKyFGtewTq6+tZv+lNJs1waxb6aKjXcXifkaWPvYKPj8tNPav6+nqO%0AnziIWmWHWm2HqNxP957mqlVnk0rp3fNZAgPbDthas/59hkc24ujUsqq9mFKASZTo179rc9u1rCpO%0AHivk4UdbJj6HD1ymd3gXfHydm9vSUgo4eTKbmAmhaDRqqksiiRjZOUF8rUqBvreH9B1gKnRD5lNJ%0Az+kSS16eYmZwiotK2LP8NMYGgeAId6ImDbvjBkmv1/OPpzei2jOHVNYzjOfN0peKSKbcI5HXDk3C%0Ax7fzqr/V11bxzvBMfMrHmrU3CuX0fOsIc568/7Ib7hU2icuOcdckLm3cHE1lI+9+6cjaugrCXJqM%0AodHUSuCNJCGaOndvsqYuw8IIA3h6OXIlNRVo3RAfOLjWzAgD2DuoGRFl5Oix/cydM4/a2hri4rdg%0AkmoQJHtGR82xqpy1Z98atIZzDBrmRl5eJQcO5KBS2RN3KJ2YCd3x9HLk1LFqunaJadMI19XVsSt2%0AHZXV57DTmK/I+vT1Y29sqpkh9g9wIu5AevPfDQ165HKZmREG6N3Xj7y8KvwD3BAEgatp2a2O4VZJ%0ASTnNlYwEBJkOk8mB0Qums+jXQc1Rwz+cGMauSuTY3xT4lCxAQODYZ3nEj1/Db794qDlv+06gUqn4%0Av28f4cM/fUvvTxdY5BD70p/y8ivs+vwUT/5xeqfdd8fnSXiXz0FEJIcEdNQgQ0E3aRwZB/RgKQhn%0Aw0anYDPEDzCNjY3s2v01IvkIgglRdGNA32mEhvSzOLdP72FcuvgtYX088PJyIjengoBAc4OVfLac%0AQQPaET++aUTAuuJTe8XkjVIxCoXlC9/D04HLKZdJu5RC7L4PiJnkh1Ipx2TSciDubXr3epjw8JZ9%0AzmPHDuDqnUL3Ht5cSiuisqKeJ58dgiAISJJEYnweKWc9eXThb9qMoN29dzVawzlGRrujbQzm0P7L%0A+Pq5mBlelUrxfUR0k/FIu1iJs1NL7vPFlAL6D/K36BvA28eJ8vJ67NQKHBwsU7Vuh/iE7Qh2J4ka%0A7wYoAT2njn9Obe08s2d1nfKyco69JeBb0jJRcjT6Y9zzBKv+uZEn/zCjU8f3Q2QyGe6aLtRhvXqR%0AHBUNxZ27MjfWy2mkgstsJ4QZOOCJgUausAP7/NJOvZcNGzdii5p+QJEkiTXr/05EdD1jJ3gwZrw3%0A0ROVXM1ZQ8bVixbnd+8eQm6mM1qtgYGDA7iaUcrxxExMJhGdzkDCoWI08iiCgiw1jW8HtaorOp1l%0AelFdrRYnh7bdv1IrUcVNB2WsWvsXJk8PQKlsMvRyuYwxMT4kX9zC9R2X1NQkjp36mu493JEkieys%0AciIiezYbSkEQiBobgJ19RZvR3SdOHsLL7zKjxvhgZ6fE1c2eiVP6UFPdSEV5ffN5RqPY3LdBb6Q4%0A14W+vSeRmVHNxZQCzpzKoaqi3uo96uv12GuUHEuoYXRk+9HFHeFiRjp/X7WKKzl7CQ0zjy4fNtKT%0Ai5djrV63Z+UpvIssvRUKVBQk3p35u3MXJXoarB4TMWDfRd+p9+s+3JEr7GAgj+NA00RIiYZw5lNf%0AInKndvEkSeJ4XBJbV+yluNhm8H+K2AzxA8rxE4cYHqm0KJIwdIQHZ89bf7k+suA3nDnuweF95chw%0AobLUle3rdKSdDWbqhNeJiprW6eMcP24e+3bWoNcZm9u0WgOH9+mIHtv2qkqjDqKx0fJlm5tTzdWM%0APMLCre+/dA8WSU+/hE6n48Kl9fgHNgWJFRZUE9TNun52UE+RjIwrrY4lt+AUAUHOFu0RkT04ezoH%0AAKPRRM61es4kFRF/sJjEQ3b4dx1ISfkVjh8tJ+lkNg89PIjEhKsW/UiSREF+NUfjGhg57PHbTvkS%0ARZFX1nzHCxVFfCczMnaMj9XzHJxrqKmptmg3NoKsFU+GqfHuFLqfuiiKgm7rLdrrKEHrdo0ZP2u9%0A8MitMGHuCOzUGgtXOEBg+SxOJVopE3WbXErO4I0ZW4lfGEzO/8zm45gcPvnDljtm9G3cn9hc0w8o%0AZeWZ9Ay3LowgU9RYbVcoFMyZ+cydHJYFarWaRx/5IwcObkBnzAME7FQBLHl0Qbv5m5MmLGDFqr8R%0AMdaIm3tTSlVuTjVX0zxxcL6GnZ3169VqOTpdIwkJOxkZ5UZifDkAoihBK4FGMhmIosnqsabjeqz9%0AXGQyGTKZQF5uDcmn4cWff45er8PBwZGNWz7CzfcEYQMdiaQHtbV+rFp+kuiYEHbvTGFsTAgajYrK%0Ainr27MxnUL8niIoaf8vBUHq9npXv7iU/XklpcQOZ/VQYnlMjyBXojda3AUwmyWrQ4IAJAez4+BJu%0AWsugPrfwuyNCo1arWfJxON+8+F88r07FHm+yOEhd19M8/5+JeHl3rvveYDDgbOeJlXRp7ERPyovP%0Ader9jEYjq/7nIr7JS5rbfEqj0X5Zxdou+1j44qQ2rm6irLSc8yfS8O/uQ2h4cLvn27g/sRniBxQB%0AJSaTaCHwDyC1U5ThbmNnZ8f0aa2nROXmXuPc+UOAwOBBMXTt2pQCpFAoWLr4VRIT95KWnA6SQEDX%0AyTw8fxQbtr5Cbk4xYX0s9xBPnyzhycUDyM65gL29itAwH5JOXmPw0EC2bDxHWG/L4vFZ6QKPzGtd%0AAFk0OtK0322OVmsg75ojoT2m8sSSEUCT1GRS0hF696/Bx7dl1e7kZMcTz0Rw7EgmMRPCiN2RQkVF%0APUWF1fzmpa/x929bw7s93lu2CfsdS3FHjTsQmg8pyXu58G8vtp6u5ZnJlmlJjbWuVlXEBgwN58Cs%0A9ejWdUV9Q2nFkh47WfILyxiEO0W/oaG8ezSEk/GnuXhhNz8b14/w8F81H88pLODr40fIlMtQSxJD%0AFGqemTLdakWo9nBxcUETVgonLI9V+MURObFzKzXt33wUl2RLL5RacuXqbhHaSF4wmUz89w/bKd7Z%0AFZeSSI5pspFFbObJd0fRxd+698PG/cv99ca20WFGRcwg/ujbjBptblRqa3U4aB4cAYIt27/AyT2T%0A4WOaBPkvnPuEs+dCmTH9CaBpxTl69BTAfM9UEl3w9mkgJTmfvjcES11KK0IlhCCXy+kW1JfsrK0E%0AdfegplbLZx8nEN7Xj6ST1xg6vFvzNefPlNOr28Q2V6IDB0zm7KkVDBpmXjggbn85zy97E43GPDI8%0Ar+Aco8ZZGji1WonRKLJ7VyqhfXwJ6+1LZUU9W3f+hUnjXyK4V3hHHpsFJ+PPwt4JKDAPbutbMInc%0A5V8TtySSoJPHmDDMG0EQMJlEjhwqZfCgJ1rt81cfzmNd2G5y4poCmVxCtTz+8wFm9YTvBoIgMGLs%0AUEaMHUpOVh6fvbKDxkI1BvtKDoeVUff4guZzLzU2cnn1t/zzsSdv2rMgCAIRT3tw7PJZ3KoGNbfX%0AKwvpubAGZ2eXNq6+ecrzG9BgXRVOV9721sR37+xG9/VcfGiaXNk19oOD/fjipW94dcNDtpznBwyb%0AIX5AcXf3wNdzEvEH9xIR5YlSpeBSajn5OR4sXLDwXg+vQ5w8FUdQrzy6+re4GPsP8iI7K4uzZ48z%0AaFDre4DhoRMpqtiEnZ2BfXsuopDL0OtN5GTJ+M2v3gCgb98hLF+xE7+uRooKanjqZ5Go1Ary8yrZ%0At+ciSoWcvJxaxox6kaFDI9oca6+evWlomE3cvr2oNVWYTAJ6rSfjx77QbIRFUeTUqSNU15Sj0+nA%0Ayl4jQHl5HXPnDUKlbvr5ubk7sODRMPbu/I6ePf5m1VXcHpcTS3DWj7F6zC3dkZxBQ/i0IJDtm3cy%0AVtLi59GTCdFPWU31uo5MJmPhC1Pgzol83RRJ8SnseKkWr/yFKBFQAr084znrk4wwpUlYRKbRkDR4%0AIInnzhA1yDIavD1i5oxA43SOo9+toSHHDpWHnt4z7Zm1tPPjJ0KHdWG/KhNnvWWApGM365K40BRP%0AkLVH3myEb0R5Yiynj51n6Cjramc27k9shvgBZuTwCdTXR3AkcScGg5bwPjMYM9K6hvD9SH7hWSLH%0AWQZABXV3IfHQyTYNcffuYeQXDCTlchLunu5UV9VQWlrH4KFd2LXvdUz6rsyeuYxHFvyOHbu+pLrK%0A0Gz4uvq70dW/aSUiiiKnEi4DbRtigP79htO/33AaGhqQy+VmubQXL57lbMo6Bg2zxz/YjrUrzlJc%0AFGKRL2wwmKipamwey40Mi3Dk6LGDREXevOyp0knChBG5lZ+03qEpal3m5Yub4MeypU89kCumve9n%0A451vPskMKRtDyScryZ8kInw/gZEFBHA8/ugtGWKAiPEDiRh/5w3Z0MgB7Bm7FnFfkFlgXJVTKqMe%0As9RBv47RaMRYZl2G1knfjWtpSQwdZfWwjfsUmyF+wHFwcGDypJvXWr4TnD13nJy8MyBJ+Hj3aVdP%0AWhAMtJZjLAhGq+2SJLF95zcYpcv0CFYhqCQunKthRKQbM0NaJiEGvZYNmz7g0YX/y7y5z7Nxq2VB%0AC2ha9UncXPWmH2pxNzQ0kJy2molTW7YJHntiCOtWJzFlel9cvhdS0euMfPvVUQKCrK9C3dztyUgt%0AuamxXGfa0gj+8XUsXXJnmrXrqafO/xJd9jcwUJDz0sOPIQjCPavBfKsUFRWiO2M9ta53agTXki+h%0AGtgUWCZJEgrxwYg6fum/0/n6tVUUJjgh1Tlg16ucEY97ED2z9UmoUqnEzr8OrHxVKhySmTDywdma%0AstGEzRDbuG0kSWL9xn/TI6yciLFN+2jFRQl8t+o4ixf9rlVXq1zwxGgss0jBMuiNKGTWhRz27V9H%0AcHg+Hp5N6mR+XaHfQC+2b0mmZ7Bns+FXqhT4dC0jPz8HP78AED2wFmyVnVVO9rXby92MS9hO5Fjz%0AvWNBEFiwcAhffZZI9x5N45LJBWbNHUjs9gtW+0lLKadP71sTynB2dmH86w4ceGMb3jlTkaOkUnMR%0AuxnHObr6dSoqmvJxL55LZ9d7l6k86wQyEY8hdcz5XX96hAbd0n2vo9VqWRV3gAy9HnskZgaHMSCs%0Az231aYHQinEVJLNETFXSaeYNuflKYfcCR0dHXnxvDiaTCZ1Oh0aj6ZC3ou98DekpuTjqWwL8TBhR%0AjTtNaPiCNq60cT9iM8Q2bptTSQmE9quki19LMIuPryOjohs5eGgrE8ZbV+saO+Yhtu78G5Omeze/%0AfCRJYv/uCubP+YXVa6pqUxnoaV6iXhAEho3oRkpyPv0GNKlWFRZUkZtbSH7e22js7KmtVrN6RSaL%0AFrdU7Wlo0HPubC5BvbpQW1uDk5Olm7wjGI11qNWWK0uZTEbPXl5mut5VlQ04OKrJuFJCr5AWqVOd%0AzkBmuh1jI259ayF61jCGxtQSu2obuhqR0TFB9Bu8oDmCuCCviLXP5eOTtYjmNf0O+CZ9Pf+z3QVX%0AV9dW+26LisoKXty1hdzJk5B9764/mHaJxft289TEzhEm8fXtgnrwaTgywuLYxZB4lH1HI0kSytNn%0AWIKcAL+uVnq5f5HL5TdV9WzuM+PYaDxIyroTiFn+SO5leI+t5MW/dp7kp427h80Q/wSQJImkpARK%0ASrNxc/Nj5IhxtxQQ1Br5heeIDLOMEHZ21lBTl9Hqdc7OLkyZ8BviDqwB4ftVqeTNzKkvt1o8XpA1%0AAJYGo4ufC5cuNrmfq6sbSUkuYNpM8zSb7Ztz2bzhLC4uGkRRQi4XmDG7P2WldWRcvcSggcM7+InN%0AcXXxp6K8EHcPyxepwWAy+/funaksWDSEC+fz2RubikqlwGgUycup5WdPfgJAXt41jp/cgiAvR5Lk%0AKOT+TJu8tEMF7B0dnVjwrPX8052fJeGdZRnI5335Ibb+dz2P/+7WXuL/PrSfvJkzkN2wkhN7h7Hm%0AxElmlJbi7dX6fmd7XM66ysGLKTTWVMPYBlJy/0t49rPNohtlPnFELTBQe+QYKlFi/uBhBHa1LiH6%0AY2Peshjm/MxEeXk5zs49sbOzXlbTxv2PzRD/yCkvL2NH7AcMHqFiWJgj5WXXWLH6ABPGLcPPr3PS%0AUITWXIYAQtt60l5e3syf+0uzNlEUiY/fRVVNFpIkp0/YGIKDm9yckmjdQOfnVeLt07SiPXX8GjET%0ALYUops/ux8F9ly2OFRXq6B96688ictREvl15mGmzzd2KFy+UU1XuTcLBGpBkyAU/3FwDkMtlDBxs%0AnjN8aI8ONzc38vOzOXnmM8ZM9ITvU1sM+gpWrvkbTyx5/baCrOquqVBbieSWIaf22q3vFV8UJKvj%0A0g0byubEYzw3bdZN9ylJEn/esJo4X2+qKktRBgSgmdwP0+hrXNv1JyIzuuHV1Y6lT/ajW69Ftzz2%0ABx25XP59IRkbDzI2Q/wjZ8++z5gyy635Renh6cCUWQ7s2/k1jy18vVPu4eTQjdraVJyczGfkBoMJ%0Aldz6Xm9r6HQ6Vq55k6hxasLcmoKcLqWuJONqb6ZOWYyHa39Kii/i7dNikCVJYu/ObAYM9qO+Tkd9%0And6q0Ml1FawbkSSJ0gInfMZYinx0FJlMxpwZL7N371fIVUWoVBLaeie6B03khZ9Hm5179txREuO3%0AEBHljUwmQ6czELe/nLGRzwNw/ORWRk8wV4xSqhQMGyXjxMnDjBwx7pbHqdeUUkc6bvSwkK9Uut66%0AbnOrUy1BwCS2PRFrjeX7dnMoYji1iYk4TZnS7PJWBAfT8FIw2TtieWXR/FsbsA0b9xk2Q/wjpqqq%0AElfPKgTB0sj4B2nJzs4iKKjtwgsdYeyY6SxfeZpJ0xXNaTlGo4k9O8pZON/6Xm9rxO5dweQZjihV%0ALV/NsHAPLpxPJTs7k/Ex84jd3cil1BQCusmoLDdRWerKM0++h9Fo5PLl86gUrUtV5lwzcPFCGcGh%0ArmRerSH7qpqZ026//rKbmzuPzP8tBoMBvV7fqmt90MBRBPiHcCR+KzJBi0Lhy0OzXmzeHxTklYCl%0Am9/bx5HMy1eAmzfEV6/k8MkvEqhJDEeJgctsR40zPWiqr1vmfoyFS1pXFWuPEAmshbspz59nxqCh%0AVo60z7GGWnBwQFCpmo3wjVzpHcL5S2kMCLv1cduwcb9gM8Q/YqqqqnB2tZ4e5OGlpryipFMMsUKh%0AYPGiV9m7by16Ux4goZR14ZF5z99UAAqAyZSPUmUpVNC3vyfH4w4SFNSDqVMWo9frqasrQ/JX4+HR%0AErHs4+OLR6o3Vy5tIuQH1YYyLlcyddIvcHJ0I+1cCj26hzF6eOgtfebWUCqV7aYEeXp6Mmfm01aP%0ASVJrJSMlRNH6sdLSUk4lHcTOzp6oyMlme8kGg4EPHj2C5+nHms27N30o5RJZHEbTs4rIX2kI6dPX%0Aat8d4dmRUVzeu4/SCeObc3mlggKmVtbc8n5tg0xAbGxE5mS9sIcUEED62RSbIb7POHMxhYSsq9gh%0AsCAiEnd3j/YvsmEzxD9m/P0DOHUWQqzYmvRLWibHdJ5msEqlYsb0JWRlZZCcchCJRs6cSSAyctLN%0ABYYJ1lezgiAg3LDfrFKpCA0NpbS01uLc8PBBHDiYydGEkwwb2eTmTTpehoN6KKOGNq3QunXreROf%0A7u6hUXenoT4HewfzVeDZpBJGDH3E4vwt279AbZ/B4FGeaLVGtuw4QvfAqQwbGg1A7NojOJ2eaXGd%0AF2HU99/PKzsXmgmT3ApBfl35JHoy3xw6RLZMwF4UGefThamz5t1yn4EmyHZwwFRVZfW48uJFRtzG%0A5OFe0djYyOf7d3NRMiEBvQU5z46ffNMT1vsNk8nEK+tWcbx3MIwZhWQyseXYEZ5xcmNelHXFNxst%0A2AzxjxiFQoGr00AK8i/h17VlZVFW1oCc0E7/8e/dtxa5/XkiopuMX0V5Et98d5THFr7S4Ze9JHoh%0ASTqL4J+ca9UEBY5u9TqdTseOXV9ikvKQyYxIoisBXadw+mgBJoOR8eOf7XSt4DvB5IkLWb32H4T0%0AraJbd1dEUSTpRCn2qpF06WK+uoyL30FwnyK8vg/WsbdXET3Rh2MJsZSV9cXT05OKLL1Z0YYbcRb8%0Ab9sIX8fLw4OX53Rsz1YURRoaGnBwcGg1+GzJoKEkHztOvUaDoagIpW/L9oqo0zGsoJiA0RM7Zex3%0AC71ezwvrVpAxczrC916TS0Yj5zau4tMFix/oqOev9sVydNxoZN9vyQhyOY1Ro/js6DGiSkrwsQWU%0AtYn8T3/605/u1s0aGjq3kPePEQcHdac+p549+nIlrY6UC9fIya4iK0PE2NiHqVMe67R7AOTn51Ba%0AtZ0Bg1pSVTT2Srr3VBB3KJ2w0LYr1xiNRrbt/AqtLpPLaTlkZZZSV6fDt4sLtbVazp1UM2mCuYLY%0Ajc9q5eq/MWaCSM8QR4J6OOLqrufQ4b1oHCtxdKkgJfUUNTUGAvzvz5XwdWQyGf37RVFR6kRqchUF%0A2Y6MGLKUvuGWe61JZzfRp5/ly7trgD3HE3MIDR1E9rUcyvb5o8Ay9UkacJ5RD9290nmiKPKvHVv4%0A58Vkvi7OZ2fyGcquXWNorxALg+zp6kZfQU5NQT75J0+iTc9ArKzA/Uo60dn5vDpn/i1VWGqLzv7t%0A/ZAVB/awf/Qosz1vQSajont3SExkSHDnbpPcSX74rD5NPU9lqGUOvLFrV6RjxxgRYpnF8FPAwaFj%0AE13bivgnwJjRM4BbU2zqKEln9jFyrGW+qFKlwCjmt3v9ug3vExljQqPxBZpWP2mpxaxenklY8Fge%0AXdi6mzP5winCB5maA7xEUSTu4BUWLRls9oJPv3yE02fsGTI4qsOfq66ulriErZhELZ7u3YkYGXNX%0AdJr79R1Kv75tBzrJ5HqwYmBlMhnIml6SUxdF8dbKHajPmecP12gyGD6/9YIPd4J3tm5k14ghzfu+%0AJcDqykr0O7fy0ow5Fuf36xnMP3o2TRREUaS+vg6Nxr7dOtYdISX9ClvTLlAvyAiSyVkcPR4vL+ue%0Ag84iVduI7AdVugBkajVphgd7kaKVWf9NCDIZjQ+erPld55a+0UajkT/84Q/k5+djMBhYtmwZMTEx%0AnT02Gw8QgiC2bqBa2fe9TnZ2Jn5BlWg05mk7vcN9KC6oY/KktiX7snNSGDGmxe18JimH0dHBFuMJ%0ADnUlbv+RDhviM2cTyczZSsRoL5RKOWWlR/nmu8MseOh3ODo2BZQ1NjZiMhmt1vS900hGJ8Ayh7u2%0AVou9pkmXWaVS8cKKEXz6ixUYTvRBoXXHEHaGAUuVxMyJvmtjra2tId5OaRF8JXNz46DJwDKdrk03%0AuUwmu2Xlsx+y6vB+vlLJMI5r2rtM1Os5tG093z68ALXcerR7Z9DWy1Yh3Zw2dl5hAeuTjqOVyRjg%0A6s6UiKhOFem5WQINIrlW2sXCQgZ73Xpq4E+FWzLE27Ztw83NjXfeeYfq6mrmzJljM8Q/cboFDSTn%0A2g4Cu1nZhzV5WrbdQErqcYaNtn6OTFGNJFkXjLiOWumIVluCnV3TvltdrQ53D+svVJm8rs2xXEev%0A15OetY1xE1teIp5eDkyZpWH33q8YNXIOCYkrUdtXIFdAQ50Tob0mMnBA+1WcOosB/Sdz5tRKBt9Q%0AI1mSJOL317Dk0RYPSGh4d/6w3pOc7ByqKwsJC4++68Ue0q5mUN2rJ9buWhrQlfz8PHr0uPPbBrW1%0ANaxsqME4pCXeQFCpKJw+jbf37OG1aQ/dsXuP8fIhsagIwdfcMIllZUS6tf0buZF1CYf5Ql+PbmwU%0AgiAQW1bGthVf8cHD926f+fEhw0lJSKR6dGRzm6TX0/f4KcYveeqejOlB4pYM8dSpU5kypUlDVhTF%0ATnEV2WidhoYGYvd8jUgBgmBAktzpGzaF3r3vn5qj/fsNY8Wqg7h7aHH8XthDkiQO7y9j7Ki2C9q6%0AuHhTWZGJm7tl8JhoVLbrCh49egbbYl9vNpoKhYyGBj329pZuW9HUsT2bhMTdjIi0LNoul8to1Gdy%0AMO4jJs3wAVoES86d3sGVdGdCgsM7dI/bpVfPPui0DxG3bw+CvBxRlIHoy+wZL1v9TQYGBcLt1Xa4%0AZQJ8u2B35QImX8vVkVNpGZ697s4z23z0CHUjR1roiwmCwN6yMl4xmTp97/k6k0dGcnLDag6GaaFb%0ANwDE3FzGJKcy65HFHeqjrLycr+pr0EdGNH8GmacnaTOm8e/dOzocMNfZhAR14x1J4ptcucUnAAAg%0AAElEQVT9h7gqA7UkMUim4IWFSx7Ikpt3m1uyoNcLodfV1fHSSy/x61//ulMHZaMFSZJYu+EtJs90%0AQqFoWfmcObUemVxOaEjnpSDdLo8ufJm9+9dT13AVQTCB6EZ05C/x8WlbXWtURAyr1x9g4jRzQ2zQ%0AG5ERQHr6FRwdHenSxc/q9RqNhrBeD3Fw72ZGRrkxfGR3du9MZdZDA8zOKyutx92lYykv2sY6NBrr%0Aq0advopJUy3zVwcO8SBh/967ZogBwsOHEB4+BOl71+b9+tLr4tuFvof3cW6guXdDMpkYWF171yLa%0AjaIJWjG0Dfb2fBq7nV9Y2a/uDARB4LUFjzIx+SyH4o4gAWO7BhG1cEmH+9hwPJHGyOGWEwmlkmTa%0A3gK604R2687fu92+LsFPkVteyhYWFvLCCy+wePFipk2b1qFr7nQwxI+FG59TfPx+ho1SWJQKHDzM%0AgxMJB4mKvL8qgC957Jlbum7y+Oc4sPdzBo+wx8VFw9UrlZw8XkUXPyfK678ht0Qk8YQTk2KepGfP%0ApuhSSZLIuHqO/Pws+vcbxuBBf+XDj17B3qEOtdqFFV+fo09fd8LCfUk5X42dog+LHlnaofEM6D+U%0AM0kfMWSY5RKyqqq+2Q3+Q1R2jffl9/xejMlkMiGTyZoN738WP8qLa9aQ3KMHph49UKSnMygnhw8f%0AX9y8536neXLqRL7dtQtGW0mFE0XOYLzjz2rW+DHM4tZyaxUOKoRWJhKiUnFX/5/vx+/5g8otGeKy%0AsjKefvppXnvtNUaObL2A9Q+xJr5gwxwvLyez55SeeYGRY6y/pPSGsh/NM/X07Mb8OW9w9Og+TuRc%0AJjdXR58BMiKizPfOtu38FwvmvkF5eTFxiV/Sp7+M3oOcSEk7zeFPM1jy1EDs7Vvcn4cP5HEqwZvJ%0Ak36Os7NLh5+XyaTiclpTqUIXl5ZI17OnczDoTYiiaDU4Rq9TWNyjpqaaTVs+o7Q8FTc3JaKkxst9%0AINOndqyi0u3yw+/UnebAmSTWXssgWy7HTjQxSITfTp6Bo6MjH8xfTMqVyyQfP83gkFDCho2msVGi%0AsfHujE/AjqArV8kIDEQV1DTJkiSJugMHsOvXj6or6XftWUmSxOHTpzhckItJEBjq4sasqLFtBl0N%0A8w1iZXoGUnAvi2NBetNdG/vd/k49qHR0snJLhvi///0vNTU1fPzxx3z00UcIgsAXX3xxV14qPzXk%0Agh1GY6XFihhAFO9uwM2dprGxkey80wT0aCB6sidXM0rZtvk84yeG4eDYtLcbNc6N+PjtFJclM2lG%0ASznE0N7u9Og1hP17/r+9Ow+I6jwXP/49M8Mw7LIoiCsiAm64LwiIuBI1xi0as2lym7Rpb9MsTdqb%0A/LL15mZpk6ZNkzZpWpuYxSRGY9wVFQXcUBFXUHEXRGQfttnO7w8SFGdQRGRAn89fyZkzc945IM95%0At+c5QuKUy8PP8WM7s3XDjQ99dunSlaDAHuzPOEdNjQWdToPJZCG0Z3uCAruyPfUio64qFHH2dBmd%0Ag0fXO1ZWVsqiL17Et0M1D0/vX3fcbCri86/+lwUPvdpqh5ObYmtmBm+bKqgZPxaAGmCz1cq6f/yF%0AhB5hzIsaSN9e4fR1lO6thTwxdjy/zj5EdVYWilaLarHgPmQIuoAAOh852iJtUFWV15Z8xab+fVB+%0AXL29tbiYTZ8v5N15Dze47iYqIpLoxYtICQqstwLdd2sK8wc1rYyncD5FVW9w3fxNkCeo67v6SbO0%0AtISNKW8QMzqw3nnl5TUcPdCdxIm3Twm4r75+izGTtPV6BDabjTUrDzL57stBbNXSSvoMNNE9xL4u%0AcfLGbEbF9cTF5fKDS+rmcmbcfeOVptLS1qAYdtCz1+UgfuZkGaWF/fBtF8TRnJVEDXbDzV1PRnox%0AbvoBTJpQ/+fx/Q8fU161k4l32c8bF1wsp/RiDNEjx95w225ES/Zenlz2NZnj7HdQmHNzMV+8SHuz%0AhZcCuzC8j3PTU/735wvZnzgB5YrOg/uBA/w/7wBG9u1/jXc2j6Xr1/Jel0A0netnS7NVVvLIvoPM%0An9hwbWibzcanSWvZWWmkWqOhu8XGw8NGEtK5S4PvaW7SI26cW9ojFi3Hx6cdXYMSSU5azchYf/R6%0AHYcPFpJ/vj1zZtkXeW+rSkqK8fYrQqOp/8Ch0WgIDPKmqLACP38PqqpMlJeb6BjseHuSl7eBykpT%0AveFkVW3aSM2oUYnszfBhS1IqWm0lVquBbp1HM3ZMbQWkqP4jSE9P5UK1kQlj4h1WXLJxCb3e8Zxe%0A+w5e5GQdA25tIG5J5x2UnwRwCQ6m+sgRSiIj+Z81qwg4dhgXVPqj5b8nTq5bANpS/jR7Hn9es4K9%0ANgtVGg3drDYeHzKQft2a1lNXVZVFG9ays8pIlaLQ3aYyf/goul61wHDf0Sw+zNzD7qJCvEcOtvsc%0Ajbs7GdWVzG/gOiaTiR/StmK2WPh134H07tlymdHErSOBuA0YMiSePn2Gk5KyGpO5kr597mFMdOtO%0A1Xij8vPz6RDo+NcxuFM7CgrK8fP3IHVzEQP6T+Tbr/5NSKgPw4Z3r1cysaioAi+vy1uUSkuq8PFo%0Aenq9QQOjGTTQ8YI4rVbLiBGjHb72E1UFm83xoJOqqqgNVFRqLSoqKvgqZTMFVisddTrmjh57zb2q%0AXhYrlxwct1VVYa2spPrQIVwefYT8H4+ftVg4+s3nfPTAI7ds25Ajrq6u/O6qrT6OenkNrUY/fPwY%0Aa7MOATAhvDeL9+xka2w0Gu/apCMngIxNm3l38OWeanFxEa8cyqRk0gSUDRsabJutgamKbQf3807W%0AAQpiRqHx8GBxVhZDvtzO/907T7aQtnHy02sj3NzcmDCh6dVsnElVVfZl7iQ39yShof2ICK8/LLl9%0A5wZOnNqKTc2nW4h92bSj2fl4e3myfmUpxnIdmh6beWD+YCorati8MZtuIf6ERwRx7mwpF3KrsVpV%0ANBo4fPASF88HMnvmrUvScD0GfVdqLCepMNbUzXP/JGNPPgOjnNe268k8ls2r+/dwaXQcGldXbNXV%0ArFr+Da+PiKNXt+4O3zPKw4sTZWUo3vWzYBm3bEFRVTzHjat3XNHpyB4zmpVpKUyLi79F3+TGHTt9%0Aio927+DIj6kbI20qTwyLpkeXrvzx+yWs7tgBdXRt8opvN2xAG9od3VXfuThhDP9OSuYPPwbiz1O3%0AUjxmNAqg8fLCUlSEzq9+mlHVbCZSY/9nuaamhj9lH6Ro4gR+GnOwRUSwo1s3Plizkien3potV6Jl%0AOC8nmrgj5OfnsejLl1AM6xgam0dxxdd89sVrGI21Ga6279wALimMv8sXja42PeOVKow1lBR0onfP%0AX+Pp2YW7pvvQK6L2j5e7hysTEvtw+EA+61ddouTiQB5b8CH7dnZi5xZ/und8lHtnPenUxVATxs2h%0AurwTq1cc5MypQqD2wWR76ml0tqF07dp6912+l5FO0YTxdUUKNAYDBXcl8uedaQ2+59EJdzFuezou%0Au3ejqirW0lJKV61CHxKCxt3d4c9C6+vL/rLim26vyWSisrLypj/nUmEhz+/Zwe4JY6kYl0DFuAR2%0ATxjLb3el8v2mJFaGh6L2vryP3KQo6CIcj7oc01weDSlQ1LqtR+7DhmHctAlbRUXd66rZTMiq1SwY%0AO9Huc5alJHMp1j41q8bNjV2Warvjom2RHrG4pZI2f8ykuy9nqAoN86V7DxsrVv+d++79LWfPbyN+%0AfO2iq3ETItmclI2qqnh6GSgv1eNhiOS/HnkEjUbDjj2nMRjss11NnBzJ8QPhJMTX9gomJ85rmS93%0ADRcu5JK+ewOgMnbMw5w5e5Rd25LZsvEYPt6dmHLX8wQFOU5Q0hoczTnO8R7dcTRYnNUhgIsXL9LB%0AQWk7RVH4f7Pmcv5CHu9/+Q0ppiq8HrgfjYsLNcePO7yWqqoYGhi+b4wzebm8l7aFwwY9Vq2W0Kpq%0AHgyLZFS/qOu/2YFP05IpHDvGLmnGpbEJLPzkXyiPP1b/BVVFtdlQHGw7crliLazfFecpGg0+06dj%0ATElBNZnwu1TIzM7dmD/rfofz5UU11Q4LRgBUKNKfauskEItb5uTJHLqE1MBV9XC1Wg1unhcwGo1o%0AtGV1ryuKQsL4CKxWGxUVNRzZF8LUyZeDqkZxXKHG3V1Pxv4kKqrz6dH9+lWLbrXVaxahNRxmWFzt%0AHuiD+/9JeXEPnnj8Dae260aUVRixeXk5DMQmTw8qKyscvHJZp6COvPnzX3GxoIDFaWmUa6CgoJiM%0A0lIUn/pbyXT79jFzgP3CpWuxWq18lrSWHZVGMgsLMHl7495nALqAALKA13fv5e3jbvTtaV+aryGq%0AqlJQUMAZm9VhUFW0Wiq97FfBug0cSOWOHXhE119LoFos9L/iDt4/Mo6klC0YR8fVfZ5XfDz6rCz+%0AEN6P4ddYrT08JJRvTpyAHj3sXutiszX6O94si8XChu1paPQwqs8gpxQ7uR1JIBa3TH7+OYKC7fNH%0AA7Rrp6GsrBSb1X5Fs1arwWJW8fOtv4LaZnW8F/j40YuMGu1Fz16VnDyxnG+/28nsmb+8bvsOHdpD%0A1rEtaLSV2KwGQro1vDCrsfYfSMc38CihYZdLQvaLCiD3/Hl27NzEiOFtozhKVGQfglYtozDYvtfe%0A7fRZug5q3H3q0L49v/5x/lJVVV7+9ktSenRHDe+FarPhunMXD7kY6NG18UmwVVXl+cWfsWvsGDQe%0AHhiozW1cvnYtuLiA1Uq5Vsuvj2bxq7w8ZsRee0EdwOKtm1lTUsBpn3ZUnDtDQzWY/Mxm8mpq6tUU%0A1gUEUH3oEJbtO9COGI6iKNiKiohI3sqv7r2cQ7p9QAAvdA/j7+s2cKJnD1RXVzpnHWVO+44MH3rt%0ALVODe/cl6vOFZHTqVO/arvsPMKdny9T63bgnnb+fOkb+8GEoBgNeWzdwt0bP45NubYnVO4HsI25l%0Abqf9eSUlxaTufIth0fZDmFuSLjF96mv8sPKfDIspR+9a/5lw/aoC5t37er09xfsyt1NsXEWf/pcX%0AuJhqLKxZdZBpMy4XwDh/rgxrxTiGDGm43OGOXUmYbFuI6HN5qDvnWCk1xsHEx93dpO8LsPT794kZ%0Aa3b4WupGmHHP003+7KZq6u/UF8lJ/MvXG1uPy/PYLtnZ/LJG5Z5RDlJENtKBo9lsOnoEvaIwc1g0%0AHdrb17G+lpS9e3jRTYNy1R7c8uRkXEND0Xe5vJ9WOX+eh87ls2Cc/bzrT75PS+Gv3m7Yutc+DFQf%0AOYKq0eAWXn8rk/ZIFv+r9+CDAxmcvXtKXa9ZVVU6/7CSF4ZGs/roEWo00N/Hn8nRjksTqqpK1rGj%0AVJtq6B/Zp95qcbPZzFP//JC9ig2ztzduVVVMcPfkhfsexmw2897qH9hjs1Cp0aA/cxoXHx9svr60%0As9oY79+B2XFjbuheNtbFggLmp6dSedU8tXL2LM+VVZE4YlQD77yzyT5i4XTt2vlSXdEFY3lpXUUm%0AgPwLFXh59EOn0zHlrkf5Zsk7dOtZRnikH8VFlaRvr2DE0Aft/ogNiBrJvkxIXr8ZjbaE4pJi3D1V%0A7ppSfxV2p87epG3OYAiOA7Gqqpw+u4UxE+rPN4eG+bAlaTsWy11N3g6i0Voafk3T8Gut0f3x4wjc%0AvZNVSZso0moJsFqZFhJG3JBBdueazWbeX/MD6RYzVRoNXVWVuWGRRDsYbu3XK5x+N5FZa3veWZS4%0A+n/4VZMJLJZ6QRhA7dSJlVlHecBsbrD046r889j6X97LbYiMxJiSQvn583jGxoKq4rI1hcEFhfSb%0A9zAf9gjlw00bOIINFIVIFX4+dQbtfNrRO/z6vVNFUYhs4Pvf997bnEuIx9CrFz+NFa0rLqZo4ce8%0A+8jjPPfjlqtvUpL5R0j3uoeki0B2Xh6Fa1fy81vQQ/1yRxoVcdF28+Zqly5s2JhMYrNf8c4igVjc%0AUjPu+QWrVn9KpekYWm0NVos7Ab4DmPTjViy9Xs8D835PTk4W6al78fFuz7x7xzaYb3dA1Mi6mr+r%0A173DkGjHK6I1mobnzc6dO0vHzo57rb166zl0aB9RUU2bZ3bRtcdUk2vXw7dabSiK/dasllRdXc13%0AKckUmmoYENSJ2EGDr7uifNyQ4YwbMvy6n/38t1+we8K4umHTEuBoZiYvH9zf7JmqdDbVrkZ1zalT%0AuIY5Tm6R26M7x3KO0zvCvmIWQL6D/cuesbFYjUaC/vI+BQZXqhInsX3kCOZu3UAiWrs9yM0hbd8e%0AcgLb49Or/ry21teXHe39uVRYSIC/PzabjWUFF7ANqJ8IRunYkdXZR3m4qqrZE6SUKarDeXOAUs3t%0Ak6LVWSQQi1tKo9EwdcoCoHaBTUNJG0JDIwgNvbG5LoM+GLP5XL10llC7BcrTveFShK6uBmqqHc/I%0AVFVZ8XNvaIbw+saMnsG3y15j0tT2dYFCVVU2rbvE5ImPNvlzb9b2g/t5O/sghXGxaAwGvsvNJWLR%0Av/jzrHm4uzuex2+sjCOH2BsZUW/uEqA6KoqvNmxs9kB8T9QgVmdmYhlweTpC6+2NOS+vrpDDlQzF%0AJfhHdG3w89pZrZQ5OK6WllIY1hPbtLv5qS9tjI3h27w8OqYkMyM2/ua+yFVSjx9D19FxyVDdyBEk%0A79vDrLETyMvL5VxwkMOFdEV9+7D70AFihzRv3ulueldsVVUOV24Ht9xasduWrHsXLaa5MydNmXw/%0AG1YVYbVe/ktgNlnYmlTN6LiGc/V26NCBogLHczcnj2kIC2v64hd3d3emJv6WlI16tm4sYuvGQlI3%0AujAu/knatbPfetUSLBYL7x7OpHjCeDQ/ZsVSgoPJmjqZP65ZcUOfYzbbjyTsOJkDPR1nejt7C7Jl%0A9ejajTmVJrQHDtQd0+p0KNu2OTxfzczkLzvTSNq13eHrcR7e2EpK7I67LF2GaZKDueWOHUm6dPGa%0AbVRVleTdu3hr1ff8ecUyTp87e83zAbxdXbE2sA/aWlBAsH/tKnxPT09cy40Oz9MUFtL+FvyezYlL%0AIDhpk91x9/Q93NsCublvd9IjFm2Wh4cHs6b/D0mbv8aqXkBBg17biXlznrzuHO+QQbPYuG4hcWP8%0AcdHrsFispCUXENXnvptOAOLn58+s6f99U5/RnJZt3kx+zCi7p25Fp2Ofcv3uTM6Z03yQvp0jLlpU%0AFMLMZn4WNZj+P24Naueix1ZdXRfkr+Rms6KqKl9t2kBqeSmVGoUuVpUHBg4h/CaKyP9s4mTiTuaw%0APDkVswYG+QbQdfocXv5mCRfHj0Xj64ulsBDj1q143JXItsBA0s6dI/OH73jm7voZ6h6dkEjR8u/Y%0A4uFKWZ8+KAUF9Mw6SmBIKNuv6uX/pLSBnNpQ+8Dy28WfsXfoYJTwUaiqyqq9GTyQfYT5Yyc0+L77%0ARyfwr08+QI2PtxsGrti0iaoRtduefHza0aeohH1XDc8DhJ04RcS9DS9SbCqDwcCfEiby3vqNHNLr%0AsOldCKmo4sGwSPrdwBYx4Zismm5lbqdV07fazd4ro9HI1tTlWK2lKHgQF3vPDZdLbAu+2bqeDwYM%0AcPiAYdi0mTV3z27w4aO0tIRHNqyicGL9AOK9ZSt/HxJNp6COVFdXc9/qZRSPr5++0lZTw4ztuzDW%0AmFg/bBAa38s9Ne9t23m9ZyT9Qm++aEFlZSV/WLmMvT5elHVoj8vWFKwFBdTExeIxfHi9oKY9cICP%0AO/Ug1EGKTp3OworNaQQHtCcqsjdLkpP4a1hIXf7oKw3euJl37rnXYXv+sWo5Xw4bZPdgotuzl096%0A9qb7Naokfbt5Pa+lbsFr9mz0nTphLS/HmJyMoW9fgo/nsHjqLFxcXMjLz+e5pFWcjhmFxs8Pa3k5%0AnVJSeWVYDBEh9nuNm5PZbMbX1w2jsXGLDxuq3X0naOyqaQnErYwE4saTe9U4xuoS7klPrzen+pPw%0A9Ul8NLPhUprvr/ieJTHDUa4aYVBVlcTNW/ndtNpFS1szM/hzzhEKY2LQuLmhHDvO4Kyj/Gz4KJ64%0AcBprf/vhy8EbNvHOjDk39F2sViv/SVrL7upKahSFEKtKbkkxh6ffXZc+EqBs7Vq8J02ye7+qqszc%0Auo1fT7HPzXz175PFYmH+4s9qtypd8aCiP3yEV9x9iG4gc9fPln/LsYR4h9eetiWNp6dOb/D7qarK%0A1O++pCAoEEtBAYqbW+3DhE6H1Wjk6ewTTI+vXaRls9lYmZbCyfJSOrq5MT0mvsGV4c3tev/2bDYb%0Af131A9tMlZTqXAi0WLgrIJC5o9vGPvrmItuXhBAAhHTpQsyK1WwqL69XTN71wEHm9rj2sOJ5bHZB%0AGGq34OReEZziogYyLDySZSnJlJhNRPcII2rew/xj5XIscSPttr0A5DRhte2ViTwAss6fx5qXh9tV%0Ac9HKteamG9n10Ol0/GnCFP64NolDHgZMbga6FZUwWKPjGyWPP+ZkY1BVBmt1/HrSVPQ/1jautlgo%0AT04GiwXVasUQGYm+a1cURcHciO9s1elwi7IP8hoPD0qrqi7/v0bD3Y1IVuIMf1j6NRtjRtb9nM4A%0AH50/j2XzBh4YM965jWuFJBCLNufkyaMcztpLj5AeRIQPdWpRh7bipZlzCV63mu3VFZRrNQRbrNzb%0AM4KY/va95Ct5XSN9otdVg2kGg4H7xtfvhbrpdGA2g94+g5r+BgfjtmXuJX1A/7o/7gCmU6dwHzjQ%0A7lzVbLbb4gTgsn8/U6Psz29IUIcOvHPvPKqqqqipqeZ4Xi4v5Z+jcvDlvdQrTCbOfvMFf3lgAZeK%0ACjlz7iwe982tW2FcsWsXVQcP4j1gAEM7OF4V/RNFUehhg0MOXnPds5dJg4Y2uu3Okn/xImm+3vV+%0ATlC7p3vVoSPMu4OHqhsid0O0GSaTiS++epOz+Z8yNCYX1XUdX3z9AidPHnV201o9jUbDY4lTWDh9%0ADkvuns1fZ8y9bhAGmNlvAC77Mu0/7+gxJne/fk3smTFxeG2zX62s2mz0U2/sAWrbubMoXbuiqipV%0ABw5QkZ6OLiiImpwcu3MN/fpR+vHHtYk+fnLqFFOKjYTcQDrNn7i5udGunS9fZR2sF4QBFL2ezAH9%0A2LE/g/eTk2DB/HrbfDyGDUNxccFz8TeMacS2ovt7ReK+Z2+9Y2phIQnFZQQFBjbwrtZjx+EDVPfr%0A5/C1fL92lJbar1C/00kgFm3GilWfMHq8hog+tYkxAgI8mDA5gNQd/6EFlzrcUSJ69OTnuOCzKRlb%0AVRW2mho8t25lfomR6Eb0LD09vfiZfxCGbdvrfka24mJCl6/gqQl33VBbdDYbVUeOULZ6NTp/fwxh%0AYZjPnKFixw7UH3vuqtVK6cqVmE6fxn3KFIxff4Pm088YumY9r5kUfnNF3d6qqiry8nIdbslqyJmG%0Ahpa7dSP93FkOKjgcofEaM4YCv3acv5B33WtE9+3P6x27MmzDJjonbyFi42YeyznD89NnN7qdztQ9%0AsCNKnuPv6V5egYeHZwu3qPWToWnRJqiqilU9jd7VvkcwaJgb6ekpDBsW54SW3f5mxo5mcnU1q7el%0AYLFamRw/CQ+Pxic9mRYdw/D8fL7eso1KDUR6+TD1/gVotVrMZjPZx47SztubztdYTQwwISyCRRk7%0A8JlyOYWj15gx6AIDUd7/G9pRo7h06iQ+iYl1w6L6Bx/AqqoYV64mbnBttrSamhreWLGM3QYXyvz8%0ACNiZSoKLK688fL/dNfPy81m0I5VcDXjbwFrueIGSraYGL60Wa0ON12qxBAfz3e5dPDnVfqHY1QaG%0ARzIw3HEmsNYuKrI3Pb/6lJyrKkWpFguDTOa6uXRxmQRi0SZYrVa0Osc9l4D27pw+ev2ehmg6g8HA%0AjISmL7IJCgy0C0CfbVrP8rIS8nr2wOV0PhHbtvDbEbH0bGDoeNPRLNxjY6k6dAhd+/a4/FgP2a13%0Ab/qfz+N/IgfwyIULVF71kKAoCkciwtmfnUX/8AheWvYNO8YnoOj1aIAi4JviYjy/+475oy8n8DiQ%0Ac4wXD2dSMiaurpdr/PJL3B1kmPJJ3cbs8ZM5tG4l6Q7aXrVnD25RUZiz7YfRb0f/L24sr6xczYnB%0AA9F07IiSfZSoo8f4/fQbWyV/p5ChadEm6HQ6LGb7/ZwAhw8W0ad361/Ecqfavj+DD1Yt5+uN6zH9%0AOGe7Ynsq//L14qSpmuqsLIwX80lXVH79/TcOh4pX7tzGx+nbqdq3D52fH+Zz5yhdvhzrjxmxyl1c%0A8PT0oMbfcT5vtUcIh0+d4FxeLnuCg1Cu6pVpfH1ZW16O1Xq5T/vPzD2Uxo+uN9TsMWcOVf/5D0p2%0ANlDbE/ZO2shTXXvg4eHBfw0ahnXFynpTJea8PCyFhbhUVzOqS8OpNm8n3Tt1ZuHch/hDWQ3zU3fy%0Avk97/jJvfrPnwL5dSI9YtBmdg4Zz6sQOuve4nHSjpsZM3hkfxkTf2iQGoj5VVdm4awdnCgsYEtqL%0A/g6qDlVVVfHk4s/IHjoEJS4aW0UF3/zwLb/rPYDVeecpLS3CZ9o0lCv2vhbs3s2fv/mS5+5/uO7Y%0A2dzzvLYrDe/HH0PnU/uzd+nYEXXgQEq//55206cTaLXh4eFJgLGCfAft1WVlMzg8koyjWZjCwxz2%0AQPJ9fCguLiYgIKB2yNzBnlxFq8VtwQKmrduIPr8Qbxc9MydNqwsw4d1D+GNpCU99/Amm0BBUqxWt%0Ary+esbFErV7HGm9v3s7JxqQo9FRhgN5ApqmaCxoFH5tKgm8Ac+LH2l23LVIUhdFDhtI6N1i1LhKI%0ARZsxalQiaWmwed1OtC7lKIoBja0rs2c+4uym3VGOnznNK6mbOT1iGNrePVl09Bj9v1jImzPm1gWk%0Ak+fO8tgXCzE99rO6fcgaDw8KJ07gj6vXUpJ/Affx4+oFYQCPIUPY+ukinrvi2OL0HZiDgnD3qZ/1%0ATFEUDH36YF29hpn9BqEoCgnunnxZWIhyRc9YtVjof/I0YSNGg6qiPX0Gtbf9/BLt8rkAABgrSURB%0AVKtveTneV2TRUhracKyqdOvUmeljxjl8eUTUQL7uEMinu7aRo3XB1VjJoN372KaBfeMT6nrY2zMy%0A2KkoGAZEA3AByL54kQsrv+dJBwlHxO1LArFoU0aNSgQSsdlsBAb6SGatFqaqKq9v28K5qZPrqv+o%0AvcLY1yOEt1b/wCsz51BdXc3zqZspDO2Bt4NkIBdGjcT81/dx7dzZ4TVMfvWLFpSoVjQNZIxyDQuj%0A84pVDJ3zEACPTZyMZc0KNpmryQ8KxLuomIHGSl74MQNYWEgPeu9I4WBkRL0hZ1tNDTEaTd1CIhcX%0AF8JrzNhv3ALf7TtJnDj1WrcJBVBUFb2iwU1VOXXuLCcmT0J7RUUuy4ULeCdeVcm3QwfWHT3GgrLS%0A2zLdqnBMArFokyQhgHPs3J/Biah+dpmyFJ2OvVoFi8XC4q2byBszGmW742pHirc3gS56ik0mu7la%0AgI6G+vOI3fUGLHmOqxfVHDuGR3Cny5+tKPzyrrt5zGwmP/8Cvn397FZ4/2HSVF5evZJDXbtg7toF%0At6NHGXapmNcee5SSkuq6854YPJzfbUiiKGFMXaYulwMHedCvAwYHBS5+kn3qJM/v30NxwuX5ZUt+%0APpVpaXjfVbtly2Y0ovV1XCXJOGQwSzZu4JHpzV/zWLROEoiFaAVUVcVmszV7qcjmdio/H4Y6TgRS%0A6eFOdXUV580mtO7u9ZNpXMElM5P/e+hRfrl+A+qU+uUqbUYj/W3w3oplFCnQXlWYNWQYH+xIw1JU%0AhM7Pr+5c1Waj+tAh2gUF2V/DxaXB7VB+vn68OXUmf/p2Mft2pePbPoDO7QLs9qKHh/TgEx8fPkvZ%0AQi7grapMj+xH37BrpwX9d0Y6JePG1HtY0QUGouvYEXNuLi7BwSj62opVjliKi/mkuIDc777mhRn3%0ASua4O4AEYiGcqKSkmHVJ/0bRXkCjsWGztKNXz3EMiBrp7KY5FBc1kH9lZmK+KrsUQFBZOR4envii%0AoFosuHTqRNWhQ7j16VN3jrWsjLgLBfSOHc9LlRX8JSmJopgYNAYDmsNHCMvIYFOnYIxx0SgaDarF%0AwsbkrUwMCmb9zp1o9Hr03bphuXgRy6VLeIwaRf+cMzf0Haqqqvjl0q84OW0yik5HMXA4J4elL75I%0Av/DeBKpw//DaylL+fv48NXXGDX3+McXx3LLbgAEYk5JwCQ5G4+qKrbzcYRrOqj178J41kw1lZXTc%0AsIZHbzDxiWh7JBAL4SQ2m41lK/7IXdP8UZTLOYgP7FvF4SMGekc2PidySwkODGLk1k0kV1TUyyWs%0AnDrN1PZBKIrCvFFxrNmShJIQT9WBA5StWYPi4oJaUUF8RTWv/OwJAMYMHMzIyD4sS0mm1GQiPqI3%0A/+d/lor4+LrepKLTUTIugcKVqxlcVUN2bCyWggIMffqgGAxErFrDnHnzb+g7/GfjOk7elVi3iKxy%0A3z5UsxnTz3/OHmpHJ7ampvFStzCG9el7w/dI57DEBWC1Yjiegy02FsXVFR8vb5R/LcQy4x60fn7Y%0Aamowbt6Ma69etcHZx4c0YxmP3nALRFsjgVgIJ0lLW090nLtdj6jfAD+2bEhqlYEY4OUZc/BbvYId%0A5mpKNArBVhuTOwQzM24MAO3a+fI/oeG8v3YdZ/r1Rd+lC/4ZmUwL6sKCcRPrfdaVhSIOZ2dxoldP%0Ah3+UjnUKZlH3Xqzak8FBmwVOnqafzpUFcx+64dJ/WTZL3dy0arPVLpq6omSioigYY2P45/qkJgXi%0AvqrCRputXh1kAPftO1j40M/Ysj8TY00NicNiCJo8g1998Gd2dg4GrRbP+Ph6dYzLdK17qkI0jyYF%0AYlVVeeWVV8jOzkav1/P666/Tpcu109MJIeorKTtLuJ+7w9c02ta7Glyr1dblbHY0tAowsm9/RvTp%0AR/r+DMqKLxIzYco1FzgB1JhNqA2kP7S61h7/RTNs63G5YuS4JisLQwMFCo4G+HPx4kU6/JjBq7Ge%0ATBjP8R+WcHLcWLSenqiqij5jHw97+BAUFMScq+a0Z42I4aCPG5qO9pWZgi0NJs0Ut5EmLT1NSkrC%0AZDKxePFinnnmGd54443mbpcQtz2Nxg2z2fEfWtXWNvLxXmshkaIoDIsaxLiRo64bhAH6R/ah05Fs%0Ah6+FnD1Pl2bKSjXU0xtbaSnQ8IMEABpNk4qJ+Pi0419zH+aJw8eI35LK5ORU/tG9F3NHJzg8f8yQ%0AYUTsTK8rXPET10OHmRUafsPXF21Pk3rEe/bsITY2FoCoqCgOHjzYrI0S4k4wOnYaazf+gbiE+j2k%0AwkuV+Pr0aeBdty+tVsvcDsH8IysLU8TlTF2G/ft5oHtos60enj1mHHu++oydwwZjiIig/McFVFfr%0AebGAwNimlR10cXHhvrETGnWuoii8O30Of1y3kn2KSpXOhW5mM3O69yTuBmoni7arSYHYaDTi5eV1%0A+UN0OmxS7FmIG+Lp6UXP7tNJWruc4aO88fDQszf9EjXGEO6ZdmdmVpoRE0eng/tZvjGZIo2GAKuN%0AWb37MqAZKxFpNBremvcwG9N3sj3rGKcvXuLErnRsw2rzlauqiueOnfxXr97Nds3r8fT05NWZc2ur%0AjFmt6BwkQmmrTpw5zQ+Ze7EpCuPCIhymQ73TKWoTxl7efPNNBgwYwKQfFzjEx8eTnJzc3G0T4o5g%0AsVjYtHkN5eWlxMZMuOE5SXHz9mdn83l6OoWKQiDwaGwsoV3vjAINt9IflyzhC50OU79+KIqC5tgx%0AEnNzeWv+fNkffYUmPXYNGjSIzZs3M2nSJPbt20evXtfe4P4TSUd4fe3be8l9aqTb6V4NHBBf99/N%0A/Z1up/t0q9RUWAjU6/GrtjBzZAzebr5yz66hMb9T6Qf386mnF2qvsLoNXbawMFb6+hK6dAUzflxl%0Afztr397r+ifRxEA8fvx40tLSmDt3LoAs1hJCtEmqqvLmsm9JCvTHMngwWK18t30LD3v4MOcOCBS3%0A0toTx1DHxNkdVwIC2Lb/EDeWJuX21qRArCgKr776anO3RQghWtR3WzexZmA/NAEBtb02nY7KmFF8%0Asmcvw86cJqRrN2c3sc2qucbQc7UMS9cjq6uEEHeslOIiNAEBdsdNgwayZN8eJ7To9hHh6oatosLu%0AuGqzEeKE9rRmt8/SPCGEUyTtSefb0zmc1Si421SGKFqeuutuXF1dm+Xz9x05zPHcc4zs049OQfZJ%0ALxwpKSnm220pVNlsxIWGMSDS8XawKq3jvoiiKFRqpNd2M+6NH8vGxZ9x4u4pddWrVFUlaM06Hpl0%0A7TKSdxoJxEKIJtu0dzdvWaswjx8LQCWwxmTiwpKveO/++Tf12WfycnkteQPHekegRvXmo0MHGL51%0AE6/MmHPN7T3Lt6XyUXE+FdHRKDodS4/nMPzLz/i/OffbVbfqbLFx1MFnWMvLCTc4znomGkev1/O3%0AmffxwYY1HMSGTYFwm8JjYxPxbee4BOSdqknbl5pKViFen6xwbTy5V41zK+/TE0u/5vB4Bxmjjufw%0AZ4MXAxvoiTZEVVW+T0lmW9Eldpw5hXbB/Hqv26qrmZK2k+fucVyr91JhIQ/uSqEqZlT991VUcP/e%0AAzx+V/2e2Onc8zy5dwcloy8vKlJtNrr/sIJP5j58w3ms7xTyb69xbumqaSGEADjX0PBtz1B2pey4%0AZiA+eeokxooKIsMj0Ol0qKrKC18tInXUcGr0CtqwHlxd8kBjMLDDZmkwgdDX21OojB1pV/9I4+HB%0ArppKHr/qeLfgTrxlGsS/N2zihF6LYrLQFw2/mTZbgrBoMRKIhRBN5qnaKHNw3FpeToC746HdgznH%0AeG/PTo5274rVw4PgFd8x078Dge4epA2OQuPnhyUjA0Nvx5mtyt1cqampwc3Nze61KkWxq3r0k2qt%0A40pG4d1DeKt7yC3v5VmtVoqLi/Hy8mq2+XNxe5BALIRosmE6V5ZWVaG5KigGpW3j7nvm2J1fWVnJ%0Ayxm7KEyciIbabRsFXbvyyfEcQjP2osyeCYBrr15UHzyIm4PKSIGV1Q0WkRjUIYgVubkoDnJHd3VS%0AJSNVVfl47Sq+uZhLRZfOqBcv0uHcef4250G6NVMhC9G2yfYlIUST/SpxKqM2bkF76BAAtrIyOqxe%0Ay/P9Bjkc2v1q6yYK4kfbHbf0DOVU+eW+tb5LF2pyclBNpvon5uYy0de/wfSIY4YMo9/O3XbvsyQl%0AEarVNqma0s3614a1LArrjnXGdAxDh+I2eTJljyxgzlefcj7/Qou3R7Q+0iMWQjSZTqfjjfse5OjJ%0AE6SkbCfQ05tJM+9rcFVzvtWCpoFhWb1OR/W5cyidOwPgnZhI2YYNKHo9bm5udK2sJrGdPw9eo6qR%0Aoii8M+cB/rxiGcuLC6jx9werFUNEBIsMBi58t5gXZ91381+8kWw2G99fykM3ckj9drq4oEaP5N1V%0Ay3nnkatnrsWdRgKxEOKm9QrpQa+QHtc9r6POBVtNjcNgHNYxGM/9h0jW69F06IDG1RWvMWMIW7WG%0AN2LGERAQ0KgKb66uruj1Luhnz8b1qnnhpIoKJh06wJA+9kPet4LRWE6Rry+OqksbevfmwPbtLdIO%0A0bpJIBZCtJi5cQmsWrGES4mT6h3XHTvGPSFhxA4YxNrtqaQcysIC9De4M+fBR294BfNh1VaXRKKe%0A0FCSklNaLBB7eHjiUljo8DXT6dO09/JpkXaI1k0CsRCixbi5ufGHodG8t3Y9WR2DMHu40/XkaWZ3%0ACCYuJhqAxOhYEm9hG1qy/J5WqyXapiGtuhrNFQvMVFWlKjOT0Z1ksZaQQCyEaGGRIaF8FBLKhQt5%0AVFRUEHLP8EYNOd/QNRQNx6xW+17xiRMkdA9t1mtdzx/mPcR977/Dqd4RGPr3x3zuHFWZmQwxWXl8%0A3l0t2hbROkkgFkI4RVAj80Y3xeMJE9m/bDEnEyfVzUer+fmMPZrD0Nnzbtl1HdHpdHz71PNs253O%0Ap199g4ePD+N7RzFpZEyL9s5F6yUpLlsZSR3XeHKvGudOvU9VVVV8kZzEEbMJF5tKXPsOJEbHNhj8%0A7oT7dPHiRbRaLf7+/jf1OXfCvWoOkuJSCHFHc3Nz478SpcoPQEpmBv85lkVOe380Niu9Ckv4RdQg%0AosLCnd00gQRiIYS4rWWfPMEbl/KonDgOABuQBby0cTP/9gu46d6xuHmSWUsI0WYUFxdx+MhhKhwU%0AnBeOfb1/L5XDhtodL4mPY9G2rU5okbia9IiFEK1eRUUFr636ngxfH4wdg/Dbso6YGivPTZvZ7Cuu%0AbzcXG5gTV7RaLrZwW4RjEoiFEK3eiz98x97ECShaLXrA2K0bq41G9Ku+5+mpM5zdvFbNt4HluKqq%0A4mOztWxjhEPyKCmEaNVOnT1DZtdOdnuCNZ6epNgsWCwWJ7WsbZgWFo7L4cN2x9137GLe0BFOaJG4%0AmgRiIUSrduDEcSyhjpNwFLdrR0lJSQu3qG0Z0rsvvzArtE/ahDk/H0tuLh3XJ/GsfyBdgjs5u3kC%0AGZoWQrRy/Xr0xCXnGNb+/e1e8y0uwcdH8jVfz4yYOO62WNiZmYGLiwtDps+RufVWRH4SQohWrXuX%0ArvQ/cx7Vaq133FZRQYxWd8MFIe5UOp2OUYOHMqz/AAnCrYz0iIUQrd7/3j2TV1cuI8Pfl4rgjvie%0AOkVsjZWnps10dtOEuGkSiIUQrZ6Hhwdvz3mAoqJCzuflERI3AU9PT2c3S4hmIYFYCNFm+Pn54+cn%0AmaDE7UUmCoQQQggnkh6xEELcpO37M1h38gTVikIvvZ558eMwGAzObpZoIyQQCyHETfjbquV81ykI%0ANSEOgG3V1SR/+wV/mzYLb2/ZWiWuT4amhRCiiU6dPcP3Ph6ooT3qjmkMBk7fPYUPNq53YstEW9Kk%0AHrHRaOTZZ5+loqICs9nM7373OwYMGNDcbRNCiFbth8y9mOOiubqsgqLRcFjTQJJnIa7SpEC8cOFC%0AoqOjeeihhzh58iTPPPMMS5cube62CSFEq2YDlAaqG0k5BdFYTQrECxYsQK/XA2CxWHB1dW3WRgkh%0ARFswMbIvyw8fQe0dWe+4qqqE2xwHaCGupqiqes3xkyVLlvDpp5/WO/bGG2/Qt29fCgoKeOyxx3jh%0AhRcYMmTILW2oEEK0Ri989hnLevZECQoCQLVa6ZKUxKezZhHUvr2TWyfagusG4oZkZ2fz7LPP8vzz%0AzxMTE9Oo9xQUlDflUneU9u295D41ktyrxpH71Dg3c59Wpm1la0E+1RoNPRQNC+LG4OPTrplb2HrI%0A71TjtG/v1ajzmjQ0ffz4cX7zm9/w3nvvER4e3pSPEEKI28aUUXFMcXYjRJvVpED87rvvYjKZeP31%0A11FVFW9vbz744IPmbpsQQghx22tSIP7www+bux1CCCHEHUkSegghhBBOJIFYCCGEcCIJxEIIIYQT%0ASSAWQgghnEgCsRBCCOFEEoiFEEIIJ5JALIQQQjiRBGIhhBDCiSQQCyGEEE4kgVgIIYRwIgnEQggh%0AhBNJIBZCCCGcSAKxEEII4UQSiIUQQggnkkAshBBCOJEEYiGEEMKJJBALIYQQTiSBWAghhHAiCcRC%0ACCGEE0kgFkIIIZxIArEQQgjhRBKIhRBCCCeSQCyEEEI4kQRiIYQQwokkEAshhBBOJIFYCCGEcCIJ%0AxEIIIYQTSSAWQgghnEgCsRBCCOFEEoiFEEIIJ7qpQJyTk8OQIUMwmUzN1R4hhBDijtLkQGw0Gnn7%0A7bdxdXVtzvYIIYQQd5QmB+KXXnqJp59+GoPB0JztEUIIIe4ouuudsGTJEj799NN6x4KDg5k8eTLh%0A4eGoqnrLGieEEELc7hS1CZF04sSJBAYGoqoqmZmZREVFsWjRolvRPiGEEOK21qRAfKWEhATWrVuH%0Ai4tLc7VJCCGEuGPc9PYlRVFkeFoIIYRoopvuEQshhBCi6SShhxBCCOFEEoiFEEIIJ5JALIQQQjiR%0ABGIhhBDCiVokENtsNl5//XXmzZvHrFmz2LJlS0tctk2TPN7XZjQa+fnPf86DDz7I3Llz2bdvn7Ob%0A1KqoqsrLL7/M3Llzeeihhzh79qyzm9RqWSwWnnvuOe6//37uvfdeNm3a5OwmtWqFhYXEx8dz8uRJ%0AZzelVfv444+ZO3cuM2fO5LvvvrvmudfNrNUcli9fjtVq5csvvyQ/P59169a1xGXbLMnjfX0LFy4k%0AOjqahx56iJMnT/LMM8+wdOlSZzer1UhKSsJkMrF48WIyMzN54403+PDDD53drFbphx9+wNfXl7ff%0AfpvS0lLuueceEhISnN2sVslisfDyyy9LauPr2LVrFxkZGSxevJjKykr+/e9/X/P8FgnEqamphIWF%0A8fjjjwPw4osvtsRl26yf8ng/8cQTzm5Kq7VgwQL0ej1Q+8dBHlrq27NnD7GxsQBERUVx8OBBJ7eo%0A9UpMTGTSpElA7eidTtcifxbbpLfeeov77ruPjz76yNlNadVSU1Pp1asXTzzxBBUVFTz33HPXPL/Z%0Af+Mc5ab28/PD1dWVjz76iPT0dH7/+9/z+eefN/el2xzJ4904ju7TG2+8Qd++fSkoKOC5557jhRde%0AcFLrWiej0YiXl1fd/+t0Omw2GxqNLAu5mpubG1B7z5588kmeeuopJ7eodVq6dCn+/v6MGjWKf/zj%0AH85uTqtWXFxMbm4uH330EWfPnuUXv/gFa9eubfD8Fkno8fTTT5OYmMj48eMBiImJITU19VZftk2S%0APN6Nl52dzbPPPsvzzz9PTEyMs5vTqrz55psMGDCgrqcXHx9PcnKycxvViuXl5fGrX/2KBx54gOnT%0Apzu7Oa3SAw88gKIoAGRlZRESEsLf//53/P39ndyy1uedd97B39+f+fPnAzBt2jQWLlyIn5+fw/Nb%0AZAxm8ODBbNmyhfHjx5OVlUVwcHBLXLZNunL+PCEh4bpzC3eq48eP85vf/Ib33nuP8PBwZzen1Rk0%0AaBCbN29m0qRJ7Nu3j169ejm7Sa3WpUuXePTRR3nppZcYMWKEs5vTal05ivnggw/y2muvSRBuwODB%0Ag1m0aBHz588nPz+f6upqfH19Gzy/RQLx7NmzeeWVV5gzZw4Ar776aktcts2TPN4Ne/fddzGZTLz+%0A+uuoqoq3tzcffPCBs5vVaowfP560tDTmzp0L1A7lC8c++ugjysrK+PDDD/nggw9QFIVPPvmkbg2C%0AsPdTz1g4Fh8fz+7du5k1a1bdDoZr3TPJNS2EEEI4kazcEEIIIZxIArEQQgjhRBKIhRBCCCeSQCyE%0AEEI4kQRiIYQQwokkEAshhBBOJIFYCCGEcKL/D+JhFtJuAigf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277318"/>
            <a:ext cx="4824536" cy="341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2395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836712"/>
            <a:ext cx="5544616" cy="5996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460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858" y="1052736"/>
            <a:ext cx="6857751" cy="4579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2132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Decision trees and over-fitting: another way to see this over-fitting is to look at models trained on different subsets of the data—for example, in this figure we train two different trees, each on half of the original data:</a:t>
            </a:r>
          </a:p>
          <a:p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194102"/>
            <a:ext cx="7452320" cy="2794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8702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052736"/>
            <a:ext cx="6056138" cy="5570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1219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196752"/>
            <a:ext cx="6627440" cy="4923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0298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Random Forests with bootstrap</a:t>
            </a:r>
          </a:p>
        </p:txBody>
      </p:sp>
      <p:pic>
        <p:nvPicPr>
          <p:cNvPr id="3074" name="Picture 2" descr="Fig. 9.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677" y="1196752"/>
            <a:ext cx="6878572" cy="508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886677" y="6309320"/>
            <a:ext cx="6878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/>
              <a:t>Simplified: a real bootstrap sample has as many rows as the training data and can repeat rows; scikit-learn draws a new random subset of features at every split.</a:t>
            </a:r>
          </a:p>
        </p:txBody>
      </p:sp>
    </p:spTree>
    <p:extLst>
      <p:ext uri="{BB962C8B-B14F-4D97-AF65-F5344CB8AC3E}">
        <p14:creationId xmlns:p14="http://schemas.microsoft.com/office/powerpoint/2010/main" val="488385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Sklearn</a:t>
            </a:r>
            <a:r>
              <a:rPr lang="en-GB" dirty="0"/>
              <a:t> Python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124744"/>
            <a:ext cx="4608512" cy="2219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 flipV="1">
            <a:off x="6084168" y="1700808"/>
            <a:ext cx="792088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5094" y="1511496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Number of trees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5940152" y="2234442"/>
            <a:ext cx="1080120" cy="1864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037582" y="2049776"/>
            <a:ext cx="1926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Default True: each tree uses a bootstrap sample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5394960" y="2770632"/>
            <a:ext cx="91440" cy="6309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907704" y="3429000"/>
            <a:ext cx="698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max_features = 'sqrt': at every split, a tree tries only √(number of features) randomly chosen features</a:t>
            </a:r>
          </a:p>
        </p:txBody>
      </p:sp>
    </p:spTree>
    <p:extLst>
      <p:ext uri="{BB962C8B-B14F-4D97-AF65-F5344CB8AC3E}">
        <p14:creationId xmlns:p14="http://schemas.microsoft.com/office/powerpoint/2010/main" val="720074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Tree ensembles:</a:t>
            </a:r>
          </a:p>
          <a:p>
            <a:pPr marL="1028700" lvl="1" indent="-342900"/>
            <a:r>
              <a:rPr lang="en-GB" sz="2000" dirty="0"/>
              <a:t>Bagging and Random Forest (RF)</a:t>
            </a:r>
          </a:p>
          <a:p>
            <a:pPr marL="1028700" lvl="1" indent="-342900"/>
            <a:r>
              <a:rPr lang="en-GB" sz="2000" dirty="0">
                <a:solidFill>
                  <a:srgbClr val="FF0000"/>
                </a:solidFill>
              </a:rPr>
              <a:t>Boosting (boosted trees)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K-NN</a:t>
            </a:r>
          </a:p>
        </p:txBody>
      </p:sp>
    </p:spTree>
    <p:extLst>
      <p:ext uri="{BB962C8B-B14F-4D97-AF65-F5344CB8AC3E}">
        <p14:creationId xmlns:p14="http://schemas.microsoft.com/office/powerpoint/2010/main" val="733629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Boosting: </a:t>
            </a:r>
            <a:r>
              <a:rPr lang="en-US" dirty="0">
                <a:solidFill>
                  <a:srgbClr val="FF0000"/>
                </a:solidFill>
              </a:rPr>
              <a:t>Sequential Reweighting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91680" y="1196752"/>
            <a:ext cx="6768752" cy="4648200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Boosting, like bagging, is another general approach for improving prediction results for various machine learning methods. </a:t>
            </a:r>
          </a:p>
          <a:p>
            <a:endParaRPr lang="en-US" sz="2400" dirty="0"/>
          </a:p>
          <a:p>
            <a:r>
              <a:rPr lang="en-US" sz="2400" dirty="0"/>
              <a:t>It is also particularly well suited to decision trees.</a:t>
            </a:r>
          </a:p>
          <a:p>
            <a:endParaRPr lang="en-US" sz="2400" dirty="0"/>
          </a:p>
          <a:p>
            <a:r>
              <a:rPr lang="en-US" sz="2400" dirty="0"/>
              <a:t>Rather than resampling the data, however, boosting puts more weight on some examples (those earlier trees got wrong) during learning.</a:t>
            </a:r>
          </a:p>
          <a:p>
            <a:endParaRPr lang="en-US" sz="2400" dirty="0"/>
          </a:p>
          <a:p>
            <a:r>
              <a:rPr lang="en-US" sz="2400" dirty="0"/>
              <a:t>Specifically, in boosting the trees are grown </a:t>
            </a:r>
            <a:r>
              <a:rPr lang="en-US" sz="2400" i="1" dirty="0"/>
              <a:t>sequentially</a:t>
            </a:r>
            <a:r>
              <a:rPr lang="en-US" sz="2400" dirty="0"/>
              <a:t>: each tree is grown using information from previously grown trees.</a:t>
            </a:r>
          </a:p>
        </p:txBody>
      </p:sp>
    </p:spTree>
    <p:extLst>
      <p:ext uri="{BB962C8B-B14F-4D97-AF65-F5344CB8AC3E}">
        <p14:creationId xmlns:p14="http://schemas.microsoft.com/office/powerpoint/2010/main" val="3454640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Boosting (cont.)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19672" y="1124744"/>
            <a:ext cx="7200800" cy="4114800"/>
          </a:xfrm>
        </p:spPr>
        <p:txBody>
          <a:bodyPr/>
          <a:lstStyle/>
          <a:p>
            <a:r>
              <a:rPr lang="en-US" sz="2400" dirty="0"/>
              <a:t>Here are some commonly used loss functions, gradients, population minimizers, and algorithms to minimize the loss: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2420888"/>
            <a:ext cx="7056784" cy="125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363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Bagging vs Boosting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266" name="Picture 2" descr="Bagging, Boos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484784"/>
            <a:ext cx="7280809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287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Boosting (cont.)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19672" y="980728"/>
            <a:ext cx="7272808" cy="41148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Boosting is remarkably resistant to </a:t>
            </a:r>
            <a:r>
              <a:rPr lang="en-US" sz="1600" dirty="0" err="1"/>
              <a:t>overfitting</a:t>
            </a:r>
            <a:r>
              <a:rPr lang="en-US" sz="1600" dirty="0"/>
              <a:t>, and it is fast and simple.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In fact, its test error can often keep falling even after the training error has reached zero.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It improves the performance of many kinds of machine learning algorithms.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Boosting does not work when: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Not enough data, base learner is too weak or too strong, and/or susceptible to noisy data.</a:t>
            </a:r>
          </a:p>
          <a:p>
            <a:endParaRPr lang="en-US" sz="1600" dirty="0"/>
          </a:p>
          <a:p>
            <a:endParaRPr 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252731"/>
            <a:ext cx="5760640" cy="232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5904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 Forest Regression</a:t>
            </a:r>
            <a:br>
              <a:rPr lang="en-GB" b="0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3688" y="980728"/>
            <a:ext cx="6705458" cy="476197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Non-linear regression problem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451290"/>
            <a:ext cx="5040560" cy="5290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19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 Forest Regression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040498"/>
            <a:ext cx="5616624" cy="568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0549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Tree ensembles:</a:t>
            </a:r>
          </a:p>
          <a:p>
            <a:pPr marL="1028700" lvl="1" indent="-342900"/>
            <a:r>
              <a:rPr lang="en-GB" sz="2000" dirty="0"/>
              <a:t>Bagging and Random Forest (RF)</a:t>
            </a:r>
          </a:p>
          <a:p>
            <a:pPr marL="1028700" lvl="1" indent="-342900"/>
            <a:r>
              <a:rPr lang="en-GB" sz="2000" dirty="0"/>
              <a:t>Boosting (boosted trees)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FF0000"/>
                </a:solidFill>
              </a:rPr>
              <a:t>K-NN</a:t>
            </a:r>
          </a:p>
        </p:txBody>
      </p:sp>
    </p:spTree>
    <p:extLst>
      <p:ext uri="{BB962C8B-B14F-4D97-AF65-F5344CB8AC3E}">
        <p14:creationId xmlns:p14="http://schemas.microsoft.com/office/powerpoint/2010/main" val="733629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K-NN: An Instance-Based Learning process</a:t>
            </a:r>
          </a:p>
        </p:txBody>
      </p:sp>
      <p:sp>
        <p:nvSpPr>
          <p:cNvPr id="130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Idea: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Similar examples have similar labels.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Classify new examples like similar training examples.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Algorithm: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Given some new example x for which we need to predict its class 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Find most similar training examples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Classify </a:t>
            </a:r>
            <a:r>
              <a:rPr lang="en-US" altLang="en-US" i="1" dirty="0"/>
              <a:t>x</a:t>
            </a:r>
            <a:r>
              <a:rPr lang="en-US" altLang="en-US" dirty="0"/>
              <a:t> “like” these most similar examples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Questions: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How to determine similarity?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How many similar training examples to consider?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How to resolve inconsistencies among the training examples?</a:t>
            </a:r>
          </a:p>
        </p:txBody>
      </p:sp>
    </p:spTree>
    <p:extLst>
      <p:ext uri="{BB962C8B-B14F-4D97-AF65-F5344CB8AC3E}">
        <p14:creationId xmlns:p14="http://schemas.microsoft.com/office/powerpoint/2010/main" val="28230623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i="1"/>
              <a:t>k</a:t>
            </a:r>
            <a:r>
              <a:rPr lang="en-US" altLang="en-US"/>
              <a:t>-NN Approach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The simplest, most used instance-based learning algorithm is the </a:t>
            </a:r>
            <a:r>
              <a:rPr lang="en-US" altLang="en-US" i="1"/>
              <a:t>k</a:t>
            </a:r>
            <a:r>
              <a:rPr lang="en-US" altLang="en-US"/>
              <a:t>-NN algorithm</a:t>
            </a:r>
          </a:p>
          <a:p>
            <a:pPr eaLnBrk="1" hangingPunct="1"/>
            <a:r>
              <a:rPr lang="en-US" altLang="en-US" i="1"/>
              <a:t>k</a:t>
            </a:r>
            <a:r>
              <a:rPr lang="en-US" altLang="en-US"/>
              <a:t>-NN assumes that all instances are points in some </a:t>
            </a:r>
            <a:r>
              <a:rPr lang="en-US" altLang="en-US" i="1"/>
              <a:t>n</a:t>
            </a:r>
            <a:r>
              <a:rPr lang="en-US" altLang="en-US"/>
              <a:t>-dimensional space and defines neighbors in terms of distance (usually the Euclidean distance in ℝ</a:t>
            </a:r>
            <a:r>
              <a:rPr lang="en-US" altLang="en-US" i="1" baseline="30000"/>
              <a:t>n</a:t>
            </a:r>
            <a:r>
              <a:rPr lang="en-US" altLang="en-US"/>
              <a:t>)</a:t>
            </a:r>
          </a:p>
          <a:p>
            <a:pPr eaLnBrk="1" hangingPunct="1"/>
            <a:r>
              <a:rPr lang="en-US" altLang="en-US" i="1"/>
              <a:t>k</a:t>
            </a:r>
            <a:r>
              <a:rPr lang="en-US" altLang="en-US"/>
              <a:t> is the number of neighbors considered</a:t>
            </a:r>
          </a:p>
        </p:txBody>
      </p:sp>
    </p:spTree>
    <p:extLst>
      <p:ext uri="{BB962C8B-B14F-4D97-AF65-F5344CB8AC3E}">
        <p14:creationId xmlns:p14="http://schemas.microsoft.com/office/powerpoint/2010/main" val="3401744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1-Nearest Neighbor</a:t>
            </a:r>
          </a:p>
        </p:txBody>
      </p:sp>
      <p:sp>
        <p:nvSpPr>
          <p:cNvPr id="131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One of the simplest of all machine learning classifiers</a:t>
            </a:r>
          </a:p>
          <a:p>
            <a:r>
              <a:rPr lang="en-US" altLang="en-US">
                <a:solidFill>
                  <a:srgbClr val="FF0000"/>
                </a:solidFill>
              </a:rPr>
              <a:t>Simple idea:</a:t>
            </a:r>
            <a:r>
              <a:rPr lang="en-US" altLang="en-US"/>
              <a:t>  </a:t>
            </a:r>
            <a:r>
              <a:rPr lang="en-US" altLang="en-US">
                <a:solidFill>
                  <a:srgbClr val="FF0000"/>
                </a:solidFill>
              </a:rPr>
              <a:t>label</a:t>
            </a:r>
            <a:r>
              <a:rPr lang="en-US" altLang="en-US"/>
              <a:t> a new point the </a:t>
            </a:r>
            <a:r>
              <a:rPr lang="en-US" altLang="en-US">
                <a:solidFill>
                  <a:srgbClr val="FF0000"/>
                </a:solidFill>
              </a:rPr>
              <a:t>same as the closest known point</a:t>
            </a:r>
          </a:p>
        </p:txBody>
      </p:sp>
      <p:sp>
        <p:nvSpPr>
          <p:cNvPr id="1315844" name="Oval 4"/>
          <p:cNvSpPr>
            <a:spLocks noChangeArrowheads="1"/>
          </p:cNvSpPr>
          <p:nvPr/>
        </p:nvSpPr>
        <p:spPr bwMode="auto">
          <a:xfrm>
            <a:off x="3276600" y="4267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45" name="Oval 5"/>
          <p:cNvSpPr>
            <a:spLocks noChangeArrowheads="1"/>
          </p:cNvSpPr>
          <p:nvPr/>
        </p:nvSpPr>
        <p:spPr bwMode="auto">
          <a:xfrm>
            <a:off x="36576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46" name="Oval 6"/>
          <p:cNvSpPr>
            <a:spLocks noChangeArrowheads="1"/>
          </p:cNvSpPr>
          <p:nvPr/>
        </p:nvSpPr>
        <p:spPr bwMode="auto">
          <a:xfrm>
            <a:off x="4648200" y="3962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47" name="Oval 7"/>
          <p:cNvSpPr>
            <a:spLocks noChangeArrowheads="1"/>
          </p:cNvSpPr>
          <p:nvPr/>
        </p:nvSpPr>
        <p:spPr bwMode="auto">
          <a:xfrm>
            <a:off x="3200400" y="5029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48" name="Oval 8"/>
          <p:cNvSpPr>
            <a:spLocks noChangeArrowheads="1"/>
          </p:cNvSpPr>
          <p:nvPr/>
        </p:nvSpPr>
        <p:spPr bwMode="auto">
          <a:xfrm>
            <a:off x="5334000" y="5181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49" name="Oval 9"/>
          <p:cNvSpPr>
            <a:spLocks noChangeArrowheads="1"/>
          </p:cNvSpPr>
          <p:nvPr/>
        </p:nvSpPr>
        <p:spPr bwMode="auto">
          <a:xfrm>
            <a:off x="4038600" y="4648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50" name="Oval 10"/>
          <p:cNvSpPr>
            <a:spLocks noChangeArrowheads="1"/>
          </p:cNvSpPr>
          <p:nvPr/>
        </p:nvSpPr>
        <p:spPr bwMode="auto">
          <a:xfrm>
            <a:off x="4724400" y="5867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51" name="Oval 11"/>
          <p:cNvSpPr>
            <a:spLocks noChangeArrowheads="1"/>
          </p:cNvSpPr>
          <p:nvPr/>
        </p:nvSpPr>
        <p:spPr bwMode="auto">
          <a:xfrm>
            <a:off x="4419600" y="49530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52" name="Text Box 12"/>
          <p:cNvSpPr txBox="1">
            <a:spLocks noChangeArrowheads="1"/>
          </p:cNvSpPr>
          <p:nvPr/>
        </p:nvSpPr>
        <p:spPr bwMode="auto">
          <a:xfrm>
            <a:off x="5013325" y="4306888"/>
            <a:ext cx="177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>
                <a:latin typeface="Palatino" charset="0"/>
              </a:rPr>
              <a:t>Label it red.</a:t>
            </a:r>
          </a:p>
        </p:txBody>
      </p:sp>
      <p:sp>
        <p:nvSpPr>
          <p:cNvPr id="1315853" name="Oval 13"/>
          <p:cNvSpPr>
            <a:spLocks noChangeArrowheads="1"/>
          </p:cNvSpPr>
          <p:nvPr/>
        </p:nvSpPr>
        <p:spPr bwMode="auto">
          <a:xfrm>
            <a:off x="4152900" y="46863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54" name="Oval 14"/>
          <p:cNvSpPr>
            <a:spLocks noChangeArrowheads="1"/>
          </p:cNvSpPr>
          <p:nvPr/>
        </p:nvSpPr>
        <p:spPr bwMode="auto">
          <a:xfrm>
            <a:off x="4191000" y="4724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55" name="Oval 15"/>
          <p:cNvSpPr>
            <a:spLocks noChangeArrowheads="1"/>
          </p:cNvSpPr>
          <p:nvPr/>
        </p:nvSpPr>
        <p:spPr bwMode="auto">
          <a:xfrm>
            <a:off x="4229100" y="47625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56" name="Oval 16"/>
          <p:cNvSpPr>
            <a:spLocks noChangeArrowheads="1"/>
          </p:cNvSpPr>
          <p:nvPr/>
        </p:nvSpPr>
        <p:spPr bwMode="auto">
          <a:xfrm>
            <a:off x="4267200" y="4800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57" name="Oval 17"/>
          <p:cNvSpPr>
            <a:spLocks noChangeArrowheads="1"/>
          </p:cNvSpPr>
          <p:nvPr/>
        </p:nvSpPr>
        <p:spPr bwMode="auto">
          <a:xfrm>
            <a:off x="4305300" y="48387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58" name="Oval 18"/>
          <p:cNvSpPr>
            <a:spLocks noChangeArrowheads="1"/>
          </p:cNvSpPr>
          <p:nvPr/>
        </p:nvSpPr>
        <p:spPr bwMode="auto">
          <a:xfrm>
            <a:off x="4343400" y="4876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59" name="Oval 19"/>
          <p:cNvSpPr>
            <a:spLocks noChangeArrowheads="1"/>
          </p:cNvSpPr>
          <p:nvPr/>
        </p:nvSpPr>
        <p:spPr bwMode="auto">
          <a:xfrm>
            <a:off x="4381500" y="49149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60" name="Oval 20"/>
          <p:cNvSpPr>
            <a:spLocks noChangeArrowheads="1"/>
          </p:cNvSpPr>
          <p:nvPr/>
        </p:nvSpPr>
        <p:spPr bwMode="auto">
          <a:xfrm>
            <a:off x="4419600" y="4953000"/>
            <a:ext cx="228600" cy="228600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61" name="Line 21"/>
          <p:cNvSpPr>
            <a:spLocks noChangeShapeType="1"/>
          </p:cNvSpPr>
          <p:nvPr/>
        </p:nvSpPr>
        <p:spPr bwMode="auto">
          <a:xfrm flipV="1">
            <a:off x="4648200" y="4648200"/>
            <a:ext cx="4572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248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1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5851" grpId="0" animBg="1"/>
      <p:bldP spid="1315852" grpId="0"/>
      <p:bldP spid="1315853" grpId="0" animBg="1"/>
      <p:bldP spid="1315853" grpId="1" animBg="1"/>
      <p:bldP spid="1315854" grpId="0" animBg="1"/>
      <p:bldP spid="1315854" grpId="1" animBg="1"/>
      <p:bldP spid="1315855" grpId="0" animBg="1"/>
      <p:bldP spid="1315855" grpId="1" animBg="1"/>
      <p:bldP spid="1315856" grpId="0" animBg="1"/>
      <p:bldP spid="1315856" grpId="1" animBg="1"/>
      <p:bldP spid="1315857" grpId="0" animBg="1"/>
      <p:bldP spid="1315857" grpId="1" animBg="1"/>
      <p:bldP spid="1315858" grpId="0" animBg="1"/>
      <p:bldP spid="1315858" grpId="1" animBg="1"/>
      <p:bldP spid="1315859" grpId="0" animBg="1"/>
      <p:bldP spid="1315859" grpId="1" animBg="1"/>
      <p:bldP spid="1315860" grpId="0" animBg="1"/>
      <p:bldP spid="131586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1-Nearest Neighbor</a:t>
            </a:r>
          </a:p>
        </p:txBody>
      </p:sp>
      <p:sp>
        <p:nvSpPr>
          <p:cNvPr id="131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 type of instance-based learning</a:t>
            </a:r>
          </a:p>
          <a:p>
            <a:pPr lvl="1"/>
            <a:r>
              <a:rPr lang="en-US" altLang="en-US"/>
              <a:t>Also known as “memory-based” learning</a:t>
            </a:r>
          </a:p>
          <a:p>
            <a:r>
              <a:rPr lang="en-US" altLang="en-US"/>
              <a:t>Forms a Voronoi tessellation of the instance space</a:t>
            </a:r>
          </a:p>
        </p:txBody>
      </p:sp>
      <p:pic>
        <p:nvPicPr>
          <p:cNvPr id="13178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962400"/>
            <a:ext cx="2590800" cy="257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5378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696" y="332656"/>
            <a:ext cx="6851104" cy="734144"/>
          </a:xfrm>
        </p:spPr>
        <p:txBody>
          <a:bodyPr/>
          <a:lstStyle/>
          <a:p>
            <a:r>
              <a:rPr lang="en-US" altLang="en-US" dirty="0"/>
              <a:t>Distance Metrics</a:t>
            </a:r>
          </a:p>
        </p:txBody>
      </p:sp>
      <p:sp>
        <p:nvSpPr>
          <p:cNvPr id="131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7664" y="1066800"/>
            <a:ext cx="7291536" cy="5638800"/>
          </a:xfrm>
        </p:spPr>
        <p:txBody>
          <a:bodyPr/>
          <a:lstStyle/>
          <a:p>
            <a:r>
              <a:rPr lang="en-US" altLang="en-US" sz="1800" dirty="0"/>
              <a:t>Different metrics can change the decision surface</a:t>
            </a:r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r>
              <a:rPr lang="en-US" altLang="en-US" sz="1800" dirty="0"/>
              <a:t>Standard Euclidean distance metric:</a:t>
            </a:r>
          </a:p>
          <a:p>
            <a:pPr lvl="1"/>
            <a:r>
              <a:rPr lang="en-US" altLang="en-US" sz="1800" dirty="0"/>
              <a:t>Two-dimensional:  </a:t>
            </a:r>
            <a:r>
              <a:rPr lang="en-US" altLang="en-US" sz="1800" dirty="0" err="1"/>
              <a:t>Dist</a:t>
            </a:r>
            <a:r>
              <a:rPr lang="en-US" altLang="en-US" sz="1800" dirty="0"/>
              <a:t>(</a:t>
            </a:r>
            <a:r>
              <a:rPr lang="en-US" altLang="en-US" sz="1800" dirty="0" err="1"/>
              <a:t>a,b</a:t>
            </a:r>
            <a:r>
              <a:rPr lang="en-US" altLang="en-US" sz="1800" dirty="0"/>
              <a:t>) = </a:t>
            </a:r>
            <a:r>
              <a:rPr lang="en-US" altLang="en-US" sz="1800" dirty="0" err="1"/>
              <a:t>sqrt</a:t>
            </a:r>
            <a:r>
              <a:rPr lang="en-US" altLang="en-US" sz="1800" dirty="0"/>
              <a:t>((a</a:t>
            </a:r>
            <a:r>
              <a:rPr lang="en-US" altLang="en-US" sz="1800" baseline="-25000" dirty="0"/>
              <a:t>1</a:t>
            </a:r>
            <a:r>
              <a:rPr lang="en-US" altLang="en-US" sz="1800" dirty="0"/>
              <a:t> </a:t>
            </a:r>
            <a:r>
              <a:rPr lang="en-US" altLang="en-US" sz="1800" dirty="0">
                <a:latin typeface="Palatino"/>
              </a:rPr>
              <a:t>–</a:t>
            </a:r>
            <a:r>
              <a:rPr lang="en-US" altLang="en-US" sz="1800" dirty="0"/>
              <a:t> b</a:t>
            </a:r>
            <a:r>
              <a:rPr lang="en-US" altLang="en-US" sz="1800" baseline="-25000" dirty="0"/>
              <a:t>1</a:t>
            </a:r>
            <a:r>
              <a:rPr lang="en-US" altLang="en-US" sz="1800" dirty="0"/>
              <a:t>)</a:t>
            </a:r>
            <a:r>
              <a:rPr lang="en-US" altLang="en-US" sz="1800" baseline="30000" dirty="0"/>
              <a:t>2 </a:t>
            </a:r>
            <a:r>
              <a:rPr lang="en-US" altLang="en-US" sz="1800" dirty="0"/>
              <a:t>+ (a</a:t>
            </a:r>
            <a:r>
              <a:rPr lang="en-US" altLang="en-US" sz="1800" baseline="-25000" dirty="0"/>
              <a:t>2</a:t>
            </a:r>
            <a:r>
              <a:rPr lang="en-US" altLang="en-US" sz="1800" dirty="0"/>
              <a:t> </a:t>
            </a:r>
            <a:r>
              <a:rPr lang="en-US" altLang="en-US" sz="1800" dirty="0">
                <a:latin typeface="Palatino"/>
              </a:rPr>
              <a:t>–</a:t>
            </a:r>
            <a:r>
              <a:rPr lang="en-US" altLang="en-US" sz="1800" dirty="0"/>
              <a:t> b</a:t>
            </a:r>
            <a:r>
              <a:rPr lang="en-US" altLang="en-US" sz="1800" baseline="-25000" dirty="0"/>
              <a:t>2</a:t>
            </a:r>
            <a:r>
              <a:rPr lang="en-US" altLang="en-US" sz="1800" dirty="0"/>
              <a:t>)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)</a:t>
            </a:r>
          </a:p>
          <a:p>
            <a:pPr lvl="1"/>
            <a:r>
              <a:rPr lang="en-US" altLang="en-US" sz="1800" dirty="0"/>
              <a:t>Multivariate:  </a:t>
            </a:r>
            <a:r>
              <a:rPr lang="en-US" altLang="en-US" sz="1800" dirty="0" err="1"/>
              <a:t>Dist</a:t>
            </a:r>
            <a:r>
              <a:rPr lang="en-US" altLang="en-US" sz="1800" dirty="0"/>
              <a:t>(</a:t>
            </a:r>
            <a:r>
              <a:rPr lang="en-US" altLang="en-US" sz="1800" dirty="0" err="1"/>
              <a:t>a,b</a:t>
            </a:r>
            <a:r>
              <a:rPr lang="en-US" altLang="en-US" sz="1800" dirty="0"/>
              <a:t>) = </a:t>
            </a:r>
            <a:r>
              <a:rPr lang="en-US" altLang="en-US" sz="1800" dirty="0" err="1"/>
              <a:t>sqrt</a:t>
            </a:r>
            <a:r>
              <a:rPr lang="en-US" altLang="en-US" sz="1800" dirty="0"/>
              <a:t>(∑ (</a:t>
            </a:r>
            <a:r>
              <a:rPr lang="en-US" altLang="en-US" sz="1800" dirty="0" err="1"/>
              <a:t>a</a:t>
            </a:r>
            <a:r>
              <a:rPr lang="en-US" altLang="en-US" sz="1800" baseline="-25000" dirty="0" err="1"/>
              <a:t>i</a:t>
            </a:r>
            <a:r>
              <a:rPr lang="en-US" altLang="en-US" sz="1800" dirty="0"/>
              <a:t> </a:t>
            </a:r>
            <a:r>
              <a:rPr lang="en-US" altLang="en-US" sz="1800" dirty="0">
                <a:latin typeface="Palatino"/>
              </a:rPr>
              <a:t>–</a:t>
            </a:r>
            <a:r>
              <a:rPr lang="en-US" altLang="en-US" sz="1800" dirty="0"/>
              <a:t> b</a:t>
            </a:r>
            <a:r>
              <a:rPr lang="en-US" altLang="en-US" sz="1800" baseline="-25000" dirty="0"/>
              <a:t>i</a:t>
            </a:r>
            <a:r>
              <a:rPr lang="en-US" altLang="en-US" sz="1800" dirty="0"/>
              <a:t>)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)</a:t>
            </a:r>
          </a:p>
        </p:txBody>
      </p:sp>
      <p:pic>
        <p:nvPicPr>
          <p:cNvPr id="13199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606" y="1846263"/>
            <a:ext cx="2590800" cy="257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1994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006" y="1846263"/>
            <a:ext cx="2590800" cy="258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19942" name="Text Box 6"/>
          <p:cNvSpPr txBox="1">
            <a:spLocks noChangeArrowheads="1"/>
          </p:cNvSpPr>
          <p:nvPr/>
        </p:nvSpPr>
        <p:spPr bwMode="auto">
          <a:xfrm>
            <a:off x="1645419" y="4510088"/>
            <a:ext cx="33226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800">
                <a:latin typeface="Palatino" charset="0"/>
              </a:rPr>
              <a:t>Dist(</a:t>
            </a:r>
            <a:r>
              <a:rPr lang="en-US" altLang="en-US" sz="1800" b="1">
                <a:latin typeface="Palatino" charset="0"/>
              </a:rPr>
              <a:t>a,b</a:t>
            </a:r>
            <a:r>
              <a:rPr lang="en-US" altLang="en-US" sz="1800">
                <a:latin typeface="Palatino" charset="0"/>
              </a:rPr>
              <a:t>)</a:t>
            </a:r>
            <a:r>
              <a:rPr lang="en-US" altLang="en-US" sz="1800" baseline="30000">
                <a:latin typeface="Palatino" charset="0"/>
              </a:rPr>
              <a:t>2</a:t>
            </a:r>
            <a:r>
              <a:rPr lang="en-US" altLang="en-US" sz="1800">
                <a:latin typeface="Palatino" charset="0"/>
              </a:rPr>
              <a:t> =(a</a:t>
            </a:r>
            <a:r>
              <a:rPr lang="en-US" altLang="en-US" sz="1800" baseline="-25000">
                <a:latin typeface="Palatino" charset="0"/>
              </a:rPr>
              <a:t>1</a:t>
            </a:r>
            <a:r>
              <a:rPr lang="en-US" altLang="en-US" sz="1800">
                <a:latin typeface="Palatino" charset="0"/>
              </a:rPr>
              <a:t> – b</a:t>
            </a:r>
            <a:r>
              <a:rPr lang="en-US" altLang="en-US" sz="1800" baseline="-25000">
                <a:latin typeface="Palatino" charset="0"/>
              </a:rPr>
              <a:t>1</a:t>
            </a:r>
            <a:r>
              <a:rPr lang="en-US" altLang="en-US" sz="1800">
                <a:latin typeface="Palatino" charset="0"/>
              </a:rPr>
              <a:t>)</a:t>
            </a:r>
            <a:r>
              <a:rPr lang="en-US" altLang="en-US" sz="1800" baseline="30000">
                <a:latin typeface="Palatino" charset="0"/>
              </a:rPr>
              <a:t>2 </a:t>
            </a:r>
            <a:r>
              <a:rPr lang="en-US" altLang="en-US" sz="1800">
                <a:latin typeface="Palatino" charset="0"/>
              </a:rPr>
              <a:t>+ (a</a:t>
            </a:r>
            <a:r>
              <a:rPr lang="en-US" altLang="en-US" sz="1800" baseline="-25000">
                <a:latin typeface="Palatino" charset="0"/>
              </a:rPr>
              <a:t>2</a:t>
            </a:r>
            <a:r>
              <a:rPr lang="en-US" altLang="en-US" sz="1800">
                <a:latin typeface="Palatino" charset="0"/>
              </a:rPr>
              <a:t> – b</a:t>
            </a:r>
            <a:r>
              <a:rPr lang="en-US" altLang="en-US" sz="1800" baseline="-25000">
                <a:latin typeface="Palatino" charset="0"/>
              </a:rPr>
              <a:t>2</a:t>
            </a:r>
            <a:r>
              <a:rPr lang="en-US" altLang="en-US" sz="1800">
                <a:latin typeface="Palatino" charset="0"/>
              </a:rPr>
              <a:t>)</a:t>
            </a:r>
            <a:r>
              <a:rPr lang="en-US" altLang="en-US" sz="1800" baseline="30000">
                <a:latin typeface="Palatino" charset="0"/>
              </a:rPr>
              <a:t>2</a:t>
            </a:r>
          </a:p>
        </p:txBody>
      </p:sp>
      <p:sp>
        <p:nvSpPr>
          <p:cNvPr id="1319943" name="Text Box 7"/>
          <p:cNvSpPr txBox="1">
            <a:spLocks noChangeArrowheads="1"/>
          </p:cNvSpPr>
          <p:nvPr/>
        </p:nvSpPr>
        <p:spPr bwMode="auto">
          <a:xfrm>
            <a:off x="5099819" y="4510088"/>
            <a:ext cx="35766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800">
                <a:latin typeface="Palatino" charset="0"/>
              </a:rPr>
              <a:t>Dist(</a:t>
            </a:r>
            <a:r>
              <a:rPr lang="en-US" altLang="en-US" sz="1800" b="1">
                <a:latin typeface="Palatino" charset="0"/>
              </a:rPr>
              <a:t>a,b</a:t>
            </a:r>
            <a:r>
              <a:rPr lang="en-US" altLang="en-US" sz="1800">
                <a:latin typeface="Palatino" charset="0"/>
              </a:rPr>
              <a:t>)</a:t>
            </a:r>
            <a:r>
              <a:rPr lang="en-US" altLang="en-US" sz="1800" baseline="30000">
                <a:latin typeface="Palatino" charset="0"/>
              </a:rPr>
              <a:t>2</a:t>
            </a:r>
            <a:r>
              <a:rPr lang="en-US" altLang="en-US" sz="1800">
                <a:latin typeface="Palatino" charset="0"/>
              </a:rPr>
              <a:t> =(a</a:t>
            </a:r>
            <a:r>
              <a:rPr lang="en-US" altLang="en-US" sz="1800" baseline="-25000">
                <a:latin typeface="Palatino" charset="0"/>
              </a:rPr>
              <a:t>1</a:t>
            </a:r>
            <a:r>
              <a:rPr lang="en-US" altLang="en-US" sz="1800">
                <a:latin typeface="Palatino" charset="0"/>
              </a:rPr>
              <a:t> – b</a:t>
            </a:r>
            <a:r>
              <a:rPr lang="en-US" altLang="en-US" sz="1800" baseline="-25000">
                <a:latin typeface="Palatino" charset="0"/>
              </a:rPr>
              <a:t>1</a:t>
            </a:r>
            <a:r>
              <a:rPr lang="en-US" altLang="en-US" sz="1800">
                <a:latin typeface="Palatino" charset="0"/>
              </a:rPr>
              <a:t>)</a:t>
            </a:r>
            <a:r>
              <a:rPr lang="en-US" altLang="en-US" sz="1800" baseline="30000">
                <a:latin typeface="Palatino" charset="0"/>
              </a:rPr>
              <a:t>2 </a:t>
            </a:r>
            <a:r>
              <a:rPr lang="en-US" altLang="en-US" sz="1800">
                <a:latin typeface="Palatino" charset="0"/>
              </a:rPr>
              <a:t>+ (3a</a:t>
            </a:r>
            <a:r>
              <a:rPr lang="en-US" altLang="en-US" sz="1800" baseline="-25000">
                <a:latin typeface="Palatino" charset="0"/>
              </a:rPr>
              <a:t>2</a:t>
            </a:r>
            <a:r>
              <a:rPr lang="en-US" altLang="en-US" sz="1800">
                <a:latin typeface="Palatino" charset="0"/>
              </a:rPr>
              <a:t> – 3b</a:t>
            </a:r>
            <a:r>
              <a:rPr lang="en-US" altLang="en-US" sz="1800" baseline="-25000">
                <a:latin typeface="Palatino" charset="0"/>
              </a:rPr>
              <a:t>2</a:t>
            </a:r>
            <a:r>
              <a:rPr lang="en-US" altLang="en-US" sz="1800">
                <a:latin typeface="Palatino" charset="0"/>
              </a:rPr>
              <a:t>)</a:t>
            </a:r>
            <a:r>
              <a:rPr lang="en-US" altLang="en-US" sz="1800" baseline="30000">
                <a:latin typeface="Palatino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401610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1-NN’s Aspects as an</a:t>
            </a:r>
            <a:br>
              <a:rPr lang="en-US" altLang="en-US" sz="2800"/>
            </a:br>
            <a:r>
              <a:rPr lang="en-US" altLang="en-US" sz="2800"/>
              <a:t>Instance-Based Learner:</a:t>
            </a:r>
          </a:p>
        </p:txBody>
      </p:sp>
      <p:sp>
        <p:nvSpPr>
          <p:cNvPr id="132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/>
              <a:t>A distance metric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sz="1600"/>
              <a:t>Euclidean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sz="1600"/>
              <a:t>When different units are used for each dimension</a:t>
            </a:r>
          </a:p>
          <a:p>
            <a:pPr marL="1295400" lvl="2" indent="-381000">
              <a:lnSpc>
                <a:spcPct val="90000"/>
              </a:lnSpc>
              <a:buFontTx/>
              <a:buNone/>
            </a:pP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/>
              <a:t>normalize each dimension by standard deviation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sz="1600"/>
              <a:t>For discrete data, can use Hamming distance </a:t>
            </a:r>
          </a:p>
          <a:p>
            <a:pPr marL="1295400" lvl="2" indent="-381000">
              <a:lnSpc>
                <a:spcPct val="90000"/>
              </a:lnSpc>
              <a:buFontTx/>
              <a:buNone/>
            </a:pPr>
            <a:r>
              <a:rPr lang="en-US" altLang="en-US" sz="1600">
                <a:sym typeface="Wingdings" pitchFamily="2" charset="2"/>
              </a:rPr>
              <a:t></a:t>
            </a:r>
            <a:r>
              <a:rPr lang="en-US" altLang="en-US" sz="1600"/>
              <a:t> D(x1,x2) = number of features on which x1 and x2 differ</a:t>
            </a:r>
            <a:endParaRPr lang="en-US" altLang="en-US" sz="1400"/>
          </a:p>
          <a:p>
            <a:pPr marL="914400" lvl="1" indent="-457200">
              <a:lnSpc>
                <a:spcPct val="90000"/>
              </a:lnSpc>
            </a:pPr>
            <a:r>
              <a:rPr lang="en-US" altLang="en-US" sz="1600"/>
              <a:t>Others (e.g., Manhattan, Mahalanobis, cosine)</a:t>
            </a:r>
          </a:p>
          <a:p>
            <a:pPr marL="914400" lvl="1" indent="-457200">
              <a:lnSpc>
                <a:spcPct val="90000"/>
              </a:lnSpc>
            </a:pPr>
            <a:endParaRPr lang="en-US" altLang="en-US" sz="1800"/>
          </a:p>
          <a:p>
            <a:pPr marL="533400" indent="-533400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/>
              <a:t>How many nearby neighbors to look at?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sz="1600"/>
              <a:t>One</a:t>
            </a:r>
          </a:p>
          <a:p>
            <a:pPr marL="533400" indent="-533400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/>
              <a:t>How to fit with the local points?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sz="1600"/>
              <a:t>Just predict the same output as the nearest neighbor.</a:t>
            </a:r>
          </a:p>
        </p:txBody>
      </p:sp>
      <p:sp>
        <p:nvSpPr>
          <p:cNvPr id="1324036" name="Text Box 4"/>
          <p:cNvSpPr txBox="1">
            <a:spLocks noChangeArrowheads="1"/>
          </p:cNvSpPr>
          <p:nvPr/>
        </p:nvSpPr>
        <p:spPr bwMode="auto">
          <a:xfrm>
            <a:off x="6172200" y="62484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200">
                <a:latin typeface="Palatino" charset="0"/>
              </a:rPr>
              <a:t>Adapted from “Instance-Based Learning” </a:t>
            </a:r>
          </a:p>
          <a:p>
            <a:pPr eaLnBrk="0" hangingPunct="0"/>
            <a:r>
              <a:rPr lang="en-US" altLang="en-US" sz="1200">
                <a:latin typeface="Palatino" charset="0"/>
              </a:rPr>
              <a:t>lecture slides by Andrew Moore, CMU.</a:t>
            </a:r>
          </a:p>
        </p:txBody>
      </p:sp>
    </p:spTree>
    <p:extLst>
      <p:ext uri="{BB962C8B-B14F-4D97-AF65-F5344CB8AC3E}">
        <p14:creationId xmlns:p14="http://schemas.microsoft.com/office/powerpoint/2010/main" val="123131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 – Nearest Neighbor</a:t>
            </a:r>
          </a:p>
        </p:txBody>
      </p:sp>
      <p:sp>
        <p:nvSpPr>
          <p:cNvPr id="132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Generalizes 1-NN to smooth away noise in the labels</a:t>
            </a:r>
          </a:p>
          <a:p>
            <a:r>
              <a:rPr lang="en-US" altLang="en-US"/>
              <a:t>A new point is now assigned </a:t>
            </a:r>
            <a:r>
              <a:rPr lang="en-US" altLang="en-US">
                <a:solidFill>
                  <a:srgbClr val="FF0000"/>
                </a:solidFill>
              </a:rPr>
              <a:t>the most frequent label of its </a:t>
            </a:r>
            <a:r>
              <a:rPr lang="en-US" altLang="en-US" i="1">
                <a:solidFill>
                  <a:srgbClr val="FF0000"/>
                </a:solidFill>
              </a:rPr>
              <a:t>k</a:t>
            </a:r>
            <a:r>
              <a:rPr lang="en-US" altLang="en-US">
                <a:solidFill>
                  <a:srgbClr val="FF0000"/>
                </a:solidFill>
              </a:rPr>
              <a:t> nearest neighbors</a:t>
            </a:r>
          </a:p>
        </p:txBody>
      </p:sp>
      <p:sp>
        <p:nvSpPr>
          <p:cNvPr id="1326084" name="Oval 4"/>
          <p:cNvSpPr>
            <a:spLocks noChangeArrowheads="1"/>
          </p:cNvSpPr>
          <p:nvPr/>
        </p:nvSpPr>
        <p:spPr bwMode="auto">
          <a:xfrm>
            <a:off x="1666800" y="4648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85" name="Oval 5"/>
          <p:cNvSpPr>
            <a:spLocks noChangeArrowheads="1"/>
          </p:cNvSpPr>
          <p:nvPr/>
        </p:nvSpPr>
        <p:spPr bwMode="auto">
          <a:xfrm>
            <a:off x="2047800" y="6096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86" name="Oval 6"/>
          <p:cNvSpPr>
            <a:spLocks noChangeArrowheads="1"/>
          </p:cNvSpPr>
          <p:nvPr/>
        </p:nvSpPr>
        <p:spPr bwMode="auto">
          <a:xfrm>
            <a:off x="3038400" y="4343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87" name="Oval 7"/>
          <p:cNvSpPr>
            <a:spLocks noChangeArrowheads="1"/>
          </p:cNvSpPr>
          <p:nvPr/>
        </p:nvSpPr>
        <p:spPr bwMode="auto">
          <a:xfrm>
            <a:off x="15906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88" name="Oval 8"/>
          <p:cNvSpPr>
            <a:spLocks noChangeArrowheads="1"/>
          </p:cNvSpPr>
          <p:nvPr/>
        </p:nvSpPr>
        <p:spPr bwMode="auto">
          <a:xfrm>
            <a:off x="3419400" y="5334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89" name="Oval 9"/>
          <p:cNvSpPr>
            <a:spLocks noChangeArrowheads="1"/>
          </p:cNvSpPr>
          <p:nvPr/>
        </p:nvSpPr>
        <p:spPr bwMode="auto">
          <a:xfrm>
            <a:off x="2428800" y="5029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90" name="Oval 10"/>
          <p:cNvSpPr>
            <a:spLocks noChangeArrowheads="1"/>
          </p:cNvSpPr>
          <p:nvPr/>
        </p:nvSpPr>
        <p:spPr bwMode="auto">
          <a:xfrm>
            <a:off x="3038400" y="5867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91" name="Text Box 11"/>
          <p:cNvSpPr txBox="1">
            <a:spLocks noChangeArrowheads="1"/>
          </p:cNvSpPr>
          <p:nvPr/>
        </p:nvSpPr>
        <p:spPr bwMode="auto">
          <a:xfrm>
            <a:off x="3403525" y="4687888"/>
            <a:ext cx="3344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>
                <a:latin typeface="Palatino" charset="0"/>
              </a:rPr>
              <a:t>Label it red, when k = 3</a:t>
            </a:r>
          </a:p>
        </p:txBody>
      </p:sp>
      <p:sp>
        <p:nvSpPr>
          <p:cNvPr id="1326092" name="Oval 12"/>
          <p:cNvSpPr>
            <a:spLocks noChangeArrowheads="1"/>
          </p:cNvSpPr>
          <p:nvPr/>
        </p:nvSpPr>
        <p:spPr bwMode="auto">
          <a:xfrm>
            <a:off x="2771700" y="5372100"/>
            <a:ext cx="228600" cy="228600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93" name="Line 13"/>
          <p:cNvSpPr>
            <a:spLocks noChangeShapeType="1"/>
          </p:cNvSpPr>
          <p:nvPr/>
        </p:nvSpPr>
        <p:spPr bwMode="auto">
          <a:xfrm flipV="1">
            <a:off x="3038400" y="5029200"/>
            <a:ext cx="4572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26094" name="Oval 14"/>
          <p:cNvSpPr>
            <a:spLocks noChangeArrowheads="1"/>
          </p:cNvSpPr>
          <p:nvPr/>
        </p:nvSpPr>
        <p:spPr bwMode="auto">
          <a:xfrm>
            <a:off x="2352600" y="4953000"/>
            <a:ext cx="10668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95" name="Oval 15"/>
          <p:cNvSpPr>
            <a:spLocks noChangeArrowheads="1"/>
          </p:cNvSpPr>
          <p:nvPr/>
        </p:nvSpPr>
        <p:spPr bwMode="auto">
          <a:xfrm>
            <a:off x="6613450" y="372971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96" name="Oval 16"/>
          <p:cNvSpPr>
            <a:spLocks noChangeArrowheads="1"/>
          </p:cNvSpPr>
          <p:nvPr/>
        </p:nvSpPr>
        <p:spPr bwMode="auto">
          <a:xfrm>
            <a:off x="6994450" y="5177519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97" name="Oval 17"/>
          <p:cNvSpPr>
            <a:spLocks noChangeArrowheads="1"/>
          </p:cNvSpPr>
          <p:nvPr/>
        </p:nvSpPr>
        <p:spPr bwMode="auto">
          <a:xfrm>
            <a:off x="7985050" y="342491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98" name="Oval 18"/>
          <p:cNvSpPr>
            <a:spLocks noChangeArrowheads="1"/>
          </p:cNvSpPr>
          <p:nvPr/>
        </p:nvSpPr>
        <p:spPr bwMode="auto">
          <a:xfrm>
            <a:off x="6537250" y="449171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99" name="Oval 19"/>
          <p:cNvSpPr>
            <a:spLocks noChangeArrowheads="1"/>
          </p:cNvSpPr>
          <p:nvPr/>
        </p:nvSpPr>
        <p:spPr bwMode="auto">
          <a:xfrm>
            <a:off x="8366050" y="4415519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100" name="Oval 20"/>
          <p:cNvSpPr>
            <a:spLocks noChangeArrowheads="1"/>
          </p:cNvSpPr>
          <p:nvPr/>
        </p:nvSpPr>
        <p:spPr bwMode="auto">
          <a:xfrm>
            <a:off x="7375450" y="4110719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101" name="Oval 21"/>
          <p:cNvSpPr>
            <a:spLocks noChangeArrowheads="1"/>
          </p:cNvSpPr>
          <p:nvPr/>
        </p:nvSpPr>
        <p:spPr bwMode="auto">
          <a:xfrm>
            <a:off x="7985050" y="494891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102" name="Text Box 22"/>
          <p:cNvSpPr txBox="1">
            <a:spLocks noChangeArrowheads="1"/>
          </p:cNvSpPr>
          <p:nvPr/>
        </p:nvSpPr>
        <p:spPr bwMode="auto">
          <a:xfrm>
            <a:off x="3952800" y="5791200"/>
            <a:ext cx="3481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>
                <a:latin typeface="Palatino" charset="0"/>
              </a:rPr>
              <a:t>Label it blue, when k = 7</a:t>
            </a:r>
          </a:p>
        </p:txBody>
      </p:sp>
      <p:sp>
        <p:nvSpPr>
          <p:cNvPr id="1326103" name="Oval 23"/>
          <p:cNvSpPr>
            <a:spLocks noChangeArrowheads="1"/>
          </p:cNvSpPr>
          <p:nvPr/>
        </p:nvSpPr>
        <p:spPr bwMode="auto">
          <a:xfrm>
            <a:off x="7718350" y="4453619"/>
            <a:ext cx="228600" cy="2286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104" name="Line 24"/>
          <p:cNvSpPr>
            <a:spLocks noChangeShapeType="1"/>
          </p:cNvSpPr>
          <p:nvPr/>
        </p:nvSpPr>
        <p:spPr bwMode="auto">
          <a:xfrm flipH="1">
            <a:off x="6521375" y="4607606"/>
            <a:ext cx="1143000" cy="125979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26105" name="Oval 25"/>
          <p:cNvSpPr>
            <a:spLocks noChangeArrowheads="1"/>
          </p:cNvSpPr>
          <p:nvPr/>
        </p:nvSpPr>
        <p:spPr bwMode="auto">
          <a:xfrm>
            <a:off x="6629325" y="3364594"/>
            <a:ext cx="2406650" cy="24066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99531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Selecting the Number of Neighbors</a:t>
            </a:r>
          </a:p>
        </p:txBody>
      </p:sp>
      <p:sp>
        <p:nvSpPr>
          <p:cNvPr id="132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712" y="1772816"/>
            <a:ext cx="6650955" cy="4800600"/>
          </a:xfrm>
        </p:spPr>
        <p:txBody>
          <a:bodyPr/>
          <a:lstStyle/>
          <a:p>
            <a:r>
              <a:rPr lang="en-US" altLang="en-US" dirty="0"/>
              <a:t>Increase k:</a:t>
            </a:r>
          </a:p>
          <a:p>
            <a:pPr lvl="1"/>
            <a:r>
              <a:rPr lang="en-US" altLang="en-US" dirty="0"/>
              <a:t>Makes KNN less sensitive to noise 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Decrease k:</a:t>
            </a:r>
          </a:p>
          <a:p>
            <a:pPr lvl="1"/>
            <a:r>
              <a:rPr lang="en-US" altLang="en-US" dirty="0"/>
              <a:t>Allows capturing finer structure of space</a:t>
            </a:r>
          </a:p>
          <a:p>
            <a:pPr lvl="1"/>
            <a:endParaRPr lang="en-US" altLang="en-US" dirty="0"/>
          </a:p>
          <a:p>
            <a:r>
              <a:rPr lang="en-US" altLang="en-US" dirty="0">
                <a:sym typeface="Wingdings" pitchFamily="2" charset="2"/>
              </a:rPr>
              <a:t>Pick k not too large, but not too small (depends on data)</a:t>
            </a: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751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Curse-of-Dimensionality</a:t>
            </a:r>
          </a:p>
        </p:txBody>
      </p:sp>
      <p:sp>
        <p:nvSpPr>
          <p:cNvPr id="133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Prediction accuracy can quickly degrade when number of attributes grows.</a:t>
            </a:r>
          </a:p>
          <a:p>
            <a:pPr lvl="1"/>
            <a:r>
              <a:rPr lang="en-US" altLang="en-US"/>
              <a:t>Irrelevant attributes easily “swamp” information from relevant attributes</a:t>
            </a:r>
          </a:p>
          <a:p>
            <a:pPr lvl="1"/>
            <a:r>
              <a:rPr lang="en-US" altLang="en-US">
                <a:sym typeface="Wingdings" pitchFamily="2" charset="2"/>
              </a:rPr>
              <a:t>When many irrelevant attributes, similarity/distance measure becomes less reliable</a:t>
            </a:r>
          </a:p>
          <a:p>
            <a:pPr lvl="1">
              <a:buFontTx/>
              <a:buNone/>
            </a:pPr>
            <a:endParaRPr lang="en-US" altLang="en-US"/>
          </a:p>
          <a:p>
            <a:r>
              <a:rPr lang="en-US" altLang="en-US"/>
              <a:t>Remedy</a:t>
            </a:r>
          </a:p>
          <a:p>
            <a:pPr lvl="1"/>
            <a:r>
              <a:rPr lang="en-US" altLang="en-US"/>
              <a:t>Try to remove irrelevant attributes in pre-processing step</a:t>
            </a:r>
          </a:p>
          <a:p>
            <a:pPr lvl="1"/>
            <a:r>
              <a:rPr lang="en-US" altLang="en-US"/>
              <a:t>Weight attributes differently</a:t>
            </a:r>
          </a:p>
          <a:p>
            <a:pPr lvl="1"/>
            <a:r>
              <a:rPr lang="en-US" altLang="en-US"/>
              <a:t>Increase k (but not too much)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041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Advantages and Disadvantages of KNN</a:t>
            </a:r>
          </a:p>
        </p:txBody>
      </p:sp>
      <p:sp>
        <p:nvSpPr>
          <p:cNvPr id="133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 dirty="0"/>
              <a:t>Need distance/similarity measure and attributes that “match” target function.</a:t>
            </a:r>
          </a:p>
          <a:p>
            <a:endParaRPr lang="en-US" altLang="en-US" sz="2000" dirty="0"/>
          </a:p>
          <a:p>
            <a:r>
              <a:rPr lang="en-US" altLang="en-US" sz="2000" dirty="0"/>
              <a:t>For large training sets,</a:t>
            </a:r>
          </a:p>
          <a:p>
            <a:r>
              <a:rPr lang="en-US" altLang="en-US" sz="2000" dirty="0">
                <a:sym typeface="Wingdings" pitchFamily="2" charset="2"/>
              </a:rPr>
              <a:t> </a:t>
            </a:r>
            <a:r>
              <a:rPr lang="en-US" altLang="en-US" sz="2000" dirty="0"/>
              <a:t>Must make a pass through the entire dataset for each classification.  This can be prohibitive for large data sets.</a:t>
            </a:r>
          </a:p>
          <a:p>
            <a:endParaRPr lang="en-US" altLang="en-US" sz="2000" dirty="0"/>
          </a:p>
          <a:p>
            <a:r>
              <a:rPr lang="en-US" altLang="en-US" sz="2000" dirty="0"/>
              <a:t>Prediction accuracy can quickly degrade when number of attributes grows.</a:t>
            </a:r>
          </a:p>
          <a:p>
            <a:r>
              <a:rPr lang="en-US" altLang="en-US" dirty="0"/>
              <a:t>	</a:t>
            </a:r>
          </a:p>
        </p:txBody>
      </p:sp>
      <p:sp>
        <p:nvSpPr>
          <p:cNvPr id="1332229" name="Rectangle 5"/>
          <p:cNvSpPr>
            <a:spLocks noChangeArrowheads="1"/>
          </p:cNvSpPr>
          <p:nvPr/>
        </p:nvSpPr>
        <p:spPr bwMode="auto">
          <a:xfrm>
            <a:off x="2956153" y="4844596"/>
            <a:ext cx="4248150" cy="15017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en-US" sz="2000"/>
              <a:t>Simple to implement algorithm; </a:t>
            </a:r>
          </a:p>
          <a:p>
            <a:pPr algn="ctr">
              <a:spcBef>
                <a:spcPct val="20000"/>
              </a:spcBef>
            </a:pPr>
            <a:r>
              <a:rPr lang="en-US" altLang="en-US" sz="2000"/>
              <a:t>Requires little tuning; </a:t>
            </a:r>
          </a:p>
          <a:p>
            <a:pPr algn="ctr">
              <a:spcBef>
                <a:spcPct val="20000"/>
              </a:spcBef>
            </a:pPr>
            <a:r>
              <a:rPr lang="en-US" altLang="en-US" sz="2000"/>
              <a:t>Often performs quite well! </a:t>
            </a:r>
          </a:p>
          <a:p>
            <a:pPr algn="ctr">
              <a:spcBef>
                <a:spcPct val="20000"/>
              </a:spcBef>
            </a:pPr>
            <a:r>
              <a:rPr lang="en-US" altLang="en-US" sz="2000"/>
              <a:t>(Try it first on a new learning problem).</a:t>
            </a:r>
          </a:p>
        </p:txBody>
      </p:sp>
    </p:spTree>
    <p:extLst>
      <p:ext uri="{BB962C8B-B14F-4D97-AF65-F5344CB8AC3E}">
        <p14:creationId xmlns:p14="http://schemas.microsoft.com/office/powerpoint/2010/main" val="190959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2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K-NN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340768"/>
            <a:ext cx="5276448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019" y="2348880"/>
            <a:ext cx="7575102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568018" y="6145559"/>
            <a:ext cx="75759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hlinkClick r:id="rId4"/>
              </a:rPr>
              <a:t>https://scikit-learn.org/stable/modules/generated/sklearn.neighbors.KNeighborsClassifier.html</a:t>
            </a:r>
            <a:r>
              <a:rPr lang="en-GB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39854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 you decide the number of neighbours in KNN?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Research has shown that no optimal number of neighbours suits all kinds of data sets. Each dataset has its own requirements. In the case of a small number of neighbours, the noise will have a higher influence on the result, while a large number of neighbours blurs the boundaries between classes and makes it more computationally expensive.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With two classes, data scientists usually choose an odd k, so that the vote cannot end in a tie.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You can also try the elbow method here.</a:t>
            </a:r>
          </a:p>
        </p:txBody>
      </p:sp>
    </p:spTree>
    <p:extLst>
      <p:ext uri="{BB962C8B-B14F-4D97-AF65-F5344CB8AC3E}">
        <p14:creationId xmlns:p14="http://schemas.microsoft.com/office/powerpoint/2010/main" val="36954464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Elbow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4" y="1412776"/>
            <a:ext cx="5547101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 descr="https://datascienceplus.com/wp-content/uploads/2019/04/Screenshot-8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000" y="1263689"/>
            <a:ext cx="7534648" cy="5189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211960" y="4869160"/>
            <a:ext cx="1728192" cy="36004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 rot="17270530">
            <a:off x="5071986" y="4198682"/>
            <a:ext cx="1728192" cy="36004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868144" y="5049180"/>
            <a:ext cx="0" cy="13321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47571" y="639701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932040" y="332656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k = 22: the error rate stays low from about k = 12 to 22 and jumps at k = 23</a:t>
            </a:r>
          </a:p>
        </p:txBody>
      </p:sp>
    </p:spTree>
    <p:extLst>
      <p:ext uri="{BB962C8B-B14F-4D97-AF65-F5344CB8AC3E}">
        <p14:creationId xmlns:p14="http://schemas.microsoft.com/office/powerpoint/2010/main" val="59307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63688" y="1196752"/>
            <a:ext cx="7200800" cy="4114800"/>
          </a:xfrm>
        </p:spPr>
        <p:txBody>
          <a:bodyPr>
            <a:normAutofit/>
          </a:bodyPr>
          <a:lstStyle/>
          <a:p>
            <a:r>
              <a:rPr lang="en-GB" sz="2000" dirty="0"/>
              <a:t>This section contained:</a:t>
            </a:r>
          </a:p>
          <a:p>
            <a:r>
              <a:rPr lang="en-GB" sz="2000" dirty="0"/>
              <a:t>1. A brief introduction to tree ensembles: bagging, random forests (ensembles of randomized decision trees) and boosting.</a:t>
            </a:r>
          </a:p>
          <a:p>
            <a:r>
              <a:rPr lang="en-GB" sz="2000" dirty="0"/>
              <a:t>2. K-NN algorithm</a:t>
            </a:r>
          </a:p>
          <a:p>
            <a:r>
              <a:rPr lang="en-GB" sz="2000" dirty="0"/>
              <a:t>Lab: Go through the K-NN practice notebook on the course website (Week 7, 3 Tutorial)</a:t>
            </a:r>
          </a:p>
          <a:p>
            <a:endParaRPr lang="en-GB" sz="2000" dirty="0"/>
          </a:p>
          <a:p>
            <a:r>
              <a:rPr lang="en-GB" sz="2000" dirty="0"/>
              <a:t>Next week:  </a:t>
            </a:r>
          </a:p>
          <a:p>
            <a:r>
              <a:rPr lang="en-GB" sz="2000" dirty="0"/>
              <a:t>Unsupervised learning e.g. k-means to solve clustering problem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51948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Online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https://www.datacamp.com/tutorial/k-nearest-neighbor-classification-scikit-learn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920062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1768</TotalTime>
  <Words>2013</Words>
  <Application>Microsoft Office PowerPoint</Application>
  <PresentationFormat>Προβολή στην οθόνη (4:3)</PresentationFormat>
  <Paragraphs>261</Paragraphs>
  <Slides>41</Slides>
  <Notes>20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41</vt:i4>
      </vt:variant>
    </vt:vector>
  </HeadingPairs>
  <TitlesOfParts>
    <vt:vector size="46" baseType="lpstr">
      <vt:lpstr>Arial</vt:lpstr>
      <vt:lpstr>Calibri</vt:lpstr>
      <vt:lpstr>Palatino</vt:lpstr>
      <vt:lpstr>Wingdings</vt:lpstr>
      <vt:lpstr>2_Office Theme</vt:lpstr>
      <vt:lpstr>Ensemble Methods   </vt:lpstr>
      <vt:lpstr>Outlook</vt:lpstr>
      <vt:lpstr>Classification Tree</vt:lpstr>
      <vt:lpstr>Model Averaging</vt:lpstr>
      <vt:lpstr>Model Averaging (cont’d)</vt:lpstr>
      <vt:lpstr>Model Averaging (cont’d)</vt:lpstr>
      <vt:lpstr>Model Averaging (cont’d)</vt:lpstr>
      <vt:lpstr>Outlook</vt:lpstr>
      <vt:lpstr>Bagging: Bootstrap Aggregating</vt:lpstr>
      <vt:lpstr>Bagging-based Averaging Learning</vt:lpstr>
      <vt:lpstr>Example</vt:lpstr>
      <vt:lpstr>Example</vt:lpstr>
      <vt:lpstr>Example</vt:lpstr>
      <vt:lpstr>Example</vt:lpstr>
      <vt:lpstr>Example</vt:lpstr>
      <vt:lpstr>Example</vt:lpstr>
      <vt:lpstr>Random Forests with bootstrap</vt:lpstr>
      <vt:lpstr>Sklearn Python</vt:lpstr>
      <vt:lpstr>Outlook</vt:lpstr>
      <vt:lpstr>Boosting: Bootstrap Sampling</vt:lpstr>
      <vt:lpstr>Boosting (cont.)</vt:lpstr>
      <vt:lpstr>Bagging vs Boosting</vt:lpstr>
      <vt:lpstr>Boosting (cont.)</vt:lpstr>
      <vt:lpstr>Random Forest Regression </vt:lpstr>
      <vt:lpstr>Random Forest Regression</vt:lpstr>
      <vt:lpstr>Outlook</vt:lpstr>
      <vt:lpstr>K-NN: An Instance-Based Learning process</vt:lpstr>
      <vt:lpstr>k-NN Approach</vt:lpstr>
      <vt:lpstr>1-Nearest Neighbor</vt:lpstr>
      <vt:lpstr>1-Nearest Neighbor</vt:lpstr>
      <vt:lpstr>Distance Metrics</vt:lpstr>
      <vt:lpstr>1-NN’s  Aspects as an Instance-Based Learner:</vt:lpstr>
      <vt:lpstr>k – Nearest Neighbor</vt:lpstr>
      <vt:lpstr>Selecting the Number of Neighbors</vt:lpstr>
      <vt:lpstr>Curse-of-Dimensionality</vt:lpstr>
      <vt:lpstr>Advantages and Disadvantages of KNN</vt:lpstr>
      <vt:lpstr>K-NN in Python</vt:lpstr>
      <vt:lpstr>How do you decide the number of neighbours in KNN? </vt:lpstr>
      <vt:lpstr>Elbow method</vt:lpstr>
      <vt:lpstr>Summary</vt:lpstr>
      <vt:lpstr>Online reference</vt:lpstr>
    </vt:vector>
  </TitlesOfParts>
  <Company>University of Bedfordshire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Random Forest</dc:title>
  <dc:creator>Maxwell Yu</dc:creator>
  <cp:lastModifiedBy>Giannis Tsioulis</cp:lastModifiedBy>
  <cp:revision>33</cp:revision>
  <dcterms:created xsi:type="dcterms:W3CDTF">2020-11-16T09:21:27Z</dcterms:created>
  <dcterms:modified xsi:type="dcterms:W3CDTF">2025-11-18T21:02:02Z</dcterms:modified>
</cp:coreProperties>
</file>