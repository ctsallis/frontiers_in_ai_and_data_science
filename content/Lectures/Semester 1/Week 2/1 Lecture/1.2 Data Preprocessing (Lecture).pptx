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7"/>
  </p:notesMasterIdLst>
  <p:sldIdLst>
    <p:sldId id="320" r:id="rId2"/>
    <p:sldId id="311" r:id="rId3"/>
    <p:sldId id="258" r:id="rId4"/>
    <p:sldId id="259" r:id="rId5"/>
    <p:sldId id="261" r:id="rId6"/>
    <p:sldId id="263" r:id="rId7"/>
    <p:sldId id="264" r:id="rId8"/>
    <p:sldId id="265" r:id="rId9"/>
    <p:sldId id="316" r:id="rId10"/>
    <p:sldId id="266" r:id="rId11"/>
    <p:sldId id="318" r:id="rId12"/>
    <p:sldId id="319" r:id="rId13"/>
    <p:sldId id="267" r:id="rId14"/>
    <p:sldId id="268" r:id="rId15"/>
    <p:sldId id="271" r:id="rId16"/>
    <p:sldId id="272" r:id="rId17"/>
    <p:sldId id="312" r:id="rId18"/>
    <p:sldId id="273" r:id="rId19"/>
    <p:sldId id="317" r:id="rId20"/>
    <p:sldId id="274" r:id="rId21"/>
    <p:sldId id="275" r:id="rId22"/>
    <p:sldId id="276" r:id="rId23"/>
    <p:sldId id="277" r:id="rId24"/>
    <p:sldId id="278" r:id="rId25"/>
    <p:sldId id="279" r:id="rId26"/>
    <p:sldId id="313" r:id="rId27"/>
    <p:sldId id="280" r:id="rId28"/>
    <p:sldId id="281" r:id="rId29"/>
    <p:sldId id="284" r:id="rId30"/>
    <p:sldId id="288" r:id="rId31"/>
    <p:sldId id="289" r:id="rId32"/>
    <p:sldId id="294" r:id="rId33"/>
    <p:sldId id="296" r:id="rId34"/>
    <p:sldId id="307" r:id="rId35"/>
    <p:sldId id="308" r:id="rId3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2507" autoAdjust="0"/>
  </p:normalViewPr>
  <p:slideViewPr>
    <p:cSldViewPr>
      <p:cViewPr varScale="1">
        <p:scale>
          <a:sx n="76" d="100"/>
          <a:sy n="76" d="100"/>
        </p:scale>
        <p:origin x="1061"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3134" y="2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3843321-6BDB-5D9D-9278-6402166CFD0F}"/>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7171" name="Rectangle 3">
            <a:extLst>
              <a:ext uri="{FF2B5EF4-FFF2-40B4-BE49-F238E27FC236}">
                <a16:creationId xmlns:a16="http://schemas.microsoft.com/office/drawing/2014/main" id="{D45921FE-0FE6-FD47-254F-C6B077ABEC01}"/>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9220" name="Rectangle 4">
            <a:extLst>
              <a:ext uri="{FF2B5EF4-FFF2-40B4-BE49-F238E27FC236}">
                <a16:creationId xmlns:a16="http://schemas.microsoft.com/office/drawing/2014/main" id="{07093A95-180C-4021-5CBE-8A645C6039F7}"/>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8A5C8983-CB09-A902-DCB5-76704D5850D4}"/>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7174" name="Rectangle 6">
            <a:extLst>
              <a:ext uri="{FF2B5EF4-FFF2-40B4-BE49-F238E27FC236}">
                <a16:creationId xmlns:a16="http://schemas.microsoft.com/office/drawing/2014/main" id="{9B1792D1-4FA8-47AA-D8CD-A79AD86318ED}"/>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7175" name="Rectangle 7">
            <a:extLst>
              <a:ext uri="{FF2B5EF4-FFF2-40B4-BE49-F238E27FC236}">
                <a16:creationId xmlns:a16="http://schemas.microsoft.com/office/drawing/2014/main" id="{8648D227-EF69-0C4D-BB9A-905079FBFD13}"/>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51E6272-7DF9-4286-A6BF-AC4261569B4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463D5EF2-D070-E12D-125A-F8A872A270E8}"/>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6033EC3D-8CAE-12EC-D0AA-409879C54D7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2563" indent="-182563" eaLnBrk="1" hangingPunct="1">
              <a:buFontTx/>
              <a:buChar char="•"/>
            </a:pPr>
            <a:r>
              <a:rPr lang="en-GB" altLang="en-US" b="1"/>
              <a:t>Missing data:</a:t>
            </a:r>
            <a:r>
              <a:rPr lang="en-GB" altLang="en-US"/>
              <a:t> you can also see this as inaccurate data since the information that isn’t there creates gaps that might be relevant to the final analysis. Missing data often appears when there’s a problem in the collection phase, such as a glitch that caused a system’s downtime, mistakes in data entry, or issues with biometrics use, among others.</a:t>
            </a:r>
          </a:p>
          <a:p>
            <a:pPr marL="182563" indent="-182563" eaLnBrk="1" hangingPunct="1">
              <a:buFontTx/>
              <a:buChar char="•"/>
            </a:pPr>
            <a:r>
              <a:rPr lang="en-GB" altLang="en-US" b="1"/>
              <a:t>Noisy data:</a:t>
            </a:r>
            <a:r>
              <a:rPr lang="en-GB" altLang="en-US"/>
              <a:t> this group encompasses erroneous data and outliers that you can find in the data set but that is just meaningless information. Here you can see noise made of human mistakes, rare exceptions, mislabels, and other issues during data gathering.</a:t>
            </a:r>
          </a:p>
          <a:p>
            <a:pPr marL="182563" indent="-182563" eaLnBrk="1" hangingPunct="1">
              <a:buFontTx/>
              <a:buChar char="•"/>
            </a:pPr>
            <a:r>
              <a:rPr lang="en-GB" altLang="en-US" b="1"/>
              <a:t>Inconsistent data:</a:t>
            </a:r>
            <a:r>
              <a:rPr lang="en-GB" altLang="en-US"/>
              <a:t> inconsistencies happen when you keep files with similar data in different formats and files. Duplicates in different formats, mistakes in codes of names, or the absence of data constraints often lead to inconsistent data, that introduces deviations that you have to deal with before analysis.</a:t>
            </a:r>
          </a:p>
        </p:txBody>
      </p:sp>
      <p:sp>
        <p:nvSpPr>
          <p:cNvPr id="14340" name="Slide Number Placeholder 3">
            <a:extLst>
              <a:ext uri="{FF2B5EF4-FFF2-40B4-BE49-F238E27FC236}">
                <a16:creationId xmlns:a16="http://schemas.microsoft.com/office/drawing/2014/main" id="{F8E53766-E12B-F316-01E1-A1B6616141A2}"/>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484708-4FCA-436E-8ACB-B69F6C026494}" type="slidenum">
              <a:rPr lang="en-US" altLang="en-US" smtClean="0"/>
              <a:pPr>
                <a:spcBef>
                  <a:spcPct val="0"/>
                </a:spcBef>
              </a:pPr>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0C08F818-8030-08DB-D743-49C2E46AED75}"/>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CA0416F8-9A41-4016-0734-0FD44F6270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a:p>
        </p:txBody>
      </p:sp>
      <p:sp>
        <p:nvSpPr>
          <p:cNvPr id="21508" name="Slide Number Placeholder 3">
            <a:extLst>
              <a:ext uri="{FF2B5EF4-FFF2-40B4-BE49-F238E27FC236}">
                <a16:creationId xmlns:a16="http://schemas.microsoft.com/office/drawing/2014/main" id="{7BB35180-F2B7-5EB8-BA0F-C26CD31CF63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4F7ABD6-13ED-410E-B070-EA10D8BBDE90}" type="slidenum">
              <a:rPr lang="en-US" altLang="en-US" smtClean="0"/>
              <a:pPr>
                <a:spcBef>
                  <a:spcPct val="0"/>
                </a:spcBef>
              </a:pPr>
              <a:t>10</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78066A42-ED50-9960-BFE4-F1ABCEF05506}"/>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845A9A8E-68BD-1C1F-D4A6-32442FF2C07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A bar and B bar (Ā, B̄) are the mean values of A and B.</a:t>
            </a:r>
          </a:p>
          <a:p>
            <a:r>
              <a:rPr lang="en-GB" altLang="en-US"/>
              <a:t>σA and σB (sigma A and sigma B) are the respective standard deviations of A and B, and n is the number of tuples.</a:t>
            </a:r>
          </a:p>
          <a:p>
            <a:endParaRPr lang="en-GB" altLang="en-US"/>
          </a:p>
        </p:txBody>
      </p:sp>
      <p:sp>
        <p:nvSpPr>
          <p:cNvPr id="33796" name="Slide Number Placeholder 3">
            <a:extLst>
              <a:ext uri="{FF2B5EF4-FFF2-40B4-BE49-F238E27FC236}">
                <a16:creationId xmlns:a16="http://schemas.microsoft.com/office/drawing/2014/main" id="{FB55BEAF-00F1-B5E1-70DC-2AB55BF8112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3814C6-4101-4DBB-BFE4-7445FB3AC3FD}" type="slidenum">
              <a:rPr lang="en-US" altLang="en-US" smtClean="0"/>
              <a:pPr>
                <a:spcBef>
                  <a:spcPct val="0"/>
                </a:spcBef>
              </a:pPr>
              <a:t>21</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7A87C48C-7F65-3116-8A8C-7D47E1C9D748}"/>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0E4325F5-4163-569F-3074-C2A7328593C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Suppose that the mean and standard deviation of the value for the attribute income are $54,000 and $16,000, with z-score normalisation a value of $73,600 for incomes is transformed to (73600-54000)/16000=1.225</a:t>
            </a:r>
          </a:p>
          <a:p>
            <a:endParaRPr lang="en-GB" altLang="en-US"/>
          </a:p>
          <a:p>
            <a:r>
              <a:rPr lang="en-GB" altLang="en-US"/>
              <a:t>Normalization by Decimal scaling</a:t>
            </a:r>
          </a:p>
          <a:p>
            <a:r>
              <a:rPr lang="en-GB" altLang="en-US" i="1"/>
              <a:t>Let the input data be: -10, 201, 301, -401, 501, 601, 701</a:t>
            </a:r>
          </a:p>
          <a:p>
            <a:r>
              <a:rPr lang="en-GB" altLang="en-US" i="1"/>
              <a:t>To normalize the above data,</a:t>
            </a:r>
            <a:br>
              <a:rPr lang="en-GB" altLang="en-US" i="1"/>
            </a:br>
            <a:r>
              <a:rPr lang="en-GB" altLang="en-US" b="1" i="1"/>
              <a:t>Step 1:</a:t>
            </a:r>
            <a:r>
              <a:rPr lang="en-GB" altLang="en-US" i="1"/>
              <a:t> Maximum absolute value in given data (m): 701</a:t>
            </a:r>
            <a:br>
              <a:rPr lang="en-GB" altLang="en-US" i="1"/>
            </a:br>
            <a:r>
              <a:rPr lang="en-GB" altLang="en-US" b="1" i="1"/>
              <a:t>Step 2: </a:t>
            </a:r>
            <a:r>
              <a:rPr lang="en-GB" altLang="en-US" i="1"/>
              <a:t>Divide the given data by 1000 (i.e. j = 3)</a:t>
            </a:r>
          </a:p>
          <a:p>
            <a:r>
              <a:rPr lang="en-GB" altLang="en-US" b="1" i="1"/>
              <a:t>Result: </a:t>
            </a:r>
            <a:r>
              <a:rPr lang="en-GB" altLang="en-US" i="1"/>
              <a:t>The normalized data is: -0.01, 0.201, 0.301, -0.401, 0.501, 0.601, 0.701</a:t>
            </a:r>
          </a:p>
          <a:p>
            <a:endParaRPr lang="en-GB" altLang="en-US"/>
          </a:p>
        </p:txBody>
      </p:sp>
      <p:sp>
        <p:nvSpPr>
          <p:cNvPr id="36868" name="Slide Number Placeholder 3">
            <a:extLst>
              <a:ext uri="{FF2B5EF4-FFF2-40B4-BE49-F238E27FC236}">
                <a16:creationId xmlns:a16="http://schemas.microsoft.com/office/drawing/2014/main" id="{139B3B0C-B597-9496-15E4-4540301AC9F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A00325-0B72-4C8B-9085-CD7449CC89D6}" type="slidenum">
              <a:rPr lang="en-US" altLang="en-US" smtClean="0"/>
              <a:pPr>
                <a:spcBef>
                  <a:spcPct val="0"/>
                </a:spcBef>
              </a:pPr>
              <a:t>23</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2102E7F6-C131-DC8D-C3A4-70B19B3FD1EA}"/>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8638F9CB-C3A7-0CB4-FB87-2C679E8402D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a:p>
        </p:txBody>
      </p:sp>
      <p:sp>
        <p:nvSpPr>
          <p:cNvPr id="50180" name="Slide Number Placeholder 3">
            <a:extLst>
              <a:ext uri="{FF2B5EF4-FFF2-40B4-BE49-F238E27FC236}">
                <a16:creationId xmlns:a16="http://schemas.microsoft.com/office/drawing/2014/main" id="{27BA7230-DBCE-E6BF-3EE1-AC6D4B883A6B}"/>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13A2832-EE74-4C9E-8E25-F5CCDCBFFA11}" type="slidenum">
              <a:rPr lang="en-US" altLang="en-US" smtClean="0"/>
              <a:pPr>
                <a:spcBef>
                  <a:spcPct val="0"/>
                </a:spcBef>
              </a:pPr>
              <a:t>35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357ED029-5CC3-9B6F-61A8-C1222C84DB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4924425"/>
            <a:ext cx="747712"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16238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65085C0D-0335-D7F2-D0B1-998DCA3B9F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4924425"/>
            <a:ext cx="747712"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1341419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B38348F2-FC9B-40C2-D6B0-A70F8214AE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1963" y="4924425"/>
            <a:ext cx="747712"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3970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3">
            <a:extLst>
              <a:ext uri="{FF2B5EF4-FFF2-40B4-BE49-F238E27FC236}">
                <a16:creationId xmlns:a16="http://schemas.microsoft.com/office/drawing/2014/main" id="{5A8DEF4A-3957-4241-CF72-4543D9FA89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1963" y="4924425"/>
            <a:ext cx="747712"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lvl="0"/>
            <a:r>
              <a:rPr lang="en-US"/>
              <a:t>Click to edit Master text styles</a:t>
            </a:r>
          </a:p>
        </p:txBody>
      </p:sp>
    </p:spTree>
    <p:extLst>
      <p:ext uri="{BB962C8B-B14F-4D97-AF65-F5344CB8AC3E}">
        <p14:creationId xmlns:p14="http://schemas.microsoft.com/office/powerpoint/2010/main" val="146480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a:prstGeom prst="rect">
            <a:avLst/>
          </a:prstGeom>
        </p:spPr>
        <p:txBody>
          <a:bodyPr/>
          <a:lstStyle/>
          <a:p>
            <a:r>
              <a:rPr lang="en-US"/>
              <a:t>Click to edit Master title style</a:t>
            </a:r>
          </a:p>
        </p:txBody>
      </p:sp>
      <p:sp>
        <p:nvSpPr>
          <p:cNvPr id="3" name="Date Placeholder 3">
            <a:extLst>
              <a:ext uri="{FF2B5EF4-FFF2-40B4-BE49-F238E27FC236}">
                <a16:creationId xmlns:a16="http://schemas.microsoft.com/office/drawing/2014/main" id="{ED82DFED-7030-8E8D-AB4F-F58B1A1758C0}"/>
              </a:ext>
            </a:extLst>
          </p:cNvPr>
          <p:cNvSpPr>
            <a:spLocks noGrp="1"/>
          </p:cNvSpPr>
          <p:nvPr>
            <p:ph type="dt" sz="half" idx="10"/>
          </p:nvPr>
        </p:nvSpPr>
        <p:spPr>
          <a:xfrm>
            <a:off x="457200" y="19050"/>
            <a:ext cx="2895600" cy="328613"/>
          </a:xfrm>
          <a:prstGeom prst="rect">
            <a:avLst/>
          </a:prstGeom>
        </p:spPr>
        <p:txBody>
          <a:bodyPr/>
          <a:lstStyle>
            <a:lvl1pPr eaLnBrk="1" hangingPunct="1">
              <a:defRPr/>
            </a:lvl1pPr>
          </a:lstStyle>
          <a:p>
            <a:pPr>
              <a:defRPr/>
            </a:pPr>
            <a:endParaRPr lang="en-US" altLang="en-US"/>
          </a:p>
        </p:txBody>
      </p:sp>
      <p:sp>
        <p:nvSpPr>
          <p:cNvPr id="4" name="Footer Placeholder 4">
            <a:extLst>
              <a:ext uri="{FF2B5EF4-FFF2-40B4-BE49-F238E27FC236}">
                <a16:creationId xmlns:a16="http://schemas.microsoft.com/office/drawing/2014/main" id="{3FE996D6-5F4E-E2E1-C5C8-976646BF3E62}"/>
              </a:ext>
            </a:extLst>
          </p:cNvPr>
          <p:cNvSpPr>
            <a:spLocks noGrp="1"/>
          </p:cNvSpPr>
          <p:nvPr>
            <p:ph type="ftr" sz="quarter" idx="11"/>
          </p:nvPr>
        </p:nvSpPr>
        <p:spPr>
          <a:xfrm>
            <a:off x="3429000" y="19050"/>
            <a:ext cx="4114800" cy="328613"/>
          </a:xfrm>
          <a:prstGeom prst="rect">
            <a:avLst/>
          </a:prstGeom>
        </p:spPr>
        <p:txBody>
          <a:bodyPr/>
          <a:lstStyle>
            <a:lvl1pPr eaLnBrk="1" hangingPunct="1">
              <a:defRPr/>
            </a:lvl1pPr>
          </a:lstStyle>
          <a:p>
            <a:pPr>
              <a:defRPr/>
            </a:pPr>
            <a:endParaRPr lang="en-US" altLang="en-US"/>
          </a:p>
        </p:txBody>
      </p:sp>
      <p:sp>
        <p:nvSpPr>
          <p:cNvPr id="5" name="Slide Number Placeholder 5">
            <a:extLst>
              <a:ext uri="{FF2B5EF4-FFF2-40B4-BE49-F238E27FC236}">
                <a16:creationId xmlns:a16="http://schemas.microsoft.com/office/drawing/2014/main" id="{904E3F01-7B38-328A-0109-D679A821ACAB}"/>
              </a:ext>
            </a:extLst>
          </p:cNvPr>
          <p:cNvSpPr>
            <a:spLocks noGrp="1"/>
          </p:cNvSpPr>
          <p:nvPr>
            <p:ph type="sldNum" sz="quarter" idx="12"/>
          </p:nvPr>
        </p:nvSpPr>
        <p:spPr>
          <a:xfrm>
            <a:off x="7620000" y="19050"/>
            <a:ext cx="1066800" cy="328613"/>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C0B3A7B-A9DA-48A1-AF63-64F60E6A84DB}" type="slidenum">
              <a:rPr lang="en-US" altLang="en-US"/>
              <a:pPr>
                <a:defRPr/>
              </a:pPr>
              <a:t>‹#›</a:t>
            </a:fld>
            <a:endParaRPr lang="en-US" altLang="en-US"/>
          </a:p>
        </p:txBody>
      </p:sp>
    </p:spTree>
    <p:extLst>
      <p:ext uri="{BB962C8B-B14F-4D97-AF65-F5344CB8AC3E}">
        <p14:creationId xmlns:p14="http://schemas.microsoft.com/office/powerpoint/2010/main" val="2209293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4B8E55F-96DE-0C69-1E9A-1ECB028E02E1}"/>
              </a:ext>
            </a:extLst>
          </p:cNvPr>
          <p:cNvSpPr>
            <a:spLocks noGrp="1"/>
          </p:cNvSpPr>
          <p:nvPr>
            <p:ph type="dt" sz="half" idx="10"/>
          </p:nvPr>
        </p:nvSpPr>
        <p:spPr>
          <a:xfrm>
            <a:off x="457200" y="19050"/>
            <a:ext cx="2895600" cy="328613"/>
          </a:xfrm>
          <a:prstGeom prst="rect">
            <a:avLst/>
          </a:prstGeom>
        </p:spPr>
        <p:txBody>
          <a:bodyPr/>
          <a:lstStyle>
            <a:lvl1pPr eaLnBrk="1" hangingPunct="1">
              <a:defRPr/>
            </a:lvl1pPr>
          </a:lstStyle>
          <a:p>
            <a:pPr>
              <a:defRPr/>
            </a:pPr>
            <a:endParaRPr lang="en-US" altLang="en-US"/>
          </a:p>
        </p:txBody>
      </p:sp>
      <p:sp>
        <p:nvSpPr>
          <p:cNvPr id="3" name="Footer Placeholder 4">
            <a:extLst>
              <a:ext uri="{FF2B5EF4-FFF2-40B4-BE49-F238E27FC236}">
                <a16:creationId xmlns:a16="http://schemas.microsoft.com/office/drawing/2014/main" id="{74311453-4840-1B1E-B5C4-7798F4406001}"/>
              </a:ext>
            </a:extLst>
          </p:cNvPr>
          <p:cNvSpPr>
            <a:spLocks noGrp="1"/>
          </p:cNvSpPr>
          <p:nvPr>
            <p:ph type="ftr" sz="quarter" idx="11"/>
          </p:nvPr>
        </p:nvSpPr>
        <p:spPr>
          <a:xfrm>
            <a:off x="3429000" y="19050"/>
            <a:ext cx="4114800" cy="328613"/>
          </a:xfrm>
          <a:prstGeom prst="rect">
            <a:avLst/>
          </a:prstGeom>
        </p:spPr>
        <p:txBody>
          <a:bodyPr/>
          <a:lstStyle>
            <a:lvl1pPr eaLnBrk="1" hangingPunct="1">
              <a:defRPr/>
            </a:lvl1pPr>
          </a:lstStyle>
          <a:p>
            <a:pPr>
              <a:defRPr/>
            </a:pPr>
            <a:endParaRPr lang="en-US" altLang="en-US"/>
          </a:p>
        </p:txBody>
      </p:sp>
      <p:sp>
        <p:nvSpPr>
          <p:cNvPr id="4" name="Slide Number Placeholder 5">
            <a:extLst>
              <a:ext uri="{FF2B5EF4-FFF2-40B4-BE49-F238E27FC236}">
                <a16:creationId xmlns:a16="http://schemas.microsoft.com/office/drawing/2014/main" id="{45019B33-A3BF-4618-7929-D2692F545377}"/>
              </a:ext>
            </a:extLst>
          </p:cNvPr>
          <p:cNvSpPr>
            <a:spLocks noGrp="1"/>
          </p:cNvSpPr>
          <p:nvPr>
            <p:ph type="sldNum" sz="quarter" idx="12"/>
          </p:nvPr>
        </p:nvSpPr>
        <p:spPr>
          <a:xfrm>
            <a:off x="7620000" y="19050"/>
            <a:ext cx="1066800" cy="328613"/>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F18BF02-FDA7-4EB0-A49B-DF982BE510F3}" type="slidenum">
              <a:rPr lang="en-US" altLang="en-US"/>
              <a:pPr>
                <a:defRPr/>
              </a:pPr>
              <a:t>‹#›</a:t>
            </a:fld>
            <a:endParaRPr lang="en-US" altLang="en-US"/>
          </a:p>
        </p:txBody>
      </p:sp>
    </p:spTree>
    <p:extLst>
      <p:ext uri="{BB962C8B-B14F-4D97-AF65-F5344CB8AC3E}">
        <p14:creationId xmlns:p14="http://schemas.microsoft.com/office/powerpoint/2010/main" val="410589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a:extLst>
              <a:ext uri="{FF2B5EF4-FFF2-40B4-BE49-F238E27FC236}">
                <a16:creationId xmlns:a16="http://schemas.microsoft.com/office/drawing/2014/main" id="{6C7E5BD1-903A-CCAE-B424-B5F55555838C}"/>
              </a:ext>
            </a:extLst>
          </p:cNvPr>
          <p:cNvSpPr>
            <a:spLocks noGrp="1"/>
          </p:cNvSpPr>
          <p:nvPr>
            <p:ph type="dt" sz="half" idx="10"/>
          </p:nvPr>
        </p:nvSpPr>
        <p:spPr>
          <a:xfrm>
            <a:off x="455613" y="6242050"/>
            <a:ext cx="2130425" cy="474663"/>
          </a:xfrm>
          <a:prstGeom prst="rect">
            <a:avLst/>
          </a:prstGeom>
        </p:spPr>
        <p:txBody>
          <a:bodyPr/>
          <a:lstStyle>
            <a:lvl1pPr eaLnBrk="1" hangingPunct="1">
              <a:defRPr/>
            </a:lvl1pPr>
          </a:lstStyle>
          <a:p>
            <a:pPr>
              <a:defRPr/>
            </a:pPr>
            <a:endParaRPr lang="en-US" altLang="en-US"/>
          </a:p>
        </p:txBody>
      </p:sp>
      <p:sp>
        <p:nvSpPr>
          <p:cNvPr id="7" name="Footer Placeholder 6">
            <a:extLst>
              <a:ext uri="{FF2B5EF4-FFF2-40B4-BE49-F238E27FC236}">
                <a16:creationId xmlns:a16="http://schemas.microsoft.com/office/drawing/2014/main" id="{DFFD9301-6873-B0F7-67B0-6C5F5BE0D861}"/>
              </a:ext>
            </a:extLst>
          </p:cNvPr>
          <p:cNvSpPr>
            <a:spLocks noGrp="1"/>
          </p:cNvSpPr>
          <p:nvPr>
            <p:ph type="ftr" sz="quarter" idx="11"/>
          </p:nvPr>
        </p:nvSpPr>
        <p:spPr>
          <a:xfrm>
            <a:off x="3124200" y="6242050"/>
            <a:ext cx="2895600" cy="474663"/>
          </a:xfrm>
          <a:prstGeom prst="rect">
            <a:avLst/>
          </a:prstGeom>
        </p:spPr>
        <p:txBody>
          <a:bodyPr/>
          <a:lstStyle>
            <a:lvl1pPr eaLnBrk="1" hangingPunct="1">
              <a:defRPr/>
            </a:lvl1pPr>
          </a:lstStyle>
          <a:p>
            <a:pPr>
              <a:defRPr/>
            </a:pPr>
            <a:endParaRPr lang="en-US" altLang="en-US"/>
          </a:p>
        </p:txBody>
      </p:sp>
      <p:sp>
        <p:nvSpPr>
          <p:cNvPr id="8" name="Slide Number Placeholder 7">
            <a:extLst>
              <a:ext uri="{FF2B5EF4-FFF2-40B4-BE49-F238E27FC236}">
                <a16:creationId xmlns:a16="http://schemas.microsoft.com/office/drawing/2014/main" id="{C8D5FEA1-183A-A89A-A885-D507475644D5}"/>
              </a:ext>
            </a:extLst>
          </p:cNvPr>
          <p:cNvSpPr>
            <a:spLocks noGrp="1"/>
          </p:cNvSpPr>
          <p:nvPr>
            <p:ph type="sldNum" sz="quarter" idx="12"/>
          </p:nvPr>
        </p:nvSpPr>
        <p:spPr>
          <a:xfrm>
            <a:off x="6553200" y="6242050"/>
            <a:ext cx="2130425" cy="474663"/>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3AE430F-D699-4DDD-9DDE-C7D5C93319B8}" type="slidenum">
              <a:rPr lang="en-US" altLang="en-US"/>
              <a:pPr>
                <a:defRPr/>
              </a:pPr>
              <a:t>‹#›</a:t>
            </a:fld>
            <a:endParaRPr lang="en-US" altLang="en-US"/>
          </a:p>
        </p:txBody>
      </p:sp>
    </p:spTree>
    <p:extLst>
      <p:ext uri="{BB962C8B-B14F-4D97-AF65-F5344CB8AC3E}">
        <p14:creationId xmlns:p14="http://schemas.microsoft.com/office/powerpoint/2010/main" val="13359787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 Id="rId10" Type="http://schemas.openxmlformats.org/officeDocument/2006/relationships/image" Target="../media/image2.png"/><Relationship Id="rId11"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pic>
        <p:nvPicPr>
          <p:cNvPr id="1026" name="Picture 6">
            <a:extLst>
              <a:ext uri="{FF2B5EF4-FFF2-40B4-BE49-F238E27FC236}">
                <a16:creationId xmlns:a16="http://schemas.microsoft.com/office/drawing/2014/main" id="{C6A9FA93-5E63-00E7-D7FB-6598D5A1D309}"/>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61963" y="4924425"/>
            <a:ext cx="747712"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MSIPCMContentMarking" descr="{&quot;HashCode&quot;:269818377,&quot;Placement&quot;:&quot;Footer&quot;}">
            <a:extLst>
              <a:ext uri="{FF2B5EF4-FFF2-40B4-BE49-F238E27FC236}">
                <a16:creationId xmlns:a16="http://schemas.microsoft.com/office/drawing/2014/main" id="{605389A8-BE6B-A0FC-8AFF-4FDF45938CB6}"/>
              </a:ext>
            </a:extLst>
          </p:cNvPr>
          <p:cNvSpPr txBox="1">
            <a:spLocks noChangeArrowheads="1"/>
          </p:cNvSpPr>
          <p:nvPr userDrawn="1"/>
        </p:nvSpPr>
        <p:spPr bwMode="auto">
          <a:xfrm>
            <a:off x="0" y="6561138"/>
            <a:ext cx="1522413" cy="296862"/>
          </a:xfrm>
          <a:prstGeom prst="rect">
            <a:avLst/>
          </a:prstGeom>
          <a:noFill/>
          <a:ln>
            <a:noFill/>
          </a:ln>
        </p:spPr>
        <p:txBody>
          <a:bodyPr lIns="0" tIns="0" rIns="0" bIns="0" anchor="ctr" anchorCtr="1">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defRPr/>
            </a:pPr>
            <a:r>
              <a:rPr lang="en-GB" altLang="en-US" sz="1200">
                <a:solidFill>
                  <a:srgbClr val="000000"/>
                </a:solidFill>
                <a:latin typeface="Calibri" panose="020F0502020204030204" pitchFamily="34" charset="0"/>
              </a:rPr>
              <a:t>Sensitivity: Internal</a:t>
            </a:r>
          </a:p>
        </p:txBody>
      </p:sp>
      <p:pic>
        <p:nvPicPr>
          <p:cNvPr id="1028" name="Picture 2">
            <a:extLst>
              <a:ext uri="{FF2B5EF4-FFF2-40B4-BE49-F238E27FC236}">
                <a16:creationId xmlns:a16="http://schemas.microsoft.com/office/drawing/2014/main" id="{1C5DDFF2-43CA-E7EA-DDAC-7888326D665E}"/>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381000" y="5791200"/>
            <a:ext cx="9906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charset="0"/>
        </a:defRPr>
      </a:lvl2pPr>
      <a:lvl3pPr algn="l" rtl="0" eaLnBrk="0" fontAlgn="base" hangingPunct="0">
        <a:lnSpc>
          <a:spcPct val="90000"/>
        </a:lnSpc>
        <a:spcBef>
          <a:spcPct val="0"/>
        </a:spcBef>
        <a:spcAft>
          <a:spcPct val="0"/>
        </a:spcAft>
        <a:defRPr sz="4400">
          <a:solidFill>
            <a:schemeClr val="tx1"/>
          </a:solidFill>
          <a:latin typeface="Arial" charset="0"/>
        </a:defRPr>
      </a:lvl3pPr>
      <a:lvl4pPr algn="l" rtl="0" eaLnBrk="0" fontAlgn="base" hangingPunct="0">
        <a:lnSpc>
          <a:spcPct val="90000"/>
        </a:lnSpc>
        <a:spcBef>
          <a:spcPct val="0"/>
        </a:spcBef>
        <a:spcAft>
          <a:spcPct val="0"/>
        </a:spcAft>
        <a:defRPr sz="4400">
          <a:solidFill>
            <a:schemeClr val="tx1"/>
          </a:solidFill>
          <a:latin typeface="Arial" charset="0"/>
        </a:defRPr>
      </a:lvl4pPr>
      <a:lvl5pPr algn="l" rtl="0" eaLnBrk="0" fontAlgn="base" hangingPunct="0">
        <a:lnSpc>
          <a:spcPct val="90000"/>
        </a:lnSpc>
        <a:spcBef>
          <a:spcPct val="0"/>
        </a:spcBef>
        <a:spcAft>
          <a:spcPct val="0"/>
        </a:spcAft>
        <a:defRPr sz="4400">
          <a:solidFill>
            <a:schemeClr val="tx1"/>
          </a:solidFill>
          <a:latin typeface="Arial" charset="0"/>
        </a:defRPr>
      </a:lvl5pPr>
      <a:lvl6pPr marL="457200" algn="l" rtl="0" fontAlgn="base">
        <a:lnSpc>
          <a:spcPct val="90000"/>
        </a:lnSpc>
        <a:spcBef>
          <a:spcPct val="0"/>
        </a:spcBef>
        <a:spcAft>
          <a:spcPct val="0"/>
        </a:spcAft>
        <a:defRPr sz="4400">
          <a:solidFill>
            <a:schemeClr val="tx1"/>
          </a:solidFill>
          <a:latin typeface="Arial" charset="0"/>
        </a:defRPr>
      </a:lvl6pPr>
      <a:lvl7pPr marL="914400" algn="l" rtl="0" fontAlgn="base">
        <a:lnSpc>
          <a:spcPct val="90000"/>
        </a:lnSpc>
        <a:spcBef>
          <a:spcPct val="0"/>
        </a:spcBef>
        <a:spcAft>
          <a:spcPct val="0"/>
        </a:spcAft>
        <a:defRPr sz="4400">
          <a:solidFill>
            <a:schemeClr val="tx1"/>
          </a:solidFill>
          <a:latin typeface="Arial" charset="0"/>
        </a:defRPr>
      </a:lvl7pPr>
      <a:lvl8pPr marL="1371600" algn="l" rtl="0" fontAlgn="base">
        <a:lnSpc>
          <a:spcPct val="90000"/>
        </a:lnSpc>
        <a:spcBef>
          <a:spcPct val="0"/>
        </a:spcBef>
        <a:spcAft>
          <a:spcPct val="0"/>
        </a:spcAft>
        <a:defRPr sz="4400">
          <a:solidFill>
            <a:schemeClr val="tx1"/>
          </a:solidFill>
          <a:latin typeface="Arial" charset="0"/>
        </a:defRPr>
      </a:lvl8pPr>
      <a:lvl9pPr marL="1828800" algn="l" rtl="0" fontAlgn="base">
        <a:lnSpc>
          <a:spcPct val="90000"/>
        </a:lnSpc>
        <a:spcBef>
          <a:spcPct val="0"/>
        </a:spcBef>
        <a:spcAft>
          <a:spcPct val="0"/>
        </a:spcAft>
        <a:defRPr sz="4400">
          <a:solidFill>
            <a:schemeClr val="tx1"/>
          </a:solidFill>
          <a:latin typeface="Arial"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oleObject" Target="../embeddings/oleObject1.bin"/><Relationship Id="rId4" Type="http://schemas.openxmlformats.org/officeDocument/2006/relationships/image" Target="../media/image14.wmf"/><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oleObject" Target="../embeddings/oleObject2.bin"/><Relationship Id="rId4" Type="http://schemas.openxmlformats.org/officeDocument/2006/relationships/image" Target="../media/image16.wmf"/><Relationship Id="rId5" Type="http://schemas.openxmlformats.org/officeDocument/2006/relationships/oleObject" Target="../embeddings/oleObject3.bin"/><Relationship Id="rId6" Type="http://schemas.openxmlformats.org/officeDocument/2006/relationships/image" Target="../media/image17.wmf"/><Relationship Id="rId7" Type="http://schemas.openxmlformats.org/officeDocument/2006/relationships/oleObject" Target="../embeddings/oleObject4.bin"/><Relationship Id="rId8" Type="http://schemas.openxmlformats.org/officeDocument/2006/relationships/image" Target="../media/image18.wmf"/><Relationship Id="rId9" Type="http://schemas.openxmlformats.org/officeDocument/2006/relationships/oleObject" Target="../embeddings/oleObject5.bin"/><Relationship Id="rId10" Type="http://schemas.openxmlformats.org/officeDocument/2006/relationships/image" Target="../media/image19.wmf"/><Relationship Id="rId11" Type="http://schemas.openxmlformats.org/officeDocument/2006/relationships/oleObject" Target="../embeddings/oleObject6.bin"/><Relationship Id="rId12" Type="http://schemas.openxmlformats.org/officeDocument/2006/relationships/image" Target="../media/image20.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ACAB431C-C775-00E8-F155-BABCAE5ED730}"/>
              </a:ext>
            </a:extLst>
          </p:cNvPr>
          <p:cNvSpPr>
            <a:spLocks noGrp="1" noChangeArrowheads="1"/>
          </p:cNvSpPr>
          <p:nvPr>
            <p:ph type="ctrTitle"/>
          </p:nvPr>
        </p:nvSpPr>
        <p:spPr bwMode="auto">
          <a:xfrm>
            <a:off x="1676400" y="3124200"/>
            <a:ext cx="7467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US" altLang="en-US">
                <a:solidFill>
                  <a:schemeClr val="accent2"/>
                </a:solidFill>
              </a:rPr>
              <a:t>Data Science: data preprocessing</a:t>
            </a:r>
            <a:br>
              <a:rPr lang="en-GB" altLang="en-US"/>
            </a:br>
            <a:endParaRPr lang="en-GB" altLang="en-US" sz="2000"/>
          </a:p>
        </p:txBody>
      </p:sp>
      <p:pic>
        <p:nvPicPr>
          <p:cNvPr id="10243" name="Picture 2" descr="Robot Artificial Intelligence World Connection Gear Vector Illustration  Royalty Free Cliparts, Vectors, And Stock Illustration. Image 108901860.">
            <a:extLst>
              <a:ext uri="{FF2B5EF4-FFF2-40B4-BE49-F238E27FC236}">
                <a16:creationId xmlns:a16="http://schemas.microsoft.com/office/drawing/2014/main" id="{95EAC308-8DC1-8895-EF26-1D5CC5C1D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a:extLst>
              <a:ext uri="{FF2B5EF4-FFF2-40B4-BE49-F238E27FC236}">
                <a16:creationId xmlns:a16="http://schemas.microsoft.com/office/drawing/2014/main" id="{25FCB157-1BC8-D995-CB62-213E13969BEC}"/>
              </a:ext>
            </a:extLst>
          </p:cNvPr>
          <p:cNvSpPr>
            <a:spLocks noChangeArrowheads="1"/>
          </p:cNvSpPr>
          <p:nvPr/>
        </p:nvSpPr>
        <p:spPr bwMode="auto">
          <a:xfrm>
            <a:off x="1676400" y="228600"/>
            <a:ext cx="708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a:solidFill>
                  <a:srgbClr val="0070C0"/>
                </a:solidFill>
              </a:rPr>
              <a:t>Module 6CM521: </a:t>
            </a:r>
            <a:r>
              <a:rPr lang="en-US" altLang="en-US">
                <a:solidFill>
                  <a:srgbClr val="0070C0"/>
                </a:solidFill>
              </a:rPr>
              <a:t>Frontiers in AI and Data Science </a:t>
            </a:r>
            <a:endParaRPr lang="en-GB" altLang="en-US"/>
          </a:p>
        </p:txBody>
      </p:sp>
      <p:sp>
        <p:nvSpPr>
          <p:cNvPr id="2" name="TextBox 1">
            <a:extLst>
              <a:ext uri="{FF2B5EF4-FFF2-40B4-BE49-F238E27FC236}">
                <a16:creationId xmlns:a16="http://schemas.microsoft.com/office/drawing/2014/main" id="{8F61B831-4B74-DE96-D84D-3FBA110445BF}"/>
              </a:ext>
            </a:extLst>
          </p:cNvPr>
          <p:cNvSpPr txBox="1"/>
          <p:nvPr/>
        </p:nvSpPr>
        <p:spPr>
          <a:xfrm>
            <a:off x="6477000" y="6143625"/>
            <a:ext cx="3048000" cy="585788"/>
          </a:xfrm>
          <a:prstGeom prst="rect">
            <a:avLst/>
          </a:prstGeom>
          <a:noFill/>
        </p:spPr>
        <p:txBody>
          <a:bodyPr>
            <a:spAutoFit/>
          </a:bodyPr>
          <a:lstStyle/>
          <a:p>
            <a:pPr>
              <a:defRPr/>
            </a:pPr>
            <a:r>
              <a:rPr lang="en-GB" sz="1600" dirty="0">
                <a:solidFill>
                  <a:schemeClr val="accent5">
                    <a:lumMod val="50000"/>
                  </a:schemeClr>
                </a:solidFill>
              </a:rPr>
              <a:t>Slides acknowledgements:</a:t>
            </a:r>
          </a:p>
          <a:p>
            <a:pPr>
              <a:defRPr/>
            </a:pPr>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1CAF7154-9077-920C-6F8E-21329BDB31DD}"/>
              </a:ext>
            </a:extLst>
          </p:cNvPr>
          <p:cNvSpPr txBox="1"/>
          <p:nvPr/>
        </p:nvSpPr>
        <p:spPr>
          <a:xfrm>
            <a:off x="2590800" y="4022725"/>
            <a:ext cx="4495800" cy="400050"/>
          </a:xfrm>
          <a:prstGeom prst="rect">
            <a:avLst/>
          </a:prstGeom>
          <a:noFill/>
        </p:spPr>
        <p:txBody>
          <a:bodyPr>
            <a:spAutoFit/>
          </a:bodyPr>
          <a:lstStyle/>
          <a:p>
            <a:pPr algn="ctr">
              <a:defRPr/>
            </a:pP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69610BA-C0BB-953D-5763-DA5E1CE60E48}"/>
              </a:ext>
            </a:extLst>
          </p:cNvPr>
          <p:cNvSpPr>
            <a:spLocks noGrp="1" noChangeArrowheads="1"/>
          </p:cNvSpPr>
          <p:nvPr>
            <p:ph type="title"/>
          </p:nvPr>
        </p:nvSpPr>
        <p:spPr bwMode="auto">
          <a:xfrm>
            <a:off x="1676400" y="533400"/>
            <a:ext cx="7010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Declaration</a:t>
            </a:r>
          </a:p>
        </p:txBody>
      </p:sp>
      <p:sp>
        <p:nvSpPr>
          <p:cNvPr id="11267" name="TextBox 1">
            <a:extLst>
              <a:ext uri="{FF2B5EF4-FFF2-40B4-BE49-F238E27FC236}">
                <a16:creationId xmlns:a16="http://schemas.microsoft.com/office/drawing/2014/main" id="{6932E4CD-34EB-0045-D06F-695533586654}"/>
              </a:ext>
            </a:extLst>
          </p:cNvPr>
          <p:cNvSpPr txBox="1">
            <a:spLocks noChangeArrowheads="1"/>
          </p:cNvSpPr>
          <p:nvPr/>
        </p:nvSpPr>
        <p:spPr bwMode="auto">
          <a:xfrm>
            <a:off x="1676400" y="1676400"/>
            <a:ext cx="6858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a:t>The lecture slides are based on the book: Data Mining: Concepts and Techniques (Han, Kamber and Pei), </a:t>
            </a:r>
            <a:r>
              <a:rPr lang="en-GB" altLang="en-US" i="1"/>
              <a:t>Chapter 3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0AC8206-D049-AE2A-D5DA-19111C5060D9}"/>
              </a:ext>
            </a:extLst>
          </p:cNvPr>
          <p:cNvSpPr>
            <a:spLocks noGrp="1" noChangeArrowheads="1"/>
          </p:cNvSpPr>
          <p:nvPr>
            <p:ph type="title"/>
          </p:nvPr>
        </p:nvSpPr>
        <p:spPr bwMode="auto">
          <a:xfrm>
            <a:off x="1600200" y="228600"/>
            <a:ext cx="6629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a:solidFill>
                  <a:schemeClr val="accent2"/>
                </a:solidFill>
              </a:rPr>
              <a:t>Agenda</a:t>
            </a:r>
          </a:p>
        </p:txBody>
      </p:sp>
      <p:sp>
        <p:nvSpPr>
          <p:cNvPr id="12291" name="Rectangle 3">
            <a:extLst>
              <a:ext uri="{FF2B5EF4-FFF2-40B4-BE49-F238E27FC236}">
                <a16:creationId xmlns:a16="http://schemas.microsoft.com/office/drawing/2014/main" id="{748B7B1B-3CB8-BD9C-2FD3-D4639C89DE4D}"/>
              </a:ext>
            </a:extLst>
          </p:cNvPr>
          <p:cNvSpPr>
            <a:spLocks noGrp="1" noChangeArrowheads="1"/>
          </p:cNvSpPr>
          <p:nvPr>
            <p:ph idx="1"/>
          </p:nvPr>
        </p:nvSpPr>
        <p:spPr bwMode="auto">
          <a:xfrm>
            <a:off x="1600200" y="1295400"/>
            <a:ext cx="75438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2800">
                <a:solidFill>
                  <a:schemeClr val="accent2"/>
                </a:solidFill>
              </a:rPr>
              <a:t>Why preprocess the data?</a:t>
            </a:r>
          </a:p>
          <a:p>
            <a:pPr eaLnBrk="1" hangingPunct="1">
              <a:lnSpc>
                <a:spcPct val="140000"/>
              </a:lnSpc>
            </a:pPr>
            <a:r>
              <a:rPr lang="en-US" altLang="en-US" sz="2800"/>
              <a:t>Data cleaning </a:t>
            </a:r>
          </a:p>
          <a:p>
            <a:pPr eaLnBrk="1" hangingPunct="1">
              <a:lnSpc>
                <a:spcPct val="140000"/>
              </a:lnSpc>
            </a:pPr>
            <a:r>
              <a:rPr lang="en-US" altLang="en-US" sz="2800"/>
              <a:t>Data integration and transformation</a:t>
            </a:r>
          </a:p>
          <a:p>
            <a:pPr eaLnBrk="1" hangingPunct="1">
              <a:lnSpc>
                <a:spcPct val="140000"/>
              </a:lnSpc>
            </a:pPr>
            <a:r>
              <a:rPr lang="en-US" altLang="en-US" sz="2800"/>
              <a:t>Data reduction</a:t>
            </a:r>
            <a:endParaRPr lang="en-US" altLang="en-US" sz="2800">
              <a:solidFill>
                <a:schemeClr val="hlink"/>
              </a:solidFill>
            </a:endParaRPr>
          </a:p>
          <a:p>
            <a:pPr eaLnBrk="1" hangingPunct="1">
              <a:lnSpc>
                <a:spcPct val="140000"/>
              </a:lnSpc>
            </a:pPr>
            <a:r>
              <a:rPr lang="en-US" altLang="en-US" sz="2800"/>
              <a:t>Summary</a:t>
            </a:r>
          </a:p>
        </p:txBody>
      </p:sp>
    </p:spTree>
  </p:cSld>
  <p:clrMapOvr>
    <a:masterClrMapping/>
  </p:clrMapOvr>
  <p:transition>
    <p:checke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379C4C5-9B0E-44EC-1D0C-15E80FB6C64B}"/>
              </a:ext>
            </a:extLst>
          </p:cNvPr>
          <p:cNvSpPr>
            <a:spLocks noGrp="1" noChangeArrowheads="1"/>
          </p:cNvSpPr>
          <p:nvPr>
            <p:ph type="title"/>
          </p:nvPr>
        </p:nvSpPr>
        <p:spPr bwMode="auto">
          <a:xfrm>
            <a:off x="1600200" y="381000"/>
            <a:ext cx="74676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Why Data Preprocessing?</a:t>
            </a:r>
          </a:p>
        </p:txBody>
      </p:sp>
      <p:sp>
        <p:nvSpPr>
          <p:cNvPr id="13315" name="Rectangle 3">
            <a:extLst>
              <a:ext uri="{FF2B5EF4-FFF2-40B4-BE49-F238E27FC236}">
                <a16:creationId xmlns:a16="http://schemas.microsoft.com/office/drawing/2014/main" id="{17AD7365-3E1F-1987-16AB-181CCB4B9AF8}"/>
              </a:ext>
            </a:extLst>
          </p:cNvPr>
          <p:cNvSpPr>
            <a:spLocks noGrp="1" noChangeArrowheads="1"/>
          </p:cNvSpPr>
          <p:nvPr>
            <p:ph idx="1"/>
          </p:nvPr>
        </p:nvSpPr>
        <p:spPr bwMode="auto">
          <a:xfrm>
            <a:off x="1600200" y="1219200"/>
            <a:ext cx="72390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t>Data in the real world is dirty! Missing, noisy and inconsistent data. </a:t>
            </a:r>
          </a:p>
          <a:p>
            <a:pPr eaLnBrk="1" hangingPunct="1"/>
            <a:endParaRPr lang="en-US" altLang="en-US" sz="2800"/>
          </a:p>
        </p:txBody>
      </p:sp>
      <p:pic>
        <p:nvPicPr>
          <p:cNvPr id="13316" name="Picture 5">
            <a:extLst>
              <a:ext uri="{FF2B5EF4-FFF2-40B4-BE49-F238E27FC236}">
                <a16:creationId xmlns:a16="http://schemas.microsoft.com/office/drawing/2014/main" id="{4387117C-FCA0-0D80-8215-33FF5A6EC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362200"/>
            <a:ext cx="6022975" cy="310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hecke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DEE972F-0F00-3BC6-E610-7931001F0ACE}"/>
              </a:ext>
            </a:extLst>
          </p:cNvPr>
          <p:cNvSpPr>
            <a:spLocks noGrp="1" noChangeArrowheads="1"/>
          </p:cNvSpPr>
          <p:nvPr>
            <p:ph type="title"/>
          </p:nvPr>
        </p:nvSpPr>
        <p:spPr bwMode="auto">
          <a:xfrm>
            <a:off x="1600200" y="533400"/>
            <a:ext cx="71628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Major Tasks in Data Preprocessing</a:t>
            </a:r>
          </a:p>
        </p:txBody>
      </p:sp>
      <p:sp>
        <p:nvSpPr>
          <p:cNvPr id="15363" name="Rectangle 3">
            <a:extLst>
              <a:ext uri="{FF2B5EF4-FFF2-40B4-BE49-F238E27FC236}">
                <a16:creationId xmlns:a16="http://schemas.microsoft.com/office/drawing/2014/main" id="{8BA360ED-7535-D125-090F-3E751914B09F}"/>
              </a:ext>
            </a:extLst>
          </p:cNvPr>
          <p:cNvSpPr>
            <a:spLocks noGrp="1" noChangeArrowheads="1"/>
          </p:cNvSpPr>
          <p:nvPr>
            <p:ph idx="1"/>
          </p:nvPr>
        </p:nvSpPr>
        <p:spPr bwMode="auto">
          <a:xfrm>
            <a:off x="1600200" y="1473200"/>
            <a:ext cx="3962400" cy="508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182563" indent="-182563" eaLnBrk="1" hangingPunct="1">
              <a:buFont typeface="Arial" panose="020B0604020202020204" pitchFamily="34" charset="0"/>
              <a:buChar char="•"/>
            </a:pPr>
            <a:r>
              <a:rPr lang="en-US" altLang="en-US" sz="1400"/>
              <a:t>Data cleaning</a:t>
            </a:r>
          </a:p>
          <a:p>
            <a:pPr lvl="1" indent="-182563" eaLnBrk="1" hangingPunct="1"/>
            <a:r>
              <a:rPr lang="en-US" altLang="en-US" sz="1400"/>
              <a:t>Fill in missing values, smooth noisy data, identify or remove outliers, and resolve inconsistencies</a:t>
            </a:r>
          </a:p>
          <a:p>
            <a:pPr marL="182563" indent="-182563" eaLnBrk="1" hangingPunct="1">
              <a:buFont typeface="Arial" panose="020B0604020202020204" pitchFamily="34" charset="0"/>
              <a:buChar char="•"/>
            </a:pPr>
            <a:r>
              <a:rPr lang="en-US" altLang="en-US" sz="1400"/>
              <a:t>Data integration</a:t>
            </a:r>
          </a:p>
          <a:p>
            <a:pPr lvl="1" indent="-182563" eaLnBrk="1" hangingPunct="1"/>
            <a:r>
              <a:rPr lang="en-US" altLang="en-US" sz="1400"/>
              <a:t>Integration of multiple databases, </a:t>
            </a:r>
            <a:r>
              <a:rPr lang="en-US" altLang="en-US" sz="1400">
                <a:solidFill>
                  <a:srgbClr val="FF0000"/>
                </a:solidFill>
              </a:rPr>
              <a:t>data cubes</a:t>
            </a:r>
            <a:r>
              <a:rPr lang="en-US" altLang="en-US" sz="1400"/>
              <a:t>, or files</a:t>
            </a:r>
          </a:p>
          <a:p>
            <a:pPr marL="182563" indent="-182563" eaLnBrk="1" hangingPunct="1">
              <a:buFont typeface="Arial" panose="020B0604020202020204" pitchFamily="34" charset="0"/>
              <a:buChar char="•"/>
            </a:pPr>
            <a:r>
              <a:rPr lang="en-US" altLang="en-US" sz="1400"/>
              <a:t>Data transformation</a:t>
            </a:r>
          </a:p>
          <a:p>
            <a:pPr lvl="1" indent="-182563" eaLnBrk="1" hangingPunct="1"/>
            <a:r>
              <a:rPr lang="en-US" altLang="en-US" sz="1400"/>
              <a:t>Normalization (scaling to a specific range)</a:t>
            </a:r>
          </a:p>
          <a:p>
            <a:pPr lvl="1" indent="-182563" eaLnBrk="1" hangingPunct="1"/>
            <a:r>
              <a:rPr lang="en-US" altLang="en-US" sz="1400"/>
              <a:t>Aggregation</a:t>
            </a:r>
          </a:p>
          <a:p>
            <a:pPr marL="182563" indent="-182563" eaLnBrk="1" hangingPunct="1">
              <a:buFont typeface="Arial" panose="020B0604020202020204" pitchFamily="34" charset="0"/>
              <a:buChar char="•"/>
            </a:pPr>
            <a:r>
              <a:rPr lang="en-US" altLang="en-US" sz="1400"/>
              <a:t>Data reduction</a:t>
            </a:r>
          </a:p>
          <a:p>
            <a:pPr lvl="1" indent="-182563" eaLnBrk="1" hangingPunct="1"/>
            <a:r>
              <a:rPr lang="en-US" altLang="en-US" sz="1400"/>
              <a:t>Obtains reduced representation in volume but produces the same or similar analytical results</a:t>
            </a:r>
          </a:p>
          <a:p>
            <a:pPr marL="182563" indent="-182563" eaLnBrk="1" hangingPunct="1">
              <a:buFont typeface="Arial" panose="020B0604020202020204" pitchFamily="34" charset="0"/>
              <a:buChar char="•"/>
            </a:pPr>
            <a:r>
              <a:rPr lang="en-US" altLang="en-US" sz="1400">
                <a:solidFill>
                  <a:srgbClr val="FF0000"/>
                </a:solidFill>
              </a:rPr>
              <a:t>Data discretization </a:t>
            </a:r>
          </a:p>
          <a:p>
            <a:pPr lvl="1" indent="-182563" eaLnBrk="1" hangingPunct="1"/>
            <a:r>
              <a:rPr lang="en-US" altLang="en-US" sz="1400"/>
              <a:t>With particular importance, especially for numerical data</a:t>
            </a:r>
          </a:p>
          <a:p>
            <a:pPr lvl="1" indent="-182563" eaLnBrk="1" hangingPunct="1"/>
            <a:r>
              <a:rPr lang="en-US" altLang="en-US" sz="1400"/>
              <a:t>We will practise this in Week 3 (pd.cut) </a:t>
            </a:r>
          </a:p>
        </p:txBody>
      </p:sp>
      <p:pic>
        <p:nvPicPr>
          <p:cNvPr id="15364" name="Picture 5" descr="Data Preprocessing Steps. | Download Scientific Diagram">
            <a:extLst>
              <a:ext uri="{FF2B5EF4-FFF2-40B4-BE49-F238E27FC236}">
                <a16:creationId xmlns:a16="http://schemas.microsoft.com/office/drawing/2014/main" id="{F0168602-6FB6-B8F3-0A14-5FAC88B0B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971800"/>
            <a:ext cx="3581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67F611E-ADBB-D818-88FB-744F2D4FDCC8}"/>
              </a:ext>
            </a:extLst>
          </p:cNvPr>
          <p:cNvSpPr>
            <a:spLocks noGrp="1" noChangeArrowheads="1"/>
          </p:cNvSpPr>
          <p:nvPr>
            <p:ph type="title"/>
          </p:nvPr>
        </p:nvSpPr>
        <p:spPr bwMode="auto">
          <a:xfrm>
            <a:off x="1600200" y="304800"/>
            <a:ext cx="70866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a:solidFill>
                  <a:schemeClr val="accent2"/>
                </a:solidFill>
              </a:rPr>
              <a:t>Agenda</a:t>
            </a:r>
          </a:p>
        </p:txBody>
      </p:sp>
      <p:sp>
        <p:nvSpPr>
          <p:cNvPr id="16387" name="Rectangle 3">
            <a:extLst>
              <a:ext uri="{FF2B5EF4-FFF2-40B4-BE49-F238E27FC236}">
                <a16:creationId xmlns:a16="http://schemas.microsoft.com/office/drawing/2014/main" id="{7B0686F8-ED55-4AF7-9CC0-F49AF4DA1B3F}"/>
              </a:ext>
            </a:extLst>
          </p:cNvPr>
          <p:cNvSpPr>
            <a:spLocks noGrp="1" noChangeArrowheads="1"/>
          </p:cNvSpPr>
          <p:nvPr>
            <p:ph idx="1"/>
          </p:nvPr>
        </p:nvSpPr>
        <p:spPr bwMode="auto">
          <a:xfrm>
            <a:off x="1600200" y="1524000"/>
            <a:ext cx="71628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2800"/>
              <a:t>Why preprocess the data?</a:t>
            </a:r>
          </a:p>
          <a:p>
            <a:pPr eaLnBrk="1" hangingPunct="1">
              <a:lnSpc>
                <a:spcPct val="140000"/>
              </a:lnSpc>
            </a:pPr>
            <a:r>
              <a:rPr lang="en-US" altLang="en-US" sz="2800">
                <a:solidFill>
                  <a:schemeClr val="accent2"/>
                </a:solidFill>
              </a:rPr>
              <a:t>Data cleaning</a:t>
            </a:r>
            <a:r>
              <a:rPr lang="en-US" altLang="en-US" sz="2800"/>
              <a:t> </a:t>
            </a:r>
          </a:p>
          <a:p>
            <a:pPr eaLnBrk="1" hangingPunct="1">
              <a:lnSpc>
                <a:spcPct val="140000"/>
              </a:lnSpc>
            </a:pPr>
            <a:r>
              <a:rPr lang="en-US" altLang="en-US" sz="2800"/>
              <a:t>Data integration and transformation</a:t>
            </a:r>
          </a:p>
          <a:p>
            <a:pPr eaLnBrk="1" hangingPunct="1">
              <a:lnSpc>
                <a:spcPct val="140000"/>
              </a:lnSpc>
            </a:pPr>
            <a:r>
              <a:rPr lang="en-US" altLang="en-US" sz="2800"/>
              <a:t>Data reduction</a:t>
            </a:r>
            <a:endParaRPr lang="en-US" altLang="en-US" sz="2800">
              <a:solidFill>
                <a:schemeClr val="hlink"/>
              </a:solidFill>
            </a:endParaRPr>
          </a:p>
          <a:p>
            <a:pPr eaLnBrk="1" hangingPunct="1">
              <a:lnSpc>
                <a:spcPct val="140000"/>
              </a:lnSpc>
            </a:pPr>
            <a:r>
              <a:rPr lang="en-US" altLang="en-US" sz="2800"/>
              <a:t>Summary</a:t>
            </a:r>
          </a:p>
        </p:txBody>
      </p:sp>
    </p:spTree>
  </p:cSld>
  <p:clrMapOvr>
    <a:masterClrMapping/>
  </p:clrMapOvr>
  <p:transition>
    <p:checke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4D8DA8E-2260-FCFC-2742-9D6695440F2A}"/>
              </a:ext>
            </a:extLst>
          </p:cNvPr>
          <p:cNvSpPr>
            <a:spLocks noGrp="1" noChangeArrowheads="1"/>
          </p:cNvSpPr>
          <p:nvPr>
            <p:ph type="title"/>
          </p:nvPr>
        </p:nvSpPr>
        <p:spPr bwMode="auto">
          <a:xfrm>
            <a:off x="1828800" y="304800"/>
            <a:ext cx="6705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sz="3600">
                <a:solidFill>
                  <a:schemeClr val="accent2"/>
                </a:solidFill>
              </a:rPr>
              <a:t>Data Cleaning</a:t>
            </a:r>
          </a:p>
        </p:txBody>
      </p:sp>
      <p:sp>
        <p:nvSpPr>
          <p:cNvPr id="17411" name="Rectangle 3">
            <a:extLst>
              <a:ext uri="{FF2B5EF4-FFF2-40B4-BE49-F238E27FC236}">
                <a16:creationId xmlns:a16="http://schemas.microsoft.com/office/drawing/2014/main" id="{53958333-CEB2-E124-E891-A42021372B10}"/>
              </a:ext>
            </a:extLst>
          </p:cNvPr>
          <p:cNvSpPr>
            <a:spLocks noGrp="1" noChangeArrowheads="1"/>
          </p:cNvSpPr>
          <p:nvPr>
            <p:ph idx="1"/>
          </p:nvPr>
        </p:nvSpPr>
        <p:spPr bwMode="auto">
          <a:xfrm>
            <a:off x="1752600" y="1219200"/>
            <a:ext cx="7010400" cy="48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1800"/>
              <a:t>Data cleaning tasks</a:t>
            </a:r>
          </a:p>
          <a:p>
            <a:pPr lvl="1" eaLnBrk="1" hangingPunct="1">
              <a:lnSpc>
                <a:spcPct val="140000"/>
              </a:lnSpc>
            </a:pPr>
            <a:r>
              <a:rPr lang="en-US" altLang="en-US" sz="1800"/>
              <a:t>Fill in missing values</a:t>
            </a:r>
          </a:p>
          <a:p>
            <a:pPr lvl="1" eaLnBrk="1" hangingPunct="1">
              <a:lnSpc>
                <a:spcPct val="140000"/>
              </a:lnSpc>
            </a:pPr>
            <a:r>
              <a:rPr lang="en-US" altLang="en-US" sz="1800"/>
              <a:t>Identify outliers and smooth out noisy data </a:t>
            </a:r>
          </a:p>
          <a:p>
            <a:pPr lvl="1" eaLnBrk="1" hangingPunct="1">
              <a:lnSpc>
                <a:spcPct val="140000"/>
              </a:lnSpc>
            </a:pPr>
            <a:r>
              <a:rPr lang="en-US" altLang="en-US" sz="1800"/>
              <a:t>Correct inconsistent data</a:t>
            </a:r>
          </a:p>
        </p:txBody>
      </p:sp>
      <p:pic>
        <p:nvPicPr>
          <p:cNvPr id="17412" name="Picture 4">
            <a:extLst>
              <a:ext uri="{FF2B5EF4-FFF2-40B4-BE49-F238E27FC236}">
                <a16:creationId xmlns:a16="http://schemas.microsoft.com/office/drawing/2014/main" id="{A0F20677-8C6F-5BDA-459E-37653C6810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124200"/>
            <a:ext cx="6019800" cy="311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checke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D2E8DD8-B6AF-63DB-36CB-AC2C76C79ECA}"/>
              </a:ext>
            </a:extLst>
          </p:cNvPr>
          <p:cNvSpPr>
            <a:spLocks noGrp="1" noChangeArrowheads="1"/>
          </p:cNvSpPr>
          <p:nvPr>
            <p:ph type="title"/>
          </p:nvPr>
        </p:nvSpPr>
        <p:spPr bwMode="auto">
          <a:xfrm>
            <a:off x="2286000" y="304800"/>
            <a:ext cx="40386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4000">
                <a:solidFill>
                  <a:schemeClr val="accent2"/>
                </a:solidFill>
              </a:rPr>
              <a:t>Missing Data</a:t>
            </a:r>
          </a:p>
        </p:txBody>
      </p:sp>
      <p:sp>
        <p:nvSpPr>
          <p:cNvPr id="18435" name="Rectangle 3">
            <a:extLst>
              <a:ext uri="{FF2B5EF4-FFF2-40B4-BE49-F238E27FC236}">
                <a16:creationId xmlns:a16="http://schemas.microsoft.com/office/drawing/2014/main" id="{64343380-45DB-5747-88AD-352464034EEE}"/>
              </a:ext>
            </a:extLst>
          </p:cNvPr>
          <p:cNvSpPr>
            <a:spLocks noGrp="1" noChangeArrowheads="1"/>
          </p:cNvSpPr>
          <p:nvPr>
            <p:ph idx="1"/>
          </p:nvPr>
        </p:nvSpPr>
        <p:spPr bwMode="auto">
          <a:xfrm>
            <a:off x="1524000" y="1447800"/>
            <a:ext cx="73914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en-US"/>
              <a:t>Data is not always available</a:t>
            </a:r>
          </a:p>
          <a:p>
            <a:pPr lvl="1" eaLnBrk="1" hangingPunct="1">
              <a:lnSpc>
                <a:spcPct val="120000"/>
              </a:lnSpc>
            </a:pPr>
            <a:r>
              <a:rPr lang="en-US" altLang="en-US"/>
              <a:t>E.g., many tuples have no recorded value for several attributes, such as customer income in sales data</a:t>
            </a:r>
          </a:p>
          <a:p>
            <a:pPr eaLnBrk="1" hangingPunct="1">
              <a:lnSpc>
                <a:spcPct val="120000"/>
              </a:lnSpc>
            </a:pPr>
            <a:r>
              <a:rPr lang="en-US" altLang="en-US"/>
              <a:t>Missing data may be due to </a:t>
            </a:r>
          </a:p>
          <a:p>
            <a:pPr lvl="1" eaLnBrk="1" hangingPunct="1">
              <a:lnSpc>
                <a:spcPct val="120000"/>
              </a:lnSpc>
            </a:pPr>
            <a:r>
              <a:rPr lang="en-US" altLang="en-US"/>
              <a:t>equipment malfunction</a:t>
            </a:r>
          </a:p>
          <a:p>
            <a:pPr lvl="1" eaLnBrk="1" hangingPunct="1">
              <a:lnSpc>
                <a:spcPct val="120000"/>
              </a:lnSpc>
            </a:pPr>
            <a:r>
              <a:rPr lang="en-US" altLang="en-US"/>
              <a:t>inconsistent with other recorded data and thus deleted</a:t>
            </a:r>
          </a:p>
          <a:p>
            <a:pPr lvl="1" eaLnBrk="1" hangingPunct="1">
              <a:lnSpc>
                <a:spcPct val="120000"/>
              </a:lnSpc>
            </a:pPr>
            <a:r>
              <a:rPr lang="en-US" altLang="en-US"/>
              <a:t>data not entered due to misunderstanding</a:t>
            </a:r>
          </a:p>
          <a:p>
            <a:pPr lvl="1" eaLnBrk="1" hangingPunct="1">
              <a:lnSpc>
                <a:spcPct val="120000"/>
              </a:lnSpc>
            </a:pPr>
            <a:r>
              <a:rPr lang="en-US" altLang="en-US"/>
              <a:t>certain data may not be considered important at the time of entry</a:t>
            </a:r>
          </a:p>
          <a:p>
            <a:pPr lvl="1" eaLnBrk="1" hangingPunct="1">
              <a:lnSpc>
                <a:spcPct val="120000"/>
              </a:lnSpc>
            </a:pPr>
            <a:r>
              <a:rPr lang="en-US" altLang="en-US"/>
              <a:t>history or changes of the data not registered</a:t>
            </a:r>
          </a:p>
          <a:p>
            <a:pPr eaLnBrk="1" hangingPunct="1">
              <a:lnSpc>
                <a:spcPct val="120000"/>
              </a:lnSpc>
            </a:pPr>
            <a:r>
              <a:rPr lang="en-US" altLang="en-US"/>
              <a:t>Missing data may need to be inferred</a:t>
            </a:r>
          </a:p>
        </p:txBody>
      </p:sp>
    </p:spTree>
  </p:cSld>
  <p:clrMapOvr>
    <a:masterClrMapping/>
  </p:clrMapOvr>
  <p:transition>
    <p:checke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52C14D8-12FD-C055-B6F2-2E0A4B6EBE20}"/>
              </a:ext>
            </a:extLst>
          </p:cNvPr>
          <p:cNvSpPr>
            <a:spLocks noGrp="1"/>
          </p:cNvSpPr>
          <p:nvPr>
            <p:ph type="title"/>
          </p:nvPr>
        </p:nvSpPr>
        <p:spPr bwMode="auto">
          <a:xfrm>
            <a:off x="1809750" y="365125"/>
            <a:ext cx="6705600" cy="595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Missing Data Example</a:t>
            </a:r>
          </a:p>
        </p:txBody>
      </p:sp>
      <p:sp>
        <p:nvSpPr>
          <p:cNvPr id="19459" name="Content Placeholder 2">
            <a:extLst>
              <a:ext uri="{FF2B5EF4-FFF2-40B4-BE49-F238E27FC236}">
                <a16:creationId xmlns:a16="http://schemas.microsoft.com/office/drawing/2014/main" id="{D98BF2AC-6E8B-6B16-B961-4D0AF9090109}"/>
              </a:ext>
            </a:extLst>
          </p:cNvPr>
          <p:cNvSpPr>
            <a:spLocks noGrp="1"/>
          </p:cNvSpPr>
          <p:nvPr>
            <p:ph idx="1"/>
          </p:nvPr>
        </p:nvSpPr>
        <p:spPr bwMode="auto">
          <a:xfrm>
            <a:off x="1809750" y="1414463"/>
            <a:ext cx="6705600" cy="4762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en-GB" altLang="en-US"/>
          </a:p>
        </p:txBody>
      </p:sp>
      <p:pic>
        <p:nvPicPr>
          <p:cNvPr id="19460" name="Picture 2" descr="How to manage missing data, for data scientists">
            <a:extLst>
              <a:ext uri="{FF2B5EF4-FFF2-40B4-BE49-F238E27FC236}">
                <a16:creationId xmlns:a16="http://schemas.microsoft.com/office/drawing/2014/main" id="{B8455ECE-4725-E282-009C-BC515B1AD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70199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8485B39-71AA-629D-504F-C9CE3E93F92A}"/>
              </a:ext>
            </a:extLst>
          </p:cNvPr>
          <p:cNvSpPr>
            <a:spLocks noGrp="1" noChangeArrowheads="1"/>
          </p:cNvSpPr>
          <p:nvPr>
            <p:ph type="title"/>
          </p:nvPr>
        </p:nvSpPr>
        <p:spPr bwMode="auto">
          <a:xfrm>
            <a:off x="1676400" y="228600"/>
            <a:ext cx="71628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How to Handle Missing Data?</a:t>
            </a:r>
          </a:p>
        </p:txBody>
      </p:sp>
      <p:sp>
        <p:nvSpPr>
          <p:cNvPr id="20483" name="Rectangle 3">
            <a:extLst>
              <a:ext uri="{FF2B5EF4-FFF2-40B4-BE49-F238E27FC236}">
                <a16:creationId xmlns:a16="http://schemas.microsoft.com/office/drawing/2014/main" id="{C155E33B-B67A-72C0-5CF0-BB7813CA1C3D}"/>
              </a:ext>
            </a:extLst>
          </p:cNvPr>
          <p:cNvSpPr>
            <a:spLocks noGrp="1" noChangeArrowheads="1"/>
          </p:cNvSpPr>
          <p:nvPr>
            <p:ph idx="1"/>
          </p:nvPr>
        </p:nvSpPr>
        <p:spPr bwMode="auto">
          <a:xfrm>
            <a:off x="1600200" y="914400"/>
            <a:ext cx="7391400" cy="563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pPr>
            <a:r>
              <a:rPr lang="en-US" altLang="en-US" sz="2000"/>
              <a:t>Ignore the tuple: usually done when class label is missing (assuming the task is classification</a:t>
            </a:r>
            <a:r>
              <a:rPr lang="en-US" altLang="en-US" sz="2000">
                <a:cs typeface="Tahoma" panose="020B0604030504040204" pitchFamily="34" charset="0"/>
              </a:rPr>
              <a:t>—</a:t>
            </a:r>
            <a:r>
              <a:rPr lang="en-US" altLang="en-US" sz="2000"/>
              <a:t>not effective in certain cases) </a:t>
            </a:r>
          </a:p>
          <a:p>
            <a:pPr eaLnBrk="1" hangingPunct="1">
              <a:lnSpc>
                <a:spcPct val="140000"/>
              </a:lnSpc>
            </a:pPr>
            <a:r>
              <a:rPr lang="en-US" altLang="en-US" sz="2000"/>
              <a:t>Fill in the missing value </a:t>
            </a:r>
            <a:r>
              <a:rPr lang="en-US" altLang="en-US" sz="2000">
                <a:solidFill>
                  <a:schemeClr val="accent2"/>
                </a:solidFill>
              </a:rPr>
              <a:t>manually</a:t>
            </a:r>
            <a:r>
              <a:rPr lang="en-US" altLang="en-US" sz="2000"/>
              <a:t>: tedious + infeasible?</a:t>
            </a:r>
          </a:p>
          <a:p>
            <a:pPr eaLnBrk="1" hangingPunct="1">
              <a:lnSpc>
                <a:spcPct val="140000"/>
              </a:lnSpc>
            </a:pPr>
            <a:r>
              <a:rPr lang="en-US" altLang="en-US" sz="2000"/>
              <a:t>Use a </a:t>
            </a:r>
            <a:r>
              <a:rPr lang="en-US" altLang="en-US" sz="2000">
                <a:solidFill>
                  <a:schemeClr val="accent2"/>
                </a:solidFill>
              </a:rPr>
              <a:t>global constant</a:t>
            </a:r>
            <a:r>
              <a:rPr lang="en-US" altLang="en-US" sz="2000"/>
              <a:t> to fill in the missing value: e.g., “unknown”, a new class?! </a:t>
            </a:r>
          </a:p>
          <a:p>
            <a:pPr eaLnBrk="1" hangingPunct="1">
              <a:lnSpc>
                <a:spcPct val="140000"/>
              </a:lnSpc>
            </a:pPr>
            <a:r>
              <a:rPr lang="en-US" altLang="en-US" sz="2000"/>
              <a:t>Use the </a:t>
            </a:r>
            <a:r>
              <a:rPr lang="en-US" altLang="en-US" sz="2000">
                <a:solidFill>
                  <a:schemeClr val="accent2"/>
                </a:solidFill>
              </a:rPr>
              <a:t>attribute mean</a:t>
            </a:r>
            <a:r>
              <a:rPr lang="en-US" altLang="en-US" sz="2000"/>
              <a:t> to fill in the missing value</a:t>
            </a:r>
          </a:p>
          <a:p>
            <a:pPr eaLnBrk="1" hangingPunct="1">
              <a:lnSpc>
                <a:spcPct val="140000"/>
              </a:lnSpc>
            </a:pPr>
            <a:r>
              <a:rPr lang="en-US" altLang="en-US" sz="2000"/>
              <a:t>Use the </a:t>
            </a:r>
            <a:r>
              <a:rPr lang="en-US" altLang="en-US" sz="2000">
                <a:solidFill>
                  <a:schemeClr val="accent2"/>
                </a:solidFill>
              </a:rPr>
              <a:t>attribute mean for all samples of the same class</a:t>
            </a:r>
            <a:r>
              <a:rPr lang="en-US" altLang="en-US" sz="2000"/>
              <a:t> to fill in the missing value: smarter</a:t>
            </a:r>
          </a:p>
          <a:p>
            <a:pPr eaLnBrk="1" hangingPunct="1">
              <a:lnSpc>
                <a:spcPct val="140000"/>
              </a:lnSpc>
            </a:pPr>
            <a:r>
              <a:rPr lang="en-US" altLang="en-US" sz="2000">
                <a:solidFill>
                  <a:schemeClr val="tx2"/>
                </a:solidFill>
              </a:rPr>
              <a:t>Use the </a:t>
            </a:r>
            <a:r>
              <a:rPr lang="en-US" altLang="en-US" sz="2000">
                <a:solidFill>
                  <a:schemeClr val="accent2"/>
                </a:solidFill>
              </a:rPr>
              <a:t>most probable value</a:t>
            </a:r>
            <a:r>
              <a:rPr lang="en-US" altLang="en-US" sz="2000">
                <a:solidFill>
                  <a:schemeClr val="tx2"/>
                </a:solidFill>
              </a:rPr>
              <a:t> to fill in the missing value: inference-based such as </a:t>
            </a:r>
            <a:r>
              <a:rPr lang="en-US" altLang="en-US" sz="2000">
                <a:solidFill>
                  <a:schemeClr val="accent2"/>
                </a:solidFill>
              </a:rPr>
              <a:t>regression, Bayesian formula, decision tree</a:t>
            </a:r>
          </a:p>
        </p:txBody>
      </p:sp>
    </p:spTree>
  </p:cSld>
  <p:clrMapOvr>
    <a:masterClrMapping/>
  </p:clrMapOvr>
  <p:transition>
    <p:checke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E8197B7-6A7B-DE73-C070-092229411015}"/>
              </a:ext>
            </a:extLst>
          </p:cNvPr>
          <p:cNvSpPr>
            <a:spLocks noGrp="1"/>
          </p:cNvSpPr>
          <p:nvPr>
            <p:ph type="title"/>
          </p:nvPr>
        </p:nvSpPr>
        <p:spPr bwMode="auto">
          <a:xfrm>
            <a:off x="1600200" y="273050"/>
            <a:ext cx="70818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600"/>
              <a:t>Different kinds of missing data</a:t>
            </a:r>
          </a:p>
        </p:txBody>
      </p:sp>
      <p:sp>
        <p:nvSpPr>
          <p:cNvPr id="22531" name="Text Placeholder 2">
            <a:extLst>
              <a:ext uri="{FF2B5EF4-FFF2-40B4-BE49-F238E27FC236}">
                <a16:creationId xmlns:a16="http://schemas.microsoft.com/office/drawing/2014/main" id="{BB679D1E-2CF6-7BCA-5A92-0559C419879C}"/>
              </a:ext>
            </a:extLst>
          </p:cNvPr>
          <p:cNvSpPr>
            <a:spLocks noGrp="1"/>
          </p:cNvSpPr>
          <p:nvPr>
            <p:ph type="body" sz="half" idx="1"/>
          </p:nvPr>
        </p:nvSpPr>
        <p:spPr bwMode="auto">
          <a:xfrm>
            <a:off x="1600200" y="1219200"/>
            <a:ext cx="71628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1800" b="1">
                <a:solidFill>
                  <a:srgbClr val="FF0000"/>
                </a:solidFill>
              </a:rPr>
              <a:t>Data missing completely at random (MCAR)</a:t>
            </a:r>
            <a:r>
              <a:rPr lang="en-GB" altLang="en-US" sz="1800">
                <a:solidFill>
                  <a:srgbClr val="FF0000"/>
                </a:solidFill>
              </a:rPr>
              <a:t>: </a:t>
            </a:r>
            <a:r>
              <a:rPr lang="en-GB" altLang="en-US" sz="1800"/>
              <a:t>missingness does not depend on any values of the missing or measured data. That is missingness r</a:t>
            </a:r>
            <a:r>
              <a:rPr lang="en-GB" altLang="en-US" sz="1800" baseline="-25000"/>
              <a:t>i</a:t>
            </a:r>
            <a:r>
              <a:rPr lang="en-GB" altLang="en-US" sz="1800"/>
              <a:t> does not depend on the (unobserved) value y</a:t>
            </a:r>
            <a:r>
              <a:rPr lang="en-GB" altLang="en-US" sz="1800" baseline="-25000"/>
              <a:t>i</a:t>
            </a:r>
            <a:r>
              <a:rPr lang="en-GB" altLang="en-US" sz="1800"/>
              <a:t> or on observed values x</a:t>
            </a:r>
            <a:r>
              <a:rPr lang="en-GB" altLang="en-US" sz="1800" baseline="-25000"/>
              <a:t>i</a:t>
            </a:r>
            <a:r>
              <a:rPr lang="en-GB" altLang="en-US" sz="1800"/>
              <a:t>. In this case, entities with missing data can be removed from the analysis safely. </a:t>
            </a:r>
          </a:p>
          <a:p>
            <a:endParaRPr lang="en-GB" altLang="en-US" sz="1800"/>
          </a:p>
          <a:p>
            <a:r>
              <a:rPr lang="en-GB" altLang="en-US" sz="1800" b="1">
                <a:solidFill>
                  <a:srgbClr val="FF0000"/>
                </a:solidFill>
              </a:rPr>
              <a:t>Data missing at random (MAR)</a:t>
            </a:r>
            <a:r>
              <a:rPr lang="en-GB" altLang="en-US" sz="1800">
                <a:solidFill>
                  <a:srgbClr val="FF0000"/>
                </a:solidFill>
              </a:rPr>
              <a:t>:</a:t>
            </a:r>
            <a:r>
              <a:rPr lang="en-GB" altLang="en-US" sz="1800"/>
              <a:t> missingness r</a:t>
            </a:r>
            <a:r>
              <a:rPr lang="en-GB" altLang="en-US" sz="1800" baseline="-25000"/>
              <a:t>i</a:t>
            </a:r>
            <a:r>
              <a:rPr lang="en-GB" altLang="en-US" sz="1800"/>
              <a:t> does not depend on value of y</a:t>
            </a:r>
            <a:r>
              <a:rPr lang="en-GB" altLang="en-US" sz="1800" baseline="-25000"/>
              <a:t>i</a:t>
            </a:r>
            <a:r>
              <a:rPr lang="en-GB" altLang="en-US" sz="1800"/>
              <a:t>, but may depend on the value of x</a:t>
            </a:r>
            <a:r>
              <a:rPr lang="en-GB" altLang="en-US" sz="1800" baseline="-25000"/>
              <a:t>i</a:t>
            </a:r>
            <a:r>
              <a:rPr lang="en-GB" altLang="en-US" sz="1800"/>
              <a:t>. Here, removing data can bias analysis since you would drop values of x based on missingness and potentially change the distribution of x. </a:t>
            </a:r>
          </a:p>
          <a:p>
            <a:endParaRPr lang="en-GB" altLang="en-US" sz="1800"/>
          </a:p>
          <a:p>
            <a:r>
              <a:rPr lang="en-GB" altLang="en-US" sz="1800" b="1">
                <a:solidFill>
                  <a:srgbClr val="FF0000"/>
                </a:solidFill>
              </a:rPr>
              <a:t>Data not missing at random (NMAR)</a:t>
            </a:r>
            <a:r>
              <a:rPr lang="en-GB" altLang="en-US" sz="1800">
                <a:solidFill>
                  <a:srgbClr val="FF0000"/>
                </a:solidFill>
              </a:rPr>
              <a:t>: </a:t>
            </a:r>
            <a:r>
              <a:rPr lang="en-GB" altLang="en-US" sz="1800"/>
              <a:t>missingness r</a:t>
            </a:r>
            <a:r>
              <a:rPr lang="en-GB" altLang="en-US" sz="1800" baseline="-25000"/>
              <a:t>i</a:t>
            </a:r>
            <a:r>
              <a:rPr lang="en-GB" altLang="en-US" sz="1800"/>
              <a:t> depends on y</a:t>
            </a:r>
            <a:r>
              <a:rPr lang="en-GB" altLang="en-US" sz="1800" baseline="-25000"/>
              <a:t>i</a:t>
            </a:r>
            <a:r>
              <a:rPr lang="en-GB" altLang="en-US" sz="1800"/>
              <a:t>. This is the most pernicious of all, and usually means that we want to go back to our collaborator and tell them that we are in a bind. Removing or imputing data as discussed is not appropriate in this case.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E8197B7-6A7B-DE73-C070-092229411015}"/>
              </a:ext>
            </a:extLst>
          </p:cNvPr>
          <p:cNvSpPr>
            <a:spLocks noGrp="1"/>
          </p:cNvSpPr>
          <p:nvPr>
            <p:ph type="title"/>
          </p:nvPr>
        </p:nvSpPr>
        <p:spPr bwMode="auto">
          <a:xfrm>
            <a:off x="1600200" y="273050"/>
            <a:ext cx="70818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600"/>
              <a:t>Missing data examples</a:t>
            </a:r>
          </a:p>
        </p:txBody>
      </p:sp>
      <p:pic>
        <p:nvPicPr>
          <p:cNvPr id="7" name="Picture 6">
            <a:extLst>
              <a:ext uri="{FF2B5EF4-FFF2-40B4-BE49-F238E27FC236}">
                <a16:creationId xmlns:a16="http://schemas.microsoft.com/office/drawing/2014/main" id="{C70B5BE8-7F45-BF04-A36D-9AFADA7FE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07490"/>
            <a:ext cx="2104247" cy="29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91C12F94-0182-557C-6A2C-C523870B6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5887" y="1507490"/>
            <a:ext cx="2367277" cy="255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DEBFDCE9-CA80-9B5B-9C13-0F791FE107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4604" y="1507490"/>
            <a:ext cx="2752235" cy="364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A03B341-DA4B-EF34-8EE8-43CC197A9474}"/>
              </a:ext>
            </a:extLst>
          </p:cNvPr>
          <p:cNvSpPr>
            <a:spLocks noGrp="1" noChangeArrowheads="1"/>
          </p:cNvSpPr>
          <p:nvPr>
            <p:ph type="title"/>
          </p:nvPr>
        </p:nvSpPr>
        <p:spPr bwMode="auto">
          <a:xfrm>
            <a:off x="2895600" y="381000"/>
            <a:ext cx="3429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Noisy Data</a:t>
            </a:r>
          </a:p>
        </p:txBody>
      </p:sp>
      <p:sp>
        <p:nvSpPr>
          <p:cNvPr id="24579" name="Rectangle 3">
            <a:extLst>
              <a:ext uri="{FF2B5EF4-FFF2-40B4-BE49-F238E27FC236}">
                <a16:creationId xmlns:a16="http://schemas.microsoft.com/office/drawing/2014/main" id="{442F39C0-1261-4052-04DA-27C9DEBE4437}"/>
              </a:ext>
            </a:extLst>
          </p:cNvPr>
          <p:cNvSpPr>
            <a:spLocks noGrp="1" noChangeArrowheads="1"/>
          </p:cNvSpPr>
          <p:nvPr>
            <p:ph idx="1"/>
          </p:nvPr>
        </p:nvSpPr>
        <p:spPr bwMode="auto">
          <a:xfrm>
            <a:off x="1676400" y="1447800"/>
            <a:ext cx="7010400" cy="48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en-US" altLang="en-US" sz="2800"/>
              <a:t>Q: What is noise? </a:t>
            </a:r>
          </a:p>
          <a:p>
            <a:pPr eaLnBrk="1" hangingPunct="1">
              <a:lnSpc>
                <a:spcPct val="80000"/>
              </a:lnSpc>
            </a:pPr>
            <a:r>
              <a:rPr lang="en-US" altLang="en-US" sz="2800"/>
              <a:t>A: Random error in a measured variable.</a:t>
            </a:r>
          </a:p>
          <a:p>
            <a:pPr eaLnBrk="1" hangingPunct="1">
              <a:lnSpc>
                <a:spcPct val="80000"/>
              </a:lnSpc>
            </a:pPr>
            <a:r>
              <a:rPr lang="en-US" altLang="en-US" sz="2800"/>
              <a:t>Incorrect attribute values may be due to</a:t>
            </a:r>
          </a:p>
          <a:p>
            <a:pPr eaLnBrk="1" hangingPunct="1">
              <a:lnSpc>
                <a:spcPct val="80000"/>
              </a:lnSpc>
            </a:pPr>
            <a:endParaRPr lang="en-US" altLang="en-US" sz="2800"/>
          </a:p>
          <a:p>
            <a:pPr lvl="1" eaLnBrk="1" hangingPunct="1">
              <a:lnSpc>
                <a:spcPct val="80000"/>
              </a:lnSpc>
            </a:pPr>
            <a:r>
              <a:rPr lang="en-US" altLang="en-US" sz="2400"/>
              <a:t>faulty data collection instruments</a:t>
            </a:r>
          </a:p>
          <a:p>
            <a:pPr lvl="1" eaLnBrk="1" hangingPunct="1">
              <a:lnSpc>
                <a:spcPct val="80000"/>
              </a:lnSpc>
            </a:pPr>
            <a:r>
              <a:rPr lang="en-US" altLang="en-US" sz="2400"/>
              <a:t>data entry problems</a:t>
            </a:r>
          </a:p>
          <a:p>
            <a:pPr lvl="1" eaLnBrk="1" hangingPunct="1">
              <a:lnSpc>
                <a:spcPct val="80000"/>
              </a:lnSpc>
            </a:pPr>
            <a:r>
              <a:rPr lang="en-US" altLang="en-US" sz="2400"/>
              <a:t>data transmission problems</a:t>
            </a:r>
          </a:p>
          <a:p>
            <a:pPr lvl="1" eaLnBrk="1" hangingPunct="1">
              <a:lnSpc>
                <a:spcPct val="80000"/>
              </a:lnSpc>
            </a:pPr>
            <a:r>
              <a:rPr lang="en-US" altLang="en-US" sz="2400"/>
              <a:t>technology limitation</a:t>
            </a:r>
          </a:p>
          <a:p>
            <a:pPr lvl="1" eaLnBrk="1" hangingPunct="1">
              <a:lnSpc>
                <a:spcPct val="80000"/>
              </a:lnSpc>
            </a:pPr>
            <a:r>
              <a:rPr lang="en-US" altLang="en-US" sz="2400"/>
              <a:t>inconsistency in naming convention </a:t>
            </a:r>
          </a:p>
        </p:txBody>
      </p:sp>
    </p:spTree>
  </p:cSld>
  <p:clrMapOvr>
    <a:masterClrMapping/>
  </p:clrMapOvr>
  <p:transition>
    <p:checke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E935F89-C51E-5B10-5416-1ED81E7AD21D}"/>
              </a:ext>
            </a:extLst>
          </p:cNvPr>
          <p:cNvSpPr>
            <a:spLocks noGrp="1" noChangeArrowheads="1"/>
          </p:cNvSpPr>
          <p:nvPr>
            <p:ph type="title"/>
          </p:nvPr>
        </p:nvSpPr>
        <p:spPr bwMode="auto">
          <a:xfrm>
            <a:off x="1524000" y="381000"/>
            <a:ext cx="7620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How to Handle Noisy Data?</a:t>
            </a:r>
          </a:p>
        </p:txBody>
      </p:sp>
      <p:sp>
        <p:nvSpPr>
          <p:cNvPr id="25603" name="Rectangle 3">
            <a:extLst>
              <a:ext uri="{FF2B5EF4-FFF2-40B4-BE49-F238E27FC236}">
                <a16:creationId xmlns:a16="http://schemas.microsoft.com/office/drawing/2014/main" id="{083E6F9B-496D-3A68-CB41-DA327A1B9A32}"/>
              </a:ext>
            </a:extLst>
          </p:cNvPr>
          <p:cNvSpPr>
            <a:spLocks noGrp="1" noChangeArrowheads="1"/>
          </p:cNvSpPr>
          <p:nvPr>
            <p:ph idx="1"/>
          </p:nvPr>
        </p:nvSpPr>
        <p:spPr bwMode="auto">
          <a:xfrm>
            <a:off x="1600200" y="1219200"/>
            <a:ext cx="73152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If the entire dataset contains lots of noisy data, then use Binning method:</a:t>
            </a:r>
          </a:p>
          <a:p>
            <a:pPr lvl="1" eaLnBrk="1" hangingPunct="1"/>
            <a:r>
              <a:rPr lang="en-US" altLang="en-US" sz="2200"/>
              <a:t>first sort data and partition into (equi-depth) bins</a:t>
            </a:r>
          </a:p>
          <a:p>
            <a:pPr lvl="1" eaLnBrk="1" hangingPunct="1"/>
            <a:r>
              <a:rPr lang="en-US" altLang="en-US" sz="2200"/>
              <a:t>then one can </a:t>
            </a:r>
            <a:r>
              <a:rPr lang="en-US" altLang="en-US" sz="2200">
                <a:solidFill>
                  <a:schemeClr val="accent2"/>
                </a:solidFill>
              </a:rPr>
              <a:t>smooth by bin means, smooth by bin medians, smooth by bin boundaries</a:t>
            </a:r>
            <a:r>
              <a:rPr lang="en-US" altLang="en-US" sz="2200"/>
              <a:t>, etc.</a:t>
            </a:r>
          </a:p>
          <a:p>
            <a:pPr lvl="1" eaLnBrk="1" hangingPunct="1"/>
            <a:r>
              <a:rPr lang="en-US" altLang="en-US" sz="2200"/>
              <a:t>used also for discretization (practised in Week 3)</a:t>
            </a:r>
          </a:p>
          <a:p>
            <a:pPr eaLnBrk="1" hangingPunct="1"/>
            <a:r>
              <a:rPr lang="en-US" altLang="en-US"/>
              <a:t>If the dataset contains some outlier noisy data, then:</a:t>
            </a:r>
          </a:p>
          <a:p>
            <a:pPr eaLnBrk="1" hangingPunct="1"/>
            <a:r>
              <a:rPr lang="en-US" altLang="en-US" sz="2200" b="1"/>
              <a:t>Clustering:</a:t>
            </a:r>
            <a:r>
              <a:rPr lang="en-US" altLang="en-US" sz="2200"/>
              <a:t> detect and remove outliers</a:t>
            </a:r>
          </a:p>
          <a:p>
            <a:pPr eaLnBrk="1" hangingPunct="1"/>
            <a:r>
              <a:rPr lang="en-US" altLang="en-US" sz="2200" b="1"/>
              <a:t>Semi-automated method: </a:t>
            </a:r>
            <a:r>
              <a:rPr lang="en-US" altLang="en-US" sz="2200"/>
              <a:t>combined computer and human inspection that detects suspicious values, which are then checked manually</a:t>
            </a:r>
          </a:p>
          <a:p>
            <a:pPr eaLnBrk="1" hangingPunct="1"/>
            <a:r>
              <a:rPr lang="en-US" altLang="en-US" sz="2200" b="1"/>
              <a:t>Regression:</a:t>
            </a:r>
            <a:r>
              <a:rPr lang="en-US" altLang="en-US" sz="2200"/>
              <a:t> smooth by fitting the data into regression functions</a:t>
            </a:r>
          </a:p>
        </p:txBody>
      </p:sp>
    </p:spTree>
  </p:cSld>
  <p:clrMapOvr>
    <a:masterClrMapping/>
  </p:clrMapOvr>
  <p:transition>
    <p:checke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8930005-7CDA-F89B-94C6-182EF209EC06}"/>
              </a:ext>
            </a:extLst>
          </p:cNvPr>
          <p:cNvSpPr>
            <a:spLocks noGrp="1" noChangeArrowheads="1"/>
          </p:cNvSpPr>
          <p:nvPr>
            <p:ph type="title"/>
          </p:nvPr>
        </p:nvSpPr>
        <p:spPr bwMode="auto">
          <a:xfrm>
            <a:off x="2133600" y="457200"/>
            <a:ext cx="4343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Cluster Analysis</a:t>
            </a:r>
          </a:p>
        </p:txBody>
      </p:sp>
      <p:sp>
        <p:nvSpPr>
          <p:cNvPr id="26627" name="AutoShape 3">
            <a:extLst>
              <a:ext uri="{FF2B5EF4-FFF2-40B4-BE49-F238E27FC236}">
                <a16:creationId xmlns:a16="http://schemas.microsoft.com/office/drawing/2014/main" id="{AFE194A1-5CEE-E1C7-F734-A4DA8814B792}"/>
              </a:ext>
            </a:extLst>
          </p:cNvPr>
          <p:cNvSpPr>
            <a:spLocks noChangeArrowheads="1"/>
          </p:cNvSpPr>
          <p:nvPr/>
        </p:nvSpPr>
        <p:spPr bwMode="auto">
          <a:xfrm>
            <a:off x="7431088" y="52641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28" name="AutoShape 4">
            <a:extLst>
              <a:ext uri="{FF2B5EF4-FFF2-40B4-BE49-F238E27FC236}">
                <a16:creationId xmlns:a16="http://schemas.microsoft.com/office/drawing/2014/main" id="{5DE24023-F509-9630-D70A-8C3DBF901B92}"/>
              </a:ext>
            </a:extLst>
          </p:cNvPr>
          <p:cNvSpPr>
            <a:spLocks noChangeArrowheads="1"/>
          </p:cNvSpPr>
          <p:nvPr/>
        </p:nvSpPr>
        <p:spPr bwMode="auto">
          <a:xfrm>
            <a:off x="4510088" y="5443538"/>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29" name="AutoShape 5">
            <a:extLst>
              <a:ext uri="{FF2B5EF4-FFF2-40B4-BE49-F238E27FC236}">
                <a16:creationId xmlns:a16="http://schemas.microsoft.com/office/drawing/2014/main" id="{088373DD-635E-335C-9D0E-D10895AEDB78}"/>
              </a:ext>
            </a:extLst>
          </p:cNvPr>
          <p:cNvSpPr>
            <a:spLocks noChangeArrowheads="1"/>
          </p:cNvSpPr>
          <p:nvPr/>
        </p:nvSpPr>
        <p:spPr bwMode="auto">
          <a:xfrm>
            <a:off x="7808913" y="201771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grpSp>
        <p:nvGrpSpPr>
          <p:cNvPr id="26630" name="Group 6">
            <a:extLst>
              <a:ext uri="{FF2B5EF4-FFF2-40B4-BE49-F238E27FC236}">
                <a16:creationId xmlns:a16="http://schemas.microsoft.com/office/drawing/2014/main" id="{BDBE4747-07A6-9EA1-B98A-F23F5DA96CD8}"/>
              </a:ext>
            </a:extLst>
          </p:cNvPr>
          <p:cNvGrpSpPr>
            <a:grpSpLocks/>
          </p:cNvGrpSpPr>
          <p:nvPr/>
        </p:nvGrpSpPr>
        <p:grpSpPr bwMode="auto">
          <a:xfrm>
            <a:off x="4875213" y="4348163"/>
            <a:ext cx="173037" cy="173037"/>
            <a:chOff x="1900" y="3589"/>
            <a:chExt cx="109" cy="109"/>
          </a:xfrm>
        </p:grpSpPr>
        <p:sp>
          <p:nvSpPr>
            <p:cNvPr id="26669" name="Line 7">
              <a:extLst>
                <a:ext uri="{FF2B5EF4-FFF2-40B4-BE49-F238E27FC236}">
                  <a16:creationId xmlns:a16="http://schemas.microsoft.com/office/drawing/2014/main" id="{A79D63F5-56CB-1340-8473-80AE7804EC12}"/>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70" name="Line 8">
              <a:extLst>
                <a:ext uri="{FF2B5EF4-FFF2-40B4-BE49-F238E27FC236}">
                  <a16:creationId xmlns:a16="http://schemas.microsoft.com/office/drawing/2014/main" id="{9583DC37-98B1-0894-FD6F-CBEDD04ACFA0}"/>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6631" name="Group 9">
            <a:extLst>
              <a:ext uri="{FF2B5EF4-FFF2-40B4-BE49-F238E27FC236}">
                <a16:creationId xmlns:a16="http://schemas.microsoft.com/office/drawing/2014/main" id="{7D1BF13D-C3FD-E9B2-3A0B-F2C5D24D80E2}"/>
              </a:ext>
            </a:extLst>
          </p:cNvPr>
          <p:cNvGrpSpPr>
            <a:grpSpLocks/>
          </p:cNvGrpSpPr>
          <p:nvPr/>
        </p:nvGrpSpPr>
        <p:grpSpPr bwMode="auto">
          <a:xfrm>
            <a:off x="5894388" y="3128963"/>
            <a:ext cx="173037" cy="173037"/>
            <a:chOff x="1900" y="3589"/>
            <a:chExt cx="109" cy="109"/>
          </a:xfrm>
        </p:grpSpPr>
        <p:sp>
          <p:nvSpPr>
            <p:cNvPr id="26667" name="Line 10">
              <a:extLst>
                <a:ext uri="{FF2B5EF4-FFF2-40B4-BE49-F238E27FC236}">
                  <a16:creationId xmlns:a16="http://schemas.microsoft.com/office/drawing/2014/main" id="{1E7AED51-884D-1A52-0773-325EF4CC3EDB}"/>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68" name="Line 11">
              <a:extLst>
                <a:ext uri="{FF2B5EF4-FFF2-40B4-BE49-F238E27FC236}">
                  <a16:creationId xmlns:a16="http://schemas.microsoft.com/office/drawing/2014/main" id="{99808A1D-985D-EA3E-0536-0636B9F30D44}"/>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6632" name="Group 12">
            <a:extLst>
              <a:ext uri="{FF2B5EF4-FFF2-40B4-BE49-F238E27FC236}">
                <a16:creationId xmlns:a16="http://schemas.microsoft.com/office/drawing/2014/main" id="{E4C50435-3091-74F3-80B2-53D6FCD8B88C}"/>
              </a:ext>
            </a:extLst>
          </p:cNvPr>
          <p:cNvGrpSpPr>
            <a:grpSpLocks/>
          </p:cNvGrpSpPr>
          <p:nvPr/>
        </p:nvGrpSpPr>
        <p:grpSpPr bwMode="auto">
          <a:xfrm>
            <a:off x="3657600" y="3462338"/>
            <a:ext cx="173038" cy="173037"/>
            <a:chOff x="1900" y="3589"/>
            <a:chExt cx="109" cy="109"/>
          </a:xfrm>
        </p:grpSpPr>
        <p:sp>
          <p:nvSpPr>
            <p:cNvPr id="26665" name="Line 13">
              <a:extLst>
                <a:ext uri="{FF2B5EF4-FFF2-40B4-BE49-F238E27FC236}">
                  <a16:creationId xmlns:a16="http://schemas.microsoft.com/office/drawing/2014/main" id="{1610B854-7DD0-73C8-6544-B32B1511A784}"/>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66" name="Line 14">
              <a:extLst>
                <a:ext uri="{FF2B5EF4-FFF2-40B4-BE49-F238E27FC236}">
                  <a16:creationId xmlns:a16="http://schemas.microsoft.com/office/drawing/2014/main" id="{4DAF196B-EA73-A54E-41E5-23C9772F9F15}"/>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6633" name="Group 15">
            <a:extLst>
              <a:ext uri="{FF2B5EF4-FFF2-40B4-BE49-F238E27FC236}">
                <a16:creationId xmlns:a16="http://schemas.microsoft.com/office/drawing/2014/main" id="{455AF2CA-9388-CAF6-34F8-1BB35DA92F4F}"/>
              </a:ext>
            </a:extLst>
          </p:cNvPr>
          <p:cNvGrpSpPr>
            <a:grpSpLocks/>
          </p:cNvGrpSpPr>
          <p:nvPr/>
        </p:nvGrpSpPr>
        <p:grpSpPr bwMode="auto">
          <a:xfrm>
            <a:off x="2365375" y="1754188"/>
            <a:ext cx="6016625" cy="4113212"/>
            <a:chOff x="1028" y="1418"/>
            <a:chExt cx="3790" cy="2591"/>
          </a:xfrm>
        </p:grpSpPr>
        <p:sp>
          <p:nvSpPr>
            <p:cNvPr id="26634" name="AutoShape 16">
              <a:extLst>
                <a:ext uri="{FF2B5EF4-FFF2-40B4-BE49-F238E27FC236}">
                  <a16:creationId xmlns:a16="http://schemas.microsoft.com/office/drawing/2014/main" id="{03CB6E4D-FB8A-3533-213B-EA0E5AEC1D79}"/>
                </a:ext>
              </a:extLst>
            </p:cNvPr>
            <p:cNvSpPr>
              <a:spLocks noChangeArrowheads="1"/>
            </p:cNvSpPr>
            <p:nvPr/>
          </p:nvSpPr>
          <p:spPr bwMode="auto">
            <a:xfrm>
              <a:off x="1755" y="273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35" name="AutoShape 17">
              <a:extLst>
                <a:ext uri="{FF2B5EF4-FFF2-40B4-BE49-F238E27FC236}">
                  <a16:creationId xmlns:a16="http://schemas.microsoft.com/office/drawing/2014/main" id="{2168495A-BB3A-DB94-CED5-D26D2BC0AAEB}"/>
                </a:ext>
              </a:extLst>
            </p:cNvPr>
            <p:cNvSpPr>
              <a:spLocks noChangeArrowheads="1"/>
            </p:cNvSpPr>
            <p:nvPr/>
          </p:nvSpPr>
          <p:spPr bwMode="auto">
            <a:xfrm>
              <a:off x="1633" y="2615"/>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36" name="AutoShape 18">
              <a:extLst>
                <a:ext uri="{FF2B5EF4-FFF2-40B4-BE49-F238E27FC236}">
                  <a16:creationId xmlns:a16="http://schemas.microsoft.com/office/drawing/2014/main" id="{28F4E90F-B69C-9B82-854C-04497E64DFC0}"/>
                </a:ext>
              </a:extLst>
            </p:cNvPr>
            <p:cNvSpPr>
              <a:spLocks noChangeArrowheads="1"/>
            </p:cNvSpPr>
            <p:nvPr/>
          </p:nvSpPr>
          <p:spPr bwMode="auto">
            <a:xfrm>
              <a:off x="1948" y="263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37" name="AutoShape 19">
              <a:extLst>
                <a:ext uri="{FF2B5EF4-FFF2-40B4-BE49-F238E27FC236}">
                  <a16:creationId xmlns:a16="http://schemas.microsoft.com/office/drawing/2014/main" id="{07DD40D1-5E99-3A44-4FEA-1625E2050E56}"/>
                </a:ext>
              </a:extLst>
            </p:cNvPr>
            <p:cNvSpPr>
              <a:spLocks noChangeArrowheads="1"/>
            </p:cNvSpPr>
            <p:nvPr/>
          </p:nvSpPr>
          <p:spPr bwMode="auto">
            <a:xfrm>
              <a:off x="1797" y="24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38" name="AutoShape 20">
              <a:extLst>
                <a:ext uri="{FF2B5EF4-FFF2-40B4-BE49-F238E27FC236}">
                  <a16:creationId xmlns:a16="http://schemas.microsoft.com/office/drawing/2014/main" id="{95EADB73-A886-7E39-6BDA-EFD601A4B0E3}"/>
                </a:ext>
              </a:extLst>
            </p:cNvPr>
            <p:cNvSpPr>
              <a:spLocks noChangeArrowheads="1"/>
            </p:cNvSpPr>
            <p:nvPr/>
          </p:nvSpPr>
          <p:spPr bwMode="auto">
            <a:xfrm>
              <a:off x="1575" y="27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39" name="AutoShape 21">
              <a:extLst>
                <a:ext uri="{FF2B5EF4-FFF2-40B4-BE49-F238E27FC236}">
                  <a16:creationId xmlns:a16="http://schemas.microsoft.com/office/drawing/2014/main" id="{9FB1F1FF-839B-2E49-4D88-59E6C1F925E5}"/>
                </a:ext>
              </a:extLst>
            </p:cNvPr>
            <p:cNvSpPr>
              <a:spLocks noChangeArrowheads="1"/>
            </p:cNvSpPr>
            <p:nvPr/>
          </p:nvSpPr>
          <p:spPr bwMode="auto">
            <a:xfrm>
              <a:off x="1662" y="246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0" name="AutoShape 22">
              <a:extLst>
                <a:ext uri="{FF2B5EF4-FFF2-40B4-BE49-F238E27FC236}">
                  <a16:creationId xmlns:a16="http://schemas.microsoft.com/office/drawing/2014/main" id="{E46AD817-895E-C8CC-3AF0-D695E062A029}"/>
                </a:ext>
              </a:extLst>
            </p:cNvPr>
            <p:cNvSpPr>
              <a:spLocks noChangeArrowheads="1"/>
            </p:cNvSpPr>
            <p:nvPr/>
          </p:nvSpPr>
          <p:spPr bwMode="auto">
            <a:xfrm>
              <a:off x="3169" y="212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1" name="AutoShape 23">
              <a:extLst>
                <a:ext uri="{FF2B5EF4-FFF2-40B4-BE49-F238E27FC236}">
                  <a16:creationId xmlns:a16="http://schemas.microsoft.com/office/drawing/2014/main" id="{55FE3401-1193-C58F-456E-984B6E889658}"/>
                </a:ext>
              </a:extLst>
            </p:cNvPr>
            <p:cNvSpPr>
              <a:spLocks noChangeArrowheads="1"/>
            </p:cNvSpPr>
            <p:nvPr/>
          </p:nvSpPr>
          <p:spPr bwMode="auto">
            <a:xfrm>
              <a:off x="3100" y="252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2" name="AutoShape 24">
              <a:extLst>
                <a:ext uri="{FF2B5EF4-FFF2-40B4-BE49-F238E27FC236}">
                  <a16:creationId xmlns:a16="http://schemas.microsoft.com/office/drawing/2014/main" id="{05CB399B-E8A6-AFB1-C926-50D8CB94070C}"/>
                </a:ext>
              </a:extLst>
            </p:cNvPr>
            <p:cNvSpPr>
              <a:spLocks noChangeArrowheads="1"/>
            </p:cNvSpPr>
            <p:nvPr/>
          </p:nvSpPr>
          <p:spPr bwMode="auto">
            <a:xfrm>
              <a:off x="3333" y="229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3" name="AutoShape 25">
              <a:extLst>
                <a:ext uri="{FF2B5EF4-FFF2-40B4-BE49-F238E27FC236}">
                  <a16:creationId xmlns:a16="http://schemas.microsoft.com/office/drawing/2014/main" id="{815C9E9F-A93E-56B8-F417-0942F71CDF23}"/>
                </a:ext>
              </a:extLst>
            </p:cNvPr>
            <p:cNvSpPr>
              <a:spLocks noChangeArrowheads="1"/>
            </p:cNvSpPr>
            <p:nvPr/>
          </p:nvSpPr>
          <p:spPr bwMode="auto">
            <a:xfrm>
              <a:off x="3010" y="2339"/>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4" name="AutoShape 26">
              <a:extLst>
                <a:ext uri="{FF2B5EF4-FFF2-40B4-BE49-F238E27FC236}">
                  <a16:creationId xmlns:a16="http://schemas.microsoft.com/office/drawing/2014/main" id="{441CFFF2-BD1F-5A33-7B2F-F7C4EF92F3BB}"/>
                </a:ext>
              </a:extLst>
            </p:cNvPr>
            <p:cNvSpPr>
              <a:spLocks noChangeArrowheads="1"/>
            </p:cNvSpPr>
            <p:nvPr/>
          </p:nvSpPr>
          <p:spPr bwMode="auto">
            <a:xfrm>
              <a:off x="3706" y="237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5" name="AutoShape 27">
              <a:extLst>
                <a:ext uri="{FF2B5EF4-FFF2-40B4-BE49-F238E27FC236}">
                  <a16:creationId xmlns:a16="http://schemas.microsoft.com/office/drawing/2014/main" id="{EAD3CF8A-7BE8-CF0E-541A-E9C55BE776E3}"/>
                </a:ext>
              </a:extLst>
            </p:cNvPr>
            <p:cNvSpPr>
              <a:spLocks noChangeArrowheads="1"/>
            </p:cNvSpPr>
            <p:nvPr/>
          </p:nvSpPr>
          <p:spPr bwMode="auto">
            <a:xfrm>
              <a:off x="3594" y="256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6" name="Rectangle 28">
              <a:extLst>
                <a:ext uri="{FF2B5EF4-FFF2-40B4-BE49-F238E27FC236}">
                  <a16:creationId xmlns:a16="http://schemas.microsoft.com/office/drawing/2014/main" id="{78AC2D76-CE29-8E96-1216-27CFA8EA6710}"/>
                </a:ext>
              </a:extLst>
            </p:cNvPr>
            <p:cNvSpPr>
              <a:spLocks noChangeArrowheads="1"/>
            </p:cNvSpPr>
            <p:nvPr/>
          </p:nvSpPr>
          <p:spPr bwMode="auto">
            <a:xfrm>
              <a:off x="1028" y="1418"/>
              <a:ext cx="3790" cy="259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7" name="AutoShape 29">
              <a:extLst>
                <a:ext uri="{FF2B5EF4-FFF2-40B4-BE49-F238E27FC236}">
                  <a16:creationId xmlns:a16="http://schemas.microsoft.com/office/drawing/2014/main" id="{B0330EE7-C986-BA6E-DEB2-26C8EC1306F4}"/>
                </a:ext>
              </a:extLst>
            </p:cNvPr>
            <p:cNvSpPr>
              <a:spLocks noChangeArrowheads="1"/>
            </p:cNvSpPr>
            <p:nvPr/>
          </p:nvSpPr>
          <p:spPr bwMode="auto">
            <a:xfrm>
              <a:off x="1963" y="28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8" name="AutoShape 30">
              <a:extLst>
                <a:ext uri="{FF2B5EF4-FFF2-40B4-BE49-F238E27FC236}">
                  <a16:creationId xmlns:a16="http://schemas.microsoft.com/office/drawing/2014/main" id="{24F0D9F8-9DE9-D17A-1B29-AD5E4D65F311}"/>
                </a:ext>
              </a:extLst>
            </p:cNvPr>
            <p:cNvSpPr>
              <a:spLocks noChangeArrowheads="1"/>
            </p:cNvSpPr>
            <p:nvPr/>
          </p:nvSpPr>
          <p:spPr bwMode="auto">
            <a:xfrm>
              <a:off x="2359" y="285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49" name="AutoShape 31">
              <a:extLst>
                <a:ext uri="{FF2B5EF4-FFF2-40B4-BE49-F238E27FC236}">
                  <a16:creationId xmlns:a16="http://schemas.microsoft.com/office/drawing/2014/main" id="{204DDD5C-3E6B-1BEA-362B-E01D5DAA4ABD}"/>
                </a:ext>
              </a:extLst>
            </p:cNvPr>
            <p:cNvSpPr>
              <a:spLocks noChangeArrowheads="1"/>
            </p:cNvSpPr>
            <p:nvPr/>
          </p:nvSpPr>
          <p:spPr bwMode="auto">
            <a:xfrm>
              <a:off x="3380" y="26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0" name="AutoShape 32">
              <a:extLst>
                <a:ext uri="{FF2B5EF4-FFF2-40B4-BE49-F238E27FC236}">
                  <a16:creationId xmlns:a16="http://schemas.microsoft.com/office/drawing/2014/main" id="{204D7F1D-1D7A-4067-1E85-3A5AFB69B2C0}"/>
                </a:ext>
              </a:extLst>
            </p:cNvPr>
            <p:cNvSpPr>
              <a:spLocks noChangeArrowheads="1"/>
            </p:cNvSpPr>
            <p:nvPr/>
          </p:nvSpPr>
          <p:spPr bwMode="auto">
            <a:xfrm>
              <a:off x="2819" y="29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1" name="AutoShape 33">
              <a:extLst>
                <a:ext uri="{FF2B5EF4-FFF2-40B4-BE49-F238E27FC236}">
                  <a16:creationId xmlns:a16="http://schemas.microsoft.com/office/drawing/2014/main" id="{110B052D-835B-5CEF-80BF-839AFD02FD8A}"/>
                </a:ext>
              </a:extLst>
            </p:cNvPr>
            <p:cNvSpPr>
              <a:spLocks noChangeArrowheads="1"/>
            </p:cNvSpPr>
            <p:nvPr/>
          </p:nvSpPr>
          <p:spPr bwMode="auto">
            <a:xfrm>
              <a:off x="2651" y="32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2" name="AutoShape 34">
              <a:extLst>
                <a:ext uri="{FF2B5EF4-FFF2-40B4-BE49-F238E27FC236}">
                  <a16:creationId xmlns:a16="http://schemas.microsoft.com/office/drawing/2014/main" id="{C39C6383-E27C-82A0-FCCB-FA303DDE18C1}"/>
                </a:ext>
              </a:extLst>
            </p:cNvPr>
            <p:cNvSpPr>
              <a:spLocks noChangeArrowheads="1"/>
            </p:cNvSpPr>
            <p:nvPr/>
          </p:nvSpPr>
          <p:spPr bwMode="auto">
            <a:xfrm>
              <a:off x="2746" y="311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3" name="AutoShape 35">
              <a:extLst>
                <a:ext uri="{FF2B5EF4-FFF2-40B4-BE49-F238E27FC236}">
                  <a16:creationId xmlns:a16="http://schemas.microsoft.com/office/drawing/2014/main" id="{8FF6241F-4FC6-5666-8629-525131802818}"/>
                </a:ext>
              </a:extLst>
            </p:cNvPr>
            <p:cNvSpPr>
              <a:spLocks noChangeArrowheads="1"/>
            </p:cNvSpPr>
            <p:nvPr/>
          </p:nvSpPr>
          <p:spPr bwMode="auto">
            <a:xfrm>
              <a:off x="2070" y="24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4" name="AutoShape 36">
              <a:extLst>
                <a:ext uri="{FF2B5EF4-FFF2-40B4-BE49-F238E27FC236}">
                  <a16:creationId xmlns:a16="http://schemas.microsoft.com/office/drawing/2014/main" id="{782DA85E-B87E-53C7-3B3D-BC6C0112AFAA}"/>
                </a:ext>
              </a:extLst>
            </p:cNvPr>
            <p:cNvSpPr>
              <a:spLocks noChangeArrowheads="1"/>
            </p:cNvSpPr>
            <p:nvPr/>
          </p:nvSpPr>
          <p:spPr bwMode="auto">
            <a:xfrm>
              <a:off x="2466" y="30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5" name="AutoShape 37">
              <a:extLst>
                <a:ext uri="{FF2B5EF4-FFF2-40B4-BE49-F238E27FC236}">
                  <a16:creationId xmlns:a16="http://schemas.microsoft.com/office/drawing/2014/main" id="{0383B7AA-9B45-41B4-A9B6-14BE6CF216D0}"/>
                </a:ext>
              </a:extLst>
            </p:cNvPr>
            <p:cNvSpPr>
              <a:spLocks noChangeArrowheads="1"/>
            </p:cNvSpPr>
            <p:nvPr/>
          </p:nvSpPr>
          <p:spPr bwMode="auto">
            <a:xfrm>
              <a:off x="2462" y="320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6" name="AutoShape 38">
              <a:extLst>
                <a:ext uri="{FF2B5EF4-FFF2-40B4-BE49-F238E27FC236}">
                  <a16:creationId xmlns:a16="http://schemas.microsoft.com/office/drawing/2014/main" id="{2403A230-FFEA-7B32-8C2C-F9EF71DAA6A8}"/>
                </a:ext>
              </a:extLst>
            </p:cNvPr>
            <p:cNvSpPr>
              <a:spLocks noChangeArrowheads="1"/>
            </p:cNvSpPr>
            <p:nvPr/>
          </p:nvSpPr>
          <p:spPr bwMode="auto">
            <a:xfrm>
              <a:off x="2082" y="224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7" name="AutoShape 39">
              <a:extLst>
                <a:ext uri="{FF2B5EF4-FFF2-40B4-BE49-F238E27FC236}">
                  <a16:creationId xmlns:a16="http://schemas.microsoft.com/office/drawing/2014/main" id="{63CAF08E-50B1-643D-FBBE-D9BBDEF45742}"/>
                </a:ext>
              </a:extLst>
            </p:cNvPr>
            <p:cNvSpPr>
              <a:spLocks noChangeArrowheads="1"/>
            </p:cNvSpPr>
            <p:nvPr/>
          </p:nvSpPr>
          <p:spPr bwMode="auto">
            <a:xfrm>
              <a:off x="2887" y="19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8" name="AutoShape 40">
              <a:extLst>
                <a:ext uri="{FF2B5EF4-FFF2-40B4-BE49-F238E27FC236}">
                  <a16:creationId xmlns:a16="http://schemas.microsoft.com/office/drawing/2014/main" id="{D2DBD9D6-5EB0-7163-42D0-E20C9C1FDD23}"/>
                </a:ext>
              </a:extLst>
            </p:cNvPr>
            <p:cNvSpPr>
              <a:spLocks noChangeArrowheads="1"/>
            </p:cNvSpPr>
            <p:nvPr/>
          </p:nvSpPr>
          <p:spPr bwMode="auto">
            <a:xfrm>
              <a:off x="2001" y="206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59" name="AutoShape 41">
              <a:extLst>
                <a:ext uri="{FF2B5EF4-FFF2-40B4-BE49-F238E27FC236}">
                  <a16:creationId xmlns:a16="http://schemas.microsoft.com/office/drawing/2014/main" id="{D98224EE-CB2D-595A-D0B6-5AA83170B071}"/>
                </a:ext>
              </a:extLst>
            </p:cNvPr>
            <p:cNvSpPr>
              <a:spLocks noChangeArrowheads="1"/>
            </p:cNvSpPr>
            <p:nvPr/>
          </p:nvSpPr>
          <p:spPr bwMode="auto">
            <a:xfrm>
              <a:off x="2552" y="27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60" name="AutoShape 42">
              <a:extLst>
                <a:ext uri="{FF2B5EF4-FFF2-40B4-BE49-F238E27FC236}">
                  <a16:creationId xmlns:a16="http://schemas.microsoft.com/office/drawing/2014/main" id="{04CE9375-115E-6C24-C26D-6197F4B26A41}"/>
                </a:ext>
              </a:extLst>
            </p:cNvPr>
            <p:cNvSpPr>
              <a:spLocks noChangeArrowheads="1"/>
            </p:cNvSpPr>
            <p:nvPr/>
          </p:nvSpPr>
          <p:spPr bwMode="auto">
            <a:xfrm>
              <a:off x="2656" y="290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61" name="AutoShape 43">
              <a:extLst>
                <a:ext uri="{FF2B5EF4-FFF2-40B4-BE49-F238E27FC236}">
                  <a16:creationId xmlns:a16="http://schemas.microsoft.com/office/drawing/2014/main" id="{DD734037-5E8E-BA9A-222A-95F43EA6A067}"/>
                </a:ext>
              </a:extLst>
            </p:cNvPr>
            <p:cNvSpPr>
              <a:spLocks noChangeArrowheads="1"/>
            </p:cNvSpPr>
            <p:nvPr/>
          </p:nvSpPr>
          <p:spPr bwMode="auto">
            <a:xfrm>
              <a:off x="2880" y="321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6662" name="Freeform 44">
              <a:extLst>
                <a:ext uri="{FF2B5EF4-FFF2-40B4-BE49-F238E27FC236}">
                  <a16:creationId xmlns:a16="http://schemas.microsoft.com/office/drawing/2014/main" id="{B8F62434-DF79-6BD0-8E6D-5D89D610362A}"/>
                </a:ext>
              </a:extLst>
            </p:cNvPr>
            <p:cNvSpPr>
              <a:spLocks/>
            </p:cNvSpPr>
            <p:nvPr/>
          </p:nvSpPr>
          <p:spPr bwMode="auto">
            <a:xfrm>
              <a:off x="2795" y="1842"/>
              <a:ext cx="1101" cy="1077"/>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63" name="Freeform 45">
              <a:extLst>
                <a:ext uri="{FF2B5EF4-FFF2-40B4-BE49-F238E27FC236}">
                  <a16:creationId xmlns:a16="http://schemas.microsoft.com/office/drawing/2014/main" id="{61C63735-99E4-FB4F-117B-12919B3F87EB}"/>
                </a:ext>
              </a:extLst>
            </p:cNvPr>
            <p:cNvSpPr>
              <a:spLocks/>
            </p:cNvSpPr>
            <p:nvPr/>
          </p:nvSpPr>
          <p:spPr bwMode="auto">
            <a:xfrm>
              <a:off x="2291" y="2591"/>
              <a:ext cx="918" cy="965"/>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64" name="Freeform 46">
              <a:extLst>
                <a:ext uri="{FF2B5EF4-FFF2-40B4-BE49-F238E27FC236}">
                  <a16:creationId xmlns:a16="http://schemas.microsoft.com/office/drawing/2014/main" id="{0239E61F-486D-1048-1E16-86B58D1A943C}"/>
                </a:ext>
              </a:extLst>
            </p:cNvPr>
            <p:cNvSpPr>
              <a:spLocks/>
            </p:cNvSpPr>
            <p:nvPr/>
          </p:nvSpPr>
          <p:spPr bwMode="auto">
            <a:xfrm>
              <a:off x="1473" y="1882"/>
              <a:ext cx="869" cy="1173"/>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ransition>
    <p:checke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914B14F-D2A6-E0E5-6D44-2DC59F944BD8}"/>
              </a:ext>
            </a:extLst>
          </p:cNvPr>
          <p:cNvSpPr>
            <a:spLocks noGrp="1" noChangeArrowheads="1"/>
          </p:cNvSpPr>
          <p:nvPr>
            <p:ph type="title"/>
          </p:nvPr>
        </p:nvSpPr>
        <p:spPr bwMode="auto">
          <a:xfrm>
            <a:off x="2605088" y="541338"/>
            <a:ext cx="47879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Regression</a:t>
            </a:r>
          </a:p>
        </p:txBody>
      </p:sp>
      <p:sp>
        <p:nvSpPr>
          <p:cNvPr id="27651" name="Line 3">
            <a:extLst>
              <a:ext uri="{FF2B5EF4-FFF2-40B4-BE49-F238E27FC236}">
                <a16:creationId xmlns:a16="http://schemas.microsoft.com/office/drawing/2014/main" id="{2F930933-6FAA-3734-E1D6-DA32459AB420}"/>
              </a:ext>
            </a:extLst>
          </p:cNvPr>
          <p:cNvSpPr>
            <a:spLocks noChangeShapeType="1"/>
          </p:cNvSpPr>
          <p:nvPr/>
        </p:nvSpPr>
        <p:spPr bwMode="auto">
          <a:xfrm>
            <a:off x="1687513" y="4392613"/>
            <a:ext cx="69230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2" name="Line 4">
            <a:extLst>
              <a:ext uri="{FF2B5EF4-FFF2-40B4-BE49-F238E27FC236}">
                <a16:creationId xmlns:a16="http://schemas.microsoft.com/office/drawing/2014/main" id="{51FB10E2-085E-73E5-6CD8-C140B55288D1}"/>
              </a:ext>
            </a:extLst>
          </p:cNvPr>
          <p:cNvSpPr>
            <a:spLocks noChangeShapeType="1"/>
          </p:cNvSpPr>
          <p:nvPr/>
        </p:nvSpPr>
        <p:spPr bwMode="auto">
          <a:xfrm flipV="1">
            <a:off x="4937125" y="1633538"/>
            <a:ext cx="0" cy="47021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3" name="Oval 5">
            <a:extLst>
              <a:ext uri="{FF2B5EF4-FFF2-40B4-BE49-F238E27FC236}">
                <a16:creationId xmlns:a16="http://schemas.microsoft.com/office/drawing/2014/main" id="{D9A3DB65-811F-32ED-6E50-A324A57EE219}"/>
              </a:ext>
            </a:extLst>
          </p:cNvPr>
          <p:cNvSpPr>
            <a:spLocks noChangeArrowheads="1"/>
          </p:cNvSpPr>
          <p:nvPr/>
        </p:nvSpPr>
        <p:spPr bwMode="auto">
          <a:xfrm flipV="1">
            <a:off x="6323013" y="3303588"/>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4" name="Oval 6">
            <a:extLst>
              <a:ext uri="{FF2B5EF4-FFF2-40B4-BE49-F238E27FC236}">
                <a16:creationId xmlns:a16="http://schemas.microsoft.com/office/drawing/2014/main" id="{01084FF3-A3A0-DD3B-54AE-A4368A89490F}"/>
              </a:ext>
            </a:extLst>
          </p:cNvPr>
          <p:cNvSpPr>
            <a:spLocks noChangeArrowheads="1"/>
          </p:cNvSpPr>
          <p:nvPr/>
        </p:nvSpPr>
        <p:spPr bwMode="auto">
          <a:xfrm flipV="1">
            <a:off x="5905500" y="340836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5" name="Oval 7">
            <a:extLst>
              <a:ext uri="{FF2B5EF4-FFF2-40B4-BE49-F238E27FC236}">
                <a16:creationId xmlns:a16="http://schemas.microsoft.com/office/drawing/2014/main" id="{EC471D12-7A05-848B-92ED-C66F5AC28115}"/>
              </a:ext>
            </a:extLst>
          </p:cNvPr>
          <p:cNvSpPr>
            <a:spLocks noChangeArrowheads="1"/>
          </p:cNvSpPr>
          <p:nvPr/>
        </p:nvSpPr>
        <p:spPr bwMode="auto">
          <a:xfrm flipV="1">
            <a:off x="5730875" y="2484438"/>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6" name="Oval 8">
            <a:extLst>
              <a:ext uri="{FF2B5EF4-FFF2-40B4-BE49-F238E27FC236}">
                <a16:creationId xmlns:a16="http://schemas.microsoft.com/office/drawing/2014/main" id="{DB9B4EA9-8B91-EC78-8D98-A5783BD016F0}"/>
              </a:ext>
            </a:extLst>
          </p:cNvPr>
          <p:cNvSpPr>
            <a:spLocks noChangeArrowheads="1"/>
          </p:cNvSpPr>
          <p:nvPr/>
        </p:nvSpPr>
        <p:spPr bwMode="auto">
          <a:xfrm flipV="1">
            <a:off x="5556250" y="3876675"/>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7" name="Oval 9">
            <a:extLst>
              <a:ext uri="{FF2B5EF4-FFF2-40B4-BE49-F238E27FC236}">
                <a16:creationId xmlns:a16="http://schemas.microsoft.com/office/drawing/2014/main" id="{AB4CE358-5B25-0B13-ED50-F01C06997F71}"/>
              </a:ext>
            </a:extLst>
          </p:cNvPr>
          <p:cNvSpPr>
            <a:spLocks noChangeArrowheads="1"/>
          </p:cNvSpPr>
          <p:nvPr/>
        </p:nvSpPr>
        <p:spPr bwMode="auto">
          <a:xfrm flipV="1">
            <a:off x="6427788" y="2951163"/>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8" name="Oval 10">
            <a:extLst>
              <a:ext uri="{FF2B5EF4-FFF2-40B4-BE49-F238E27FC236}">
                <a16:creationId xmlns:a16="http://schemas.microsoft.com/office/drawing/2014/main" id="{D6F32182-6FA3-BCD3-0227-A18CF0B993BC}"/>
              </a:ext>
            </a:extLst>
          </p:cNvPr>
          <p:cNvSpPr>
            <a:spLocks noChangeArrowheads="1"/>
          </p:cNvSpPr>
          <p:nvPr/>
        </p:nvSpPr>
        <p:spPr bwMode="auto">
          <a:xfrm flipV="1">
            <a:off x="6629400" y="26781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59" name="Oval 11">
            <a:extLst>
              <a:ext uri="{FF2B5EF4-FFF2-40B4-BE49-F238E27FC236}">
                <a16:creationId xmlns:a16="http://schemas.microsoft.com/office/drawing/2014/main" id="{8EDC0403-752C-75EA-BE8A-3A2A8310F27F}"/>
              </a:ext>
            </a:extLst>
          </p:cNvPr>
          <p:cNvSpPr>
            <a:spLocks noChangeArrowheads="1"/>
          </p:cNvSpPr>
          <p:nvPr/>
        </p:nvSpPr>
        <p:spPr bwMode="auto">
          <a:xfrm flipV="1">
            <a:off x="5197475" y="39735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0" name="Oval 12">
            <a:extLst>
              <a:ext uri="{FF2B5EF4-FFF2-40B4-BE49-F238E27FC236}">
                <a16:creationId xmlns:a16="http://schemas.microsoft.com/office/drawing/2014/main" id="{FF4753D9-4462-4D5E-EE5B-3F8864690851}"/>
              </a:ext>
            </a:extLst>
          </p:cNvPr>
          <p:cNvSpPr>
            <a:spLocks noChangeArrowheads="1"/>
          </p:cNvSpPr>
          <p:nvPr/>
        </p:nvSpPr>
        <p:spPr bwMode="auto">
          <a:xfrm flipV="1">
            <a:off x="6950075" y="2673350"/>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1" name="Oval 13">
            <a:extLst>
              <a:ext uri="{FF2B5EF4-FFF2-40B4-BE49-F238E27FC236}">
                <a16:creationId xmlns:a16="http://schemas.microsoft.com/office/drawing/2014/main" id="{42A1D583-2B22-9A68-679D-8FAE099D8C13}"/>
              </a:ext>
            </a:extLst>
          </p:cNvPr>
          <p:cNvSpPr>
            <a:spLocks noChangeArrowheads="1"/>
          </p:cNvSpPr>
          <p:nvPr/>
        </p:nvSpPr>
        <p:spPr bwMode="auto">
          <a:xfrm flipV="1">
            <a:off x="6970713" y="2433638"/>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2" name="Oval 14">
            <a:extLst>
              <a:ext uri="{FF2B5EF4-FFF2-40B4-BE49-F238E27FC236}">
                <a16:creationId xmlns:a16="http://schemas.microsoft.com/office/drawing/2014/main" id="{3E7DDEC9-AD8C-6C96-B4FD-F448210AD617}"/>
              </a:ext>
            </a:extLst>
          </p:cNvPr>
          <p:cNvSpPr>
            <a:spLocks noChangeArrowheads="1"/>
          </p:cNvSpPr>
          <p:nvPr/>
        </p:nvSpPr>
        <p:spPr bwMode="auto">
          <a:xfrm flipV="1">
            <a:off x="7385050" y="2406650"/>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3" name="Oval 15">
            <a:extLst>
              <a:ext uri="{FF2B5EF4-FFF2-40B4-BE49-F238E27FC236}">
                <a16:creationId xmlns:a16="http://schemas.microsoft.com/office/drawing/2014/main" id="{5F76ADA9-2AAC-AB51-08DC-D8E88CF5F9DF}"/>
              </a:ext>
            </a:extLst>
          </p:cNvPr>
          <p:cNvSpPr>
            <a:spLocks noChangeArrowheads="1"/>
          </p:cNvSpPr>
          <p:nvPr/>
        </p:nvSpPr>
        <p:spPr bwMode="auto">
          <a:xfrm flipV="1">
            <a:off x="5153025" y="42402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4" name="Oval 16">
            <a:extLst>
              <a:ext uri="{FF2B5EF4-FFF2-40B4-BE49-F238E27FC236}">
                <a16:creationId xmlns:a16="http://schemas.microsoft.com/office/drawing/2014/main" id="{25CAE6FE-9B43-A88D-04A7-A328B329DC19}"/>
              </a:ext>
            </a:extLst>
          </p:cNvPr>
          <p:cNvSpPr>
            <a:spLocks noChangeArrowheads="1"/>
          </p:cNvSpPr>
          <p:nvPr/>
        </p:nvSpPr>
        <p:spPr bwMode="auto">
          <a:xfrm flipV="1">
            <a:off x="7364413" y="2155825"/>
            <a:ext cx="42862"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5" name="Oval 17">
            <a:extLst>
              <a:ext uri="{FF2B5EF4-FFF2-40B4-BE49-F238E27FC236}">
                <a16:creationId xmlns:a16="http://schemas.microsoft.com/office/drawing/2014/main" id="{8B340B92-F2C3-473E-13E8-2D88727C7C4C}"/>
              </a:ext>
            </a:extLst>
          </p:cNvPr>
          <p:cNvSpPr>
            <a:spLocks noChangeArrowheads="1"/>
          </p:cNvSpPr>
          <p:nvPr/>
        </p:nvSpPr>
        <p:spPr bwMode="auto">
          <a:xfrm flipV="1">
            <a:off x="7694613" y="2030413"/>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27666" name="Line 18">
            <a:extLst>
              <a:ext uri="{FF2B5EF4-FFF2-40B4-BE49-F238E27FC236}">
                <a16:creationId xmlns:a16="http://schemas.microsoft.com/office/drawing/2014/main" id="{B3409C22-C8E4-4C83-25DC-212D7B5B2ABD}"/>
              </a:ext>
            </a:extLst>
          </p:cNvPr>
          <p:cNvSpPr>
            <a:spLocks noChangeShapeType="1"/>
          </p:cNvSpPr>
          <p:nvPr/>
        </p:nvSpPr>
        <p:spPr bwMode="auto">
          <a:xfrm flipV="1">
            <a:off x="4919663" y="1943100"/>
            <a:ext cx="2906712" cy="2270125"/>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7" name="Text Box 19">
            <a:extLst>
              <a:ext uri="{FF2B5EF4-FFF2-40B4-BE49-F238E27FC236}">
                <a16:creationId xmlns:a16="http://schemas.microsoft.com/office/drawing/2014/main" id="{CB518D84-8FB7-8C35-632F-142C88F7E9E6}"/>
              </a:ext>
            </a:extLst>
          </p:cNvPr>
          <p:cNvSpPr txBox="1">
            <a:spLocks noChangeArrowheads="1"/>
          </p:cNvSpPr>
          <p:nvPr/>
        </p:nvSpPr>
        <p:spPr bwMode="auto">
          <a:xfrm>
            <a:off x="8485188" y="43799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x</a:t>
            </a:r>
          </a:p>
        </p:txBody>
      </p:sp>
      <p:sp>
        <p:nvSpPr>
          <p:cNvPr id="27668" name="Text Box 20">
            <a:extLst>
              <a:ext uri="{FF2B5EF4-FFF2-40B4-BE49-F238E27FC236}">
                <a16:creationId xmlns:a16="http://schemas.microsoft.com/office/drawing/2014/main" id="{EE178C40-1066-5ABB-1477-004A2ED8FD60}"/>
              </a:ext>
            </a:extLst>
          </p:cNvPr>
          <p:cNvSpPr txBox="1">
            <a:spLocks noChangeArrowheads="1"/>
          </p:cNvSpPr>
          <p:nvPr/>
        </p:nvSpPr>
        <p:spPr bwMode="auto">
          <a:xfrm>
            <a:off x="5138738" y="14557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y</a:t>
            </a:r>
          </a:p>
        </p:txBody>
      </p:sp>
      <p:sp>
        <p:nvSpPr>
          <p:cNvPr id="27669" name="Text Box 21">
            <a:extLst>
              <a:ext uri="{FF2B5EF4-FFF2-40B4-BE49-F238E27FC236}">
                <a16:creationId xmlns:a16="http://schemas.microsoft.com/office/drawing/2014/main" id="{29AFF181-A3A7-BA6C-E658-858844303ED3}"/>
              </a:ext>
            </a:extLst>
          </p:cNvPr>
          <p:cNvSpPr txBox="1">
            <a:spLocks noChangeArrowheads="1"/>
          </p:cNvSpPr>
          <p:nvPr/>
        </p:nvSpPr>
        <p:spPr bwMode="auto">
          <a:xfrm>
            <a:off x="6705600" y="3219450"/>
            <a:ext cx="128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y = x + 1</a:t>
            </a:r>
          </a:p>
        </p:txBody>
      </p:sp>
      <p:sp>
        <p:nvSpPr>
          <p:cNvPr id="27670" name="Line 22">
            <a:extLst>
              <a:ext uri="{FF2B5EF4-FFF2-40B4-BE49-F238E27FC236}">
                <a16:creationId xmlns:a16="http://schemas.microsoft.com/office/drawing/2014/main" id="{3087C71B-5A3D-A511-3449-79212B7EB2EE}"/>
              </a:ext>
            </a:extLst>
          </p:cNvPr>
          <p:cNvSpPr>
            <a:spLocks noChangeShapeType="1"/>
          </p:cNvSpPr>
          <p:nvPr/>
        </p:nvSpPr>
        <p:spPr bwMode="auto">
          <a:xfrm>
            <a:off x="5753100" y="2498725"/>
            <a:ext cx="0" cy="1909763"/>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71" name="Line 23">
            <a:extLst>
              <a:ext uri="{FF2B5EF4-FFF2-40B4-BE49-F238E27FC236}">
                <a16:creationId xmlns:a16="http://schemas.microsoft.com/office/drawing/2014/main" id="{18E3E08A-ED92-21F9-ED8F-C18A91831560}"/>
              </a:ext>
            </a:extLst>
          </p:cNvPr>
          <p:cNvSpPr>
            <a:spLocks noChangeShapeType="1"/>
          </p:cNvSpPr>
          <p:nvPr/>
        </p:nvSpPr>
        <p:spPr bwMode="auto">
          <a:xfrm flipH="1">
            <a:off x="4937125" y="2514600"/>
            <a:ext cx="800100"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72" name="Line 24">
            <a:extLst>
              <a:ext uri="{FF2B5EF4-FFF2-40B4-BE49-F238E27FC236}">
                <a16:creationId xmlns:a16="http://schemas.microsoft.com/office/drawing/2014/main" id="{7B629476-CCD4-F5BE-DE3A-1E0858245A17}"/>
              </a:ext>
            </a:extLst>
          </p:cNvPr>
          <p:cNvSpPr>
            <a:spLocks noChangeShapeType="1"/>
          </p:cNvSpPr>
          <p:nvPr/>
        </p:nvSpPr>
        <p:spPr bwMode="auto">
          <a:xfrm flipH="1">
            <a:off x="4921250" y="3525838"/>
            <a:ext cx="815975"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73" name="Text Box 25">
            <a:extLst>
              <a:ext uri="{FF2B5EF4-FFF2-40B4-BE49-F238E27FC236}">
                <a16:creationId xmlns:a16="http://schemas.microsoft.com/office/drawing/2014/main" id="{5D6EC09D-17B8-099F-765F-639BE9AEB0FE}"/>
              </a:ext>
            </a:extLst>
          </p:cNvPr>
          <p:cNvSpPr txBox="1">
            <a:spLocks noChangeArrowheads="1"/>
          </p:cNvSpPr>
          <p:nvPr/>
        </p:nvSpPr>
        <p:spPr bwMode="auto">
          <a:xfrm>
            <a:off x="5676900" y="44116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X1</a:t>
            </a:r>
          </a:p>
        </p:txBody>
      </p:sp>
      <p:sp>
        <p:nvSpPr>
          <p:cNvPr id="27674" name="Text Box 26">
            <a:extLst>
              <a:ext uri="{FF2B5EF4-FFF2-40B4-BE49-F238E27FC236}">
                <a16:creationId xmlns:a16="http://schemas.microsoft.com/office/drawing/2014/main" id="{4ADCEFB7-5817-CA37-8BE6-E4B231D88D8E}"/>
              </a:ext>
            </a:extLst>
          </p:cNvPr>
          <p:cNvSpPr txBox="1">
            <a:spLocks noChangeArrowheads="1"/>
          </p:cNvSpPr>
          <p:nvPr/>
        </p:nvSpPr>
        <p:spPr bwMode="auto">
          <a:xfrm>
            <a:off x="4419600" y="22860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Y1</a:t>
            </a:r>
          </a:p>
        </p:txBody>
      </p:sp>
      <p:sp>
        <p:nvSpPr>
          <p:cNvPr id="27675" name="Text Box 27">
            <a:extLst>
              <a:ext uri="{FF2B5EF4-FFF2-40B4-BE49-F238E27FC236}">
                <a16:creationId xmlns:a16="http://schemas.microsoft.com/office/drawing/2014/main" id="{396739EA-8DBC-6E39-A682-5992E53E6695}"/>
              </a:ext>
            </a:extLst>
          </p:cNvPr>
          <p:cNvSpPr txBox="1">
            <a:spLocks noChangeArrowheads="1"/>
          </p:cNvSpPr>
          <p:nvPr/>
        </p:nvSpPr>
        <p:spPr bwMode="auto">
          <a:xfrm>
            <a:off x="4452938" y="3268663"/>
            <a:ext cx="579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Y1’</a:t>
            </a:r>
          </a:p>
        </p:txBody>
      </p:sp>
      <p:sp>
        <p:nvSpPr>
          <p:cNvPr id="27676" name="Text Box 28">
            <a:extLst>
              <a:ext uri="{FF2B5EF4-FFF2-40B4-BE49-F238E27FC236}">
                <a16:creationId xmlns:a16="http://schemas.microsoft.com/office/drawing/2014/main" id="{E5921BA3-0C52-8B8E-2AB3-D616B9ACD558}"/>
              </a:ext>
            </a:extLst>
          </p:cNvPr>
          <p:cNvSpPr txBox="1">
            <a:spLocks noChangeArrowheads="1"/>
          </p:cNvSpPr>
          <p:nvPr/>
        </p:nvSpPr>
        <p:spPr bwMode="auto">
          <a:xfrm>
            <a:off x="1600200" y="4648200"/>
            <a:ext cx="3597275"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Char char="•"/>
            </a:pPr>
            <a:r>
              <a:rPr lang="en-US" altLang="en-US" sz="1800"/>
              <a:t> Linear regression (best line to fit</a:t>
            </a:r>
          </a:p>
          <a:p>
            <a:pPr eaLnBrk="1" hangingPunct="1"/>
            <a:r>
              <a:rPr lang="en-US" altLang="en-US" sz="1800"/>
              <a:t>two variables)</a:t>
            </a:r>
          </a:p>
          <a:p>
            <a:pPr eaLnBrk="1" hangingPunct="1"/>
            <a:endParaRPr lang="en-US" altLang="en-US" sz="1800"/>
          </a:p>
          <a:p>
            <a:pPr eaLnBrk="1" hangingPunct="1">
              <a:buFontTx/>
              <a:buChar char="•"/>
            </a:pPr>
            <a:r>
              <a:rPr lang="en-US" altLang="en-US" sz="1800"/>
              <a:t> Multiple linear regression (more </a:t>
            </a:r>
          </a:p>
          <a:p>
            <a:pPr eaLnBrk="1" hangingPunct="1"/>
            <a:r>
              <a:rPr lang="en-US" altLang="en-US" sz="1800"/>
              <a:t> than two variables, fit to a multidimensional surface)</a:t>
            </a:r>
          </a:p>
        </p:txBody>
      </p:sp>
    </p:spTree>
  </p:cSld>
  <p:clrMapOvr>
    <a:masterClrMapping/>
  </p:clrMapOvr>
  <p:transition>
    <p:checke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2DDAC48-A4F5-C59B-C2BE-914FFAF9D33B}"/>
              </a:ext>
            </a:extLst>
          </p:cNvPr>
          <p:cNvSpPr>
            <a:spLocks noGrp="1" noChangeArrowheads="1"/>
          </p:cNvSpPr>
          <p:nvPr>
            <p:ph type="title"/>
          </p:nvPr>
        </p:nvSpPr>
        <p:spPr bwMode="auto">
          <a:xfrm>
            <a:off x="1828800" y="381000"/>
            <a:ext cx="70866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How to Handle Inconsistent Data?</a:t>
            </a:r>
          </a:p>
        </p:txBody>
      </p:sp>
      <p:sp>
        <p:nvSpPr>
          <p:cNvPr id="28675" name="Rectangle 3">
            <a:extLst>
              <a:ext uri="{FF2B5EF4-FFF2-40B4-BE49-F238E27FC236}">
                <a16:creationId xmlns:a16="http://schemas.microsoft.com/office/drawing/2014/main" id="{2A10B123-63BC-8F3D-6A3D-766AC849E94B}"/>
              </a:ext>
            </a:extLst>
          </p:cNvPr>
          <p:cNvSpPr>
            <a:spLocks noGrp="1" noChangeArrowheads="1"/>
          </p:cNvSpPr>
          <p:nvPr>
            <p:ph idx="1"/>
          </p:nvPr>
        </p:nvSpPr>
        <p:spPr bwMode="auto">
          <a:xfrm>
            <a:off x="1905000" y="1447800"/>
            <a:ext cx="680085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Manual correction using external references</a:t>
            </a:r>
          </a:p>
          <a:p>
            <a:pPr eaLnBrk="1" hangingPunct="1"/>
            <a:r>
              <a:rPr lang="en-US" altLang="en-US"/>
              <a:t>Semi-automatic using various tools</a:t>
            </a:r>
          </a:p>
          <a:p>
            <a:pPr lvl="1" eaLnBrk="1" hangingPunct="1"/>
            <a:r>
              <a:rPr lang="en-US" altLang="en-US" sz="1800"/>
              <a:t>To detect violation of known functional dependencies and data constraints</a:t>
            </a:r>
          </a:p>
          <a:p>
            <a:pPr lvl="1" eaLnBrk="1" hangingPunct="1"/>
            <a:r>
              <a:rPr lang="en-US" altLang="en-US" sz="1800"/>
              <a:t>To correct redundant data</a:t>
            </a:r>
          </a:p>
        </p:txBody>
      </p:sp>
    </p:spTree>
  </p:cSld>
  <p:clrMapOvr>
    <a:masterClrMapping/>
  </p:clrMapOvr>
  <p:transition>
    <p:checke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9F72368-5E5B-0305-B574-06328B855A96}"/>
              </a:ext>
            </a:extLst>
          </p:cNvPr>
          <p:cNvSpPr>
            <a:spLocks noGrp="1" noChangeArrowheads="1"/>
          </p:cNvSpPr>
          <p:nvPr>
            <p:ph type="title"/>
          </p:nvPr>
        </p:nvSpPr>
        <p:spPr bwMode="auto">
          <a:xfrm>
            <a:off x="1752600" y="304800"/>
            <a:ext cx="69342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a:solidFill>
                  <a:schemeClr val="accent2"/>
                </a:solidFill>
              </a:rPr>
              <a:t>Agenda</a:t>
            </a:r>
          </a:p>
        </p:txBody>
      </p:sp>
      <p:sp>
        <p:nvSpPr>
          <p:cNvPr id="29699" name="Rectangle 3">
            <a:extLst>
              <a:ext uri="{FF2B5EF4-FFF2-40B4-BE49-F238E27FC236}">
                <a16:creationId xmlns:a16="http://schemas.microsoft.com/office/drawing/2014/main" id="{4D4E4261-00C9-DB89-BE60-5631D0270E35}"/>
              </a:ext>
            </a:extLst>
          </p:cNvPr>
          <p:cNvSpPr>
            <a:spLocks noGrp="1" noChangeArrowheads="1"/>
          </p:cNvSpPr>
          <p:nvPr>
            <p:ph idx="1"/>
          </p:nvPr>
        </p:nvSpPr>
        <p:spPr bwMode="auto">
          <a:xfrm>
            <a:off x="1676400" y="1676400"/>
            <a:ext cx="71628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2800"/>
              <a:t>Why preprocess the data?</a:t>
            </a:r>
          </a:p>
          <a:p>
            <a:pPr eaLnBrk="1" hangingPunct="1">
              <a:lnSpc>
                <a:spcPct val="140000"/>
              </a:lnSpc>
            </a:pPr>
            <a:r>
              <a:rPr lang="en-US" altLang="en-US" sz="2800"/>
              <a:t>Data cleaning </a:t>
            </a:r>
          </a:p>
          <a:p>
            <a:pPr eaLnBrk="1" hangingPunct="1">
              <a:lnSpc>
                <a:spcPct val="140000"/>
              </a:lnSpc>
            </a:pPr>
            <a:r>
              <a:rPr lang="en-US" altLang="en-US" sz="2800">
                <a:solidFill>
                  <a:schemeClr val="accent2"/>
                </a:solidFill>
              </a:rPr>
              <a:t>Data integration and transformation</a:t>
            </a:r>
          </a:p>
          <a:p>
            <a:pPr eaLnBrk="1" hangingPunct="1">
              <a:lnSpc>
                <a:spcPct val="140000"/>
              </a:lnSpc>
            </a:pPr>
            <a:r>
              <a:rPr lang="en-US" altLang="en-US" sz="2800"/>
              <a:t>Data reduction</a:t>
            </a:r>
            <a:endParaRPr lang="en-US" altLang="en-US" sz="2800">
              <a:solidFill>
                <a:schemeClr val="hlink"/>
              </a:solidFill>
            </a:endParaRPr>
          </a:p>
          <a:p>
            <a:pPr eaLnBrk="1" hangingPunct="1">
              <a:lnSpc>
                <a:spcPct val="140000"/>
              </a:lnSpc>
            </a:pPr>
            <a:r>
              <a:rPr lang="en-US" altLang="en-US" sz="2800"/>
              <a:t>Summary</a:t>
            </a:r>
          </a:p>
        </p:txBody>
      </p:sp>
    </p:spTree>
  </p:cSld>
  <p:clrMapOvr>
    <a:masterClrMapping/>
  </p:clrMapOvr>
  <p:transition>
    <p:checke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28F11DD1-5B31-EDDA-29DD-15B9F735CD3C}"/>
              </a:ext>
            </a:extLst>
          </p:cNvPr>
          <p:cNvSpPr>
            <a:spLocks noGrp="1"/>
          </p:cNvSpPr>
          <p:nvPr>
            <p:ph type="title"/>
          </p:nvPr>
        </p:nvSpPr>
        <p:spPr bwMode="auto">
          <a:xfrm>
            <a:off x="1809750" y="365125"/>
            <a:ext cx="6705600" cy="595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solidFill>
                  <a:schemeClr val="accent2"/>
                </a:solidFill>
              </a:rPr>
              <a:t>Data Integration Challenges </a:t>
            </a:r>
          </a:p>
        </p:txBody>
      </p:sp>
      <p:sp>
        <p:nvSpPr>
          <p:cNvPr id="30723" name="AutoShape 2" descr="Data integration">
            <a:extLst>
              <a:ext uri="{FF2B5EF4-FFF2-40B4-BE49-F238E27FC236}">
                <a16:creationId xmlns:a16="http://schemas.microsoft.com/office/drawing/2014/main" id="{EDA4A6CA-1B04-5293-3640-4FD3524150D3}"/>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pic>
        <p:nvPicPr>
          <p:cNvPr id="30724" name="Picture 3">
            <a:extLst>
              <a:ext uri="{FF2B5EF4-FFF2-40B4-BE49-F238E27FC236}">
                <a16:creationId xmlns:a16="http://schemas.microsoft.com/office/drawing/2014/main" id="{75FEBB4E-DD01-A89F-3A85-252696B8B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388" y="1066800"/>
            <a:ext cx="6235700"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25" name="TextBox 4">
            <a:extLst>
              <a:ext uri="{FF2B5EF4-FFF2-40B4-BE49-F238E27FC236}">
                <a16:creationId xmlns:a16="http://schemas.microsoft.com/office/drawing/2014/main" id="{B124CE4A-E599-5815-6053-EFE7EFE11858}"/>
              </a:ext>
            </a:extLst>
          </p:cNvPr>
          <p:cNvSpPr txBox="1">
            <a:spLocks noChangeArrowheads="1"/>
          </p:cNvSpPr>
          <p:nvPr/>
        </p:nvSpPr>
        <p:spPr bwMode="auto">
          <a:xfrm>
            <a:off x="1828800" y="5943600"/>
            <a:ext cx="16652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600"/>
              <a:t>Multiple sources</a:t>
            </a:r>
          </a:p>
        </p:txBody>
      </p:sp>
      <p:sp>
        <p:nvSpPr>
          <p:cNvPr id="30726" name="Rectangle 5">
            <a:extLst>
              <a:ext uri="{FF2B5EF4-FFF2-40B4-BE49-F238E27FC236}">
                <a16:creationId xmlns:a16="http://schemas.microsoft.com/office/drawing/2014/main" id="{2B2D66B4-C70C-1809-3CDB-6823845150E8}"/>
              </a:ext>
            </a:extLst>
          </p:cNvPr>
          <p:cNvSpPr>
            <a:spLocks noChangeArrowheads="1"/>
          </p:cNvSpPr>
          <p:nvPr/>
        </p:nvSpPr>
        <p:spPr bwMode="auto">
          <a:xfrm>
            <a:off x="3886200" y="5911850"/>
            <a:ext cx="1382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a:latin typeface="Arial" panose="020B0604020202020204" pitchFamily="34" charset="0"/>
                <a:cs typeface="Arial" panose="020B0604020202020204" pitchFamily="34" charset="0"/>
              </a:rPr>
              <a:t>Metadata</a:t>
            </a:r>
          </a:p>
          <a:p>
            <a:pPr eaLnBrk="1" hangingPunct="1"/>
            <a:r>
              <a:rPr lang="en-US" altLang="en-US" sz="1600">
                <a:latin typeface="Arial" panose="020B0604020202020204" pitchFamily="34" charset="0"/>
                <a:cs typeface="Arial" panose="020B0604020202020204" pitchFamily="34" charset="0"/>
              </a:rPr>
              <a:t>Management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CE5FFF9-2C63-F6BD-32B2-B0A9148F299D}"/>
              </a:ext>
            </a:extLst>
          </p:cNvPr>
          <p:cNvSpPr>
            <a:spLocks noGrp="1" noChangeArrowheads="1"/>
          </p:cNvSpPr>
          <p:nvPr>
            <p:ph type="title"/>
          </p:nvPr>
        </p:nvSpPr>
        <p:spPr bwMode="auto">
          <a:xfrm>
            <a:off x="2590800" y="533400"/>
            <a:ext cx="4038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Integration</a:t>
            </a:r>
          </a:p>
        </p:txBody>
      </p:sp>
      <p:sp>
        <p:nvSpPr>
          <p:cNvPr id="31747" name="Rectangle 3">
            <a:extLst>
              <a:ext uri="{FF2B5EF4-FFF2-40B4-BE49-F238E27FC236}">
                <a16:creationId xmlns:a16="http://schemas.microsoft.com/office/drawing/2014/main" id="{1E9671EE-2F2B-BC36-C018-A8ACDF31CC92}"/>
              </a:ext>
            </a:extLst>
          </p:cNvPr>
          <p:cNvSpPr>
            <a:spLocks noGrp="1" noChangeArrowheads="1"/>
          </p:cNvSpPr>
          <p:nvPr>
            <p:ph idx="1"/>
          </p:nvPr>
        </p:nvSpPr>
        <p:spPr bwMode="auto">
          <a:xfrm>
            <a:off x="1600200" y="1600200"/>
            <a:ext cx="7315200" cy="48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Data integration: </a:t>
            </a:r>
          </a:p>
          <a:p>
            <a:pPr lvl="1" eaLnBrk="1" hangingPunct="1"/>
            <a:r>
              <a:rPr lang="en-US" altLang="en-US" sz="2000"/>
              <a:t>combines data from multiple sources into a coherent store</a:t>
            </a:r>
          </a:p>
          <a:p>
            <a:pPr eaLnBrk="1" hangingPunct="1"/>
            <a:r>
              <a:rPr lang="en-US" altLang="en-US"/>
              <a:t>Schema integration</a:t>
            </a:r>
          </a:p>
          <a:p>
            <a:pPr lvl="1" eaLnBrk="1" hangingPunct="1"/>
            <a:r>
              <a:rPr lang="en-US" altLang="en-US" sz="2000"/>
              <a:t>integrate metadata from different sources</a:t>
            </a:r>
          </a:p>
          <a:p>
            <a:pPr lvl="1" eaLnBrk="1" hangingPunct="1"/>
            <a:r>
              <a:rPr lang="en-US" altLang="en-US" sz="2000"/>
              <a:t>Entity identification problem: identify real world entities from multiple data sources, e.g., A.cust-id </a:t>
            </a:r>
            <a:r>
              <a:rPr lang="en-US" altLang="en-US" sz="2000">
                <a:sym typeface="Symbol" panose="05050102010706020507" pitchFamily="18" charset="2"/>
              </a:rPr>
              <a:t> B.</a:t>
            </a:r>
            <a:r>
              <a:rPr lang="en-US" altLang="en-US" sz="2000"/>
              <a:t>cust-#</a:t>
            </a:r>
          </a:p>
          <a:p>
            <a:pPr eaLnBrk="1" hangingPunct="1"/>
            <a:r>
              <a:rPr lang="en-US" altLang="en-US"/>
              <a:t>Detecting and resolving data value conflicts</a:t>
            </a:r>
          </a:p>
          <a:p>
            <a:pPr lvl="1" eaLnBrk="1" hangingPunct="1"/>
            <a:r>
              <a:rPr lang="en-US" altLang="en-US" sz="2000"/>
              <a:t>for the same real world entity, attribute values from different sources are different</a:t>
            </a:r>
          </a:p>
          <a:p>
            <a:pPr lvl="1" eaLnBrk="1" hangingPunct="1"/>
            <a:r>
              <a:rPr lang="en-US" altLang="en-US" sz="2000"/>
              <a:t>possible reasons: different representations, different scales, e.g., metric vs. British units, different currency</a:t>
            </a:r>
          </a:p>
        </p:txBody>
      </p:sp>
    </p:spTree>
  </p:cSld>
  <p:clrMapOvr>
    <a:masterClrMapping/>
  </p:clrMapOvr>
  <p:transition>
    <p:checke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96BC7B8-3CE8-0769-E581-02DC8AB0ACE7}"/>
              </a:ext>
            </a:extLst>
          </p:cNvPr>
          <p:cNvSpPr>
            <a:spLocks noGrp="1" noChangeArrowheads="1"/>
          </p:cNvSpPr>
          <p:nvPr>
            <p:ph type="title"/>
          </p:nvPr>
        </p:nvSpPr>
        <p:spPr bwMode="auto">
          <a:xfrm>
            <a:off x="1828800" y="228600"/>
            <a:ext cx="6629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Handling Redundant Data in Data Integration</a:t>
            </a:r>
          </a:p>
        </p:txBody>
      </p:sp>
      <p:sp>
        <p:nvSpPr>
          <p:cNvPr id="32771" name="Rectangle 3">
            <a:extLst>
              <a:ext uri="{FF2B5EF4-FFF2-40B4-BE49-F238E27FC236}">
                <a16:creationId xmlns:a16="http://schemas.microsoft.com/office/drawing/2014/main" id="{91DEB00C-2A4C-458C-A96D-9790786D35D9}"/>
              </a:ext>
            </a:extLst>
          </p:cNvPr>
          <p:cNvSpPr>
            <a:spLocks noGrp="1" noChangeArrowheads="1"/>
          </p:cNvSpPr>
          <p:nvPr>
            <p:ph idx="1"/>
          </p:nvPr>
        </p:nvSpPr>
        <p:spPr bwMode="auto">
          <a:xfrm>
            <a:off x="1600200" y="1600200"/>
            <a:ext cx="72390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en-US" altLang="en-US" sz="2000"/>
              <a:t>Redundant data occur often when integrating multiple DBs</a:t>
            </a:r>
          </a:p>
          <a:p>
            <a:pPr lvl="1" eaLnBrk="1" hangingPunct="1">
              <a:lnSpc>
                <a:spcPct val="110000"/>
              </a:lnSpc>
            </a:pPr>
            <a:r>
              <a:rPr lang="en-US" altLang="en-US" sz="2000"/>
              <a:t>The same attribute may have different names in different databases</a:t>
            </a:r>
          </a:p>
          <a:p>
            <a:pPr lvl="1" eaLnBrk="1" hangingPunct="1">
              <a:lnSpc>
                <a:spcPct val="110000"/>
              </a:lnSpc>
            </a:pPr>
            <a:r>
              <a:rPr lang="en-US" altLang="en-US" sz="2000"/>
              <a:t>One attribute may be a “derived” attribute in another table, e.g., annual revenue</a:t>
            </a:r>
          </a:p>
          <a:p>
            <a:pPr eaLnBrk="1" hangingPunct="1">
              <a:lnSpc>
                <a:spcPct val="110000"/>
              </a:lnSpc>
            </a:pPr>
            <a:r>
              <a:rPr lang="en-US" altLang="en-US" sz="2000"/>
              <a:t>Redundant data can often be detected by correlation analysis</a:t>
            </a:r>
          </a:p>
          <a:p>
            <a:pPr eaLnBrk="1" hangingPunct="1">
              <a:lnSpc>
                <a:spcPct val="110000"/>
              </a:lnSpc>
              <a:buFontTx/>
              <a:buNone/>
            </a:pPr>
            <a:endParaRPr lang="en-US" altLang="en-US" sz="2800"/>
          </a:p>
          <a:p>
            <a:pPr eaLnBrk="1" hangingPunct="1">
              <a:lnSpc>
                <a:spcPct val="110000"/>
              </a:lnSpc>
              <a:buFontTx/>
              <a:buNone/>
            </a:pPr>
            <a:endParaRPr lang="en-US" altLang="en-US" sz="2800"/>
          </a:p>
          <a:p>
            <a:pPr eaLnBrk="1" hangingPunct="1">
              <a:lnSpc>
                <a:spcPct val="110000"/>
              </a:lnSpc>
              <a:spcBef>
                <a:spcPts val="3800"/>
              </a:spcBef>
            </a:pPr>
            <a:r>
              <a:rPr lang="en-US" altLang="en-US" sz="2000">
                <a:solidFill>
                  <a:schemeClr val="accent2"/>
                </a:solidFill>
              </a:rPr>
              <a:t>Careful integration </a:t>
            </a:r>
            <a:r>
              <a:rPr lang="en-US" altLang="en-US" sz="2000">
                <a:solidFill>
                  <a:schemeClr val="tx2"/>
                </a:solidFill>
              </a:rPr>
              <a:t>can</a:t>
            </a:r>
            <a:r>
              <a:rPr lang="en-US" altLang="en-US" sz="2000"/>
              <a:t> help reduce/avoid redundancies and inconsistencies and improve mining speed and quality</a:t>
            </a:r>
          </a:p>
        </p:txBody>
      </p:sp>
      <p:graphicFrame>
        <p:nvGraphicFramePr>
          <p:cNvPr id="32772" name="Object 6">
            <a:extLst>
              <a:ext uri="{FF2B5EF4-FFF2-40B4-BE49-F238E27FC236}">
                <a16:creationId xmlns:a16="http://schemas.microsoft.com/office/drawing/2014/main" id="{B248433B-2FD7-D77F-884B-277FB72BB851}"/>
              </a:ext>
            </a:extLst>
          </p:cNvPr>
          <p:cNvGraphicFramePr>
            <a:graphicFrameLocks noChangeAspect="1"/>
          </p:cNvGraphicFramePr>
          <p:nvPr/>
        </p:nvGraphicFramePr>
        <p:xfrm>
          <a:off x="1676400" y="4343400"/>
          <a:ext cx="3352800" cy="1077913"/>
        </p:xfrm>
        <a:graphic>
          <a:graphicData uri="http://schemas.openxmlformats.org/presentationml/2006/ole">
            <mc:AlternateContent xmlns:mc="http://schemas.openxmlformats.org/markup-compatibility/2006">
              <mc:Choice xmlns:v="urn:schemas-microsoft-com:vml" Requires="v">
                <p:oleObj name="Equation" r:id="rId3" imgW="1422400" imgH="457200" progId="Equation.3">
                  <p:embed/>
                </p:oleObj>
              </mc:Choice>
              <mc:Fallback>
                <p:oleObj name="Equation" r:id="rId3" imgW="142240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343400"/>
                        <a:ext cx="3352800" cy="107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8677" name="Picture 5">
            <a:extLst>
              <a:ext uri="{FF2B5EF4-FFF2-40B4-BE49-F238E27FC236}">
                <a16:creationId xmlns:a16="http://schemas.microsoft.com/office/drawing/2014/main" id="{E7CAFA93-038F-5CBA-87C4-40968D6512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4084638"/>
            <a:ext cx="32575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a:extLst>
              <a:ext uri="{FF2B5EF4-FFF2-40B4-BE49-F238E27FC236}">
                <a16:creationId xmlns:a16="http://schemas.microsoft.com/office/drawing/2014/main" id="{1CE7F7BC-BA27-703C-10FC-BB68A79166BE}"/>
              </a:ext>
            </a:extLst>
          </p:cNvPr>
          <p:cNvCxnSpPr/>
          <p:nvPr/>
        </p:nvCxnSpPr>
        <p:spPr>
          <a:xfrm flipH="1">
            <a:off x="4495800" y="4813300"/>
            <a:ext cx="1143000" cy="292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0187851-8D5E-D5F2-C998-3827FFF61332}"/>
              </a:ext>
            </a:extLst>
          </p:cNvPr>
          <p:cNvSpPr>
            <a:spLocks noGrp="1" noChangeArrowheads="1"/>
          </p:cNvSpPr>
          <p:nvPr>
            <p:ph type="title"/>
          </p:nvPr>
        </p:nvSpPr>
        <p:spPr bwMode="auto">
          <a:xfrm>
            <a:off x="1905000" y="381000"/>
            <a:ext cx="489743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Transformation</a:t>
            </a:r>
          </a:p>
        </p:txBody>
      </p:sp>
      <p:sp>
        <p:nvSpPr>
          <p:cNvPr id="34819" name="Rectangle 3">
            <a:extLst>
              <a:ext uri="{FF2B5EF4-FFF2-40B4-BE49-F238E27FC236}">
                <a16:creationId xmlns:a16="http://schemas.microsoft.com/office/drawing/2014/main" id="{E593CDCE-79F6-6F41-9CE3-97CB9E43BFD9}"/>
              </a:ext>
            </a:extLst>
          </p:cNvPr>
          <p:cNvSpPr>
            <a:spLocks noGrp="1" noChangeArrowheads="1"/>
          </p:cNvSpPr>
          <p:nvPr>
            <p:ph idx="1"/>
          </p:nvPr>
        </p:nvSpPr>
        <p:spPr bwMode="auto">
          <a:xfrm>
            <a:off x="1600200" y="1143000"/>
            <a:ext cx="7162800" cy="510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en-US" altLang="en-US" sz="2000"/>
              <a:t>Normalization: scaled to fall within a small, specified range</a:t>
            </a:r>
          </a:p>
          <a:p>
            <a:pPr lvl="1" eaLnBrk="1" hangingPunct="1">
              <a:lnSpc>
                <a:spcPct val="110000"/>
              </a:lnSpc>
            </a:pPr>
            <a:r>
              <a:rPr lang="en-US" altLang="en-US" sz="2000"/>
              <a:t>min-max normalization</a:t>
            </a:r>
          </a:p>
          <a:p>
            <a:pPr lvl="1" eaLnBrk="1" hangingPunct="1">
              <a:lnSpc>
                <a:spcPct val="110000"/>
              </a:lnSpc>
            </a:pPr>
            <a:r>
              <a:rPr lang="en-US" altLang="en-US" sz="2000"/>
              <a:t>z-score normalization</a:t>
            </a:r>
          </a:p>
          <a:p>
            <a:pPr lvl="1" eaLnBrk="1" hangingPunct="1">
              <a:lnSpc>
                <a:spcPct val="110000"/>
              </a:lnSpc>
            </a:pPr>
            <a:r>
              <a:rPr lang="en-US" altLang="en-US" sz="2000"/>
              <a:t>normalization by decimal scaling</a:t>
            </a:r>
          </a:p>
          <a:p>
            <a:pPr eaLnBrk="1" hangingPunct="1">
              <a:lnSpc>
                <a:spcPct val="110000"/>
              </a:lnSpc>
            </a:pPr>
            <a:r>
              <a:rPr lang="en-US" altLang="en-US" sz="2000"/>
              <a:t>Attribute/feature construction</a:t>
            </a:r>
          </a:p>
          <a:p>
            <a:pPr lvl="1" eaLnBrk="1" hangingPunct="1">
              <a:lnSpc>
                <a:spcPct val="110000"/>
              </a:lnSpc>
            </a:pPr>
            <a:r>
              <a:rPr lang="en-US" altLang="en-US" sz="2000"/>
              <a:t>New attributes constructed from the given ones</a:t>
            </a:r>
          </a:p>
        </p:txBody>
      </p:sp>
    </p:spTree>
  </p:cSld>
  <p:clrMapOvr>
    <a:masterClrMapping/>
  </p:clrMapOvr>
  <p:transition>
    <p:checke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6977372-513F-AFBE-CEE4-FE3267B83D96}"/>
              </a:ext>
            </a:extLst>
          </p:cNvPr>
          <p:cNvSpPr>
            <a:spLocks noGrp="1" noChangeArrowheads="1"/>
          </p:cNvSpPr>
          <p:nvPr>
            <p:ph type="title"/>
          </p:nvPr>
        </p:nvSpPr>
        <p:spPr bwMode="auto">
          <a:xfrm>
            <a:off x="1600200" y="228600"/>
            <a:ext cx="70993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Transformation: Normalization</a:t>
            </a:r>
          </a:p>
        </p:txBody>
      </p:sp>
      <p:sp>
        <p:nvSpPr>
          <p:cNvPr id="35843" name="Rectangle 3">
            <a:extLst>
              <a:ext uri="{FF2B5EF4-FFF2-40B4-BE49-F238E27FC236}">
                <a16:creationId xmlns:a16="http://schemas.microsoft.com/office/drawing/2014/main" id="{51D3DE26-6D09-B1D4-8B49-21FB5A70A34B}"/>
              </a:ext>
            </a:extLst>
          </p:cNvPr>
          <p:cNvSpPr>
            <a:spLocks noGrp="1" noChangeArrowheads="1"/>
          </p:cNvSpPr>
          <p:nvPr>
            <p:ph idx="1"/>
          </p:nvPr>
        </p:nvSpPr>
        <p:spPr bwMode="auto">
          <a:xfrm>
            <a:off x="1905000" y="1981200"/>
            <a:ext cx="69342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solidFill>
                  <a:schemeClr val="accent2"/>
                </a:solidFill>
              </a:rPr>
              <a:t>min-max normalization</a:t>
            </a:r>
          </a:p>
          <a:p>
            <a:pPr lvl="1" eaLnBrk="1" hangingPunct="1"/>
            <a:endParaRPr lang="en-US" altLang="en-US"/>
          </a:p>
          <a:p>
            <a:pPr lvl="1" eaLnBrk="1" hangingPunct="1"/>
            <a:endParaRPr lang="en-US" altLang="en-US" sz="2400"/>
          </a:p>
          <a:p>
            <a:pPr eaLnBrk="1" hangingPunct="1"/>
            <a:endParaRPr lang="en-US" altLang="en-US" sz="2800">
              <a:solidFill>
                <a:schemeClr val="accent2"/>
              </a:solidFill>
            </a:endParaRPr>
          </a:p>
          <a:p>
            <a:pPr eaLnBrk="1" hangingPunct="1"/>
            <a:r>
              <a:rPr lang="en-US" altLang="en-US" sz="2800">
                <a:solidFill>
                  <a:schemeClr val="accent2"/>
                </a:solidFill>
              </a:rPr>
              <a:t>z-score normalization</a:t>
            </a:r>
          </a:p>
          <a:p>
            <a:pPr lvl="1" eaLnBrk="1" hangingPunct="1"/>
            <a:endParaRPr lang="en-US" altLang="en-US" sz="2400">
              <a:solidFill>
                <a:schemeClr val="accent2"/>
              </a:solidFill>
            </a:endParaRPr>
          </a:p>
          <a:p>
            <a:pPr lvl="1" eaLnBrk="1" hangingPunct="1"/>
            <a:endParaRPr lang="en-US" altLang="en-US" sz="2400"/>
          </a:p>
          <a:p>
            <a:pPr eaLnBrk="1" hangingPunct="1"/>
            <a:r>
              <a:rPr lang="en-US" altLang="en-US" sz="2800">
                <a:solidFill>
                  <a:schemeClr val="accent2"/>
                </a:solidFill>
              </a:rPr>
              <a:t>normalization by decimal scaling</a:t>
            </a:r>
          </a:p>
          <a:p>
            <a:pPr lvl="1" eaLnBrk="1" hangingPunct="1"/>
            <a:endParaRPr lang="en-US" altLang="en-US" sz="2400"/>
          </a:p>
          <a:p>
            <a:pPr lvl="1" eaLnBrk="1" hangingPunct="1">
              <a:buFontTx/>
              <a:buNone/>
            </a:pPr>
            <a:endParaRPr lang="en-US" altLang="en-US" sz="2400"/>
          </a:p>
        </p:txBody>
      </p:sp>
      <p:graphicFrame>
        <p:nvGraphicFramePr>
          <p:cNvPr id="35844" name="Object 4">
            <a:extLst>
              <a:ext uri="{FF2B5EF4-FFF2-40B4-BE49-F238E27FC236}">
                <a16:creationId xmlns:a16="http://schemas.microsoft.com/office/drawing/2014/main" id="{88D7F57F-6D0D-4185-E43F-B8A2ADF582B6}"/>
              </a:ext>
            </a:extLst>
          </p:cNvPr>
          <p:cNvGraphicFramePr>
            <a:graphicFrameLocks noChangeAspect="1"/>
          </p:cNvGraphicFramePr>
          <p:nvPr/>
        </p:nvGraphicFramePr>
        <p:xfrm>
          <a:off x="1544638" y="2514600"/>
          <a:ext cx="7321550" cy="873125"/>
        </p:xfrm>
        <a:graphic>
          <a:graphicData uri="http://schemas.openxmlformats.org/presentationml/2006/ole">
            <mc:AlternateContent xmlns:mc="http://schemas.openxmlformats.org/markup-compatibility/2006">
              <mc:Choice xmlns:v="urn:schemas-microsoft-com:vml" Requires="v">
                <p:oleObj name="Equation" r:id="rId3" imgW="3340100" imgH="393700" progId="Equation.3">
                  <p:embed/>
                </p:oleObj>
              </mc:Choice>
              <mc:Fallback>
                <p:oleObj name="Equation" r:id="rId3" imgW="33401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4638" y="2514600"/>
                        <a:ext cx="732155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5" name="Object 5">
            <a:extLst>
              <a:ext uri="{FF2B5EF4-FFF2-40B4-BE49-F238E27FC236}">
                <a16:creationId xmlns:a16="http://schemas.microsoft.com/office/drawing/2014/main" id="{D18E0965-3D16-9ABD-90FD-368E5AE03201}"/>
              </a:ext>
            </a:extLst>
          </p:cNvPr>
          <p:cNvGraphicFramePr>
            <a:graphicFrameLocks noChangeAspect="1"/>
          </p:cNvGraphicFramePr>
          <p:nvPr/>
        </p:nvGraphicFramePr>
        <p:xfrm>
          <a:off x="5043488" y="3810000"/>
          <a:ext cx="3048000" cy="939800"/>
        </p:xfrm>
        <a:graphic>
          <a:graphicData uri="http://schemas.openxmlformats.org/presentationml/2006/ole">
            <mc:AlternateContent xmlns:mc="http://schemas.openxmlformats.org/markup-compatibility/2006">
              <mc:Choice xmlns:v="urn:schemas-microsoft-com:vml" Requires="v">
                <p:oleObj name="Equation" r:id="rId5" imgW="1028700" imgH="419100" progId="Equation.3">
                  <p:embed/>
                </p:oleObj>
              </mc:Choice>
              <mc:Fallback>
                <p:oleObj name="Equation" r:id="rId5" imgW="10287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3488" y="3810000"/>
                        <a:ext cx="3048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6" name="Object 6">
            <a:extLst>
              <a:ext uri="{FF2B5EF4-FFF2-40B4-BE49-F238E27FC236}">
                <a16:creationId xmlns:a16="http://schemas.microsoft.com/office/drawing/2014/main" id="{551FE0CE-8252-B213-C79F-68E74AE0F3BD}"/>
              </a:ext>
            </a:extLst>
          </p:cNvPr>
          <p:cNvGraphicFramePr>
            <a:graphicFrameLocks noChangeAspect="1"/>
          </p:cNvGraphicFramePr>
          <p:nvPr/>
        </p:nvGraphicFramePr>
        <p:xfrm>
          <a:off x="1905000" y="5341938"/>
          <a:ext cx="1066800" cy="847725"/>
        </p:xfrm>
        <a:graphic>
          <a:graphicData uri="http://schemas.openxmlformats.org/presentationml/2006/ole">
            <mc:AlternateContent xmlns:mc="http://schemas.openxmlformats.org/markup-compatibility/2006">
              <mc:Choice xmlns:v="urn:schemas-microsoft-com:vml" Requires="v">
                <p:oleObj name="Equation" r:id="rId7" imgW="495085" imgH="393529" progId="Equation.3">
                  <p:embed/>
                </p:oleObj>
              </mc:Choice>
              <mc:Fallback>
                <p:oleObj name="Equation" r:id="rId7" imgW="495085" imgH="393529"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5341938"/>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7">
            <a:extLst>
              <a:ext uri="{FF2B5EF4-FFF2-40B4-BE49-F238E27FC236}">
                <a16:creationId xmlns:a16="http://schemas.microsoft.com/office/drawing/2014/main" id="{6C814199-3359-2FFA-14D3-5CD54BE7F1AD}"/>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9" imgW="114151" imgH="215619" progId="Equation.3">
                  <p:embed/>
                </p:oleObj>
              </mc:Choice>
              <mc:Fallback>
                <p:oleObj name="Equation" r:id="rId9" imgW="114151" imgH="215619"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8" name="Text Box 8">
            <a:extLst>
              <a:ext uri="{FF2B5EF4-FFF2-40B4-BE49-F238E27FC236}">
                <a16:creationId xmlns:a16="http://schemas.microsoft.com/office/drawing/2014/main" id="{13F6C261-705C-7D41-927C-BCE809314E80}"/>
              </a:ext>
            </a:extLst>
          </p:cNvPr>
          <p:cNvSpPr txBox="1">
            <a:spLocks noChangeArrowheads="1"/>
          </p:cNvSpPr>
          <p:nvPr/>
        </p:nvSpPr>
        <p:spPr bwMode="auto">
          <a:xfrm>
            <a:off x="2941638" y="5995988"/>
            <a:ext cx="6126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Where </a:t>
            </a:r>
            <a:r>
              <a:rPr lang="en-US" altLang="en-US" sz="2000" i="1"/>
              <a:t>j</a:t>
            </a:r>
            <a:r>
              <a:rPr lang="en-US" altLang="en-US" sz="2000"/>
              <a:t> is the smallest integer such that Max(|     |)&lt;1</a:t>
            </a:r>
            <a:endParaRPr lang="en-US" altLang="en-US"/>
          </a:p>
        </p:txBody>
      </p:sp>
      <p:graphicFrame>
        <p:nvGraphicFramePr>
          <p:cNvPr id="35849" name="Object 9">
            <a:extLst>
              <a:ext uri="{FF2B5EF4-FFF2-40B4-BE49-F238E27FC236}">
                <a16:creationId xmlns:a16="http://schemas.microsoft.com/office/drawing/2014/main" id="{74FFF951-7D65-FDED-570C-43EB40AFFAC7}"/>
              </a:ext>
            </a:extLst>
          </p:cNvPr>
          <p:cNvGraphicFramePr>
            <a:graphicFrameLocks noChangeAspect="1"/>
          </p:cNvGraphicFramePr>
          <p:nvPr/>
        </p:nvGraphicFramePr>
        <p:xfrm>
          <a:off x="7742238" y="5995988"/>
          <a:ext cx="320675" cy="404812"/>
        </p:xfrm>
        <a:graphic>
          <a:graphicData uri="http://schemas.openxmlformats.org/presentationml/2006/ole">
            <mc:AlternateContent xmlns:mc="http://schemas.openxmlformats.org/markup-compatibility/2006">
              <mc:Choice xmlns:v="urn:schemas-microsoft-com:vml" Requires="v">
                <p:oleObj name="Equation" r:id="rId11" imgW="139579" imgH="177646" progId="Equation.3">
                  <p:embed/>
                </p:oleObj>
              </mc:Choice>
              <mc:Fallback>
                <p:oleObj name="Equation" r:id="rId11" imgW="139579" imgH="177646"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42238" y="5995988"/>
                        <a:ext cx="320675"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50" name="Text Box 10">
            <a:extLst>
              <a:ext uri="{FF2B5EF4-FFF2-40B4-BE49-F238E27FC236}">
                <a16:creationId xmlns:a16="http://schemas.microsoft.com/office/drawing/2014/main" id="{3D3AA361-D97F-12FC-44E8-D8DD2FA5DDCE}"/>
              </a:ext>
            </a:extLst>
          </p:cNvPr>
          <p:cNvSpPr txBox="1">
            <a:spLocks noChangeArrowheads="1"/>
          </p:cNvSpPr>
          <p:nvPr/>
        </p:nvSpPr>
        <p:spPr bwMode="auto">
          <a:xfrm>
            <a:off x="1544638" y="914400"/>
            <a:ext cx="70199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Particularly useful for classification (neural networks, distance-based</a:t>
            </a:r>
          </a:p>
          <a:p>
            <a:pPr eaLnBrk="1" hangingPunct="1"/>
            <a:r>
              <a:rPr lang="en-US" altLang="en-US" sz="2000"/>
              <a:t>methods such as nearest-neighbour classification, etc.)</a:t>
            </a:r>
          </a:p>
        </p:txBody>
      </p:sp>
    </p:spTree>
  </p:cSld>
  <p:clrMapOvr>
    <a:masterClrMapping/>
  </p:clrMapOvr>
  <p:transition>
    <p:checke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DC94C9-BB1F-95BC-FBD8-A8ACFCA96718}"/>
              </a:ext>
            </a:extLst>
          </p:cNvPr>
          <p:cNvSpPr>
            <a:spLocks noGrp="1" noChangeArrowheads="1"/>
          </p:cNvSpPr>
          <p:nvPr>
            <p:ph type="title"/>
          </p:nvPr>
        </p:nvSpPr>
        <p:spPr bwMode="auto">
          <a:xfrm>
            <a:off x="1676400" y="304800"/>
            <a:ext cx="7010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a:solidFill>
                  <a:schemeClr val="accent2"/>
                </a:solidFill>
              </a:rPr>
              <a:t>Agenda</a:t>
            </a:r>
          </a:p>
        </p:txBody>
      </p:sp>
      <p:sp>
        <p:nvSpPr>
          <p:cNvPr id="37891" name="Rectangle 3">
            <a:extLst>
              <a:ext uri="{FF2B5EF4-FFF2-40B4-BE49-F238E27FC236}">
                <a16:creationId xmlns:a16="http://schemas.microsoft.com/office/drawing/2014/main" id="{74B9B9F0-BBB3-7330-0481-222FDF4E1698}"/>
              </a:ext>
            </a:extLst>
          </p:cNvPr>
          <p:cNvSpPr>
            <a:spLocks noGrp="1" noChangeArrowheads="1"/>
          </p:cNvSpPr>
          <p:nvPr>
            <p:ph idx="1"/>
          </p:nvPr>
        </p:nvSpPr>
        <p:spPr bwMode="auto">
          <a:xfrm>
            <a:off x="1752600" y="1447800"/>
            <a:ext cx="71628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2800"/>
              <a:t>Why preprocess the data?</a:t>
            </a:r>
          </a:p>
          <a:p>
            <a:pPr eaLnBrk="1" hangingPunct="1">
              <a:lnSpc>
                <a:spcPct val="140000"/>
              </a:lnSpc>
            </a:pPr>
            <a:r>
              <a:rPr lang="en-US" altLang="en-US" sz="2800"/>
              <a:t>Data cleaning </a:t>
            </a:r>
          </a:p>
          <a:p>
            <a:pPr eaLnBrk="1" hangingPunct="1">
              <a:lnSpc>
                <a:spcPct val="140000"/>
              </a:lnSpc>
            </a:pPr>
            <a:r>
              <a:rPr lang="en-US" altLang="en-US" sz="2800"/>
              <a:t>Data integration and transformation</a:t>
            </a:r>
          </a:p>
          <a:p>
            <a:pPr eaLnBrk="1" hangingPunct="1">
              <a:lnSpc>
                <a:spcPct val="140000"/>
              </a:lnSpc>
            </a:pPr>
            <a:r>
              <a:rPr lang="en-US" altLang="en-US" sz="2800">
                <a:solidFill>
                  <a:schemeClr val="accent2"/>
                </a:solidFill>
              </a:rPr>
              <a:t>Data reduction</a:t>
            </a:r>
          </a:p>
          <a:p>
            <a:pPr eaLnBrk="1" hangingPunct="1">
              <a:lnSpc>
                <a:spcPct val="140000"/>
              </a:lnSpc>
            </a:pPr>
            <a:r>
              <a:rPr lang="en-US" altLang="en-US" sz="2800"/>
              <a:t>Summary</a:t>
            </a:r>
          </a:p>
        </p:txBody>
      </p:sp>
    </p:spTree>
  </p:cSld>
  <p:clrMapOvr>
    <a:masterClrMapping/>
  </p:clrMapOvr>
  <p:transition>
    <p:checke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F7BB355-821D-36A2-0BF2-1D26FF81E072}"/>
              </a:ext>
            </a:extLst>
          </p:cNvPr>
          <p:cNvSpPr>
            <a:spLocks noGrp="1" noChangeArrowheads="1"/>
          </p:cNvSpPr>
          <p:nvPr>
            <p:ph type="title"/>
          </p:nvPr>
        </p:nvSpPr>
        <p:spPr bwMode="auto">
          <a:xfrm>
            <a:off x="1676400" y="304800"/>
            <a:ext cx="67818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Reduction</a:t>
            </a:r>
          </a:p>
        </p:txBody>
      </p:sp>
      <p:sp>
        <p:nvSpPr>
          <p:cNvPr id="38915" name="Rectangle 3">
            <a:extLst>
              <a:ext uri="{FF2B5EF4-FFF2-40B4-BE49-F238E27FC236}">
                <a16:creationId xmlns:a16="http://schemas.microsoft.com/office/drawing/2014/main" id="{AEC2EC71-12A8-011F-9EEA-70A297198B94}"/>
              </a:ext>
            </a:extLst>
          </p:cNvPr>
          <p:cNvSpPr>
            <a:spLocks noGrp="1" noChangeArrowheads="1"/>
          </p:cNvSpPr>
          <p:nvPr>
            <p:ph idx="1"/>
          </p:nvPr>
        </p:nvSpPr>
        <p:spPr bwMode="auto">
          <a:xfrm>
            <a:off x="1828800" y="1447800"/>
            <a:ext cx="7086600"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Problem:</a:t>
            </a:r>
            <a:r>
              <a:rPr lang="en-US" altLang="en-US"/>
              <a:t> </a:t>
            </a:r>
          </a:p>
          <a:p>
            <a:pPr eaLnBrk="1" hangingPunct="1">
              <a:buFontTx/>
              <a:buNone/>
            </a:pPr>
            <a:r>
              <a:rPr lang="en-US" altLang="en-US"/>
              <a:t>Big Data may store terabytes of data: Complex data analysis/mining may take a very long time to run on the complete data set</a:t>
            </a:r>
          </a:p>
          <a:p>
            <a:pPr eaLnBrk="1" hangingPunct="1">
              <a:buFontTx/>
              <a:buNone/>
            </a:pPr>
            <a:endParaRPr lang="en-US" altLang="en-US"/>
          </a:p>
          <a:p>
            <a:pPr eaLnBrk="1" hangingPunct="1"/>
            <a:r>
              <a:rPr lang="en-US" altLang="en-US">
                <a:solidFill>
                  <a:srgbClr val="CC3300"/>
                </a:solidFill>
              </a:rPr>
              <a:t>Solution?</a:t>
            </a:r>
          </a:p>
          <a:p>
            <a:pPr lvl="1" eaLnBrk="1" hangingPunct="1"/>
            <a:r>
              <a:rPr lang="en-US" altLang="en-US" sz="2400"/>
              <a:t>Data reduction… </a:t>
            </a:r>
          </a:p>
        </p:txBody>
      </p:sp>
    </p:spTree>
  </p:cSld>
  <p:clrMapOvr>
    <a:masterClrMapping/>
  </p:clrMapOvr>
  <p:transition>
    <p:checke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334661D-DE0D-7232-6127-1AC01B005B33}"/>
              </a:ext>
            </a:extLst>
          </p:cNvPr>
          <p:cNvSpPr>
            <a:spLocks noChangeArrowheads="1"/>
          </p:cNvSpPr>
          <p:nvPr/>
        </p:nvSpPr>
        <p:spPr bwMode="auto">
          <a:xfrm>
            <a:off x="1676400" y="1143000"/>
            <a:ext cx="7010400" cy="518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90000"/>
              </a:lnSpc>
              <a:spcBef>
                <a:spcPct val="50000"/>
              </a:spcBef>
              <a:buFontTx/>
              <a:buChar char="•"/>
            </a:pPr>
            <a:r>
              <a:rPr lang="en-US" altLang="en-US"/>
              <a:t> Obtains a reduced representation of the data set that is much smaller in volume but yet produces the same (or almost the same) analytical results</a:t>
            </a:r>
          </a:p>
          <a:p>
            <a:pPr eaLnBrk="1" hangingPunct="1">
              <a:lnSpc>
                <a:spcPct val="90000"/>
              </a:lnSpc>
              <a:spcBef>
                <a:spcPct val="50000"/>
              </a:spcBef>
              <a:buFontTx/>
              <a:buChar char="•"/>
            </a:pPr>
            <a:r>
              <a:rPr lang="en-US" altLang="en-US" sz="3200">
                <a:solidFill>
                  <a:schemeClr val="accent2"/>
                </a:solidFill>
              </a:rPr>
              <a:t> </a:t>
            </a:r>
            <a:r>
              <a:rPr lang="en-US" altLang="en-US" sz="2800">
                <a:solidFill>
                  <a:schemeClr val="accent2"/>
                </a:solidFill>
              </a:rPr>
              <a:t>Data reduction strategies</a:t>
            </a:r>
          </a:p>
          <a:p>
            <a:pPr lvl="1" eaLnBrk="1" hangingPunct="1">
              <a:lnSpc>
                <a:spcPct val="90000"/>
              </a:lnSpc>
              <a:spcBef>
                <a:spcPct val="50000"/>
              </a:spcBef>
              <a:buFontTx/>
              <a:buChar char="–"/>
            </a:pPr>
            <a:r>
              <a:rPr lang="en-US" altLang="en-US" sz="2800">
                <a:solidFill>
                  <a:schemeClr val="tx2"/>
                </a:solidFill>
              </a:rPr>
              <a:t> Data cube aggregation</a:t>
            </a:r>
          </a:p>
          <a:p>
            <a:pPr lvl="1" eaLnBrk="1" hangingPunct="1">
              <a:lnSpc>
                <a:spcPct val="90000"/>
              </a:lnSpc>
              <a:spcBef>
                <a:spcPct val="50000"/>
              </a:spcBef>
              <a:buFontTx/>
              <a:buChar char="–"/>
            </a:pPr>
            <a:r>
              <a:rPr lang="en-US" altLang="en-US" sz="2800">
                <a:solidFill>
                  <a:schemeClr val="tx2"/>
                </a:solidFill>
              </a:rPr>
              <a:t> Dimensionality reduction</a:t>
            </a:r>
          </a:p>
          <a:p>
            <a:pPr lvl="1" eaLnBrk="1" hangingPunct="1">
              <a:lnSpc>
                <a:spcPct val="90000"/>
              </a:lnSpc>
              <a:spcBef>
                <a:spcPct val="50000"/>
              </a:spcBef>
              <a:buFontTx/>
              <a:buChar char="–"/>
            </a:pPr>
            <a:r>
              <a:rPr lang="en-US" altLang="en-US" sz="2800">
                <a:solidFill>
                  <a:schemeClr val="tx2"/>
                </a:solidFill>
              </a:rPr>
              <a:t> Data compression</a:t>
            </a:r>
          </a:p>
          <a:p>
            <a:pPr lvl="1" eaLnBrk="1" hangingPunct="1">
              <a:lnSpc>
                <a:spcPct val="90000"/>
              </a:lnSpc>
              <a:spcBef>
                <a:spcPct val="50000"/>
              </a:spcBef>
              <a:buFontTx/>
              <a:buChar char="–"/>
            </a:pPr>
            <a:r>
              <a:rPr lang="en-US" altLang="en-US" sz="2800">
                <a:solidFill>
                  <a:schemeClr val="tx2"/>
                </a:solidFill>
              </a:rPr>
              <a:t> Numerosity reduction</a:t>
            </a:r>
          </a:p>
          <a:p>
            <a:pPr lvl="1" eaLnBrk="1" hangingPunct="1">
              <a:lnSpc>
                <a:spcPct val="90000"/>
              </a:lnSpc>
              <a:spcBef>
                <a:spcPct val="50000"/>
              </a:spcBef>
              <a:buFontTx/>
              <a:buChar char="–"/>
            </a:pPr>
            <a:r>
              <a:rPr lang="en-US" altLang="en-US" sz="2800">
                <a:solidFill>
                  <a:schemeClr val="tx2"/>
                </a:solidFill>
              </a:rPr>
              <a:t> Discretization and concept hierarchy generation</a:t>
            </a:r>
          </a:p>
        </p:txBody>
      </p:sp>
      <p:sp>
        <p:nvSpPr>
          <p:cNvPr id="39939" name="Rectangle 3">
            <a:extLst>
              <a:ext uri="{FF2B5EF4-FFF2-40B4-BE49-F238E27FC236}">
                <a16:creationId xmlns:a16="http://schemas.microsoft.com/office/drawing/2014/main" id="{2E87AC7A-86AF-7AB1-1CF3-4A18D4C2EA89}"/>
              </a:ext>
            </a:extLst>
          </p:cNvPr>
          <p:cNvSpPr>
            <a:spLocks noChangeArrowheads="1"/>
          </p:cNvSpPr>
          <p:nvPr/>
        </p:nvSpPr>
        <p:spPr bwMode="auto">
          <a:xfrm>
            <a:off x="2819400" y="304800"/>
            <a:ext cx="33575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4000">
                <a:solidFill>
                  <a:schemeClr val="accent2"/>
                </a:solidFill>
              </a:rPr>
              <a:t>Data Reduction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ED443ED-1043-F1FE-E41A-F7A4F3249D25}"/>
              </a:ext>
            </a:extLst>
          </p:cNvPr>
          <p:cNvSpPr>
            <a:spLocks noGrp="1" noChangeArrowheads="1"/>
          </p:cNvSpPr>
          <p:nvPr>
            <p:ph type="title"/>
          </p:nvPr>
        </p:nvSpPr>
        <p:spPr bwMode="auto">
          <a:xfrm>
            <a:off x="1752600" y="228600"/>
            <a:ext cx="6477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Cube Aggregation</a:t>
            </a:r>
          </a:p>
        </p:txBody>
      </p:sp>
      <p:sp>
        <p:nvSpPr>
          <p:cNvPr id="40963" name="Rectangle 3">
            <a:extLst>
              <a:ext uri="{FF2B5EF4-FFF2-40B4-BE49-F238E27FC236}">
                <a16:creationId xmlns:a16="http://schemas.microsoft.com/office/drawing/2014/main" id="{D703E610-7E41-B91B-26CE-5DF65AB71D42}"/>
              </a:ext>
            </a:extLst>
          </p:cNvPr>
          <p:cNvSpPr>
            <a:spLocks noGrp="1" noChangeArrowheads="1"/>
          </p:cNvSpPr>
          <p:nvPr>
            <p:ph idx="1"/>
          </p:nvPr>
        </p:nvSpPr>
        <p:spPr bwMode="auto">
          <a:xfrm>
            <a:off x="1600200" y="990600"/>
            <a:ext cx="73152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en-US" sz="1800"/>
              <a:t>Multiple levels of aggregation in data cubes</a:t>
            </a:r>
          </a:p>
          <a:p>
            <a:pPr lvl="1" eaLnBrk="1" hangingPunct="1">
              <a:lnSpc>
                <a:spcPct val="120000"/>
              </a:lnSpc>
            </a:pPr>
            <a:r>
              <a:rPr lang="en-US" altLang="en-US"/>
              <a:t>Further reduce the size of data to deal with</a:t>
            </a:r>
          </a:p>
          <a:p>
            <a:pPr eaLnBrk="1" hangingPunct="1">
              <a:lnSpc>
                <a:spcPct val="120000"/>
              </a:lnSpc>
            </a:pPr>
            <a:r>
              <a:rPr lang="en-US" altLang="en-US" sz="1800"/>
              <a:t>Reference appropriate levels</a:t>
            </a:r>
          </a:p>
          <a:p>
            <a:pPr lvl="1" eaLnBrk="1" hangingPunct="1">
              <a:lnSpc>
                <a:spcPct val="120000"/>
              </a:lnSpc>
            </a:pPr>
            <a:r>
              <a:rPr lang="en-US" altLang="en-US"/>
              <a:t>Use the smallest representation capable of solving the task</a:t>
            </a:r>
          </a:p>
          <a:p>
            <a:pPr eaLnBrk="1" hangingPunct="1">
              <a:lnSpc>
                <a:spcPct val="120000"/>
              </a:lnSpc>
            </a:pPr>
            <a:r>
              <a:rPr lang="en-US" altLang="en-US" sz="1800"/>
              <a:t>Queries regarding aggregated information should be answered using data cube, when possible</a:t>
            </a:r>
          </a:p>
        </p:txBody>
      </p:sp>
      <p:pic>
        <p:nvPicPr>
          <p:cNvPr id="40964" name="Picture 5" descr="Data Warehouse | What is Data Cube - javatpoint">
            <a:extLst>
              <a:ext uri="{FF2B5EF4-FFF2-40B4-BE49-F238E27FC236}">
                <a16:creationId xmlns:a16="http://schemas.microsoft.com/office/drawing/2014/main" id="{B793BB33-67B7-6A3B-0EB6-E32860750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505200"/>
            <a:ext cx="5638800"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057A848-3E8F-8724-C5DF-B2E2D7549D7A}"/>
              </a:ext>
            </a:extLst>
          </p:cNvPr>
          <p:cNvSpPr>
            <a:spLocks noGrp="1" noChangeArrowheads="1"/>
          </p:cNvSpPr>
          <p:nvPr>
            <p:ph type="title"/>
          </p:nvPr>
        </p:nvSpPr>
        <p:spPr bwMode="auto">
          <a:xfrm>
            <a:off x="1600200" y="457200"/>
            <a:ext cx="65532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Dimensionality Reduction</a:t>
            </a:r>
          </a:p>
        </p:txBody>
      </p:sp>
      <p:sp>
        <p:nvSpPr>
          <p:cNvPr id="41987" name="Rectangle 3">
            <a:extLst>
              <a:ext uri="{FF2B5EF4-FFF2-40B4-BE49-F238E27FC236}">
                <a16:creationId xmlns:a16="http://schemas.microsoft.com/office/drawing/2014/main" id="{02D73193-1B64-DD4C-950A-FEAD1EAF86F2}"/>
              </a:ext>
            </a:extLst>
          </p:cNvPr>
          <p:cNvSpPr>
            <a:spLocks noGrp="1" noChangeArrowheads="1"/>
          </p:cNvSpPr>
          <p:nvPr>
            <p:ph idx="1"/>
          </p:nvPr>
        </p:nvSpPr>
        <p:spPr bwMode="auto">
          <a:xfrm>
            <a:off x="1676400" y="1447800"/>
            <a:ext cx="7467600" cy="5010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000">
                <a:solidFill>
                  <a:srgbClr val="CC3300"/>
                </a:solidFill>
              </a:rPr>
              <a:t>Problem:</a:t>
            </a:r>
            <a:r>
              <a:rPr lang="en-US" altLang="en-US" sz="2000"/>
              <a:t> Feature selection (i.e., </a:t>
            </a:r>
            <a:r>
              <a:rPr lang="en-US" altLang="en-US" sz="2000">
                <a:solidFill>
                  <a:schemeClr val="accent2"/>
                </a:solidFill>
              </a:rPr>
              <a:t>attribute subset selection</a:t>
            </a:r>
            <a:r>
              <a:rPr lang="en-US" altLang="en-US" sz="2000"/>
              <a:t>):</a:t>
            </a:r>
          </a:p>
          <a:p>
            <a:pPr lvl="1" eaLnBrk="1" hangingPunct="1"/>
            <a:r>
              <a:rPr lang="en-US" altLang="en-US" sz="2000"/>
              <a:t>Select a </a:t>
            </a:r>
            <a:r>
              <a:rPr lang="en-US" altLang="en-US" sz="2000">
                <a:solidFill>
                  <a:schemeClr val="accent2"/>
                </a:solidFill>
              </a:rPr>
              <a:t>minimum set of features</a:t>
            </a:r>
            <a:r>
              <a:rPr lang="en-US" altLang="en-US" sz="2000"/>
              <a:t> </a:t>
            </a:r>
            <a:r>
              <a:rPr lang="en-US" altLang="en-US" sz="2000">
                <a:sym typeface="Symbol" panose="05050102010706020507" pitchFamily="18" charset="2"/>
              </a:rPr>
              <a:t>such that the probability distribution of different classes given the values for those features is as close as possible to the original distribution given the values of all features</a:t>
            </a:r>
          </a:p>
          <a:p>
            <a:pPr lvl="1" eaLnBrk="1" hangingPunct="1"/>
            <a:r>
              <a:rPr lang="en-US" altLang="en-US" sz="2000">
                <a:solidFill>
                  <a:schemeClr val="accent2"/>
                </a:solidFill>
                <a:sym typeface="Symbol" panose="05050102010706020507" pitchFamily="18" charset="2"/>
              </a:rPr>
              <a:t>Nice side-effect</a:t>
            </a:r>
            <a:r>
              <a:rPr lang="en-US" altLang="en-US" sz="2000">
                <a:sym typeface="Symbol" panose="05050102010706020507" pitchFamily="18" charset="2"/>
              </a:rPr>
              <a:t>: reduces # of attributes in the discovered patterns (which are now easier to understand)</a:t>
            </a:r>
          </a:p>
          <a:p>
            <a:pPr eaLnBrk="1" hangingPunct="1"/>
            <a:r>
              <a:rPr lang="en-US" altLang="en-US" sz="2000">
                <a:solidFill>
                  <a:srgbClr val="CC3300"/>
                </a:solidFill>
                <a:sym typeface="Symbol" panose="05050102010706020507" pitchFamily="18" charset="2"/>
              </a:rPr>
              <a:t>Solution:</a:t>
            </a:r>
            <a:r>
              <a:rPr lang="en-US" altLang="en-US" sz="2000">
                <a:sym typeface="Symbol" panose="05050102010706020507" pitchFamily="18" charset="2"/>
              </a:rPr>
              <a:t> Heuristic methods (due to exponential # of choices) usually greedy:</a:t>
            </a:r>
          </a:p>
          <a:p>
            <a:pPr lvl="1" eaLnBrk="1" hangingPunct="1"/>
            <a:r>
              <a:rPr lang="en-US" altLang="en-US" sz="2000">
                <a:sym typeface="Symbol" panose="05050102010706020507" pitchFamily="18" charset="2"/>
              </a:rPr>
              <a:t>step-wise forward selection</a:t>
            </a:r>
          </a:p>
          <a:p>
            <a:pPr lvl="1" eaLnBrk="1" hangingPunct="1"/>
            <a:r>
              <a:rPr lang="en-US" altLang="en-US" sz="2000">
                <a:sym typeface="Symbol" panose="05050102010706020507" pitchFamily="18" charset="2"/>
              </a:rPr>
              <a:t>step-wise backward elimination</a:t>
            </a:r>
          </a:p>
          <a:p>
            <a:pPr lvl="1" eaLnBrk="1" hangingPunct="1"/>
            <a:r>
              <a:rPr lang="en-US" altLang="en-US" sz="2000">
                <a:sym typeface="Symbol" panose="05050102010706020507" pitchFamily="18" charset="2"/>
              </a:rPr>
              <a:t>combining forward selection and backward </a:t>
            </a:r>
            <a:r>
              <a:rPr lang="en-US" altLang="en-US" sz="2000">
                <a:sym typeface="Symbol" panose="05050102010706020507" pitchFamily="18" charset="2"/>
              </a:rPr>
              <a:t>elimination</a:t>
            </a:r>
          </a:p>
          <a:p>
            <a:pPr lvl="1" eaLnBrk="1" hangingPunct="1"/>
            <a:r>
              <a:rPr lang="en-US" altLang="en-US" sz="2400">
                <a:solidFill>
                  <a:srgbClr val="FF0000"/>
                </a:solidFill>
                <a:sym typeface="Symbol" panose="05050102010706020507" pitchFamily="18" charset="2"/>
              </a:rPr>
              <a:t>decision-tree induction</a:t>
            </a:r>
          </a:p>
        </p:txBody>
      </p:sp>
    </p:spTree>
  </p:cSld>
  <p:clrMapOvr>
    <a:masterClrMapping/>
  </p:clrMapOvr>
  <p:transition>
    <p:checke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46F1C04-298B-352F-E3B9-A5ABED2E8BAF}"/>
              </a:ext>
            </a:extLst>
          </p:cNvPr>
          <p:cNvSpPr>
            <a:spLocks noGrp="1" noChangeArrowheads="1"/>
          </p:cNvSpPr>
          <p:nvPr>
            <p:ph type="title"/>
          </p:nvPr>
        </p:nvSpPr>
        <p:spPr bwMode="auto">
          <a:xfrm>
            <a:off x="1600200" y="381000"/>
            <a:ext cx="4800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Data Compression</a:t>
            </a:r>
          </a:p>
        </p:txBody>
      </p:sp>
      <p:sp>
        <p:nvSpPr>
          <p:cNvPr id="43011" name="Rectangle 3">
            <a:extLst>
              <a:ext uri="{FF2B5EF4-FFF2-40B4-BE49-F238E27FC236}">
                <a16:creationId xmlns:a16="http://schemas.microsoft.com/office/drawing/2014/main" id="{59B57BE6-7EA4-0375-5530-C5FA367D0086}"/>
              </a:ext>
            </a:extLst>
          </p:cNvPr>
          <p:cNvSpPr>
            <a:spLocks noGrp="1" noChangeArrowheads="1"/>
          </p:cNvSpPr>
          <p:nvPr>
            <p:ph idx="1"/>
          </p:nvPr>
        </p:nvSpPr>
        <p:spPr bwMode="auto">
          <a:xfrm>
            <a:off x="1600200" y="1371600"/>
            <a:ext cx="7239000" cy="5162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String compression</a:t>
            </a:r>
          </a:p>
          <a:p>
            <a:pPr lvl="1" eaLnBrk="1" hangingPunct="1"/>
            <a:r>
              <a:rPr lang="en-US" altLang="en-US" sz="2000"/>
              <a:t>There are extensive theories and well-tuned algorithms</a:t>
            </a:r>
          </a:p>
          <a:p>
            <a:pPr lvl="1" eaLnBrk="1" hangingPunct="1"/>
            <a:r>
              <a:rPr lang="en-US" altLang="en-US" sz="2000"/>
              <a:t>Typically lossless</a:t>
            </a:r>
          </a:p>
          <a:p>
            <a:pPr lvl="1" eaLnBrk="1" hangingPunct="1"/>
            <a:r>
              <a:rPr lang="en-US" altLang="en-US" sz="2000"/>
              <a:t>But only limited manipulation is possible without expansion</a:t>
            </a:r>
            <a:endParaRPr lang="en-US" altLang="en-US" sz="2000">
              <a:sym typeface="Symbol" panose="05050102010706020507" pitchFamily="18" charset="2"/>
            </a:endParaRPr>
          </a:p>
          <a:p>
            <a:pPr eaLnBrk="1" hangingPunct="1"/>
            <a:r>
              <a:rPr lang="en-US" altLang="en-US">
                <a:sym typeface="Symbol" panose="05050102010706020507" pitchFamily="18" charset="2"/>
              </a:rPr>
              <a:t>Audio/video, image compression</a:t>
            </a:r>
          </a:p>
          <a:p>
            <a:pPr lvl="1" eaLnBrk="1" hangingPunct="1"/>
            <a:r>
              <a:rPr lang="en-US" altLang="en-US" sz="2000">
                <a:sym typeface="Symbol" panose="05050102010706020507" pitchFamily="18" charset="2"/>
              </a:rPr>
              <a:t>Typically lossy compression, with progressive refinement</a:t>
            </a:r>
          </a:p>
          <a:p>
            <a:pPr lvl="1" eaLnBrk="1" hangingPunct="1"/>
            <a:r>
              <a:rPr lang="en-US" altLang="en-US" sz="2000">
                <a:sym typeface="Symbol" panose="05050102010706020507" pitchFamily="18" charset="2"/>
              </a:rPr>
              <a:t>Sometimes small fragments of signal can be reconstructed without reconstructing the whole</a:t>
            </a:r>
          </a:p>
          <a:p>
            <a:pPr eaLnBrk="1" hangingPunct="1"/>
            <a:r>
              <a:rPr lang="en-US" altLang="en-US">
                <a:sym typeface="Symbol" panose="05050102010706020507" pitchFamily="18" charset="2"/>
              </a:rPr>
              <a:t>Time sequence is not audio</a:t>
            </a:r>
          </a:p>
          <a:p>
            <a:pPr lvl="1" eaLnBrk="1" hangingPunct="1"/>
            <a:r>
              <a:rPr lang="en-US" altLang="en-US" sz="2000">
                <a:sym typeface="Symbol" panose="05050102010706020507" pitchFamily="18" charset="2"/>
              </a:rPr>
              <a:t>Typically short and vary slowly with time</a:t>
            </a:r>
          </a:p>
        </p:txBody>
      </p:sp>
    </p:spTree>
  </p:cSld>
  <p:clrMapOvr>
    <a:masterClrMapping/>
  </p:clrMapOvr>
  <p:transition>
    <p:checke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1">
            <a:extLst>
              <a:ext uri="{FF2B5EF4-FFF2-40B4-BE49-F238E27FC236}">
                <a16:creationId xmlns:a16="http://schemas.microsoft.com/office/drawing/2014/main" id="{524CAAD0-7324-47E8-D633-2C996EED58BF}"/>
              </a:ext>
            </a:extLst>
          </p:cNvPr>
          <p:cNvSpPr txBox="1">
            <a:spLocks noChangeArrowheads="1"/>
          </p:cNvSpPr>
          <p:nvPr/>
        </p:nvSpPr>
        <p:spPr bwMode="auto">
          <a:xfrm>
            <a:off x="1447800" y="152400"/>
            <a:ext cx="670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chemeClr val="accent2"/>
                </a:solidFill>
              </a:rPr>
              <a:t>Principal Component Analysis</a:t>
            </a:r>
            <a:endParaRPr lang="en-US" altLang="en-US">
              <a:solidFill>
                <a:schemeClr val="accent2"/>
              </a:solidFill>
            </a:endParaRPr>
          </a:p>
        </p:txBody>
      </p:sp>
      <p:sp>
        <p:nvSpPr>
          <p:cNvPr id="44035" name="Text Box 12">
            <a:extLst>
              <a:ext uri="{FF2B5EF4-FFF2-40B4-BE49-F238E27FC236}">
                <a16:creationId xmlns:a16="http://schemas.microsoft.com/office/drawing/2014/main" id="{EA1AB8C7-D912-2D1B-A40E-455726B72ADF}"/>
              </a:ext>
            </a:extLst>
          </p:cNvPr>
          <p:cNvSpPr txBox="1">
            <a:spLocks noChangeArrowheads="1"/>
          </p:cNvSpPr>
          <p:nvPr/>
        </p:nvSpPr>
        <p:spPr bwMode="auto">
          <a:xfrm>
            <a:off x="1676400" y="838200"/>
            <a:ext cx="74676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PCA </a:t>
            </a:r>
          </a:p>
          <a:p>
            <a:pPr eaLnBrk="1" hangingPunct="1">
              <a:buFontTx/>
              <a:buChar char="•"/>
            </a:pPr>
            <a:r>
              <a:rPr lang="en-US" altLang="en-US" sz="2000"/>
              <a:t>The principal components (new set of axes) give important information about variance.</a:t>
            </a:r>
          </a:p>
          <a:p>
            <a:pPr eaLnBrk="1" hangingPunct="1">
              <a:buFontTx/>
              <a:buChar char="•"/>
            </a:pPr>
            <a:r>
              <a:rPr lang="en-US" altLang="en-US" sz="2000"/>
              <a:t> Using the strongest components one can reconstruct a good approximation of the original signal.</a:t>
            </a:r>
          </a:p>
        </p:txBody>
      </p:sp>
      <p:pic>
        <p:nvPicPr>
          <p:cNvPr id="44036" name="Picture 14" descr="Illustration of principal component analysis. A. As a minimal example,... |  Download Scientific Diagram">
            <a:extLst>
              <a:ext uri="{FF2B5EF4-FFF2-40B4-BE49-F238E27FC236}">
                <a16:creationId xmlns:a16="http://schemas.microsoft.com/office/drawing/2014/main" id="{29BFB2E2-8475-AC4E-DFDC-798AF2155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200400"/>
            <a:ext cx="70548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B9EA233-E191-F944-9406-9BFF525710A7}"/>
              </a:ext>
            </a:extLst>
          </p:cNvPr>
          <p:cNvSpPr>
            <a:spLocks noGrp="1" noChangeArrowheads="1"/>
          </p:cNvSpPr>
          <p:nvPr>
            <p:ph type="title"/>
          </p:nvPr>
        </p:nvSpPr>
        <p:spPr bwMode="auto">
          <a:xfrm>
            <a:off x="1600200" y="381000"/>
            <a:ext cx="5334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Numerosity Reduction</a:t>
            </a:r>
          </a:p>
        </p:txBody>
      </p:sp>
      <p:sp>
        <p:nvSpPr>
          <p:cNvPr id="45059" name="Rectangle 3">
            <a:extLst>
              <a:ext uri="{FF2B5EF4-FFF2-40B4-BE49-F238E27FC236}">
                <a16:creationId xmlns:a16="http://schemas.microsoft.com/office/drawing/2014/main" id="{35BA8A2A-073A-50BF-8C56-352898003BF5}"/>
              </a:ext>
            </a:extLst>
          </p:cNvPr>
          <p:cNvSpPr>
            <a:spLocks noGrp="1" noChangeArrowheads="1"/>
          </p:cNvSpPr>
          <p:nvPr>
            <p:ph idx="1"/>
          </p:nvPr>
        </p:nvSpPr>
        <p:spPr bwMode="auto">
          <a:xfrm>
            <a:off x="1752600" y="1295400"/>
            <a:ext cx="7239000" cy="4629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en-GB" altLang="en-US" sz="2000"/>
              <a:t>Reduce data volume by choosing alternative, smaller forms of data representation</a:t>
            </a:r>
            <a:endParaRPr lang="en-US" altLang="en-US" sz="2000">
              <a:solidFill>
                <a:srgbClr val="CC3300"/>
              </a:solidFill>
            </a:endParaRPr>
          </a:p>
          <a:p>
            <a:pPr eaLnBrk="1" hangingPunct="1">
              <a:lnSpc>
                <a:spcPct val="110000"/>
              </a:lnSpc>
            </a:pPr>
            <a:r>
              <a:rPr lang="en-US" altLang="en-US" sz="2000">
                <a:solidFill>
                  <a:srgbClr val="CC3300"/>
                </a:solidFill>
              </a:rPr>
              <a:t>Parametric methods</a:t>
            </a:r>
          </a:p>
          <a:p>
            <a:pPr lvl="1" eaLnBrk="1" hangingPunct="1">
              <a:lnSpc>
                <a:spcPct val="110000"/>
              </a:lnSpc>
            </a:pPr>
            <a:r>
              <a:rPr lang="en-US" altLang="en-US" sz="2000"/>
              <a:t>Assume the data fits some model, estimate model parameters, store only the parameters, and discard the data (except possible outliers)</a:t>
            </a:r>
            <a:endParaRPr lang="en-US" altLang="en-US" sz="2000">
              <a:sym typeface="Symbol" panose="05050102010706020507" pitchFamily="18" charset="2"/>
            </a:endParaRPr>
          </a:p>
          <a:p>
            <a:pPr eaLnBrk="1" hangingPunct="1">
              <a:lnSpc>
                <a:spcPct val="110000"/>
              </a:lnSpc>
            </a:pPr>
            <a:r>
              <a:rPr lang="en-US" altLang="en-US" sz="2000">
                <a:solidFill>
                  <a:srgbClr val="CC3300"/>
                </a:solidFill>
              </a:rPr>
              <a:t>Non-parametric methods</a:t>
            </a:r>
            <a:r>
              <a:rPr lang="en-US" altLang="en-US" sz="2000">
                <a:sym typeface="Symbol" panose="05050102010706020507" pitchFamily="18" charset="2"/>
              </a:rPr>
              <a:t> </a:t>
            </a:r>
          </a:p>
          <a:p>
            <a:pPr lvl="1" eaLnBrk="1" hangingPunct="1">
              <a:lnSpc>
                <a:spcPct val="110000"/>
              </a:lnSpc>
            </a:pPr>
            <a:r>
              <a:rPr lang="en-US" altLang="en-US" sz="2000">
                <a:sym typeface="Symbol" panose="05050102010706020507" pitchFamily="18" charset="2"/>
              </a:rPr>
              <a:t>Do not assume models</a:t>
            </a:r>
          </a:p>
          <a:p>
            <a:pPr lvl="1" eaLnBrk="1" hangingPunct="1">
              <a:lnSpc>
                <a:spcPct val="110000"/>
              </a:lnSpc>
            </a:pPr>
            <a:r>
              <a:rPr lang="en-US" altLang="en-US" sz="2000">
                <a:sym typeface="Symbol" panose="05050102010706020507" pitchFamily="18" charset="2"/>
              </a:rPr>
              <a:t>Major families: histograms, clustering, sampling </a:t>
            </a:r>
          </a:p>
        </p:txBody>
      </p:sp>
    </p:spTree>
  </p:cSld>
  <p:clrMapOvr>
    <a:masterClrMapping/>
  </p:clrMapOvr>
  <p:transition>
    <p:checke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009B7E8-89F4-E144-3B9F-E01E082C3E14}"/>
              </a:ext>
            </a:extLst>
          </p:cNvPr>
          <p:cNvSpPr>
            <a:spLocks noGrp="1" noChangeArrowheads="1"/>
          </p:cNvSpPr>
          <p:nvPr>
            <p:ph type="title"/>
          </p:nvPr>
        </p:nvSpPr>
        <p:spPr bwMode="auto">
          <a:xfrm>
            <a:off x="1600200" y="228600"/>
            <a:ext cx="6629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Sampling</a:t>
            </a:r>
          </a:p>
        </p:txBody>
      </p:sp>
      <p:sp>
        <p:nvSpPr>
          <p:cNvPr id="46083" name="Rectangle 3">
            <a:extLst>
              <a:ext uri="{FF2B5EF4-FFF2-40B4-BE49-F238E27FC236}">
                <a16:creationId xmlns:a16="http://schemas.microsoft.com/office/drawing/2014/main" id="{5DC2B20E-506D-0761-30B5-8D75D7D19635}"/>
              </a:ext>
            </a:extLst>
          </p:cNvPr>
          <p:cNvSpPr>
            <a:spLocks noGrp="1" noChangeArrowheads="1"/>
          </p:cNvSpPr>
          <p:nvPr>
            <p:ph idx="1"/>
          </p:nvPr>
        </p:nvSpPr>
        <p:spPr bwMode="auto">
          <a:xfrm>
            <a:off x="1676400" y="1066800"/>
            <a:ext cx="71628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1800"/>
              <a:t>Allow a mining algorithm to run in complexity that is potentially sub-linear to the size of the data</a:t>
            </a:r>
          </a:p>
          <a:p>
            <a:pPr eaLnBrk="1" hangingPunct="1"/>
            <a:r>
              <a:rPr lang="en-US" altLang="en-US" sz="1800"/>
              <a:t>Cost of sampling: proportional to the size of the sample, increases linearly with the number of dimensions</a:t>
            </a:r>
          </a:p>
          <a:p>
            <a:pPr eaLnBrk="1" hangingPunct="1"/>
            <a:r>
              <a:rPr lang="en-US" altLang="en-US" sz="1800"/>
              <a:t>Choose a </a:t>
            </a:r>
            <a:r>
              <a:rPr lang="en-US" altLang="en-US" sz="1800">
                <a:solidFill>
                  <a:schemeClr val="accent2"/>
                </a:solidFill>
              </a:rPr>
              <a:t>representative</a:t>
            </a:r>
            <a:r>
              <a:rPr lang="en-US" altLang="en-US" sz="1800"/>
              <a:t> subset of the data</a:t>
            </a:r>
          </a:p>
          <a:p>
            <a:pPr lvl="1" eaLnBrk="1" hangingPunct="1"/>
            <a:r>
              <a:rPr lang="en-US" altLang="en-US" sz="1800"/>
              <a:t>Simple random sampling may have very poor performance in the presence of skew</a:t>
            </a:r>
          </a:p>
          <a:p>
            <a:pPr eaLnBrk="1" hangingPunct="1"/>
            <a:r>
              <a:rPr lang="en-US" altLang="en-US" sz="1800"/>
              <a:t>Develop adaptive sampling methods</a:t>
            </a:r>
          </a:p>
          <a:p>
            <a:pPr lvl="1" eaLnBrk="1" hangingPunct="1"/>
            <a:r>
              <a:rPr lang="en-US" altLang="en-US" sz="1800"/>
              <a:t>Stratified sampling: </a:t>
            </a:r>
          </a:p>
          <a:p>
            <a:pPr lvl="2" eaLnBrk="1" hangingPunct="1"/>
            <a:r>
              <a:rPr lang="en-US" altLang="en-US" sz="1800"/>
              <a:t>Approximate the percentage of each class (or subpopulation of interest) in the overall database </a:t>
            </a:r>
          </a:p>
          <a:p>
            <a:pPr lvl="2" eaLnBrk="1" hangingPunct="1"/>
            <a:r>
              <a:rPr lang="en-US" altLang="en-US" sz="1800"/>
              <a:t>Used in conjunction with skewed data</a:t>
            </a:r>
          </a:p>
          <a:p>
            <a:pPr eaLnBrk="1" hangingPunct="1"/>
            <a:r>
              <a:rPr lang="en-US" altLang="en-US" sz="1800"/>
              <a:t>Sampling may not reduce database I/Os (page at a time).</a:t>
            </a:r>
          </a:p>
          <a:p>
            <a:pPr eaLnBrk="1" hangingPunct="1"/>
            <a:r>
              <a:rPr lang="en-US" altLang="en-US" sz="1800"/>
              <a:t>Sampling: natural choice for progressive refinement of a reduced data set.</a:t>
            </a:r>
          </a:p>
        </p:txBody>
      </p:sp>
    </p:spTree>
  </p:cSld>
  <p:clrMapOvr>
    <a:masterClrMapping/>
  </p:clrMapOvr>
  <p:transition>
    <p:checke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5573BE6-DDD3-D2A7-33D4-D8FC2ADDE296}"/>
              </a:ext>
            </a:extLst>
          </p:cNvPr>
          <p:cNvSpPr>
            <a:spLocks noGrp="1" noChangeArrowheads="1"/>
          </p:cNvSpPr>
          <p:nvPr>
            <p:ph type="title"/>
          </p:nvPr>
        </p:nvSpPr>
        <p:spPr bwMode="auto">
          <a:xfrm>
            <a:off x="1828800" y="533400"/>
            <a:ext cx="6858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4800">
                <a:solidFill>
                  <a:schemeClr val="accent2"/>
                </a:solidFill>
              </a:rPr>
              <a:t>Sampling</a:t>
            </a:r>
          </a:p>
        </p:txBody>
      </p:sp>
      <p:grpSp>
        <p:nvGrpSpPr>
          <p:cNvPr id="47107" name="Group 3">
            <a:extLst>
              <a:ext uri="{FF2B5EF4-FFF2-40B4-BE49-F238E27FC236}">
                <a16:creationId xmlns:a16="http://schemas.microsoft.com/office/drawing/2014/main" id="{FF72C216-E6EA-B84C-7AA3-4BF1FF9D4B2B}"/>
              </a:ext>
            </a:extLst>
          </p:cNvPr>
          <p:cNvGrpSpPr>
            <a:grpSpLocks/>
          </p:cNvGrpSpPr>
          <p:nvPr/>
        </p:nvGrpSpPr>
        <p:grpSpPr bwMode="auto">
          <a:xfrm>
            <a:off x="1641475" y="2678113"/>
            <a:ext cx="2886075" cy="2741612"/>
            <a:chOff x="274" y="1418"/>
            <a:chExt cx="2363" cy="2109"/>
          </a:xfrm>
        </p:grpSpPr>
        <p:sp>
          <p:nvSpPr>
            <p:cNvPr id="47129" name="Rectangle 4">
              <a:extLst>
                <a:ext uri="{FF2B5EF4-FFF2-40B4-BE49-F238E27FC236}">
                  <a16:creationId xmlns:a16="http://schemas.microsoft.com/office/drawing/2014/main" id="{32B6952F-0C9F-D30E-F8C6-68140F2A8FDA}"/>
                </a:ext>
              </a:extLst>
            </p:cNvPr>
            <p:cNvSpPr>
              <a:spLocks noChangeArrowheads="1"/>
            </p:cNvSpPr>
            <p:nvPr/>
          </p:nvSpPr>
          <p:spPr bwMode="auto">
            <a:xfrm>
              <a:off x="274" y="1418"/>
              <a:ext cx="2363" cy="21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0" name="AutoShape 5">
              <a:extLst>
                <a:ext uri="{FF2B5EF4-FFF2-40B4-BE49-F238E27FC236}">
                  <a16:creationId xmlns:a16="http://schemas.microsoft.com/office/drawing/2014/main" id="{6716ECC9-1189-D7D5-2E12-FFD35099C363}"/>
                </a:ext>
              </a:extLst>
            </p:cNvPr>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1" name="AutoShape 6">
              <a:extLst>
                <a:ext uri="{FF2B5EF4-FFF2-40B4-BE49-F238E27FC236}">
                  <a16:creationId xmlns:a16="http://schemas.microsoft.com/office/drawing/2014/main" id="{5FA3B568-D534-1F70-E988-A1698BD1FB06}"/>
                </a:ext>
              </a:extLst>
            </p:cNvPr>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2" name="AutoShape 7">
              <a:extLst>
                <a:ext uri="{FF2B5EF4-FFF2-40B4-BE49-F238E27FC236}">
                  <a16:creationId xmlns:a16="http://schemas.microsoft.com/office/drawing/2014/main" id="{D5D970D5-1351-84B2-DFCA-6D1AE0AF524E}"/>
                </a:ext>
              </a:extLst>
            </p:cNvPr>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3" name="AutoShape 8">
              <a:extLst>
                <a:ext uri="{FF2B5EF4-FFF2-40B4-BE49-F238E27FC236}">
                  <a16:creationId xmlns:a16="http://schemas.microsoft.com/office/drawing/2014/main" id="{4BA0644B-9941-4D68-6B1D-874D0248DCEA}"/>
                </a:ext>
              </a:extLst>
            </p:cNvPr>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4" name="AutoShape 9">
              <a:extLst>
                <a:ext uri="{FF2B5EF4-FFF2-40B4-BE49-F238E27FC236}">
                  <a16:creationId xmlns:a16="http://schemas.microsoft.com/office/drawing/2014/main" id="{DB862633-F2F2-6467-04F1-D94C65F7EEB8}"/>
                </a:ext>
              </a:extLst>
            </p:cNvPr>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5" name="AutoShape 10">
              <a:extLst>
                <a:ext uri="{FF2B5EF4-FFF2-40B4-BE49-F238E27FC236}">
                  <a16:creationId xmlns:a16="http://schemas.microsoft.com/office/drawing/2014/main" id="{95EAD694-B332-DD18-D88D-A608767E57F8}"/>
                </a:ext>
              </a:extLst>
            </p:cNvPr>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6" name="AutoShape 11">
              <a:extLst>
                <a:ext uri="{FF2B5EF4-FFF2-40B4-BE49-F238E27FC236}">
                  <a16:creationId xmlns:a16="http://schemas.microsoft.com/office/drawing/2014/main" id="{9699F6F4-93CE-D400-2920-6BB8274F602B}"/>
                </a:ext>
              </a:extLst>
            </p:cNvPr>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7" name="AutoShape 12">
              <a:extLst>
                <a:ext uri="{FF2B5EF4-FFF2-40B4-BE49-F238E27FC236}">
                  <a16:creationId xmlns:a16="http://schemas.microsoft.com/office/drawing/2014/main" id="{85274E2A-A415-B0EA-A1EE-D631D9285139}"/>
                </a:ext>
              </a:extLst>
            </p:cNvPr>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38" name="Freeform 13">
              <a:extLst>
                <a:ext uri="{FF2B5EF4-FFF2-40B4-BE49-F238E27FC236}">
                  <a16:creationId xmlns:a16="http://schemas.microsoft.com/office/drawing/2014/main" id="{FB561736-2F51-D881-C9F8-2B211E8AA95D}"/>
                </a:ext>
              </a:extLst>
            </p:cNvPr>
            <p:cNvSpPr>
              <a:spLocks/>
            </p:cNvSpPr>
            <p:nvPr/>
          </p:nvSpPr>
          <p:spPr bwMode="auto">
            <a:xfrm>
              <a:off x="1376" y="1763"/>
              <a:ext cx="686" cy="877"/>
            </a:xfrm>
            <a:custGeom>
              <a:avLst/>
              <a:gdLst>
                <a:gd name="T0" fmla="*/ 1 w 1101"/>
                <a:gd name="T1" fmla="*/ 9 h 1077"/>
                <a:gd name="T2" fmla="*/ 1 w 1101"/>
                <a:gd name="T3" fmla="*/ 15 h 1077"/>
                <a:gd name="T4" fmla="*/ 1 w 1101"/>
                <a:gd name="T5" fmla="*/ 29 h 1077"/>
                <a:gd name="T6" fmla="*/ 1 w 1101"/>
                <a:gd name="T7" fmla="*/ 32 h 1077"/>
                <a:gd name="T8" fmla="*/ 1 w 1101"/>
                <a:gd name="T9" fmla="*/ 33 h 1077"/>
                <a:gd name="T10" fmla="*/ 1 w 1101"/>
                <a:gd name="T11" fmla="*/ 32 h 1077"/>
                <a:gd name="T12" fmla="*/ 1 w 1101"/>
                <a:gd name="T13" fmla="*/ 30 h 1077"/>
                <a:gd name="T14" fmla="*/ 1 w 1101"/>
                <a:gd name="T15" fmla="*/ 30 h 1077"/>
                <a:gd name="T16" fmla="*/ 1 w 1101"/>
                <a:gd name="T17" fmla="*/ 27 h 1077"/>
                <a:gd name="T18" fmla="*/ 1 w 1101"/>
                <a:gd name="T19" fmla="*/ 24 h 1077"/>
                <a:gd name="T20" fmla="*/ 1 w 1101"/>
                <a:gd name="T21" fmla="*/ 21 h 1077"/>
                <a:gd name="T22" fmla="*/ 1 w 1101"/>
                <a:gd name="T23" fmla="*/ 13 h 1077"/>
                <a:gd name="T24" fmla="*/ 1 w 1101"/>
                <a:gd name="T25" fmla="*/ 4 h 1077"/>
                <a:gd name="T26" fmla="*/ 1 w 1101"/>
                <a:gd name="T27" fmla="*/ 2 h 1077"/>
                <a:gd name="T28" fmla="*/ 1 w 1101"/>
                <a:gd name="T29" fmla="*/ 2 h 1077"/>
                <a:gd name="T30" fmla="*/ 1 w 1101"/>
                <a:gd name="T31" fmla="*/ 2 h 1077"/>
                <a:gd name="T32" fmla="*/ 1 w 1101"/>
                <a:gd name="T33" fmla="*/ 3 h 1077"/>
                <a:gd name="T34" fmla="*/ 1 w 1101"/>
                <a:gd name="T35" fmla="*/ 6 h 1077"/>
                <a:gd name="T36" fmla="*/ 1 w 1101"/>
                <a:gd name="T37" fmla="*/ 6 h 1077"/>
                <a:gd name="T38" fmla="*/ 1 w 1101"/>
                <a:gd name="T39" fmla="*/ 9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139" name="AutoShape 14">
              <a:extLst>
                <a:ext uri="{FF2B5EF4-FFF2-40B4-BE49-F238E27FC236}">
                  <a16:creationId xmlns:a16="http://schemas.microsoft.com/office/drawing/2014/main" id="{AFE63548-B5B1-479B-D811-18128DAF87E2}"/>
                </a:ext>
              </a:extLst>
            </p:cNvPr>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0" name="AutoShape 15">
              <a:extLst>
                <a:ext uri="{FF2B5EF4-FFF2-40B4-BE49-F238E27FC236}">
                  <a16:creationId xmlns:a16="http://schemas.microsoft.com/office/drawing/2014/main" id="{67D03ECC-D986-7CE5-23C3-E3F40640CBE7}"/>
                </a:ext>
              </a:extLst>
            </p:cNvPr>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1" name="AutoShape 16">
              <a:extLst>
                <a:ext uri="{FF2B5EF4-FFF2-40B4-BE49-F238E27FC236}">
                  <a16:creationId xmlns:a16="http://schemas.microsoft.com/office/drawing/2014/main" id="{7780AA4A-8844-FF9E-093A-26094D151E1C}"/>
                </a:ext>
              </a:extLst>
            </p:cNvPr>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2" name="AutoShape 17">
              <a:extLst>
                <a:ext uri="{FF2B5EF4-FFF2-40B4-BE49-F238E27FC236}">
                  <a16:creationId xmlns:a16="http://schemas.microsoft.com/office/drawing/2014/main" id="{A1960E92-861C-6F00-39AF-8A8BD55B9175}"/>
                </a:ext>
              </a:extLst>
            </p:cNvPr>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3" name="AutoShape 18">
              <a:extLst>
                <a:ext uri="{FF2B5EF4-FFF2-40B4-BE49-F238E27FC236}">
                  <a16:creationId xmlns:a16="http://schemas.microsoft.com/office/drawing/2014/main" id="{CF3E3278-8F2F-AE8E-CD00-41B7F20F31E0}"/>
                </a:ext>
              </a:extLst>
            </p:cNvPr>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4" name="AutoShape 19">
              <a:extLst>
                <a:ext uri="{FF2B5EF4-FFF2-40B4-BE49-F238E27FC236}">
                  <a16:creationId xmlns:a16="http://schemas.microsoft.com/office/drawing/2014/main" id="{E23368F2-4032-1EB5-4CC3-1390276C3F38}"/>
                </a:ext>
              </a:extLst>
            </p:cNvPr>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5" name="AutoShape 20">
              <a:extLst>
                <a:ext uri="{FF2B5EF4-FFF2-40B4-BE49-F238E27FC236}">
                  <a16:creationId xmlns:a16="http://schemas.microsoft.com/office/drawing/2014/main" id="{3372332B-DB25-C3E4-B93B-768472B9711F}"/>
                </a:ext>
              </a:extLst>
            </p:cNvPr>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6" name="AutoShape 21">
              <a:extLst>
                <a:ext uri="{FF2B5EF4-FFF2-40B4-BE49-F238E27FC236}">
                  <a16:creationId xmlns:a16="http://schemas.microsoft.com/office/drawing/2014/main" id="{A5B8ACEC-8C38-798C-A87F-EEB9A6295C22}"/>
                </a:ext>
              </a:extLst>
            </p:cNvPr>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7" name="AutoShape 22">
              <a:extLst>
                <a:ext uri="{FF2B5EF4-FFF2-40B4-BE49-F238E27FC236}">
                  <a16:creationId xmlns:a16="http://schemas.microsoft.com/office/drawing/2014/main" id="{CCFF2A95-4779-83C0-3286-71F7FDCE9DF8}"/>
                </a:ext>
              </a:extLst>
            </p:cNvPr>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48" name="Freeform 23">
              <a:extLst>
                <a:ext uri="{FF2B5EF4-FFF2-40B4-BE49-F238E27FC236}">
                  <a16:creationId xmlns:a16="http://schemas.microsoft.com/office/drawing/2014/main" id="{701B897F-AC15-74AC-7027-54C19A1DE312}"/>
                </a:ext>
              </a:extLst>
            </p:cNvPr>
            <p:cNvSpPr>
              <a:spLocks/>
            </p:cNvSpPr>
            <p:nvPr/>
          </p:nvSpPr>
          <p:spPr bwMode="auto">
            <a:xfrm>
              <a:off x="1061" y="2373"/>
              <a:ext cx="573" cy="785"/>
            </a:xfrm>
            <a:custGeom>
              <a:avLst/>
              <a:gdLst>
                <a:gd name="T0" fmla="*/ 1 w 918"/>
                <a:gd name="T1" fmla="*/ 24 h 965"/>
                <a:gd name="T2" fmla="*/ 1 w 918"/>
                <a:gd name="T3" fmla="*/ 24 h 965"/>
                <a:gd name="T4" fmla="*/ 1 w 918"/>
                <a:gd name="T5" fmla="*/ 22 h 965"/>
                <a:gd name="T6" fmla="*/ 1 w 918"/>
                <a:gd name="T7" fmla="*/ 21 h 965"/>
                <a:gd name="T8" fmla="*/ 1 w 918"/>
                <a:gd name="T9" fmla="*/ 20 h 965"/>
                <a:gd name="T10" fmla="*/ 0 w 918"/>
                <a:gd name="T11" fmla="*/ 14 h 965"/>
                <a:gd name="T12" fmla="*/ 1 w 918"/>
                <a:gd name="T13" fmla="*/ 6 h 965"/>
                <a:gd name="T14" fmla="*/ 1 w 918"/>
                <a:gd name="T15" fmla="*/ 4 h 965"/>
                <a:gd name="T16" fmla="*/ 1 w 918"/>
                <a:gd name="T17" fmla="*/ 0 h 965"/>
                <a:gd name="T18" fmla="*/ 1 w 918"/>
                <a:gd name="T19" fmla="*/ 2 h 965"/>
                <a:gd name="T20" fmla="*/ 1 w 918"/>
                <a:gd name="T21" fmla="*/ 2 h 965"/>
                <a:gd name="T22" fmla="*/ 1 w 918"/>
                <a:gd name="T23" fmla="*/ 5 h 965"/>
                <a:gd name="T24" fmla="*/ 1 w 918"/>
                <a:gd name="T25" fmla="*/ 7 h 965"/>
                <a:gd name="T26" fmla="*/ 1 w 918"/>
                <a:gd name="T27" fmla="*/ 7 h 965"/>
                <a:gd name="T28" fmla="*/ 1 w 918"/>
                <a:gd name="T29" fmla="*/ 11 h 965"/>
                <a:gd name="T30" fmla="*/ 1 w 918"/>
                <a:gd name="T31" fmla="*/ 13 h 965"/>
                <a:gd name="T32" fmla="*/ 1 w 918"/>
                <a:gd name="T33" fmla="*/ 16 h 965"/>
                <a:gd name="T34" fmla="*/ 1 w 918"/>
                <a:gd name="T35" fmla="*/ 18 h 965"/>
                <a:gd name="T36" fmla="*/ 1 w 918"/>
                <a:gd name="T37" fmla="*/ 23 h 965"/>
                <a:gd name="T38" fmla="*/ 1 w 918"/>
                <a:gd name="T39" fmla="*/ 27 h 965"/>
                <a:gd name="T40" fmla="*/ 1 w 918"/>
                <a:gd name="T41" fmla="*/ 28 h 965"/>
                <a:gd name="T42" fmla="*/ 1 w 918"/>
                <a:gd name="T43" fmla="*/ 28 h 965"/>
                <a:gd name="T44" fmla="*/ 1 w 918"/>
                <a:gd name="T45" fmla="*/ 28 h 965"/>
                <a:gd name="T46" fmla="*/ 1 w 918"/>
                <a:gd name="T47" fmla="*/ 26 h 965"/>
                <a:gd name="T48" fmla="*/ 1 w 918"/>
                <a:gd name="T49" fmla="*/ 24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7149" name="Group 24">
              <a:extLst>
                <a:ext uri="{FF2B5EF4-FFF2-40B4-BE49-F238E27FC236}">
                  <a16:creationId xmlns:a16="http://schemas.microsoft.com/office/drawing/2014/main" id="{3E98026F-CA74-3D0A-6152-F3F2FC049995}"/>
                </a:ext>
              </a:extLst>
            </p:cNvPr>
            <p:cNvGrpSpPr>
              <a:grpSpLocks/>
            </p:cNvGrpSpPr>
            <p:nvPr/>
          </p:nvGrpSpPr>
          <p:grpSpPr bwMode="auto">
            <a:xfrm>
              <a:off x="551" y="1796"/>
              <a:ext cx="542" cy="954"/>
              <a:chOff x="551" y="1796"/>
              <a:chExt cx="542" cy="954"/>
            </a:xfrm>
          </p:grpSpPr>
          <p:sp>
            <p:nvSpPr>
              <p:cNvPr id="47150" name="AutoShape 25">
                <a:extLst>
                  <a:ext uri="{FF2B5EF4-FFF2-40B4-BE49-F238E27FC236}">
                    <a16:creationId xmlns:a16="http://schemas.microsoft.com/office/drawing/2014/main" id="{D9F82A18-4D5A-69C9-B712-52E8436048EE}"/>
                  </a:ext>
                </a:extLst>
              </p:cNvPr>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1" name="AutoShape 26">
                <a:extLst>
                  <a:ext uri="{FF2B5EF4-FFF2-40B4-BE49-F238E27FC236}">
                    <a16:creationId xmlns:a16="http://schemas.microsoft.com/office/drawing/2014/main" id="{E42C4F81-8AE2-2735-CFE6-9DAEB30AE8E8}"/>
                  </a:ext>
                </a:extLst>
              </p:cNvPr>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2" name="AutoShape 27">
                <a:extLst>
                  <a:ext uri="{FF2B5EF4-FFF2-40B4-BE49-F238E27FC236}">
                    <a16:creationId xmlns:a16="http://schemas.microsoft.com/office/drawing/2014/main" id="{EEFA86D3-05EC-B97D-75E0-456DA77ED845}"/>
                  </a:ext>
                </a:extLst>
              </p:cNvPr>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3" name="AutoShape 28">
                <a:extLst>
                  <a:ext uri="{FF2B5EF4-FFF2-40B4-BE49-F238E27FC236}">
                    <a16:creationId xmlns:a16="http://schemas.microsoft.com/office/drawing/2014/main" id="{ACFC4D80-A3F1-0870-8BB3-0A23E91816AB}"/>
                  </a:ext>
                </a:extLst>
              </p:cNvPr>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4" name="AutoShape 29">
                <a:extLst>
                  <a:ext uri="{FF2B5EF4-FFF2-40B4-BE49-F238E27FC236}">
                    <a16:creationId xmlns:a16="http://schemas.microsoft.com/office/drawing/2014/main" id="{C092D582-F885-201B-0FEF-2BF5CF1011F8}"/>
                  </a:ext>
                </a:extLst>
              </p:cNvPr>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5" name="AutoShape 30">
                <a:extLst>
                  <a:ext uri="{FF2B5EF4-FFF2-40B4-BE49-F238E27FC236}">
                    <a16:creationId xmlns:a16="http://schemas.microsoft.com/office/drawing/2014/main" id="{8B71A2F1-5CC4-CF7C-3EC9-0EBBE92BC3AB}"/>
                  </a:ext>
                </a:extLst>
              </p:cNvPr>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6" name="AutoShape 31">
                <a:extLst>
                  <a:ext uri="{FF2B5EF4-FFF2-40B4-BE49-F238E27FC236}">
                    <a16:creationId xmlns:a16="http://schemas.microsoft.com/office/drawing/2014/main" id="{E2D31299-7E75-E0C6-8E97-BC9550376522}"/>
                  </a:ext>
                </a:extLst>
              </p:cNvPr>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7" name="AutoShape 32">
                <a:extLst>
                  <a:ext uri="{FF2B5EF4-FFF2-40B4-BE49-F238E27FC236}">
                    <a16:creationId xmlns:a16="http://schemas.microsoft.com/office/drawing/2014/main" id="{41546B82-E89B-61DF-99DB-E2A4330BC7A8}"/>
                  </a:ext>
                </a:extLst>
              </p:cNvPr>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8" name="AutoShape 33">
                <a:extLst>
                  <a:ext uri="{FF2B5EF4-FFF2-40B4-BE49-F238E27FC236}">
                    <a16:creationId xmlns:a16="http://schemas.microsoft.com/office/drawing/2014/main" id="{B2A081F8-3943-58F7-40F6-70D7DDA4E4FD}"/>
                  </a:ext>
                </a:extLst>
              </p:cNvPr>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59" name="AutoShape 34">
                <a:extLst>
                  <a:ext uri="{FF2B5EF4-FFF2-40B4-BE49-F238E27FC236}">
                    <a16:creationId xmlns:a16="http://schemas.microsoft.com/office/drawing/2014/main" id="{DBB1B5A0-9735-492A-5A15-134EE5F17940}"/>
                  </a:ext>
                </a:extLst>
              </p:cNvPr>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60" name="Freeform 35">
                <a:extLst>
                  <a:ext uri="{FF2B5EF4-FFF2-40B4-BE49-F238E27FC236}">
                    <a16:creationId xmlns:a16="http://schemas.microsoft.com/office/drawing/2014/main" id="{5E253ECF-6996-D4DC-BAEE-8E4392FC79BD}"/>
                  </a:ext>
                </a:extLst>
              </p:cNvPr>
              <p:cNvSpPr>
                <a:spLocks/>
              </p:cNvSpPr>
              <p:nvPr/>
            </p:nvSpPr>
            <p:spPr bwMode="auto">
              <a:xfrm>
                <a:off x="551" y="1796"/>
                <a:ext cx="542" cy="954"/>
              </a:xfrm>
              <a:custGeom>
                <a:avLst/>
                <a:gdLst>
                  <a:gd name="T0" fmla="*/ 1 w 869"/>
                  <a:gd name="T1" fmla="*/ 24 h 1173"/>
                  <a:gd name="T2" fmla="*/ 1 w 869"/>
                  <a:gd name="T3" fmla="*/ 28 h 1173"/>
                  <a:gd name="T4" fmla="*/ 1 w 869"/>
                  <a:gd name="T5" fmla="*/ 32 h 1173"/>
                  <a:gd name="T6" fmla="*/ 1 w 869"/>
                  <a:gd name="T7" fmla="*/ 33 h 1173"/>
                  <a:gd name="T8" fmla="*/ 1 w 869"/>
                  <a:gd name="T9" fmla="*/ 34 h 1173"/>
                  <a:gd name="T10" fmla="*/ 1 w 869"/>
                  <a:gd name="T11" fmla="*/ 35 h 1173"/>
                  <a:gd name="T12" fmla="*/ 1 w 869"/>
                  <a:gd name="T13" fmla="*/ 33 h 1173"/>
                  <a:gd name="T14" fmla="*/ 1 w 869"/>
                  <a:gd name="T15" fmla="*/ 32 h 1173"/>
                  <a:gd name="T16" fmla="*/ 1 w 869"/>
                  <a:gd name="T17" fmla="*/ 30 h 1173"/>
                  <a:gd name="T18" fmla="*/ 0 w 869"/>
                  <a:gd name="T19" fmla="*/ 28 h 1173"/>
                  <a:gd name="T20" fmla="*/ 1 w 869"/>
                  <a:gd name="T21" fmla="*/ 15 h 1173"/>
                  <a:gd name="T22" fmla="*/ 1 w 869"/>
                  <a:gd name="T23" fmla="*/ 7 h 1173"/>
                  <a:gd name="T24" fmla="*/ 1 w 869"/>
                  <a:gd name="T25" fmla="*/ 5 h 1173"/>
                  <a:gd name="T26" fmla="*/ 1 w 869"/>
                  <a:gd name="T27" fmla="*/ 4 h 1173"/>
                  <a:gd name="T28" fmla="*/ 1 w 869"/>
                  <a:gd name="T29" fmla="*/ 2 h 1173"/>
                  <a:gd name="T30" fmla="*/ 1 w 869"/>
                  <a:gd name="T31" fmla="*/ 2 h 1173"/>
                  <a:gd name="T32" fmla="*/ 1 w 869"/>
                  <a:gd name="T33" fmla="*/ 0 h 1173"/>
                  <a:gd name="T34" fmla="*/ 1 w 869"/>
                  <a:gd name="T35" fmla="*/ 2 h 1173"/>
                  <a:gd name="T36" fmla="*/ 1 w 869"/>
                  <a:gd name="T37" fmla="*/ 6 h 1173"/>
                  <a:gd name="T38" fmla="*/ 1 w 869"/>
                  <a:gd name="T39" fmla="*/ 7 h 1173"/>
                  <a:gd name="T40" fmla="*/ 1 w 869"/>
                  <a:gd name="T41" fmla="*/ 9 h 1173"/>
                  <a:gd name="T42" fmla="*/ 1 w 869"/>
                  <a:gd name="T43" fmla="*/ 21 h 1173"/>
                  <a:gd name="T44" fmla="*/ 1 w 869"/>
                  <a:gd name="T45" fmla="*/ 24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47108" name="Rectangle 36">
            <a:extLst>
              <a:ext uri="{FF2B5EF4-FFF2-40B4-BE49-F238E27FC236}">
                <a16:creationId xmlns:a16="http://schemas.microsoft.com/office/drawing/2014/main" id="{799BE33D-8861-076C-81F1-7252358DAE7B}"/>
              </a:ext>
            </a:extLst>
          </p:cNvPr>
          <p:cNvSpPr>
            <a:spLocks noChangeArrowheads="1"/>
          </p:cNvSpPr>
          <p:nvPr/>
        </p:nvSpPr>
        <p:spPr bwMode="auto">
          <a:xfrm>
            <a:off x="5241925" y="2678113"/>
            <a:ext cx="3311525" cy="2762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grpSp>
        <p:nvGrpSpPr>
          <p:cNvPr id="47109" name="Group 37">
            <a:extLst>
              <a:ext uri="{FF2B5EF4-FFF2-40B4-BE49-F238E27FC236}">
                <a16:creationId xmlns:a16="http://schemas.microsoft.com/office/drawing/2014/main" id="{5F08DBA7-DDC0-EE6B-FBCD-93B83C88B23F}"/>
              </a:ext>
            </a:extLst>
          </p:cNvPr>
          <p:cNvGrpSpPr>
            <a:grpSpLocks/>
          </p:cNvGrpSpPr>
          <p:nvPr/>
        </p:nvGrpSpPr>
        <p:grpSpPr bwMode="auto">
          <a:xfrm>
            <a:off x="5916613" y="3035300"/>
            <a:ext cx="2122487" cy="2044700"/>
            <a:chOff x="3302" y="2032"/>
            <a:chExt cx="1511" cy="1395"/>
          </a:xfrm>
        </p:grpSpPr>
        <p:sp>
          <p:nvSpPr>
            <p:cNvPr id="47113" name="AutoShape 38">
              <a:extLst>
                <a:ext uri="{FF2B5EF4-FFF2-40B4-BE49-F238E27FC236}">
                  <a16:creationId xmlns:a16="http://schemas.microsoft.com/office/drawing/2014/main" id="{99DAADB8-BDC0-BA33-7848-517086AA704A}"/>
                </a:ext>
              </a:extLst>
            </p:cNvPr>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4" name="AutoShape 39">
              <a:extLst>
                <a:ext uri="{FF2B5EF4-FFF2-40B4-BE49-F238E27FC236}">
                  <a16:creationId xmlns:a16="http://schemas.microsoft.com/office/drawing/2014/main" id="{CC9A5F44-6C3E-1C59-8EC1-AFC4A733C5AB}"/>
                </a:ext>
              </a:extLst>
            </p:cNvPr>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5" name="AutoShape 40">
              <a:extLst>
                <a:ext uri="{FF2B5EF4-FFF2-40B4-BE49-F238E27FC236}">
                  <a16:creationId xmlns:a16="http://schemas.microsoft.com/office/drawing/2014/main" id="{4B7C6715-08E6-7DAF-5D84-60AD8F0B9A9A}"/>
                </a:ext>
              </a:extLst>
            </p:cNvPr>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6" name="AutoShape 41">
              <a:extLst>
                <a:ext uri="{FF2B5EF4-FFF2-40B4-BE49-F238E27FC236}">
                  <a16:creationId xmlns:a16="http://schemas.microsoft.com/office/drawing/2014/main" id="{28DA675B-42B2-11DA-DEF3-C3FF4BDFED45}"/>
                </a:ext>
              </a:extLst>
            </p:cNvPr>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7" name="AutoShape 42">
              <a:extLst>
                <a:ext uri="{FF2B5EF4-FFF2-40B4-BE49-F238E27FC236}">
                  <a16:creationId xmlns:a16="http://schemas.microsoft.com/office/drawing/2014/main" id="{6D2D0B5F-F89B-581F-FB54-BB9F33F5455A}"/>
                </a:ext>
              </a:extLst>
            </p:cNvPr>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8" name="AutoShape 43">
              <a:extLst>
                <a:ext uri="{FF2B5EF4-FFF2-40B4-BE49-F238E27FC236}">
                  <a16:creationId xmlns:a16="http://schemas.microsoft.com/office/drawing/2014/main" id="{E583E031-35F0-BE8B-81CF-11E9DD65D5EF}"/>
                </a:ext>
              </a:extLst>
            </p:cNvPr>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19" name="AutoShape 44">
              <a:extLst>
                <a:ext uri="{FF2B5EF4-FFF2-40B4-BE49-F238E27FC236}">
                  <a16:creationId xmlns:a16="http://schemas.microsoft.com/office/drawing/2014/main" id="{8168DB1E-05A9-3AF1-A6F7-363C3A0A9330}"/>
                </a:ext>
              </a:extLst>
            </p:cNvPr>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0" name="AutoShape 45">
              <a:extLst>
                <a:ext uri="{FF2B5EF4-FFF2-40B4-BE49-F238E27FC236}">
                  <a16:creationId xmlns:a16="http://schemas.microsoft.com/office/drawing/2014/main" id="{490AED1E-418C-C9AA-66E1-56A32B96AA14}"/>
                </a:ext>
              </a:extLst>
            </p:cNvPr>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1" name="AutoShape 46">
              <a:extLst>
                <a:ext uri="{FF2B5EF4-FFF2-40B4-BE49-F238E27FC236}">
                  <a16:creationId xmlns:a16="http://schemas.microsoft.com/office/drawing/2014/main" id="{ED3497A5-7708-45EC-32E4-FB7EE085C567}"/>
                </a:ext>
              </a:extLst>
            </p:cNvPr>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2" name="AutoShape 47">
              <a:extLst>
                <a:ext uri="{FF2B5EF4-FFF2-40B4-BE49-F238E27FC236}">
                  <a16:creationId xmlns:a16="http://schemas.microsoft.com/office/drawing/2014/main" id="{216C2037-A3B9-841C-2EE6-F1CC3CAF4829}"/>
                </a:ext>
              </a:extLst>
            </p:cNvPr>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3" name="AutoShape 48">
              <a:extLst>
                <a:ext uri="{FF2B5EF4-FFF2-40B4-BE49-F238E27FC236}">
                  <a16:creationId xmlns:a16="http://schemas.microsoft.com/office/drawing/2014/main" id="{14457409-8DBC-6D42-5B08-5116CEB3B34A}"/>
                </a:ext>
              </a:extLst>
            </p:cNvPr>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4" name="AutoShape 49">
              <a:extLst>
                <a:ext uri="{FF2B5EF4-FFF2-40B4-BE49-F238E27FC236}">
                  <a16:creationId xmlns:a16="http://schemas.microsoft.com/office/drawing/2014/main" id="{ED42D3CF-0EA0-36FE-0A00-56055BDCA2D3}"/>
                </a:ext>
              </a:extLst>
            </p:cNvPr>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5" name="AutoShape 50">
              <a:extLst>
                <a:ext uri="{FF2B5EF4-FFF2-40B4-BE49-F238E27FC236}">
                  <a16:creationId xmlns:a16="http://schemas.microsoft.com/office/drawing/2014/main" id="{2B9EAF29-27B3-862C-F3F3-2D6B40A669B8}"/>
                </a:ext>
              </a:extLst>
            </p:cNvPr>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GB" altLang="en-US"/>
            </a:p>
          </p:txBody>
        </p:sp>
        <p:sp>
          <p:nvSpPr>
            <p:cNvPr id="47126" name="Freeform 51">
              <a:extLst>
                <a:ext uri="{FF2B5EF4-FFF2-40B4-BE49-F238E27FC236}">
                  <a16:creationId xmlns:a16="http://schemas.microsoft.com/office/drawing/2014/main" id="{9C10BA8F-46ED-E3CF-E952-7AB016DD0C6F}"/>
                </a:ext>
              </a:extLst>
            </p:cNvPr>
            <p:cNvSpPr>
              <a:spLocks/>
            </p:cNvSpPr>
            <p:nvPr/>
          </p:nvSpPr>
          <p:spPr bwMode="auto">
            <a:xfrm>
              <a:off x="4127" y="2032"/>
              <a:ext cx="686" cy="877"/>
            </a:xfrm>
            <a:custGeom>
              <a:avLst/>
              <a:gdLst>
                <a:gd name="T0" fmla="*/ 1 w 1101"/>
                <a:gd name="T1" fmla="*/ 9 h 1077"/>
                <a:gd name="T2" fmla="*/ 1 w 1101"/>
                <a:gd name="T3" fmla="*/ 15 h 1077"/>
                <a:gd name="T4" fmla="*/ 1 w 1101"/>
                <a:gd name="T5" fmla="*/ 29 h 1077"/>
                <a:gd name="T6" fmla="*/ 1 w 1101"/>
                <a:gd name="T7" fmla="*/ 32 h 1077"/>
                <a:gd name="T8" fmla="*/ 1 w 1101"/>
                <a:gd name="T9" fmla="*/ 33 h 1077"/>
                <a:gd name="T10" fmla="*/ 1 w 1101"/>
                <a:gd name="T11" fmla="*/ 32 h 1077"/>
                <a:gd name="T12" fmla="*/ 1 w 1101"/>
                <a:gd name="T13" fmla="*/ 30 h 1077"/>
                <a:gd name="T14" fmla="*/ 1 w 1101"/>
                <a:gd name="T15" fmla="*/ 30 h 1077"/>
                <a:gd name="T16" fmla="*/ 1 w 1101"/>
                <a:gd name="T17" fmla="*/ 27 h 1077"/>
                <a:gd name="T18" fmla="*/ 1 w 1101"/>
                <a:gd name="T19" fmla="*/ 24 h 1077"/>
                <a:gd name="T20" fmla="*/ 1 w 1101"/>
                <a:gd name="T21" fmla="*/ 21 h 1077"/>
                <a:gd name="T22" fmla="*/ 1 w 1101"/>
                <a:gd name="T23" fmla="*/ 13 h 1077"/>
                <a:gd name="T24" fmla="*/ 1 w 1101"/>
                <a:gd name="T25" fmla="*/ 4 h 1077"/>
                <a:gd name="T26" fmla="*/ 1 w 1101"/>
                <a:gd name="T27" fmla="*/ 2 h 1077"/>
                <a:gd name="T28" fmla="*/ 1 w 1101"/>
                <a:gd name="T29" fmla="*/ 2 h 1077"/>
                <a:gd name="T30" fmla="*/ 1 w 1101"/>
                <a:gd name="T31" fmla="*/ 2 h 1077"/>
                <a:gd name="T32" fmla="*/ 1 w 1101"/>
                <a:gd name="T33" fmla="*/ 3 h 1077"/>
                <a:gd name="T34" fmla="*/ 1 w 1101"/>
                <a:gd name="T35" fmla="*/ 6 h 1077"/>
                <a:gd name="T36" fmla="*/ 1 w 1101"/>
                <a:gd name="T37" fmla="*/ 6 h 1077"/>
                <a:gd name="T38" fmla="*/ 1 w 1101"/>
                <a:gd name="T39" fmla="*/ 9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127" name="Freeform 52">
              <a:extLst>
                <a:ext uri="{FF2B5EF4-FFF2-40B4-BE49-F238E27FC236}">
                  <a16:creationId xmlns:a16="http://schemas.microsoft.com/office/drawing/2014/main" id="{86BFB894-212B-795F-221A-7A519D1C834F}"/>
                </a:ext>
              </a:extLst>
            </p:cNvPr>
            <p:cNvSpPr>
              <a:spLocks/>
            </p:cNvSpPr>
            <p:nvPr/>
          </p:nvSpPr>
          <p:spPr bwMode="auto">
            <a:xfrm>
              <a:off x="3812" y="2642"/>
              <a:ext cx="573" cy="785"/>
            </a:xfrm>
            <a:custGeom>
              <a:avLst/>
              <a:gdLst>
                <a:gd name="T0" fmla="*/ 1 w 918"/>
                <a:gd name="T1" fmla="*/ 24 h 965"/>
                <a:gd name="T2" fmla="*/ 1 w 918"/>
                <a:gd name="T3" fmla="*/ 24 h 965"/>
                <a:gd name="T4" fmla="*/ 1 w 918"/>
                <a:gd name="T5" fmla="*/ 22 h 965"/>
                <a:gd name="T6" fmla="*/ 1 w 918"/>
                <a:gd name="T7" fmla="*/ 21 h 965"/>
                <a:gd name="T8" fmla="*/ 1 w 918"/>
                <a:gd name="T9" fmla="*/ 20 h 965"/>
                <a:gd name="T10" fmla="*/ 0 w 918"/>
                <a:gd name="T11" fmla="*/ 14 h 965"/>
                <a:gd name="T12" fmla="*/ 1 w 918"/>
                <a:gd name="T13" fmla="*/ 6 h 965"/>
                <a:gd name="T14" fmla="*/ 1 w 918"/>
                <a:gd name="T15" fmla="*/ 4 h 965"/>
                <a:gd name="T16" fmla="*/ 1 w 918"/>
                <a:gd name="T17" fmla="*/ 0 h 965"/>
                <a:gd name="T18" fmla="*/ 1 w 918"/>
                <a:gd name="T19" fmla="*/ 2 h 965"/>
                <a:gd name="T20" fmla="*/ 1 w 918"/>
                <a:gd name="T21" fmla="*/ 2 h 965"/>
                <a:gd name="T22" fmla="*/ 1 w 918"/>
                <a:gd name="T23" fmla="*/ 5 h 965"/>
                <a:gd name="T24" fmla="*/ 1 w 918"/>
                <a:gd name="T25" fmla="*/ 7 h 965"/>
                <a:gd name="T26" fmla="*/ 1 w 918"/>
                <a:gd name="T27" fmla="*/ 7 h 965"/>
                <a:gd name="T28" fmla="*/ 1 w 918"/>
                <a:gd name="T29" fmla="*/ 11 h 965"/>
                <a:gd name="T30" fmla="*/ 1 w 918"/>
                <a:gd name="T31" fmla="*/ 13 h 965"/>
                <a:gd name="T32" fmla="*/ 1 w 918"/>
                <a:gd name="T33" fmla="*/ 16 h 965"/>
                <a:gd name="T34" fmla="*/ 1 w 918"/>
                <a:gd name="T35" fmla="*/ 18 h 965"/>
                <a:gd name="T36" fmla="*/ 1 w 918"/>
                <a:gd name="T37" fmla="*/ 23 h 965"/>
                <a:gd name="T38" fmla="*/ 1 w 918"/>
                <a:gd name="T39" fmla="*/ 27 h 965"/>
                <a:gd name="T40" fmla="*/ 1 w 918"/>
                <a:gd name="T41" fmla="*/ 28 h 965"/>
                <a:gd name="T42" fmla="*/ 1 w 918"/>
                <a:gd name="T43" fmla="*/ 28 h 965"/>
                <a:gd name="T44" fmla="*/ 1 w 918"/>
                <a:gd name="T45" fmla="*/ 28 h 965"/>
                <a:gd name="T46" fmla="*/ 1 w 918"/>
                <a:gd name="T47" fmla="*/ 26 h 965"/>
                <a:gd name="T48" fmla="*/ 1 w 918"/>
                <a:gd name="T49" fmla="*/ 24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128" name="Freeform 53">
              <a:extLst>
                <a:ext uri="{FF2B5EF4-FFF2-40B4-BE49-F238E27FC236}">
                  <a16:creationId xmlns:a16="http://schemas.microsoft.com/office/drawing/2014/main" id="{5280DCB6-452B-E7CC-BCFB-D59342806716}"/>
                </a:ext>
              </a:extLst>
            </p:cNvPr>
            <p:cNvSpPr>
              <a:spLocks/>
            </p:cNvSpPr>
            <p:nvPr/>
          </p:nvSpPr>
          <p:spPr bwMode="auto">
            <a:xfrm>
              <a:off x="3302" y="2065"/>
              <a:ext cx="542" cy="954"/>
            </a:xfrm>
            <a:custGeom>
              <a:avLst/>
              <a:gdLst>
                <a:gd name="T0" fmla="*/ 1 w 869"/>
                <a:gd name="T1" fmla="*/ 24 h 1173"/>
                <a:gd name="T2" fmla="*/ 1 w 869"/>
                <a:gd name="T3" fmla="*/ 28 h 1173"/>
                <a:gd name="T4" fmla="*/ 1 w 869"/>
                <a:gd name="T5" fmla="*/ 32 h 1173"/>
                <a:gd name="T6" fmla="*/ 1 w 869"/>
                <a:gd name="T7" fmla="*/ 33 h 1173"/>
                <a:gd name="T8" fmla="*/ 1 w 869"/>
                <a:gd name="T9" fmla="*/ 34 h 1173"/>
                <a:gd name="T10" fmla="*/ 1 w 869"/>
                <a:gd name="T11" fmla="*/ 35 h 1173"/>
                <a:gd name="T12" fmla="*/ 1 w 869"/>
                <a:gd name="T13" fmla="*/ 33 h 1173"/>
                <a:gd name="T14" fmla="*/ 1 w 869"/>
                <a:gd name="T15" fmla="*/ 32 h 1173"/>
                <a:gd name="T16" fmla="*/ 1 w 869"/>
                <a:gd name="T17" fmla="*/ 30 h 1173"/>
                <a:gd name="T18" fmla="*/ 0 w 869"/>
                <a:gd name="T19" fmla="*/ 28 h 1173"/>
                <a:gd name="T20" fmla="*/ 1 w 869"/>
                <a:gd name="T21" fmla="*/ 15 h 1173"/>
                <a:gd name="T22" fmla="*/ 1 w 869"/>
                <a:gd name="T23" fmla="*/ 7 h 1173"/>
                <a:gd name="T24" fmla="*/ 1 w 869"/>
                <a:gd name="T25" fmla="*/ 5 h 1173"/>
                <a:gd name="T26" fmla="*/ 1 w 869"/>
                <a:gd name="T27" fmla="*/ 4 h 1173"/>
                <a:gd name="T28" fmla="*/ 1 w 869"/>
                <a:gd name="T29" fmla="*/ 2 h 1173"/>
                <a:gd name="T30" fmla="*/ 1 w 869"/>
                <a:gd name="T31" fmla="*/ 2 h 1173"/>
                <a:gd name="T32" fmla="*/ 1 w 869"/>
                <a:gd name="T33" fmla="*/ 0 h 1173"/>
                <a:gd name="T34" fmla="*/ 1 w 869"/>
                <a:gd name="T35" fmla="*/ 2 h 1173"/>
                <a:gd name="T36" fmla="*/ 1 w 869"/>
                <a:gd name="T37" fmla="*/ 6 h 1173"/>
                <a:gd name="T38" fmla="*/ 1 w 869"/>
                <a:gd name="T39" fmla="*/ 7 h 1173"/>
                <a:gd name="T40" fmla="*/ 1 w 869"/>
                <a:gd name="T41" fmla="*/ 9 h 1173"/>
                <a:gd name="T42" fmla="*/ 1 w 869"/>
                <a:gd name="T43" fmla="*/ 21 h 1173"/>
                <a:gd name="T44" fmla="*/ 1 w 869"/>
                <a:gd name="T45" fmla="*/ 24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47110" name="Text Box 54">
            <a:extLst>
              <a:ext uri="{FF2B5EF4-FFF2-40B4-BE49-F238E27FC236}">
                <a16:creationId xmlns:a16="http://schemas.microsoft.com/office/drawing/2014/main" id="{C20F25B5-2514-FDE2-9866-E6D10B3BF6E2}"/>
              </a:ext>
            </a:extLst>
          </p:cNvPr>
          <p:cNvSpPr txBox="1">
            <a:spLocks noChangeArrowheads="1"/>
          </p:cNvSpPr>
          <p:nvPr/>
        </p:nvSpPr>
        <p:spPr bwMode="auto">
          <a:xfrm>
            <a:off x="2127250" y="1833563"/>
            <a:ext cx="1470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Raw Data </a:t>
            </a:r>
          </a:p>
        </p:txBody>
      </p:sp>
      <p:sp>
        <p:nvSpPr>
          <p:cNvPr id="47111" name="Text Box 55">
            <a:extLst>
              <a:ext uri="{FF2B5EF4-FFF2-40B4-BE49-F238E27FC236}">
                <a16:creationId xmlns:a16="http://schemas.microsoft.com/office/drawing/2014/main" id="{30477C03-E9A1-3583-B39B-0CA410133803}"/>
              </a:ext>
            </a:extLst>
          </p:cNvPr>
          <p:cNvSpPr txBox="1">
            <a:spLocks noChangeArrowheads="1"/>
          </p:cNvSpPr>
          <p:nvPr/>
        </p:nvSpPr>
        <p:spPr bwMode="auto">
          <a:xfrm>
            <a:off x="5043488" y="1839913"/>
            <a:ext cx="3268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Cluster/Stratified Sample</a:t>
            </a:r>
          </a:p>
        </p:txBody>
      </p:sp>
      <p:sp>
        <p:nvSpPr>
          <p:cNvPr id="2" name="Right Arrow 1">
            <a:extLst>
              <a:ext uri="{FF2B5EF4-FFF2-40B4-BE49-F238E27FC236}">
                <a16:creationId xmlns:a16="http://schemas.microsoft.com/office/drawing/2014/main" id="{59B4D1F6-BBE3-4869-019C-6D04AEC2146D}"/>
              </a:ext>
            </a:extLst>
          </p:cNvPr>
          <p:cNvSpPr/>
          <p:nvPr/>
        </p:nvSpPr>
        <p:spPr>
          <a:xfrm>
            <a:off x="4648200" y="3751263"/>
            <a:ext cx="395288" cy="3079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Tree>
  </p:cSld>
  <p:clrMapOvr>
    <a:masterClrMapping/>
  </p:clrMapOvr>
  <p:transition>
    <p:checke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7F53D2C-6CD0-EFEB-10C8-64DA0CD36EDF}"/>
              </a:ext>
            </a:extLst>
          </p:cNvPr>
          <p:cNvSpPr>
            <a:spLocks noGrp="1" noChangeArrowheads="1"/>
          </p:cNvSpPr>
          <p:nvPr>
            <p:ph type="title"/>
          </p:nvPr>
        </p:nvSpPr>
        <p:spPr bwMode="auto">
          <a:xfrm>
            <a:off x="1676400" y="304800"/>
            <a:ext cx="7010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r>
              <a:rPr lang="en-US" altLang="en-US">
                <a:solidFill>
                  <a:schemeClr val="accent2"/>
                </a:solidFill>
              </a:rPr>
              <a:t>Agenda</a:t>
            </a:r>
          </a:p>
        </p:txBody>
      </p:sp>
      <p:sp>
        <p:nvSpPr>
          <p:cNvPr id="48131" name="Rectangle 3">
            <a:extLst>
              <a:ext uri="{FF2B5EF4-FFF2-40B4-BE49-F238E27FC236}">
                <a16:creationId xmlns:a16="http://schemas.microsoft.com/office/drawing/2014/main" id="{D67F4C20-A21F-D986-41F5-C572D0AD94A6}"/>
              </a:ext>
            </a:extLst>
          </p:cNvPr>
          <p:cNvSpPr>
            <a:spLocks noGrp="1" noChangeArrowheads="1"/>
          </p:cNvSpPr>
          <p:nvPr>
            <p:ph idx="1"/>
          </p:nvPr>
        </p:nvSpPr>
        <p:spPr bwMode="auto">
          <a:xfrm>
            <a:off x="1676400" y="1524000"/>
            <a:ext cx="70866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140000"/>
              </a:lnSpc>
            </a:pPr>
            <a:r>
              <a:rPr lang="en-US" altLang="en-US" sz="2800"/>
              <a:t>Why preprocess the data?</a:t>
            </a:r>
          </a:p>
          <a:p>
            <a:pPr eaLnBrk="1" hangingPunct="1">
              <a:lnSpc>
                <a:spcPct val="140000"/>
              </a:lnSpc>
            </a:pPr>
            <a:r>
              <a:rPr lang="en-US" altLang="en-US" sz="2800"/>
              <a:t>Data cleaning </a:t>
            </a:r>
          </a:p>
          <a:p>
            <a:pPr eaLnBrk="1" hangingPunct="1">
              <a:lnSpc>
                <a:spcPct val="140000"/>
              </a:lnSpc>
            </a:pPr>
            <a:r>
              <a:rPr lang="en-US" altLang="en-US" sz="2800"/>
              <a:t>Data integration and transformation</a:t>
            </a:r>
          </a:p>
          <a:p>
            <a:pPr eaLnBrk="1" hangingPunct="1">
              <a:lnSpc>
                <a:spcPct val="140000"/>
              </a:lnSpc>
            </a:pPr>
            <a:r>
              <a:rPr lang="en-US" altLang="en-US" sz="2800"/>
              <a:t>Data reduction</a:t>
            </a:r>
            <a:endParaRPr lang="en-US" altLang="en-US" sz="2800">
              <a:solidFill>
                <a:schemeClr val="hlink"/>
              </a:solidFill>
            </a:endParaRPr>
          </a:p>
          <a:p>
            <a:pPr eaLnBrk="1" hangingPunct="1">
              <a:lnSpc>
                <a:spcPct val="140000"/>
              </a:lnSpc>
            </a:pPr>
            <a:r>
              <a:rPr lang="en-US" altLang="en-US" sz="2800">
                <a:solidFill>
                  <a:schemeClr val="accent2"/>
                </a:solidFill>
              </a:rPr>
              <a:t>Summary</a:t>
            </a:r>
          </a:p>
        </p:txBody>
      </p:sp>
    </p:spTree>
  </p:cSld>
  <p:clrMapOvr>
    <a:masterClrMapping/>
  </p:clrMapOvr>
  <p:transition>
    <p:checke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6BC6C44-5EE8-A7CC-864B-3077251519DB}"/>
              </a:ext>
            </a:extLst>
          </p:cNvPr>
          <p:cNvSpPr>
            <a:spLocks noGrp="1" noChangeArrowheads="1"/>
          </p:cNvSpPr>
          <p:nvPr>
            <p:ph type="title"/>
          </p:nvPr>
        </p:nvSpPr>
        <p:spPr bwMode="auto">
          <a:xfrm>
            <a:off x="1752600" y="457200"/>
            <a:ext cx="482123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solidFill>
                  <a:schemeClr val="accent2"/>
                </a:solidFill>
              </a:rPr>
              <a:t>Summary</a:t>
            </a:r>
          </a:p>
        </p:txBody>
      </p:sp>
      <p:sp>
        <p:nvSpPr>
          <p:cNvPr id="49155" name="Rectangle 3">
            <a:extLst>
              <a:ext uri="{FF2B5EF4-FFF2-40B4-BE49-F238E27FC236}">
                <a16:creationId xmlns:a16="http://schemas.microsoft.com/office/drawing/2014/main" id="{EF449D82-3A29-B053-13DE-A5F1A054F9A7}"/>
              </a:ext>
            </a:extLst>
          </p:cNvPr>
          <p:cNvSpPr>
            <a:spLocks noGrp="1" noChangeArrowheads="1"/>
          </p:cNvSpPr>
          <p:nvPr>
            <p:ph idx="1"/>
          </p:nvPr>
        </p:nvSpPr>
        <p:spPr bwMode="auto">
          <a:xfrm>
            <a:off x="1600200" y="1219200"/>
            <a:ext cx="70104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pPr>
            <a:r>
              <a:rPr lang="en-US" altLang="en-US" sz="2000"/>
              <a:t>Data preparation is a big issue for data mining but the important steps for not very big data are handling missing data, noisy data and feature selection (plus EDA)   </a:t>
            </a:r>
          </a:p>
          <a:p>
            <a:pPr eaLnBrk="1" hangingPunct="1">
              <a:lnSpc>
                <a:spcPct val="140000"/>
              </a:lnSpc>
            </a:pPr>
            <a:r>
              <a:rPr lang="en-US" altLang="en-US" sz="2000"/>
              <a:t>A lot of methods have been developed in data pre-processing but it is still an active area of research</a:t>
            </a:r>
          </a:p>
          <a:p>
            <a:pPr eaLnBrk="1" hangingPunct="1">
              <a:lnSpc>
                <a:spcPct val="140000"/>
              </a:lnSpc>
            </a:pPr>
            <a:endParaRPr lang="en-US" altLang="en-US" sz="2000"/>
          </a:p>
          <a:p>
            <a:pPr eaLnBrk="1" hangingPunct="1">
              <a:lnSpc>
                <a:spcPct val="140000"/>
              </a:lnSpc>
            </a:pPr>
            <a:r>
              <a:rPr lang="en-US" altLang="en-US" sz="2000"/>
              <a:t>After Break (10 minutes)</a:t>
            </a:r>
          </a:p>
          <a:p>
            <a:pPr eaLnBrk="1" hangingPunct="1">
              <a:lnSpc>
                <a:spcPct val="140000"/>
              </a:lnSpc>
            </a:pPr>
            <a:r>
              <a:rPr lang="en-US" altLang="en-US" sz="2000"/>
              <a:t>Lecture: EDA (Exploratory Data Analysis) </a:t>
            </a:r>
          </a:p>
          <a:p>
            <a:pPr eaLnBrk="1" hangingPunct="1">
              <a:lnSpc>
                <a:spcPct val="140000"/>
              </a:lnSpc>
            </a:pPr>
            <a:r>
              <a:rPr lang="en-US" altLang="en-US" sz="2000"/>
              <a:t>Practical: Data pre-processing and EDA</a:t>
            </a:r>
          </a:p>
          <a:p>
            <a:pPr eaLnBrk="1" hangingPunct="1">
              <a:lnSpc>
                <a:spcPct val="140000"/>
              </a:lnSpc>
            </a:pPr>
            <a:r>
              <a:rPr lang="en-US" altLang="en-US" sz="2000"/>
              <a:t>Homework</a:t>
            </a:r>
          </a:p>
        </p:txBody>
      </p:sp>
    </p:spTree>
  </p:cSld>
  <p:clrMapOvr>
    <a:masterClrMapping/>
  </p:clrMapOvr>
  <p:transition>
    <p:checker dir="vert"/>
  </p:transition>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0</TotalTime>
  <Words>1940</Words>
  <Application>Microsoft Office PowerPoint</Application>
  <PresentationFormat>On-screen Show (4:3)</PresentationFormat>
  <Paragraphs>246</Paragraphs>
  <Slides>35</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2" baseType="lpstr">
      <vt:lpstr>Times New Roman</vt:lpstr>
      <vt:lpstr>Arial</vt:lpstr>
      <vt:lpstr>Calibri</vt:lpstr>
      <vt:lpstr>Tahoma</vt:lpstr>
      <vt:lpstr>Symbol</vt:lpstr>
      <vt:lpstr>2_Office Theme</vt:lpstr>
      <vt:lpstr>Microsoft Equation 3.0</vt:lpstr>
      <vt:lpstr>Data Science: data preprocessing </vt:lpstr>
      <vt:lpstr>Declaration</vt:lpstr>
      <vt:lpstr>Agenda</vt:lpstr>
      <vt:lpstr>Why Data Preprocessing?</vt:lpstr>
      <vt:lpstr>Major Tasks in Data Preprocessing</vt:lpstr>
      <vt:lpstr>Agenda</vt:lpstr>
      <vt:lpstr>Data Cleaning</vt:lpstr>
      <vt:lpstr>Missing Data</vt:lpstr>
      <vt:lpstr>Missing Data Example</vt:lpstr>
      <vt:lpstr>How to Handle Missing Data?</vt:lpstr>
      <vt:lpstr>Difference kinds of missing data</vt:lpstr>
      <vt:lpstr>PowerPoint Presentation</vt:lpstr>
      <vt:lpstr>Noisy Data</vt:lpstr>
      <vt:lpstr>How to Handle Noisy Data?</vt:lpstr>
      <vt:lpstr>Cluster Analysis</vt:lpstr>
      <vt:lpstr>Regression</vt:lpstr>
      <vt:lpstr>How to Handle Inconsistent Data?</vt:lpstr>
      <vt:lpstr>Agenda</vt:lpstr>
      <vt:lpstr>Data Integration Challenges </vt:lpstr>
      <vt:lpstr>Data Integration</vt:lpstr>
      <vt:lpstr>Handling Redundant Data in Data Integration</vt:lpstr>
      <vt:lpstr>Data Transformation</vt:lpstr>
      <vt:lpstr>Data Transformation: Normalization</vt:lpstr>
      <vt:lpstr>Agenda</vt:lpstr>
      <vt:lpstr>Data Reduction</vt:lpstr>
      <vt:lpstr>PowerPoint Presentation</vt:lpstr>
      <vt:lpstr>Data Cube Aggregation</vt:lpstr>
      <vt:lpstr>Dimensionality Reduction</vt:lpstr>
      <vt:lpstr>Data Compression</vt:lpstr>
      <vt:lpstr>PowerPoint Presentation</vt:lpstr>
      <vt:lpstr>Numerosity Reduction</vt:lpstr>
      <vt:lpstr>Sampling</vt:lpstr>
      <vt:lpstr>Sampling</vt:lpstr>
      <vt:lpstr>Agenda</vt:lpstr>
      <vt:lpstr>Summary</vt:lpstr>
    </vt:vector>
  </TitlesOfParts>
  <Company>Temple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vasilis</dc:creator>
  <cp:lastModifiedBy>Chris Tsallis</cp:lastModifiedBy>
  <cp:revision>52</cp:revision>
  <dcterms:created xsi:type="dcterms:W3CDTF">2002-01-29T20:50:58Z</dcterms:created>
  <dcterms:modified xsi:type="dcterms:W3CDTF">2026-10-21T22:11:40Z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47d098f-2640-4837-b575-e0be04df0525_Enabled">
    <vt:lpwstr>True</vt:lpwstr>
  </property>
  <property fmtid="{D5CDD505-2E9C-101B-9397-08002B2CF9AE}" pid="3" name="MSIP_Label_b47d098f-2640-4837-b575-e0be04df0525_SiteId">
    <vt:lpwstr>98f1bb3a-5efa-4782-88ba-bd897db60e62</vt:lpwstr>
  </property>
  <property fmtid="{D5CDD505-2E9C-101B-9397-08002B2CF9AE}" pid="4" name="MSIP_Label_b47d098f-2640-4837-b575-e0be04df0525_Owner">
    <vt:lpwstr>301054@derby.ac.uk</vt:lpwstr>
  </property>
  <property fmtid="{D5CDD505-2E9C-101B-9397-08002B2CF9AE}" pid="5" name="MSIP_Label_b47d098f-2640-4837-b575-e0be04df0525_SetDate">
    <vt:lpwstr>2022-02-09T09:42:37.8276769Z</vt:lpwstr>
  </property>
  <property fmtid="{D5CDD505-2E9C-101B-9397-08002B2CF9AE}" pid="6" name="MSIP_Label_b47d098f-2640-4837-b575-e0be04df0525_Name">
    <vt:lpwstr>Internal</vt:lpwstr>
  </property>
  <property fmtid="{D5CDD505-2E9C-101B-9397-08002B2CF9AE}" pid="7" name="MSIP_Label_b47d098f-2640-4837-b575-e0be04df0525_Application">
    <vt:lpwstr>Microsoft Azure Information Protection</vt:lpwstr>
  </property>
  <property fmtid="{D5CDD505-2E9C-101B-9397-08002B2CF9AE}" pid="8" name="MSIP_Label_b47d098f-2640-4837-b575-e0be04df0525_Extended_MSFT_Method">
    <vt:lpwstr>Automatic</vt:lpwstr>
  </property>
  <property fmtid="{D5CDD505-2E9C-101B-9397-08002B2CF9AE}" pid="9" name="MSIP_Label_501a0944-9d81-4c75-b857-2ec7863455b7_Enabled">
    <vt:lpwstr>True</vt:lpwstr>
  </property>
  <property fmtid="{D5CDD505-2E9C-101B-9397-08002B2CF9AE}" pid="10" name="MSIP_Label_501a0944-9d81-4c75-b857-2ec7863455b7_SiteId">
    <vt:lpwstr>98f1bb3a-5efa-4782-88ba-bd897db60e62</vt:lpwstr>
  </property>
  <property fmtid="{D5CDD505-2E9C-101B-9397-08002B2CF9AE}" pid="11" name="MSIP_Label_501a0944-9d81-4c75-b857-2ec7863455b7_Owner">
    <vt:lpwstr>301054@derby.ac.uk</vt:lpwstr>
  </property>
  <property fmtid="{D5CDD505-2E9C-101B-9397-08002B2CF9AE}" pid="12" name="MSIP_Label_501a0944-9d81-4c75-b857-2ec7863455b7_SetDate">
    <vt:lpwstr>2022-02-09T09:42:37.8276769Z</vt:lpwstr>
  </property>
  <property fmtid="{D5CDD505-2E9C-101B-9397-08002B2CF9AE}" pid="13" name="MSIP_Label_501a0944-9d81-4c75-b857-2ec7863455b7_Name">
    <vt:lpwstr>Internal with visible marking</vt:lpwstr>
  </property>
  <property fmtid="{D5CDD505-2E9C-101B-9397-08002B2CF9AE}" pid="14" name="MSIP_Label_501a0944-9d81-4c75-b857-2ec7863455b7_Application">
    <vt:lpwstr>Microsoft Azure Information Protection</vt:lpwstr>
  </property>
  <property fmtid="{D5CDD505-2E9C-101B-9397-08002B2CF9AE}" pid="15" name="MSIP_Label_501a0944-9d81-4c75-b857-2ec7863455b7_Parent">
    <vt:lpwstr>b47d098f-2640-4837-b575-e0be04df0525</vt:lpwstr>
  </property>
  <property fmtid="{D5CDD505-2E9C-101B-9397-08002B2CF9AE}" pid="16" name="MSIP_Label_501a0944-9d81-4c75-b857-2ec7863455b7_Extended_MSFT_Method">
    <vt:lpwstr>Automatic</vt:lpwstr>
  </property>
  <property fmtid="{D5CDD505-2E9C-101B-9397-08002B2CF9AE}" pid="17" name="Sensitivity">
    <vt:lpwstr>Internal Internal with visible marking</vt:lpwstr>
  </property>
</Properties>
</file>